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2"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8" Type="http://schemas.openxmlformats.org/officeDocument/2006/relationships/slide" Target="slides/slide7.xml"/><Relationship Id="rId7" Type="http://schemas.openxmlformats.org/officeDocument/2006/relationships/slide" Target="slides/slide6.xml"/><Relationship Id="rId6" Type="http://schemas.openxmlformats.org/officeDocument/2006/relationships/slide" Target="slides/slide5.xml"/><Relationship Id="rId5" Type="http://schemas.openxmlformats.org/officeDocument/2006/relationships/slide" Target="slides/slide4.xml"/><Relationship Id="rId4" Type="http://schemas.openxmlformats.org/officeDocument/2006/relationships/slide" Target="slides/slide3.xml"/><Relationship Id="rId3" Type="http://schemas.openxmlformats.org/officeDocument/2006/relationships/slide" Target="slides/slide2.xml"/><Relationship Id="rId23" Type="http://schemas.openxmlformats.org/officeDocument/2006/relationships/viewProps" Target="viewProps.xml"/><Relationship Id="rId22" Type="http://schemas.openxmlformats.org/officeDocument/2006/relationships/tableStyles" Target="tableStyles.xml"/><Relationship Id="rId21" Type="http://schemas.openxmlformats.org/officeDocument/2006/relationships/presProps" Target="presProps.xml"/><Relationship Id="rId20" Type="http://schemas.openxmlformats.org/officeDocument/2006/relationships/slide" Target="slides/slide19.xml"/><Relationship Id="rId2" Type="http://schemas.openxmlformats.org/officeDocument/2006/relationships/slide" Target="slides/slide1.xml"/><Relationship Id="rId19" Type="http://schemas.openxmlformats.org/officeDocument/2006/relationships/slide" Target="slides/slide18.xml"/><Relationship Id="rId18" Type="http://schemas.openxmlformats.org/officeDocument/2006/relationships/slide" Target="slides/slide17.xml"/><Relationship Id="rId17" Type="http://schemas.openxmlformats.org/officeDocument/2006/relationships/slide" Target="slides/slide16.xml"/><Relationship Id="rId16" Type="http://schemas.openxmlformats.org/officeDocument/2006/relationships/slide" Target="slides/slide15.xml"/><Relationship Id="rId15" Type="http://schemas.openxmlformats.org/officeDocument/2006/relationships/slide" Target="slides/slide14.xml"/><Relationship Id="rId14" Type="http://schemas.openxmlformats.org/officeDocument/2006/relationships/slide" Target="slides/slide13.xml"/><Relationship Id="rId13" Type="http://schemas.openxmlformats.org/officeDocument/2006/relationships/slide" Target="slides/slide12.xml"/><Relationship Id="rId12" Type="http://schemas.openxmlformats.org/officeDocument/2006/relationships/slide" Target="slides/slide11.xml"/><Relationship Id="rId11" Type="http://schemas.openxmlformats.org/officeDocument/2006/relationships/slide" Target="slides/slide10.xml"/><Relationship Id="rId10" Type="http://schemas.openxmlformats.org/officeDocument/2006/relationships/slide" Target="slides/slide9.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jpeg"/><Relationship Id="rId7" Type="http://schemas.openxmlformats.org/officeDocument/2006/relationships/image" Target="../media/image9.png"/><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4" Type="http://schemas.openxmlformats.org/officeDocument/2006/relationships/image" Target="../media/image13.png"/><Relationship Id="rId3" Type="http://schemas.openxmlformats.org/officeDocument/2006/relationships/image" Target="../media/image10.jpeg"/><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image" Target="../media/image13.png"/><Relationship Id="rId4" Type="http://schemas.openxmlformats.org/officeDocument/2006/relationships/image" Target="../media/image10.jpe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8" Type="http://schemas.openxmlformats.org/officeDocument/2006/relationships/image" Target="../media/image30.png"/><Relationship Id="rId17" Type="http://schemas.openxmlformats.org/officeDocument/2006/relationships/image" Target="../media/image29.png"/><Relationship Id="rId16" Type="http://schemas.openxmlformats.org/officeDocument/2006/relationships/image" Target="../media/image28.png"/><Relationship Id="rId15" Type="http://schemas.openxmlformats.org/officeDocument/2006/relationships/image" Target="../media/image11.png"/><Relationship Id="rId14" Type="http://schemas.openxmlformats.org/officeDocument/2006/relationships/image" Target="../media/image27.png"/><Relationship Id="rId13" Type="http://schemas.openxmlformats.org/officeDocument/2006/relationships/image" Target="../media/image10.jpeg"/><Relationship Id="rId12" Type="http://schemas.openxmlformats.org/officeDocument/2006/relationships/image" Target="../media/image26.png"/><Relationship Id="rId11" Type="http://schemas.openxmlformats.org/officeDocument/2006/relationships/image" Target="../media/image25.png"/><Relationship Id="rId10" Type="http://schemas.openxmlformats.org/officeDocument/2006/relationships/image" Target="../media/image2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image" Target="../media/image37.png"/><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8" Type="http://schemas.openxmlformats.org/officeDocument/2006/relationships/image" Target="../media/image45.png"/><Relationship Id="rId17" Type="http://schemas.openxmlformats.org/officeDocument/2006/relationships/image" Target="../media/image44.png"/><Relationship Id="rId16" Type="http://schemas.openxmlformats.org/officeDocument/2006/relationships/image" Target="../media/image43.png"/><Relationship Id="rId15" Type="http://schemas.openxmlformats.org/officeDocument/2006/relationships/image" Target="../media/image11.png"/><Relationship Id="rId14" Type="http://schemas.openxmlformats.org/officeDocument/2006/relationships/image" Target="../media/image10.jpeg"/><Relationship Id="rId13" Type="http://schemas.openxmlformats.org/officeDocument/2006/relationships/image" Target="../media/image42.png"/><Relationship Id="rId12" Type="http://schemas.openxmlformats.org/officeDocument/2006/relationships/image" Target="../media/image41.png"/><Relationship Id="rId11" Type="http://schemas.openxmlformats.org/officeDocument/2006/relationships/image" Target="../media/image40.png"/><Relationship Id="rId10" Type="http://schemas.openxmlformats.org/officeDocument/2006/relationships/image" Target="../media/image3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png"/><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32.png"/><Relationship Id="rId2" Type="http://schemas.openxmlformats.org/officeDocument/2006/relationships/image" Target="../media/image46.png"/><Relationship Id="rId18" Type="http://schemas.openxmlformats.org/officeDocument/2006/relationships/image" Target="../media/image59.png"/><Relationship Id="rId17" Type="http://schemas.openxmlformats.org/officeDocument/2006/relationships/image" Target="../media/image58.png"/><Relationship Id="rId16" Type="http://schemas.openxmlformats.org/officeDocument/2006/relationships/image" Target="../media/image11.png"/><Relationship Id="rId15" Type="http://schemas.openxmlformats.org/officeDocument/2006/relationships/image" Target="../media/image10.jpeg"/><Relationship Id="rId14" Type="http://schemas.openxmlformats.org/officeDocument/2006/relationships/image" Target="../media/image57.png"/><Relationship Id="rId13" Type="http://schemas.openxmlformats.org/officeDocument/2006/relationships/image" Target="../media/image56.png"/><Relationship Id="rId12" Type="http://schemas.openxmlformats.org/officeDocument/2006/relationships/image" Target="../media/image55.png"/><Relationship Id="rId11" Type="http://schemas.openxmlformats.org/officeDocument/2006/relationships/image" Target="../media/image54.png"/><Relationship Id="rId10" Type="http://schemas.openxmlformats.org/officeDocument/2006/relationships/image" Target="../media/image5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image" Target="../media/image13.png"/><Relationship Id="rId3" Type="http://schemas.openxmlformats.org/officeDocument/2006/relationships/image" Target="../media/image10.jpe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4" Type="http://schemas.openxmlformats.org/officeDocument/2006/relationships/image" Target="../media/image11.png"/><Relationship Id="rId3" Type="http://schemas.openxmlformats.org/officeDocument/2006/relationships/image" Target="../media/image10.jpeg"/><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4" Type="http://schemas.openxmlformats.org/officeDocument/2006/relationships/image" Target="../media/image11.png"/><Relationship Id="rId3" Type="http://schemas.openxmlformats.org/officeDocument/2006/relationships/image" Target="../media/image10.jpe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67.png"/><Relationship Id="rId7" Type="http://schemas.openxmlformats.org/officeDocument/2006/relationships/image" Target="../media/image11.png"/><Relationship Id="rId6" Type="http://schemas.openxmlformats.org/officeDocument/2006/relationships/image" Target="../media/image10.jpeg"/><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9" Type="http://schemas.openxmlformats.org/officeDocument/2006/relationships/image" Target="../media/image74.png"/><Relationship Id="rId8" Type="http://schemas.openxmlformats.org/officeDocument/2006/relationships/image" Target="../media/image73.png"/><Relationship Id="rId7" Type="http://schemas.openxmlformats.org/officeDocument/2006/relationships/image" Target="../media/image72.png"/><Relationship Id="rId6" Type="http://schemas.openxmlformats.org/officeDocument/2006/relationships/image" Target="../media/image10.jpe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11.png"/><Relationship Id="rId10" Type="http://schemas.openxmlformats.org/officeDocument/2006/relationships/image" Target="../media/image7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jpeg"/><Relationship Id="rId7" Type="http://schemas.openxmlformats.org/officeDocument/2006/relationships/image" Target="../media/image88.jpeg"/><Relationship Id="rId6" Type="http://schemas.openxmlformats.org/officeDocument/2006/relationships/image" Target="../media/image87.jpeg"/><Relationship Id="rId5" Type="http://schemas.openxmlformats.org/officeDocument/2006/relationships/image" Target="../media/image86.jpeg"/><Relationship Id="rId4" Type="http://schemas.openxmlformats.org/officeDocument/2006/relationships/image" Target="../media/image85.jpeg"/><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image" Target="../media/image8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0" y="2267711"/>
            <a:ext cx="8868156" cy="4590288"/>
          </a:xfrm>
          <a:prstGeom prst="rect">
            <a:avLst/>
          </a:prstGeom>
        </p:spPr>
      </p:pic>
      <p:sp>
        <p:nvSpPr>
          <p:cNvPr id="4" name="textbox 4"/>
          <p:cNvSpPr/>
          <p:nvPr/>
        </p:nvSpPr>
        <p:spPr>
          <a:xfrm>
            <a:off x="3057499" y="2313355"/>
            <a:ext cx="6503034" cy="2580639"/>
          </a:xfrm>
          <a:prstGeom prst="rect">
            <a:avLst/>
          </a:prstGeom>
          <a:noFill/>
          <a:ln w="0" cap="flat">
            <a:noFill/>
            <a:prstDash val="solid"/>
            <a:miter lim="0"/>
          </a:ln>
        </p:spPr>
        <p:txBody>
          <a:bodyPr vert="horz" wrap="square" lIns="0" tIns="0" rIns="0" bIns="0"/>
          <a:lstStyle/>
          <a:p>
            <a:pPr algn="l" rtl="0" eaLnBrk="0">
              <a:lnSpc>
                <a:spcPct val="68223"/>
              </a:lnSpc>
              <a:tabLst/>
            </a:pPr>
            <a:endParaRPr sz="100" dirty="0">
              <a:latin typeface="Arial"/>
              <a:ea typeface="Arial"/>
              <a:cs typeface="Arial"/>
            </a:endParaRPr>
          </a:p>
          <a:p>
            <a:pPr marL="12700" algn="l" rtl="0" eaLnBrk="0">
              <a:lnSpc>
                <a:spcPct val="87000"/>
              </a:lnSpc>
              <a:tabLst/>
            </a:pPr>
            <a:r>
              <a:rPr sz="5300" b="1" kern="0" spc="0" dirty="0">
                <a:solidFill>
                  <a:srgbClr val="C00000">
                    <a:alpha val="100000"/>
                  </a:srgbClr>
                </a:solidFill>
                <a:latin typeface="Microsoft YaHei"/>
                <a:ea typeface="Microsoft YaHei"/>
                <a:cs typeface="Microsoft YaHei"/>
              </a:rPr>
              <a:t>NB</a:t>
            </a:r>
            <a:r>
              <a:rPr sz="5300" b="1" kern="0" spc="50" dirty="0">
                <a:solidFill>
                  <a:srgbClr val="C00000">
                    <a:alpha val="100000"/>
                  </a:srgbClr>
                </a:solidFill>
                <a:latin typeface="Microsoft YaHei"/>
                <a:ea typeface="Microsoft YaHei"/>
                <a:cs typeface="Microsoft YaHei"/>
              </a:rPr>
              <a:t>网关设备迁移方案</a:t>
            </a:r>
            <a:endParaRPr sz="5300" dirty="0">
              <a:latin typeface="Microsoft YaHei"/>
              <a:ea typeface="Microsoft YaHei"/>
              <a:cs typeface="Microsoft YaHei"/>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marL="1771650" algn="l" rtl="0" eaLnBrk="0">
              <a:lnSpc>
                <a:spcPct val="87000"/>
              </a:lnSpc>
              <a:spcBef>
                <a:spcPts val="604"/>
              </a:spcBef>
              <a:tabLst/>
            </a:pPr>
            <a:r>
              <a:rPr sz="2000" kern="0" spc="-10" dirty="0">
                <a:solidFill>
                  <a:srgbClr val="808080">
                    <a:alpha val="100000"/>
                  </a:srgbClr>
                </a:solidFill>
                <a:latin typeface="Microsoft YaHei"/>
                <a:ea typeface="Microsoft YaHei"/>
                <a:cs typeface="Microsoft YaHei"/>
              </a:rPr>
              <a:t>天翼物联科技有限公司</a:t>
            </a:r>
            <a:endParaRPr sz="2000" dirty="0">
              <a:latin typeface="Microsoft YaHei"/>
              <a:ea typeface="Microsoft YaHei"/>
              <a:cs typeface="Microsoft YaHei"/>
            </a:endParaRPr>
          </a:p>
          <a:p>
            <a:pPr marL="2350770" algn="l" rtl="0" eaLnBrk="0">
              <a:lnSpc>
                <a:spcPts val="2588"/>
              </a:lnSpc>
              <a:spcBef>
                <a:spcPts val="550"/>
              </a:spcBef>
              <a:tabLst/>
            </a:pPr>
            <a:r>
              <a:rPr sz="2000" kern="0" spc="-20" dirty="0">
                <a:solidFill>
                  <a:srgbClr val="808080">
                    <a:alpha val="100000"/>
                  </a:srgbClr>
                </a:solidFill>
                <a:latin typeface="Microsoft YaHei"/>
                <a:ea typeface="Microsoft YaHei"/>
                <a:cs typeface="Microsoft YaHei"/>
              </a:rPr>
              <a:t>2025年12月</a:t>
            </a:r>
            <a:endParaRPr sz="2000" dirty="0">
              <a:latin typeface="Microsoft YaHei"/>
              <a:ea typeface="Microsoft YaHei"/>
              <a:cs typeface="Microsoft YaHei"/>
            </a:endParaRPr>
          </a:p>
        </p:txBody>
      </p:sp>
      <p:pic>
        <p:nvPicPr>
          <p:cNvPr id="6" name="picture 6"/>
          <p:cNvPicPr>
            <a:picLocks noChangeAspect="1"/>
          </p:cNvPicPr>
          <p:nvPr/>
        </p:nvPicPr>
        <p:blipFill>
          <a:blip r:embed="rId3"/>
          <a:stretch>
            <a:fillRect/>
          </a:stretch>
        </p:blipFill>
        <p:spPr>
          <a:xfrm rot="21600000">
            <a:off x="275159" y="220025"/>
            <a:ext cx="2903497" cy="996243"/>
          </a:xfrm>
          <a:prstGeom prst="rect">
            <a:avLst/>
          </a:prstGeom>
        </p:spPr>
      </p:pic>
      <p:pic>
        <p:nvPicPr>
          <p:cNvPr id="8" name="picture 8"/>
          <p:cNvPicPr>
            <a:picLocks noChangeAspect="1"/>
          </p:cNvPicPr>
          <p:nvPr/>
        </p:nvPicPr>
        <p:blipFill>
          <a:blip r:embed="rId4"/>
          <a:stretch>
            <a:fillRect/>
          </a:stretch>
        </p:blipFill>
        <p:spPr>
          <a:xfrm rot="21600000">
            <a:off x="11199876" y="313943"/>
            <a:ext cx="888492" cy="5440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474624" y="3809314"/>
            <a:ext cx="3478530" cy="2468879"/>
            <a:chOff x="0" y="0"/>
            <a:chExt cx="3478530" cy="2468879"/>
          </a:xfrm>
        </p:grpSpPr>
        <p:pic>
          <p:nvPicPr>
            <p:cNvPr id="10" name="picture 10"/>
            <p:cNvPicPr>
              <a:picLocks noChangeAspect="1"/>
            </p:cNvPicPr>
            <p:nvPr/>
          </p:nvPicPr>
          <p:blipFill>
            <a:blip r:embed="rId2"/>
            <a:stretch>
              <a:fillRect/>
            </a:stretch>
          </p:blipFill>
          <p:spPr>
            <a:xfrm rot="21600000">
              <a:off x="0" y="0"/>
              <a:ext cx="3478530" cy="2468879"/>
            </a:xfrm>
            <a:prstGeom prst="rect">
              <a:avLst/>
            </a:prstGeom>
          </p:spPr>
        </p:pic>
        <p:sp>
          <p:nvSpPr>
            <p:cNvPr id="12" name="textbox 12"/>
            <p:cNvSpPr/>
            <p:nvPr/>
          </p:nvSpPr>
          <p:spPr>
            <a:xfrm>
              <a:off x="-12700" y="-12700"/>
              <a:ext cx="3504565" cy="2504439"/>
            </a:xfrm>
            <a:prstGeom prst="rect">
              <a:avLst/>
            </a:prstGeom>
            <a:noFill/>
            <a:ln w="0" cap="flat">
              <a:noFill/>
              <a:prstDash val="solid"/>
              <a:miter lim="0"/>
            </a:ln>
          </p:spPr>
          <p:txBody>
            <a:bodyPr vert="horz" wrap="square" lIns="0" tIns="0" rIns="0" bIns="0"/>
            <a:lstStyle/>
            <a:p>
              <a:pPr algn="l" rtl="0" eaLnBrk="0">
                <a:lnSpc>
                  <a:spcPct val="131000"/>
                </a:lnSpc>
                <a:tabLst/>
              </a:pPr>
              <a:endParaRPr sz="1000" dirty="0">
                <a:latin typeface="Arial"/>
                <a:ea typeface="Arial"/>
                <a:cs typeface="Arial"/>
              </a:endParaRPr>
            </a:p>
            <a:p>
              <a:pPr algn="l" rtl="0" eaLnBrk="0">
                <a:lnSpc>
                  <a:spcPct val="132000"/>
                </a:lnSpc>
                <a:tabLst/>
              </a:pPr>
              <a:endParaRPr sz="1000" dirty="0">
                <a:latin typeface="Arial"/>
                <a:ea typeface="Arial"/>
                <a:cs typeface="Arial"/>
              </a:endParaRPr>
            </a:p>
            <a:p>
              <a:pPr algn="l" rtl="0" eaLnBrk="0">
                <a:lnSpc>
                  <a:spcPct val="9596"/>
                </a:lnSpc>
                <a:tabLst/>
              </a:pPr>
              <a:endParaRPr sz="100" dirty="0">
                <a:latin typeface="Arial"/>
                <a:ea typeface="Arial"/>
                <a:cs typeface="Arial"/>
              </a:endParaRPr>
            </a:p>
            <a:p>
              <a:pPr marL="390525" algn="l" rtl="0" eaLnBrk="0">
                <a:lnSpc>
                  <a:spcPct val="98000"/>
                </a:lnSpc>
                <a:tabLst/>
              </a:pPr>
              <a:r>
                <a:rPr sz="1500" kern="0" spc="50" dirty="0">
                  <a:solidFill>
                    <a:srgbClr val="000000">
                      <a:alpha val="100000"/>
                    </a:srgbClr>
                  </a:solidFill>
                  <a:latin typeface="Wingdings"/>
                  <a:ea typeface="Wingdings"/>
                  <a:cs typeface="Wingdings"/>
                </a:rPr>
                <a:t>n</a:t>
              </a:r>
              <a:r>
                <a:rPr sz="1500" kern="0" spc="-380" dirty="0">
                  <a:solidFill>
                    <a:srgbClr val="000000">
                      <a:alpha val="100000"/>
                    </a:srgbClr>
                  </a:solidFill>
                  <a:latin typeface="Wingdings"/>
                  <a:ea typeface="Wingdings"/>
                  <a:cs typeface="Wingdings"/>
                </a:rPr>
                <a:t> </a:t>
              </a:r>
              <a:r>
                <a:rPr sz="1500" b="1" kern="0" spc="50" dirty="0">
                  <a:solidFill>
                    <a:srgbClr val="000000">
                      <a:alpha val="100000"/>
                    </a:srgbClr>
                  </a:solidFill>
                  <a:latin typeface="Microsoft YaHei"/>
                  <a:ea typeface="Microsoft YaHei"/>
                  <a:cs typeface="Microsoft YaHei"/>
                </a:rPr>
                <a:t>设备侧配置：</a:t>
              </a:r>
              <a:endParaRPr sz="1500" dirty="0">
                <a:latin typeface="Microsoft YaHei"/>
                <a:ea typeface="Microsoft YaHei"/>
                <a:cs typeface="Microsoft YaHei"/>
              </a:endParaRPr>
            </a:p>
            <a:p>
              <a:pPr marL="382904" algn="l" rtl="0" eaLnBrk="0">
                <a:lnSpc>
                  <a:spcPts val="1813"/>
                </a:lnSpc>
                <a:spcBef>
                  <a:spcPts val="449"/>
                </a:spcBef>
                <a:tabLst/>
              </a:pPr>
              <a:r>
                <a:rPr sz="1400" kern="0" spc="-20" dirty="0">
                  <a:solidFill>
                    <a:srgbClr val="000000">
                      <a:alpha val="100000"/>
                    </a:srgbClr>
                  </a:solidFill>
                  <a:latin typeface="Arial"/>
                  <a:ea typeface="Arial"/>
                  <a:cs typeface="Arial"/>
                </a:rPr>
                <a:t>•</a:t>
              </a:r>
              <a:r>
                <a:rPr sz="1400" kern="0" spc="70" dirty="0">
                  <a:solidFill>
                    <a:srgbClr val="000000">
                      <a:alpha val="100000"/>
                    </a:srgbClr>
                  </a:solidFill>
                  <a:latin typeface="Arial"/>
                  <a:ea typeface="Arial"/>
                  <a:cs typeface="Arial"/>
                </a:rPr>
                <a:t>    </a:t>
              </a:r>
              <a:r>
                <a:rPr sz="1400" kern="0" spc="-20" dirty="0">
                  <a:solidFill>
                    <a:srgbClr val="000000">
                      <a:alpha val="100000"/>
                    </a:srgbClr>
                  </a:solidFill>
                  <a:latin typeface="Microsoft YaHei"/>
                  <a:ea typeface="Microsoft YaHei"/>
                  <a:cs typeface="Microsoft YaHei"/>
                </a:rPr>
                <a:t>设备IP：</a:t>
              </a:r>
              <a:r>
                <a:rPr sz="1400" kern="0" spc="-26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117.60.157.137</a:t>
              </a:r>
              <a:endParaRPr sz="1400" dirty="0">
                <a:latin typeface="Microsoft YaHei"/>
                <a:ea typeface="Microsoft YaHei"/>
                <a:cs typeface="Microsoft YaHei"/>
              </a:endParaRPr>
            </a:p>
            <a:p>
              <a:pPr marL="382904" algn="l" rtl="0" eaLnBrk="0">
                <a:lnSpc>
                  <a:spcPct val="93000"/>
                </a:lnSpc>
                <a:spcBef>
                  <a:spcPts val="633"/>
                </a:spcBef>
                <a:tabLst/>
              </a:pPr>
              <a:r>
                <a:rPr sz="1400" kern="0" spc="-50" dirty="0">
                  <a:solidFill>
                    <a:srgbClr val="000000">
                      <a:alpha val="100000"/>
                    </a:srgbClr>
                  </a:solidFill>
                  <a:latin typeface="Arial"/>
                  <a:ea typeface="Arial"/>
                  <a:cs typeface="Arial"/>
                </a:rPr>
                <a:t>•</a:t>
              </a:r>
              <a:r>
                <a:rPr sz="1400" kern="0" spc="50" dirty="0">
                  <a:solidFill>
                    <a:srgbClr val="000000">
                      <a:alpha val="100000"/>
                    </a:srgbClr>
                  </a:solidFill>
                  <a:latin typeface="Arial"/>
                  <a:ea typeface="Arial"/>
                  <a:cs typeface="Arial"/>
                </a:rPr>
                <a:t>    </a:t>
              </a:r>
              <a:r>
                <a:rPr sz="1400" kern="0" spc="-50" dirty="0">
                  <a:solidFill>
                    <a:srgbClr val="000000">
                      <a:alpha val="100000"/>
                    </a:srgbClr>
                  </a:solidFill>
                  <a:latin typeface="Microsoft YaHei"/>
                  <a:ea typeface="Microsoft YaHei"/>
                  <a:cs typeface="Microsoft YaHei"/>
                </a:rPr>
                <a:t>协议</a:t>
              </a:r>
              <a:r>
                <a:rPr sz="1400" kern="0" spc="-140" dirty="0">
                  <a:solidFill>
                    <a:srgbClr val="000000">
                      <a:alpha val="100000"/>
                    </a:srgbClr>
                  </a:solidFill>
                  <a:latin typeface="Microsoft YaHei"/>
                  <a:ea typeface="Microsoft YaHei"/>
                  <a:cs typeface="Microsoft YaHei"/>
                </a:rPr>
                <a:t> </a:t>
              </a:r>
              <a:r>
                <a:rPr sz="1400" kern="0" spc="-50" dirty="0">
                  <a:solidFill>
                    <a:srgbClr val="000000">
                      <a:alpha val="100000"/>
                    </a:srgbClr>
                  </a:solidFill>
                  <a:latin typeface="Microsoft YaHei"/>
                  <a:ea typeface="Microsoft YaHei"/>
                  <a:cs typeface="Microsoft YaHei"/>
                </a:rPr>
                <a:t>：Coap</a:t>
              </a:r>
              <a:endParaRPr sz="1400" dirty="0">
                <a:latin typeface="Microsoft YaHei"/>
                <a:ea typeface="Microsoft YaHei"/>
                <a:cs typeface="Microsoft YaHei"/>
              </a:endParaRPr>
            </a:p>
            <a:p>
              <a:pPr algn="l" rtl="0" eaLnBrk="0">
                <a:lnSpc>
                  <a:spcPct val="108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marL="390525" algn="l" rtl="0" eaLnBrk="0">
                <a:lnSpc>
                  <a:spcPct val="98000"/>
                </a:lnSpc>
                <a:spcBef>
                  <a:spcPts val="458"/>
                </a:spcBef>
                <a:tabLst/>
              </a:pPr>
              <a:r>
                <a:rPr sz="1500" kern="0" spc="40" dirty="0">
                  <a:solidFill>
                    <a:srgbClr val="000000">
                      <a:alpha val="100000"/>
                    </a:srgbClr>
                  </a:solidFill>
                  <a:latin typeface="Wingdings"/>
                  <a:ea typeface="Wingdings"/>
                  <a:cs typeface="Wingdings"/>
                </a:rPr>
                <a:t>n</a:t>
              </a:r>
              <a:r>
                <a:rPr sz="1500" kern="0" spc="-370" dirty="0">
                  <a:solidFill>
                    <a:srgbClr val="000000">
                      <a:alpha val="100000"/>
                    </a:srgbClr>
                  </a:solidFill>
                  <a:latin typeface="Wingdings"/>
                  <a:ea typeface="Wingdings"/>
                  <a:cs typeface="Wingdings"/>
                </a:rPr>
                <a:t> </a:t>
              </a:r>
              <a:r>
                <a:rPr sz="1500" b="1" kern="0" spc="40" dirty="0">
                  <a:solidFill>
                    <a:srgbClr val="000000">
                      <a:alpha val="100000"/>
                    </a:srgbClr>
                  </a:solidFill>
                  <a:latin typeface="Microsoft YaHei"/>
                  <a:ea typeface="Microsoft YaHei"/>
                  <a:cs typeface="Microsoft YaHei"/>
                </a:rPr>
                <a:t>卡片配置：</a:t>
              </a:r>
              <a:endParaRPr sz="1500" dirty="0">
                <a:latin typeface="Microsoft YaHei"/>
                <a:ea typeface="Microsoft YaHei"/>
                <a:cs typeface="Microsoft YaHei"/>
              </a:endParaRPr>
            </a:p>
            <a:p>
              <a:pPr algn="l" rtl="0" eaLnBrk="0">
                <a:lnSpc>
                  <a:spcPct val="118000"/>
                </a:lnSpc>
                <a:tabLst/>
              </a:pPr>
              <a:endParaRPr sz="500" dirty="0">
                <a:latin typeface="Arial"/>
                <a:ea typeface="Arial"/>
                <a:cs typeface="Arial"/>
              </a:endParaRPr>
            </a:p>
            <a:p>
              <a:pPr marL="382904" algn="l" rtl="0" eaLnBrk="0">
                <a:lnSpc>
                  <a:spcPct val="87000"/>
                </a:lnSpc>
                <a:spcBef>
                  <a:spcPts val="5"/>
                </a:spcBef>
                <a:tabLst/>
              </a:pPr>
              <a:r>
                <a:rPr sz="1400" kern="0" spc="-30" dirty="0">
                  <a:solidFill>
                    <a:srgbClr val="000000">
                      <a:alpha val="100000"/>
                    </a:srgbClr>
                  </a:solidFill>
                  <a:latin typeface="Arial"/>
                  <a:ea typeface="Arial"/>
                  <a:cs typeface="Arial"/>
                </a:rPr>
                <a:t>•</a:t>
              </a:r>
              <a:r>
                <a:rPr sz="1400" kern="0" spc="90" dirty="0">
                  <a:solidFill>
                    <a:srgbClr val="000000">
                      <a:alpha val="100000"/>
                    </a:srgbClr>
                  </a:solidFill>
                  <a:latin typeface="Arial"/>
                  <a:ea typeface="Arial"/>
                  <a:cs typeface="Arial"/>
                </a:rPr>
                <a:t>    </a:t>
              </a:r>
              <a:r>
                <a:rPr sz="1400" kern="0" spc="-30" dirty="0">
                  <a:solidFill>
                    <a:srgbClr val="000000">
                      <a:alpha val="100000"/>
                    </a:srgbClr>
                  </a:solidFill>
                  <a:latin typeface="Microsoft YaHei"/>
                  <a:ea typeface="Microsoft YaHei"/>
                  <a:cs typeface="Microsoft YaHei"/>
                </a:rPr>
                <a:t>NB网关融合定向</a:t>
              </a:r>
              <a:endParaRPr sz="1400" dirty="0">
                <a:latin typeface="Microsoft YaHei"/>
                <a:ea typeface="Microsoft YaHei"/>
                <a:cs typeface="Microsoft YaHei"/>
              </a:endParaRPr>
            </a:p>
          </p:txBody>
        </p:sp>
      </p:grpSp>
      <p:grpSp>
        <p:nvGrpSpPr>
          <p:cNvPr id="4" name="group 4"/>
          <p:cNvGrpSpPr/>
          <p:nvPr/>
        </p:nvGrpSpPr>
        <p:grpSpPr>
          <a:xfrm rot="21600000">
            <a:off x="4310024" y="3809314"/>
            <a:ext cx="3462655" cy="2468206"/>
            <a:chOff x="0" y="0"/>
            <a:chExt cx="3462655" cy="2468206"/>
          </a:xfrm>
        </p:grpSpPr>
        <p:pic>
          <p:nvPicPr>
            <p:cNvPr id="14" name="picture 14"/>
            <p:cNvPicPr>
              <a:picLocks noChangeAspect="1"/>
            </p:cNvPicPr>
            <p:nvPr/>
          </p:nvPicPr>
          <p:blipFill>
            <a:blip r:embed="rId3"/>
            <a:stretch>
              <a:fillRect/>
            </a:stretch>
          </p:blipFill>
          <p:spPr>
            <a:xfrm rot="21600000">
              <a:off x="0" y="0"/>
              <a:ext cx="3462655" cy="2468206"/>
            </a:xfrm>
            <a:prstGeom prst="rect">
              <a:avLst/>
            </a:prstGeom>
          </p:spPr>
        </p:pic>
        <p:sp>
          <p:nvSpPr>
            <p:cNvPr id="16" name="textbox 16"/>
            <p:cNvSpPr/>
            <p:nvPr/>
          </p:nvSpPr>
          <p:spPr>
            <a:xfrm>
              <a:off x="-12700" y="-12700"/>
              <a:ext cx="3488690" cy="2493645"/>
            </a:xfrm>
            <a:prstGeom prst="rect">
              <a:avLst/>
            </a:prstGeom>
            <a:noFill/>
            <a:ln w="0" cap="flat">
              <a:noFill/>
              <a:prstDash val="solid"/>
              <a:miter lim="0"/>
            </a:ln>
          </p:spPr>
          <p:txBody>
            <a:bodyPr vert="horz" wrap="square" lIns="0" tIns="0" rIns="0" bIns="0"/>
            <a:lstStyle/>
            <a:p>
              <a:pPr algn="l" rtl="0" eaLnBrk="0">
                <a:lnSpc>
                  <a:spcPct val="131000"/>
                </a:lnSpc>
                <a:tabLst/>
              </a:pPr>
              <a:endParaRPr sz="1000" dirty="0">
                <a:latin typeface="Arial"/>
                <a:ea typeface="Arial"/>
                <a:cs typeface="Arial"/>
              </a:endParaRPr>
            </a:p>
            <a:p>
              <a:pPr algn="l" rtl="0" eaLnBrk="0">
                <a:lnSpc>
                  <a:spcPct val="132000"/>
                </a:lnSpc>
                <a:tabLst/>
              </a:pPr>
              <a:endParaRPr sz="1000" dirty="0">
                <a:latin typeface="Arial"/>
                <a:ea typeface="Arial"/>
                <a:cs typeface="Arial"/>
              </a:endParaRPr>
            </a:p>
            <a:p>
              <a:pPr algn="l" rtl="0" eaLnBrk="0">
                <a:lnSpc>
                  <a:spcPct val="9596"/>
                </a:lnSpc>
                <a:tabLst/>
              </a:pPr>
              <a:endParaRPr sz="100" dirty="0">
                <a:latin typeface="Arial"/>
                <a:ea typeface="Arial"/>
                <a:cs typeface="Arial"/>
              </a:endParaRPr>
            </a:p>
            <a:p>
              <a:pPr marL="436244" algn="l" rtl="0" eaLnBrk="0">
                <a:lnSpc>
                  <a:spcPct val="98000"/>
                </a:lnSpc>
                <a:tabLst/>
              </a:pPr>
              <a:r>
                <a:rPr sz="1500" kern="0" spc="50" dirty="0">
                  <a:solidFill>
                    <a:srgbClr val="000000">
                      <a:alpha val="100000"/>
                    </a:srgbClr>
                  </a:solidFill>
                  <a:latin typeface="Wingdings"/>
                  <a:ea typeface="Wingdings"/>
                  <a:cs typeface="Wingdings"/>
                </a:rPr>
                <a:t>n</a:t>
              </a:r>
              <a:r>
                <a:rPr sz="1500" kern="0" spc="-380" dirty="0">
                  <a:solidFill>
                    <a:srgbClr val="000000">
                      <a:alpha val="100000"/>
                    </a:srgbClr>
                  </a:solidFill>
                  <a:latin typeface="Wingdings"/>
                  <a:ea typeface="Wingdings"/>
                  <a:cs typeface="Wingdings"/>
                </a:rPr>
                <a:t> </a:t>
              </a:r>
              <a:r>
                <a:rPr sz="1500" b="1" kern="0" spc="50" dirty="0">
                  <a:solidFill>
                    <a:srgbClr val="000000">
                      <a:alpha val="100000"/>
                    </a:srgbClr>
                  </a:solidFill>
                  <a:latin typeface="Microsoft YaHei"/>
                  <a:ea typeface="Microsoft YaHei"/>
                  <a:cs typeface="Microsoft YaHei"/>
                </a:rPr>
                <a:t>设备侧配置：</a:t>
              </a:r>
              <a:endParaRPr sz="1500" dirty="0">
                <a:latin typeface="Microsoft YaHei"/>
                <a:ea typeface="Microsoft YaHei"/>
                <a:cs typeface="Microsoft YaHei"/>
              </a:endParaRPr>
            </a:p>
            <a:p>
              <a:pPr marL="428625" algn="l" rtl="0" eaLnBrk="0">
                <a:lnSpc>
                  <a:spcPts val="1813"/>
                </a:lnSpc>
                <a:spcBef>
                  <a:spcPts val="449"/>
                </a:spcBef>
                <a:tabLst/>
              </a:pPr>
              <a:r>
                <a:rPr sz="1400" kern="0" spc="-10" dirty="0">
                  <a:solidFill>
                    <a:srgbClr val="000000">
                      <a:alpha val="100000"/>
                    </a:srgbClr>
                  </a:solidFill>
                  <a:latin typeface="Arial"/>
                  <a:ea typeface="Arial"/>
                  <a:cs typeface="Arial"/>
                </a:rPr>
                <a:t>•</a:t>
              </a:r>
              <a:r>
                <a:rPr sz="1400" kern="0" spc="60" dirty="0">
                  <a:solidFill>
                    <a:srgbClr val="000000">
                      <a:alpha val="100000"/>
                    </a:srgbClr>
                  </a:solidFill>
                  <a:latin typeface="Arial"/>
                  <a:ea typeface="Arial"/>
                  <a:cs typeface="Arial"/>
                </a:rPr>
                <a:t>    </a:t>
              </a:r>
              <a:r>
                <a:rPr sz="1400" kern="0" spc="-10" dirty="0">
                  <a:solidFill>
                    <a:srgbClr val="000000">
                      <a:alpha val="100000"/>
                    </a:srgbClr>
                  </a:solidFill>
                  <a:latin typeface="Microsoft YaHei"/>
                  <a:ea typeface="Microsoft YaHei"/>
                  <a:cs typeface="Microsoft YaHei"/>
                </a:rPr>
                <a:t>设备IP：221.229.214.202</a:t>
              </a:r>
              <a:endParaRPr sz="1400" dirty="0">
                <a:latin typeface="Microsoft YaHei"/>
                <a:ea typeface="Microsoft YaHei"/>
                <a:cs typeface="Microsoft YaHei"/>
              </a:endParaRPr>
            </a:p>
            <a:p>
              <a:pPr marL="428625" algn="l" rtl="0" eaLnBrk="0">
                <a:lnSpc>
                  <a:spcPts val="1813"/>
                </a:lnSpc>
                <a:spcBef>
                  <a:spcPts val="366"/>
                </a:spcBef>
                <a:tabLst/>
              </a:pPr>
              <a:r>
                <a:rPr sz="1400" kern="0" spc="-20" dirty="0">
                  <a:solidFill>
                    <a:srgbClr val="000000">
                      <a:alpha val="100000"/>
                    </a:srgbClr>
                  </a:solidFill>
                  <a:latin typeface="Arial"/>
                  <a:ea typeface="Arial"/>
                  <a:cs typeface="Arial"/>
                </a:rPr>
                <a:t>•</a:t>
              </a:r>
              <a:r>
                <a:rPr sz="1400" kern="0" spc="50" dirty="0">
                  <a:solidFill>
                    <a:srgbClr val="000000">
                      <a:alpha val="100000"/>
                    </a:srgbClr>
                  </a:solidFill>
                  <a:latin typeface="Arial"/>
                  <a:ea typeface="Arial"/>
                  <a:cs typeface="Arial"/>
                </a:rPr>
                <a:t>    </a:t>
              </a:r>
              <a:r>
                <a:rPr sz="1400" kern="0" spc="-20" dirty="0">
                  <a:solidFill>
                    <a:srgbClr val="000000">
                      <a:alpha val="100000"/>
                    </a:srgbClr>
                  </a:solidFill>
                  <a:latin typeface="Microsoft YaHei"/>
                  <a:ea typeface="Microsoft YaHei"/>
                  <a:cs typeface="Microsoft YaHei"/>
                </a:rPr>
                <a:t>协议：</a:t>
              </a:r>
              <a:r>
                <a:rPr sz="1400" kern="0" spc="-27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Lwm2m</a:t>
              </a:r>
              <a:endParaRPr sz="1400" dirty="0">
                <a:latin typeface="Microsoft YaHei"/>
                <a:ea typeface="Microsoft YaHei"/>
                <a:cs typeface="Microsoft YaHei"/>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marL="436244" algn="l" rtl="0" eaLnBrk="0">
                <a:lnSpc>
                  <a:spcPct val="98000"/>
                </a:lnSpc>
                <a:spcBef>
                  <a:spcPts val="461"/>
                </a:spcBef>
                <a:tabLst/>
              </a:pPr>
              <a:r>
                <a:rPr sz="1500" kern="0" spc="40" dirty="0">
                  <a:solidFill>
                    <a:srgbClr val="000000">
                      <a:alpha val="100000"/>
                    </a:srgbClr>
                  </a:solidFill>
                  <a:latin typeface="Wingdings"/>
                  <a:ea typeface="Wingdings"/>
                  <a:cs typeface="Wingdings"/>
                </a:rPr>
                <a:t>n</a:t>
              </a:r>
              <a:r>
                <a:rPr sz="1500" kern="0" spc="-370" dirty="0">
                  <a:solidFill>
                    <a:srgbClr val="000000">
                      <a:alpha val="100000"/>
                    </a:srgbClr>
                  </a:solidFill>
                  <a:latin typeface="Wingdings"/>
                  <a:ea typeface="Wingdings"/>
                  <a:cs typeface="Wingdings"/>
                </a:rPr>
                <a:t> </a:t>
              </a:r>
              <a:r>
                <a:rPr sz="1500" b="1" kern="0" spc="40" dirty="0">
                  <a:solidFill>
                    <a:srgbClr val="000000">
                      <a:alpha val="100000"/>
                    </a:srgbClr>
                  </a:solidFill>
                  <a:latin typeface="Microsoft YaHei"/>
                  <a:ea typeface="Microsoft YaHei"/>
                  <a:cs typeface="Microsoft YaHei"/>
                </a:rPr>
                <a:t>卡片配置：</a:t>
              </a:r>
              <a:endParaRPr sz="1500" dirty="0">
                <a:latin typeface="Microsoft YaHei"/>
                <a:ea typeface="Microsoft YaHei"/>
                <a:cs typeface="Microsoft YaHei"/>
              </a:endParaRPr>
            </a:p>
            <a:p>
              <a:pPr algn="l" rtl="0" eaLnBrk="0">
                <a:lnSpc>
                  <a:spcPct val="124000"/>
                </a:lnSpc>
                <a:tabLst/>
              </a:pPr>
              <a:endParaRPr sz="300" dirty="0">
                <a:latin typeface="Arial"/>
                <a:ea typeface="Arial"/>
                <a:cs typeface="Arial"/>
              </a:endParaRPr>
            </a:p>
            <a:p>
              <a:pPr marL="428625" algn="l" rtl="0" eaLnBrk="0">
                <a:lnSpc>
                  <a:spcPts val="1813"/>
                </a:lnSpc>
                <a:spcBef>
                  <a:spcPts val="3"/>
                </a:spcBef>
                <a:tabLst/>
              </a:pPr>
              <a:r>
                <a:rPr sz="1400" kern="0" spc="-10" dirty="0">
                  <a:solidFill>
                    <a:srgbClr val="000000">
                      <a:alpha val="100000"/>
                    </a:srgbClr>
                  </a:solidFill>
                  <a:latin typeface="Arial"/>
                  <a:ea typeface="Arial"/>
                  <a:cs typeface="Arial"/>
                </a:rPr>
                <a:t>•</a:t>
              </a:r>
              <a:r>
                <a:rPr sz="1400" kern="0" spc="60" dirty="0">
                  <a:solidFill>
                    <a:srgbClr val="000000">
                      <a:alpha val="100000"/>
                    </a:srgbClr>
                  </a:solidFill>
                  <a:latin typeface="Arial"/>
                  <a:ea typeface="Arial"/>
                  <a:cs typeface="Arial"/>
                </a:rPr>
                <a:t>    </a:t>
              </a:r>
              <a:r>
                <a:rPr sz="1400" kern="0" spc="-10" dirty="0">
                  <a:solidFill>
                    <a:srgbClr val="000000">
                      <a:alpha val="100000"/>
                    </a:srgbClr>
                  </a:solidFill>
                  <a:latin typeface="Microsoft YaHei"/>
                  <a:ea typeface="Microsoft YaHei"/>
                  <a:cs typeface="Microsoft YaHei"/>
                </a:rPr>
                <a:t>CTWing-AEP集约和分布</a:t>
              </a:r>
              <a:endParaRPr sz="1400" dirty="0">
                <a:latin typeface="Microsoft YaHei"/>
                <a:ea typeface="Microsoft YaHei"/>
                <a:cs typeface="Microsoft YaHei"/>
              </a:endParaRPr>
            </a:p>
          </p:txBody>
        </p:sp>
      </p:grpSp>
      <p:grpSp>
        <p:nvGrpSpPr>
          <p:cNvPr id="6" name="group 6"/>
          <p:cNvGrpSpPr/>
          <p:nvPr/>
        </p:nvGrpSpPr>
        <p:grpSpPr>
          <a:xfrm rot="21600000">
            <a:off x="8143519" y="3809949"/>
            <a:ext cx="3423284" cy="2468206"/>
            <a:chOff x="0" y="0"/>
            <a:chExt cx="3423284" cy="2468206"/>
          </a:xfrm>
        </p:grpSpPr>
        <p:pic>
          <p:nvPicPr>
            <p:cNvPr id="18" name="picture 18"/>
            <p:cNvPicPr>
              <a:picLocks noChangeAspect="1"/>
            </p:cNvPicPr>
            <p:nvPr/>
          </p:nvPicPr>
          <p:blipFill>
            <a:blip r:embed="rId4"/>
            <a:stretch>
              <a:fillRect/>
            </a:stretch>
          </p:blipFill>
          <p:spPr>
            <a:xfrm rot="21600000">
              <a:off x="0" y="0"/>
              <a:ext cx="3423284" cy="2468206"/>
            </a:xfrm>
            <a:prstGeom prst="rect">
              <a:avLst/>
            </a:prstGeom>
          </p:spPr>
        </p:pic>
        <p:sp>
          <p:nvSpPr>
            <p:cNvPr id="20" name="textbox 20"/>
            <p:cNvSpPr/>
            <p:nvPr/>
          </p:nvSpPr>
          <p:spPr>
            <a:xfrm>
              <a:off x="-12700" y="-12700"/>
              <a:ext cx="3448684" cy="2493645"/>
            </a:xfrm>
            <a:prstGeom prst="rect">
              <a:avLst/>
            </a:prstGeom>
            <a:noFill/>
            <a:ln w="0" cap="flat">
              <a:noFill/>
              <a:prstDash val="solid"/>
              <a:miter lim="0"/>
            </a:ln>
          </p:spPr>
          <p:txBody>
            <a:bodyPr vert="horz" wrap="square" lIns="0" tIns="0" rIns="0" bIns="0"/>
            <a:lstStyle/>
            <a:p>
              <a:pPr algn="l" rtl="0" eaLnBrk="0">
                <a:lnSpc>
                  <a:spcPct val="131000"/>
                </a:lnSpc>
                <a:tabLst/>
              </a:pPr>
              <a:endParaRPr sz="1000" dirty="0">
                <a:latin typeface="Arial"/>
                <a:ea typeface="Arial"/>
                <a:cs typeface="Arial"/>
              </a:endParaRPr>
            </a:p>
            <a:p>
              <a:pPr algn="l" rtl="0" eaLnBrk="0">
                <a:lnSpc>
                  <a:spcPct val="132000"/>
                </a:lnSpc>
                <a:tabLst/>
              </a:pPr>
              <a:endParaRPr sz="1000" dirty="0">
                <a:latin typeface="Arial"/>
                <a:ea typeface="Arial"/>
                <a:cs typeface="Arial"/>
              </a:endParaRPr>
            </a:p>
            <a:p>
              <a:pPr marL="483869" algn="l" rtl="0" eaLnBrk="0">
                <a:lnSpc>
                  <a:spcPct val="98000"/>
                </a:lnSpc>
                <a:spcBef>
                  <a:spcPts val="7"/>
                </a:spcBef>
                <a:tabLst/>
              </a:pPr>
              <a:r>
                <a:rPr sz="1500" kern="0" spc="50" dirty="0">
                  <a:solidFill>
                    <a:srgbClr val="000000">
                      <a:alpha val="100000"/>
                    </a:srgbClr>
                  </a:solidFill>
                  <a:latin typeface="Wingdings"/>
                  <a:ea typeface="Wingdings"/>
                  <a:cs typeface="Wingdings"/>
                </a:rPr>
                <a:t>n</a:t>
              </a:r>
              <a:r>
                <a:rPr sz="1500" kern="0" spc="-380" dirty="0">
                  <a:solidFill>
                    <a:srgbClr val="000000">
                      <a:alpha val="100000"/>
                    </a:srgbClr>
                  </a:solidFill>
                  <a:latin typeface="Wingdings"/>
                  <a:ea typeface="Wingdings"/>
                  <a:cs typeface="Wingdings"/>
                </a:rPr>
                <a:t> </a:t>
              </a:r>
              <a:r>
                <a:rPr sz="1500" b="1" kern="0" spc="50" dirty="0">
                  <a:solidFill>
                    <a:srgbClr val="000000">
                      <a:alpha val="100000"/>
                    </a:srgbClr>
                  </a:solidFill>
                  <a:latin typeface="Microsoft YaHei"/>
                  <a:ea typeface="Microsoft YaHei"/>
                  <a:cs typeface="Microsoft YaHei"/>
                </a:rPr>
                <a:t>设备侧配置：</a:t>
              </a:r>
              <a:endParaRPr sz="1500" dirty="0">
                <a:latin typeface="Microsoft YaHei"/>
                <a:ea typeface="Microsoft YaHei"/>
                <a:cs typeface="Microsoft YaHei"/>
              </a:endParaRPr>
            </a:p>
            <a:p>
              <a:pPr marL="476884" algn="l" rtl="0" eaLnBrk="0">
                <a:lnSpc>
                  <a:spcPts val="1813"/>
                </a:lnSpc>
                <a:spcBef>
                  <a:spcPts val="449"/>
                </a:spcBef>
                <a:tabLst/>
              </a:pPr>
              <a:r>
                <a:rPr sz="1400" kern="0" spc="-10" dirty="0">
                  <a:solidFill>
                    <a:srgbClr val="000000">
                      <a:alpha val="100000"/>
                    </a:srgbClr>
                  </a:solidFill>
                  <a:latin typeface="Arial"/>
                  <a:ea typeface="Arial"/>
                  <a:cs typeface="Arial"/>
                </a:rPr>
                <a:t>•</a:t>
              </a:r>
              <a:r>
                <a:rPr sz="1400" kern="0" spc="50" dirty="0">
                  <a:solidFill>
                    <a:srgbClr val="000000">
                      <a:alpha val="100000"/>
                    </a:srgbClr>
                  </a:solidFill>
                  <a:latin typeface="Arial"/>
                  <a:ea typeface="Arial"/>
                  <a:cs typeface="Arial"/>
                </a:rPr>
                <a:t>    </a:t>
              </a:r>
              <a:r>
                <a:rPr sz="1400" kern="0" spc="-10" dirty="0">
                  <a:solidFill>
                    <a:srgbClr val="000000">
                      <a:alpha val="100000"/>
                    </a:srgbClr>
                  </a:solidFill>
                  <a:latin typeface="Microsoft YaHei"/>
                  <a:ea typeface="Microsoft YaHei"/>
                  <a:cs typeface="Microsoft YaHei"/>
                </a:rPr>
                <a:t>设备IP：用户平台I</a:t>
              </a:r>
              <a:r>
                <a:rPr sz="1400" kern="0" spc="-20" dirty="0">
                  <a:solidFill>
                    <a:srgbClr val="000000">
                      <a:alpha val="100000"/>
                    </a:srgbClr>
                  </a:solidFill>
                  <a:latin typeface="Microsoft YaHei"/>
                  <a:ea typeface="Microsoft YaHei"/>
                  <a:cs typeface="Microsoft YaHei"/>
                </a:rPr>
                <a:t>P</a:t>
              </a:r>
              <a:endParaRPr sz="1400" dirty="0">
                <a:latin typeface="Microsoft YaHei"/>
                <a:ea typeface="Microsoft YaHei"/>
                <a:cs typeface="Microsoft YaHei"/>
              </a:endParaRPr>
            </a:p>
            <a:p>
              <a:pPr marL="476884" algn="l" rtl="0" eaLnBrk="0">
                <a:lnSpc>
                  <a:spcPct val="87000"/>
                </a:lnSpc>
                <a:spcBef>
                  <a:spcPts val="629"/>
                </a:spcBef>
                <a:tabLst/>
              </a:pPr>
              <a:r>
                <a:rPr sz="1400" kern="0" spc="-10" dirty="0">
                  <a:solidFill>
                    <a:srgbClr val="000000">
                      <a:alpha val="100000"/>
                    </a:srgbClr>
                  </a:solidFill>
                  <a:latin typeface="Arial"/>
                  <a:ea typeface="Arial"/>
                  <a:cs typeface="Arial"/>
                </a:rPr>
                <a:t>•</a:t>
              </a:r>
              <a:r>
                <a:rPr sz="1400" kern="0" spc="50" dirty="0">
                  <a:solidFill>
                    <a:srgbClr val="000000">
                      <a:alpha val="100000"/>
                    </a:srgbClr>
                  </a:solidFill>
                  <a:latin typeface="Arial"/>
                  <a:ea typeface="Arial"/>
                  <a:cs typeface="Arial"/>
                </a:rPr>
                <a:t>    </a:t>
              </a:r>
              <a:r>
                <a:rPr sz="1400" kern="0" spc="-10" dirty="0">
                  <a:solidFill>
                    <a:srgbClr val="000000">
                      <a:alpha val="100000"/>
                    </a:srgbClr>
                  </a:solidFill>
                  <a:latin typeface="Microsoft YaHei"/>
                  <a:ea typeface="Microsoft YaHei"/>
                  <a:cs typeface="Microsoft YaHei"/>
                </a:rPr>
                <a:t>协议：用户适配协议</a:t>
              </a:r>
              <a:endParaRPr sz="14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marL="483869" algn="l" rtl="0" eaLnBrk="0">
                <a:lnSpc>
                  <a:spcPct val="98000"/>
                </a:lnSpc>
                <a:spcBef>
                  <a:spcPts val="454"/>
                </a:spcBef>
                <a:tabLst/>
              </a:pPr>
              <a:r>
                <a:rPr sz="1500" kern="0" spc="40" dirty="0">
                  <a:solidFill>
                    <a:srgbClr val="000000">
                      <a:alpha val="100000"/>
                    </a:srgbClr>
                  </a:solidFill>
                  <a:latin typeface="Wingdings"/>
                  <a:ea typeface="Wingdings"/>
                  <a:cs typeface="Wingdings"/>
                </a:rPr>
                <a:t>n</a:t>
              </a:r>
              <a:r>
                <a:rPr sz="1500" kern="0" spc="-370" dirty="0">
                  <a:solidFill>
                    <a:srgbClr val="000000">
                      <a:alpha val="100000"/>
                    </a:srgbClr>
                  </a:solidFill>
                  <a:latin typeface="Wingdings"/>
                  <a:ea typeface="Wingdings"/>
                  <a:cs typeface="Wingdings"/>
                </a:rPr>
                <a:t> </a:t>
              </a:r>
              <a:r>
                <a:rPr sz="1500" b="1" kern="0" spc="40" dirty="0">
                  <a:solidFill>
                    <a:srgbClr val="000000">
                      <a:alpha val="100000"/>
                    </a:srgbClr>
                  </a:solidFill>
                  <a:latin typeface="Microsoft YaHei"/>
                  <a:ea typeface="Microsoft YaHei"/>
                  <a:cs typeface="Microsoft YaHei"/>
                </a:rPr>
                <a:t>卡片配置：</a:t>
              </a:r>
              <a:endParaRPr sz="1500" dirty="0">
                <a:latin typeface="Microsoft YaHei"/>
                <a:ea typeface="Microsoft YaHei"/>
                <a:cs typeface="Microsoft YaHei"/>
              </a:endParaRPr>
            </a:p>
            <a:p>
              <a:pPr algn="l" rtl="0" eaLnBrk="0">
                <a:lnSpc>
                  <a:spcPct val="124000"/>
                </a:lnSpc>
                <a:tabLst/>
              </a:pPr>
              <a:endParaRPr sz="300" dirty="0">
                <a:latin typeface="Arial"/>
                <a:ea typeface="Arial"/>
                <a:cs typeface="Arial"/>
              </a:endParaRPr>
            </a:p>
            <a:p>
              <a:pPr marL="476250" algn="l" rtl="0" eaLnBrk="0">
                <a:lnSpc>
                  <a:spcPts val="1813"/>
                </a:lnSpc>
                <a:spcBef>
                  <a:spcPts val="3"/>
                </a:spcBef>
                <a:tabLst/>
              </a:pPr>
              <a:r>
                <a:rPr sz="1400" kern="0" spc="-10" dirty="0">
                  <a:solidFill>
                    <a:srgbClr val="000000">
                      <a:alpha val="100000"/>
                    </a:srgbClr>
                  </a:solidFill>
                  <a:latin typeface="Arial"/>
                  <a:ea typeface="Arial"/>
                  <a:cs typeface="Arial"/>
                </a:rPr>
                <a:t>•</a:t>
              </a:r>
              <a:r>
                <a:rPr sz="1400" kern="0" spc="50" dirty="0">
                  <a:solidFill>
                    <a:srgbClr val="000000">
                      <a:alpha val="100000"/>
                    </a:srgbClr>
                  </a:solidFill>
                  <a:latin typeface="Arial"/>
                  <a:ea typeface="Arial"/>
                  <a:cs typeface="Arial"/>
                </a:rPr>
                <a:t>    </a:t>
              </a:r>
              <a:r>
                <a:rPr sz="1400" kern="0" spc="-10" dirty="0">
                  <a:solidFill>
                    <a:srgbClr val="000000">
                      <a:alpha val="100000"/>
                    </a:srgbClr>
                  </a:solidFill>
                  <a:latin typeface="Microsoft YaHei"/>
                  <a:ea typeface="Microsoft YaHei"/>
                  <a:cs typeface="Microsoft YaHei"/>
                </a:rPr>
                <a:t>乐通定向/自主定向</a:t>
              </a:r>
              <a:endParaRPr sz="1400" dirty="0">
                <a:latin typeface="Microsoft YaHei"/>
                <a:ea typeface="Microsoft YaHei"/>
                <a:cs typeface="Microsoft YaHei"/>
              </a:endParaRPr>
            </a:p>
          </p:txBody>
        </p:sp>
      </p:grpSp>
      <p:pic>
        <p:nvPicPr>
          <p:cNvPr id="22" name="picture 22"/>
          <p:cNvPicPr>
            <a:picLocks noChangeAspect="1"/>
          </p:cNvPicPr>
          <p:nvPr/>
        </p:nvPicPr>
        <p:blipFill>
          <a:blip r:embed="rId5"/>
          <a:stretch>
            <a:fillRect/>
          </a:stretch>
        </p:blipFill>
        <p:spPr>
          <a:xfrm rot="21600000">
            <a:off x="478536" y="1018032"/>
            <a:ext cx="3457955" cy="1897379"/>
          </a:xfrm>
          <a:prstGeom prst="rect">
            <a:avLst/>
          </a:prstGeom>
        </p:spPr>
      </p:pic>
      <p:pic>
        <p:nvPicPr>
          <p:cNvPr id="24" name="picture 24"/>
          <p:cNvPicPr>
            <a:picLocks noChangeAspect="1"/>
          </p:cNvPicPr>
          <p:nvPr/>
        </p:nvPicPr>
        <p:blipFill>
          <a:blip r:embed="rId6"/>
          <a:stretch>
            <a:fillRect/>
          </a:stretch>
        </p:blipFill>
        <p:spPr>
          <a:xfrm rot="21600000">
            <a:off x="4331208" y="1018032"/>
            <a:ext cx="3418332" cy="1897379"/>
          </a:xfrm>
          <a:prstGeom prst="rect">
            <a:avLst/>
          </a:prstGeom>
        </p:spPr>
      </p:pic>
      <p:pic>
        <p:nvPicPr>
          <p:cNvPr id="26" name="picture 26"/>
          <p:cNvPicPr>
            <a:picLocks noChangeAspect="1"/>
          </p:cNvPicPr>
          <p:nvPr/>
        </p:nvPicPr>
        <p:blipFill>
          <a:blip r:embed="rId7"/>
          <a:stretch>
            <a:fillRect/>
          </a:stretch>
        </p:blipFill>
        <p:spPr>
          <a:xfrm rot="21600000">
            <a:off x="8147304" y="1018032"/>
            <a:ext cx="3415283" cy="1897379"/>
          </a:xfrm>
          <a:prstGeom prst="rect">
            <a:avLst/>
          </a:prstGeom>
        </p:spPr>
      </p:pic>
      <p:sp>
        <p:nvSpPr>
          <p:cNvPr id="28" name="textbox 28"/>
          <p:cNvSpPr/>
          <p:nvPr/>
        </p:nvSpPr>
        <p:spPr>
          <a:xfrm>
            <a:off x="478536" y="3087623"/>
            <a:ext cx="3459479" cy="506094"/>
          </a:xfrm>
          <a:prstGeom prst="rect">
            <a:avLst/>
          </a:prstGeom>
          <a:solidFill>
            <a:srgbClr val="C00000">
              <a:alpha val="100000"/>
            </a:srgbClr>
          </a:solidFill>
          <a:ln w="0" cap="flat">
            <a:noFill/>
            <a:prstDash val="solid"/>
            <a:miter lim="0"/>
          </a:ln>
        </p:spPr>
        <p:txBody>
          <a:bodyPr vert="horz" wrap="square" lIns="0" tIns="0" rIns="0" bIns="0"/>
          <a:lstStyle/>
          <a:p>
            <a:pPr algn="l" rtl="0" eaLnBrk="0">
              <a:lnSpc>
                <a:spcPct val="109000"/>
              </a:lnSpc>
              <a:tabLst/>
            </a:pPr>
            <a:endParaRPr sz="800" dirty="0">
              <a:latin typeface="Arial"/>
              <a:ea typeface="Arial"/>
              <a:cs typeface="Arial"/>
            </a:endParaRPr>
          </a:p>
          <a:p>
            <a:pPr marL="1117600" algn="l" rtl="0" eaLnBrk="0">
              <a:lnSpc>
                <a:spcPct val="89000"/>
              </a:lnSpc>
              <a:spcBef>
                <a:spcPts val="2"/>
              </a:spcBef>
              <a:tabLst/>
            </a:pPr>
            <a:r>
              <a:rPr sz="1700" b="1" kern="0" spc="0" dirty="0">
                <a:solidFill>
                  <a:srgbClr val="FFFFFF">
                    <a:alpha val="100000"/>
                  </a:srgbClr>
                </a:solidFill>
                <a:latin typeface="Microsoft YaHei"/>
                <a:ea typeface="Microsoft YaHei"/>
                <a:cs typeface="Microsoft YaHei"/>
              </a:rPr>
              <a:t>NB</a:t>
            </a:r>
            <a:r>
              <a:rPr sz="1700" b="1" kern="0" spc="90" dirty="0">
                <a:solidFill>
                  <a:srgbClr val="FFFFFF">
                    <a:alpha val="100000"/>
                  </a:srgbClr>
                </a:solidFill>
                <a:latin typeface="Microsoft YaHei"/>
                <a:ea typeface="Microsoft YaHei"/>
                <a:cs typeface="Microsoft YaHei"/>
              </a:rPr>
              <a:t>网关平台</a:t>
            </a:r>
            <a:endParaRPr sz="1700" dirty="0">
              <a:latin typeface="Microsoft YaHei"/>
              <a:ea typeface="Microsoft YaHei"/>
              <a:cs typeface="Microsoft YaHei"/>
            </a:endParaRPr>
          </a:p>
        </p:txBody>
      </p:sp>
      <p:sp>
        <p:nvSpPr>
          <p:cNvPr id="30" name="textbox 30"/>
          <p:cNvSpPr/>
          <p:nvPr/>
        </p:nvSpPr>
        <p:spPr>
          <a:xfrm>
            <a:off x="4314444" y="3087623"/>
            <a:ext cx="3455034" cy="506094"/>
          </a:xfrm>
          <a:prstGeom prst="rect">
            <a:avLst/>
          </a:prstGeom>
          <a:solidFill>
            <a:srgbClr val="C00000">
              <a:alpha val="100000"/>
            </a:srgbClr>
          </a:solidFill>
          <a:ln w="0" cap="flat">
            <a:noFill/>
            <a:prstDash val="solid"/>
            <a:miter lim="0"/>
          </a:ln>
        </p:spPr>
        <p:txBody>
          <a:bodyPr vert="horz" wrap="square" lIns="0" tIns="0" rIns="0" bIns="0"/>
          <a:lstStyle/>
          <a:p>
            <a:pPr algn="l" rtl="0" eaLnBrk="0">
              <a:lnSpc>
                <a:spcPct val="110000"/>
              </a:lnSpc>
              <a:tabLst/>
            </a:pPr>
            <a:endParaRPr sz="800" dirty="0">
              <a:latin typeface="Arial"/>
              <a:ea typeface="Arial"/>
              <a:cs typeface="Arial"/>
            </a:endParaRPr>
          </a:p>
          <a:p>
            <a:pPr marL="1273175" algn="l" rtl="0" eaLnBrk="0">
              <a:lnSpc>
                <a:spcPct val="88000"/>
              </a:lnSpc>
              <a:spcBef>
                <a:spcPts val="2"/>
              </a:spcBef>
              <a:tabLst/>
            </a:pPr>
            <a:r>
              <a:rPr sz="1700" b="1" kern="0" spc="0" dirty="0">
                <a:solidFill>
                  <a:srgbClr val="FFFFFF">
                    <a:alpha val="100000"/>
                  </a:srgbClr>
                </a:solidFill>
                <a:latin typeface="Microsoft YaHei"/>
                <a:ea typeface="Microsoft YaHei"/>
                <a:cs typeface="Microsoft YaHei"/>
              </a:rPr>
              <a:t>AEP</a:t>
            </a:r>
            <a:r>
              <a:rPr sz="1700" b="1" kern="0" spc="180" dirty="0">
                <a:solidFill>
                  <a:srgbClr val="FFFFFF">
                    <a:alpha val="100000"/>
                  </a:srgbClr>
                </a:solidFill>
                <a:latin typeface="Microsoft YaHei"/>
                <a:ea typeface="Microsoft YaHei"/>
                <a:cs typeface="Microsoft YaHei"/>
              </a:rPr>
              <a:t>平台</a:t>
            </a:r>
            <a:endParaRPr sz="1700" dirty="0">
              <a:latin typeface="Microsoft YaHei"/>
              <a:ea typeface="Microsoft YaHei"/>
              <a:cs typeface="Microsoft YaHei"/>
            </a:endParaRPr>
          </a:p>
        </p:txBody>
      </p:sp>
      <p:sp>
        <p:nvSpPr>
          <p:cNvPr id="32" name="textbox 32"/>
          <p:cNvSpPr/>
          <p:nvPr/>
        </p:nvSpPr>
        <p:spPr>
          <a:xfrm>
            <a:off x="8147304" y="3110483"/>
            <a:ext cx="3406775" cy="455930"/>
          </a:xfrm>
          <a:prstGeom prst="rect">
            <a:avLst/>
          </a:prstGeom>
          <a:solidFill>
            <a:srgbClr val="C00000">
              <a:alpha val="100000"/>
            </a:srgbClr>
          </a:solidFill>
          <a:ln w="0" cap="flat">
            <a:noFill/>
            <a:prstDash val="solid"/>
            <a:miter lim="0"/>
          </a:ln>
        </p:spPr>
        <p:txBody>
          <a:bodyPr vert="horz" wrap="square" lIns="0" tIns="0" rIns="0" bIns="0"/>
          <a:lstStyle/>
          <a:p>
            <a:pPr algn="l" rtl="0" eaLnBrk="0">
              <a:lnSpc>
                <a:spcPct val="103000"/>
              </a:lnSpc>
              <a:tabLst/>
            </a:pPr>
            <a:endParaRPr sz="700" dirty="0">
              <a:latin typeface="Arial"/>
              <a:ea typeface="Arial"/>
              <a:cs typeface="Arial"/>
            </a:endParaRPr>
          </a:p>
          <a:p>
            <a:pPr marL="1020444" algn="l" rtl="0" eaLnBrk="0">
              <a:lnSpc>
                <a:spcPct val="87000"/>
              </a:lnSpc>
              <a:spcBef>
                <a:spcPts val="6"/>
              </a:spcBef>
              <a:tabLst/>
            </a:pPr>
            <a:r>
              <a:rPr sz="1700" b="1" kern="0" spc="90" dirty="0">
                <a:solidFill>
                  <a:srgbClr val="FFFFFF">
                    <a:alpha val="100000"/>
                  </a:srgbClr>
                </a:solidFill>
                <a:latin typeface="Microsoft YaHei"/>
                <a:ea typeface="Microsoft YaHei"/>
                <a:cs typeface="Microsoft YaHei"/>
              </a:rPr>
              <a:t>客户设备直连</a:t>
            </a:r>
            <a:endParaRPr sz="1700" dirty="0">
              <a:latin typeface="Microsoft YaHei"/>
              <a:ea typeface="Microsoft YaHei"/>
              <a:cs typeface="Microsoft YaHei"/>
            </a:endParaRPr>
          </a:p>
        </p:txBody>
      </p:sp>
      <p:pic>
        <p:nvPicPr>
          <p:cNvPr id="34" name="picture 34"/>
          <p:cNvPicPr>
            <a:picLocks noChangeAspect="1"/>
          </p:cNvPicPr>
          <p:nvPr/>
        </p:nvPicPr>
        <p:blipFill>
          <a:blip r:embed="rId8"/>
          <a:stretch>
            <a:fillRect/>
          </a:stretch>
        </p:blipFill>
        <p:spPr>
          <a:xfrm rot="21600000">
            <a:off x="335279" y="807720"/>
            <a:ext cx="11519916" cy="67055"/>
          </a:xfrm>
          <a:prstGeom prst="rect">
            <a:avLst/>
          </a:prstGeom>
        </p:spPr>
      </p:pic>
      <p:sp>
        <p:nvSpPr>
          <p:cNvPr id="36" name="textbox 36"/>
          <p:cNvSpPr/>
          <p:nvPr/>
        </p:nvSpPr>
        <p:spPr>
          <a:xfrm>
            <a:off x="393420" y="392988"/>
            <a:ext cx="2294889" cy="330834"/>
          </a:xfrm>
          <a:prstGeom prst="rect">
            <a:avLst/>
          </a:prstGeom>
          <a:noFill/>
          <a:ln w="0" cap="flat">
            <a:noFill/>
            <a:prstDash val="solid"/>
            <a:miter lim="0"/>
          </a:ln>
        </p:spPr>
        <p:txBody>
          <a:bodyPr vert="horz" wrap="square" lIns="0" tIns="0" rIns="0" bIns="0"/>
          <a:lstStyle/>
          <a:p>
            <a:pPr algn="l" rtl="0" eaLnBrk="0">
              <a:lnSpc>
                <a:spcPct val="82819"/>
              </a:lnSpc>
              <a:tabLst/>
            </a:pPr>
            <a:endParaRPr sz="100" dirty="0">
              <a:latin typeface="Arial"/>
              <a:ea typeface="Arial"/>
              <a:cs typeface="Arial"/>
            </a:endParaRPr>
          </a:p>
          <a:p>
            <a:pPr marL="12700" algn="l" rtl="0" eaLnBrk="0">
              <a:lnSpc>
                <a:spcPct val="87000"/>
              </a:lnSpc>
              <a:tabLst/>
            </a:pPr>
            <a:r>
              <a:rPr sz="2300" b="1" kern="0" spc="0" dirty="0">
                <a:solidFill>
                  <a:srgbClr val="C00000">
                    <a:alpha val="100000"/>
                  </a:srgbClr>
                </a:solidFill>
                <a:latin typeface="Microsoft YaHei"/>
                <a:ea typeface="Microsoft YaHei"/>
                <a:cs typeface="Microsoft YaHei"/>
              </a:rPr>
              <a:t>NB</a:t>
            </a:r>
            <a:r>
              <a:rPr sz="2300" b="1" kern="0" spc="80" dirty="0">
                <a:solidFill>
                  <a:srgbClr val="C00000">
                    <a:alpha val="100000"/>
                  </a:srgbClr>
                </a:solidFill>
                <a:latin typeface="Microsoft YaHei"/>
                <a:ea typeface="Microsoft YaHei"/>
                <a:cs typeface="Microsoft YaHei"/>
              </a:rPr>
              <a:t>设备接入现状</a:t>
            </a:r>
            <a:endParaRPr sz="2300" dirty="0">
              <a:latin typeface="Microsoft YaHei"/>
              <a:ea typeface="Microsoft YaHei"/>
              <a:cs typeface="Microsoft YaHei"/>
            </a:endParaRPr>
          </a:p>
        </p:txBody>
      </p:sp>
      <p:pic>
        <p:nvPicPr>
          <p:cNvPr id="38" name="picture 38"/>
          <p:cNvPicPr>
            <a:picLocks noChangeAspect="1"/>
          </p:cNvPicPr>
          <p:nvPr/>
        </p:nvPicPr>
        <p:blipFill>
          <a:blip r:embed="rId9"/>
          <a:stretch>
            <a:fillRect/>
          </a:stretch>
        </p:blipFill>
        <p:spPr>
          <a:xfrm rot="21600000">
            <a:off x="11126046" y="215885"/>
            <a:ext cx="721486" cy="526694"/>
          </a:xfrm>
          <a:prstGeom prst="rect">
            <a:avLst/>
          </a:prstGeom>
        </p:spPr>
      </p:pic>
      <p:sp>
        <p:nvSpPr>
          <p:cNvPr id="40" name="textbox 40"/>
          <p:cNvSpPr/>
          <p:nvPr/>
        </p:nvSpPr>
        <p:spPr>
          <a:xfrm>
            <a:off x="11658286" y="6462377"/>
            <a:ext cx="121285"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10" dirty="0">
                <a:solidFill>
                  <a:srgbClr val="B1B1B1">
                    <a:alpha val="100000"/>
                  </a:srgbClr>
                </a:solidFill>
                <a:latin typeface="DengXian"/>
                <a:ea typeface="DengXian"/>
                <a:cs typeface="DengXian"/>
              </a:rPr>
              <a:t>2</a:t>
            </a:r>
            <a:endParaRPr sz="1500" dirty="0">
              <a:latin typeface="DengXian"/>
              <a:ea typeface="DengXian"/>
              <a:cs typeface="DengXi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2"/>
          <p:cNvSpPr/>
          <p:nvPr/>
        </p:nvSpPr>
        <p:spPr>
          <a:xfrm>
            <a:off x="650995" y="1143976"/>
            <a:ext cx="5609590" cy="5027295"/>
          </a:xfrm>
          <a:prstGeom prst="rect">
            <a:avLst/>
          </a:prstGeom>
          <a:noFill/>
          <a:ln w="0" cap="flat">
            <a:noFill/>
            <a:prstDash val="solid"/>
            <a:miter lim="0"/>
          </a:ln>
        </p:spPr>
        <p:txBody>
          <a:bodyPr vert="horz" wrap="square" lIns="0" tIns="0" rIns="0" bIns="0"/>
          <a:lstStyle/>
          <a:p>
            <a:pPr algn="l" rtl="0" eaLnBrk="0">
              <a:lnSpc>
                <a:spcPct val="86196"/>
              </a:lnSpc>
              <a:tabLst/>
            </a:pPr>
            <a:endParaRPr sz="100" dirty="0">
              <a:latin typeface="Arial"/>
              <a:ea typeface="Arial"/>
              <a:cs typeface="Arial"/>
            </a:endParaRPr>
          </a:p>
          <a:p>
            <a:pPr marL="27305" algn="l" rtl="0" eaLnBrk="0">
              <a:lnSpc>
                <a:spcPct val="98000"/>
              </a:lnSpc>
              <a:tabLst/>
            </a:pPr>
            <a:r>
              <a:rPr sz="1500" kern="0" spc="40" dirty="0">
                <a:solidFill>
                  <a:srgbClr val="C00000">
                    <a:alpha val="100000"/>
                  </a:srgbClr>
                </a:solidFill>
                <a:latin typeface="Wingdings"/>
                <a:ea typeface="Wingdings"/>
                <a:cs typeface="Wingdings"/>
              </a:rPr>
              <a:t>n</a:t>
            </a:r>
            <a:r>
              <a:rPr sz="1500" kern="0" spc="-370" dirty="0">
                <a:solidFill>
                  <a:srgbClr val="C00000">
                    <a:alpha val="100000"/>
                  </a:srgbClr>
                </a:solidFill>
                <a:latin typeface="Wingdings"/>
                <a:ea typeface="Wingdings"/>
                <a:cs typeface="Wingdings"/>
              </a:rPr>
              <a:t> </a:t>
            </a:r>
            <a:r>
              <a:rPr sz="1500" b="1" kern="0" spc="40" dirty="0">
                <a:solidFill>
                  <a:srgbClr val="C00000">
                    <a:alpha val="100000"/>
                  </a:srgbClr>
                </a:solidFill>
                <a:latin typeface="DengXian"/>
                <a:ea typeface="DengXian"/>
                <a:cs typeface="DengXian"/>
              </a:rPr>
              <a:t>背景说明：</a:t>
            </a:r>
            <a:endParaRPr sz="1500" dirty="0">
              <a:latin typeface="DengXian"/>
              <a:ea typeface="DengXian"/>
              <a:cs typeface="DengXian"/>
            </a:endParaRPr>
          </a:p>
          <a:p>
            <a:pPr marL="428625" algn="l" rtl="0" eaLnBrk="0">
              <a:lnSpc>
                <a:spcPts val="2059"/>
              </a:lnSpc>
              <a:spcBef>
                <a:spcPts val="1058"/>
              </a:spcBef>
              <a:tabLst/>
            </a:pPr>
            <a:r>
              <a:rPr sz="1500" kern="0" spc="80" dirty="0">
                <a:solidFill>
                  <a:srgbClr val="000000">
                    <a:alpha val="100000"/>
                  </a:srgbClr>
                </a:solidFill>
                <a:latin typeface="Microsoft YaHei"/>
                <a:ea typeface="Microsoft YaHei"/>
                <a:cs typeface="Microsoft YaHei"/>
              </a:rPr>
              <a:t>2017 </a:t>
            </a:r>
            <a:r>
              <a:rPr sz="1500" kern="0" spc="80" dirty="0">
                <a:solidFill>
                  <a:srgbClr val="000000">
                    <a:alpha val="100000"/>
                  </a:srgbClr>
                </a:solidFill>
                <a:latin typeface="DengXian"/>
                <a:ea typeface="DengXian"/>
                <a:cs typeface="DengXian"/>
              </a:rPr>
              <a:t>年中国电信与华为签订合作协议，</a:t>
            </a:r>
            <a:r>
              <a:rPr sz="1500" kern="0" spc="-230" dirty="0">
                <a:solidFill>
                  <a:srgbClr val="000000">
                    <a:alpha val="100000"/>
                  </a:srgbClr>
                </a:solidFill>
                <a:latin typeface="DengXian"/>
                <a:ea typeface="DengXian"/>
                <a:cs typeface="DengXian"/>
              </a:rPr>
              <a:t> </a:t>
            </a:r>
            <a:r>
              <a:rPr sz="1500" kern="0" spc="80" dirty="0">
                <a:solidFill>
                  <a:srgbClr val="000000">
                    <a:alpha val="100000"/>
                  </a:srgbClr>
                </a:solidFill>
                <a:latin typeface="DengXian"/>
                <a:ea typeface="DengXian"/>
                <a:cs typeface="DengXian"/>
              </a:rPr>
              <a:t>合作建设物联网</a:t>
            </a:r>
            <a:endParaRPr sz="1500" dirty="0">
              <a:latin typeface="DengXian"/>
              <a:ea typeface="DengXian"/>
              <a:cs typeface="DengXian"/>
            </a:endParaRPr>
          </a:p>
          <a:p>
            <a:pPr marL="20954" algn="l" rtl="0" eaLnBrk="0">
              <a:lnSpc>
                <a:spcPct val="162000"/>
              </a:lnSpc>
              <a:spcBef>
                <a:spcPts val="21"/>
              </a:spcBef>
              <a:tabLst/>
            </a:pPr>
            <a:r>
              <a:rPr sz="1500" kern="0" spc="60" dirty="0">
                <a:solidFill>
                  <a:srgbClr val="000000">
                    <a:alpha val="100000"/>
                  </a:srgbClr>
                </a:solidFill>
                <a:latin typeface="DengXian"/>
                <a:ea typeface="DengXian"/>
                <a:cs typeface="DengXian"/>
              </a:rPr>
              <a:t>平台</a:t>
            </a:r>
            <a:r>
              <a:rPr sz="1500" kern="0" spc="60" dirty="0">
                <a:solidFill>
                  <a:srgbClr val="000000">
                    <a:alpha val="100000"/>
                  </a:srgbClr>
                </a:solidFill>
                <a:latin typeface="Microsoft YaHei"/>
                <a:ea typeface="Microsoft YaHei"/>
                <a:cs typeface="Microsoft YaHei"/>
              </a:rPr>
              <a:t>(</a:t>
            </a:r>
            <a:r>
              <a:rPr sz="1500" kern="0" spc="60" dirty="0">
                <a:solidFill>
                  <a:srgbClr val="000000">
                    <a:alpha val="100000"/>
                  </a:srgbClr>
                </a:solidFill>
                <a:latin typeface="DengXian"/>
                <a:ea typeface="DengXian"/>
                <a:cs typeface="DengXian"/>
              </a:rPr>
              <a:t>即华为</a:t>
            </a:r>
            <a:r>
              <a:rPr sz="1500" kern="0" spc="140" dirty="0">
                <a:solidFill>
                  <a:srgbClr val="000000">
                    <a:alpha val="100000"/>
                  </a:srgbClr>
                </a:solidFill>
                <a:latin typeface="DengXian"/>
                <a:ea typeface="DengXian"/>
                <a:cs typeface="DengXian"/>
              </a:rPr>
              <a:t> </a:t>
            </a:r>
            <a:r>
              <a:rPr sz="1500" kern="0" spc="0" dirty="0">
                <a:solidFill>
                  <a:srgbClr val="000000">
                    <a:alpha val="100000"/>
                  </a:srgbClr>
                </a:solidFill>
                <a:latin typeface="Microsoft YaHei"/>
                <a:ea typeface="Microsoft YaHei"/>
                <a:cs typeface="Microsoft YaHei"/>
              </a:rPr>
              <a:t>CMP</a:t>
            </a:r>
            <a:r>
              <a:rPr sz="1500" kern="0" spc="60" dirty="0">
                <a:solidFill>
                  <a:srgbClr val="000000">
                    <a:alpha val="100000"/>
                  </a:srgbClr>
                </a:solidFill>
                <a:latin typeface="Microsoft YaHei"/>
                <a:ea typeface="Microsoft YaHei"/>
                <a:cs typeface="Microsoft YaHei"/>
              </a:rPr>
              <a:t> </a:t>
            </a:r>
            <a:r>
              <a:rPr sz="1500" kern="0" spc="60" dirty="0">
                <a:solidFill>
                  <a:srgbClr val="000000">
                    <a:alpha val="100000"/>
                  </a:srgbClr>
                </a:solidFill>
                <a:latin typeface="DengXian"/>
                <a:ea typeface="DengXian"/>
                <a:cs typeface="DengXian"/>
              </a:rPr>
              <a:t>平台和</a:t>
            </a:r>
            <a:r>
              <a:rPr sz="1500" kern="0" spc="220" dirty="0">
                <a:solidFill>
                  <a:srgbClr val="000000">
                    <a:alpha val="100000"/>
                  </a:srgbClr>
                </a:solidFill>
                <a:latin typeface="DengXian"/>
                <a:ea typeface="DengXian"/>
                <a:cs typeface="DengXian"/>
              </a:rPr>
              <a:t> </a:t>
            </a:r>
            <a:r>
              <a:rPr sz="1500" kern="0" spc="0" dirty="0">
                <a:solidFill>
                  <a:srgbClr val="000000">
                    <a:alpha val="100000"/>
                  </a:srgbClr>
                </a:solidFill>
                <a:latin typeface="Microsoft YaHei"/>
                <a:ea typeface="Microsoft YaHei"/>
                <a:cs typeface="Microsoft YaHei"/>
              </a:rPr>
              <a:t>NB</a:t>
            </a:r>
            <a:r>
              <a:rPr sz="1500" kern="0" spc="220" dirty="0">
                <a:solidFill>
                  <a:srgbClr val="000000">
                    <a:alpha val="100000"/>
                  </a:srgbClr>
                </a:solidFill>
                <a:latin typeface="Microsoft YaHei"/>
                <a:ea typeface="Microsoft YaHei"/>
                <a:cs typeface="Microsoft YaHei"/>
              </a:rPr>
              <a:t> </a:t>
            </a:r>
            <a:r>
              <a:rPr sz="1500" kern="0" spc="60" dirty="0">
                <a:solidFill>
                  <a:srgbClr val="000000">
                    <a:alpha val="100000"/>
                  </a:srgbClr>
                </a:solidFill>
                <a:latin typeface="DengXian"/>
                <a:ea typeface="DengXian"/>
                <a:cs typeface="DengXian"/>
              </a:rPr>
              <a:t>网关</a:t>
            </a:r>
            <a:r>
              <a:rPr sz="1500" kern="0" spc="60" dirty="0">
                <a:solidFill>
                  <a:srgbClr val="000000">
                    <a:alpha val="100000"/>
                  </a:srgbClr>
                </a:solidFill>
                <a:latin typeface="Microsoft YaHei"/>
                <a:ea typeface="Microsoft YaHei"/>
                <a:cs typeface="Microsoft YaHei"/>
              </a:rPr>
              <a:t>)</a:t>
            </a:r>
            <a:r>
              <a:rPr sz="1500" kern="0" spc="-240" dirty="0">
                <a:solidFill>
                  <a:srgbClr val="000000">
                    <a:alpha val="100000"/>
                  </a:srgbClr>
                </a:solidFill>
                <a:latin typeface="Microsoft YaHei"/>
                <a:ea typeface="Microsoft YaHei"/>
                <a:cs typeface="Microsoft YaHei"/>
              </a:rPr>
              <a:t> </a:t>
            </a:r>
            <a:r>
              <a:rPr sz="1500" kern="0" spc="60" dirty="0">
                <a:solidFill>
                  <a:srgbClr val="000000">
                    <a:alpha val="100000"/>
                  </a:srgbClr>
                </a:solidFill>
                <a:latin typeface="DengXian"/>
                <a:ea typeface="DengXian"/>
                <a:cs typeface="DengXian"/>
              </a:rPr>
              <a:t>。</a:t>
            </a:r>
            <a:r>
              <a:rPr sz="1500" kern="0" spc="-260" dirty="0">
                <a:solidFill>
                  <a:srgbClr val="000000">
                    <a:alpha val="100000"/>
                  </a:srgbClr>
                </a:solidFill>
                <a:latin typeface="DengXian"/>
                <a:ea typeface="DengXian"/>
                <a:cs typeface="DengXian"/>
              </a:rPr>
              <a:t> </a:t>
            </a:r>
            <a:r>
              <a:rPr sz="1500" kern="0" spc="60" dirty="0">
                <a:solidFill>
                  <a:srgbClr val="000000">
                    <a:alpha val="100000"/>
                  </a:srgbClr>
                </a:solidFill>
                <a:latin typeface="Microsoft YaHei"/>
                <a:ea typeface="Microsoft YaHei"/>
                <a:cs typeface="Microsoft YaHei"/>
              </a:rPr>
              <a:t>2024</a:t>
            </a:r>
            <a:r>
              <a:rPr sz="1500" kern="0" spc="60" dirty="0">
                <a:solidFill>
                  <a:srgbClr val="000000">
                    <a:alpha val="100000"/>
                  </a:srgbClr>
                </a:solidFill>
                <a:latin typeface="DengXian"/>
                <a:ea typeface="DengXian"/>
                <a:cs typeface="DengXian"/>
              </a:rPr>
              <a:t>年</a:t>
            </a:r>
            <a:r>
              <a:rPr sz="1500" kern="0" spc="60" dirty="0">
                <a:solidFill>
                  <a:srgbClr val="000000">
                    <a:alpha val="100000"/>
                  </a:srgbClr>
                </a:solidFill>
                <a:latin typeface="Microsoft YaHei"/>
                <a:ea typeface="Microsoft YaHei"/>
                <a:cs typeface="Microsoft YaHei"/>
              </a:rPr>
              <a:t>8</a:t>
            </a:r>
            <a:r>
              <a:rPr sz="1500" kern="0" spc="60" dirty="0">
                <a:solidFill>
                  <a:srgbClr val="000000">
                    <a:alpha val="100000"/>
                  </a:srgbClr>
                </a:solidFill>
                <a:latin typeface="DengXian"/>
                <a:ea typeface="DengXian"/>
                <a:cs typeface="DengXian"/>
              </a:rPr>
              <a:t>月，</a:t>
            </a:r>
            <a:r>
              <a:rPr sz="1500" kern="0" spc="-230" dirty="0">
                <a:solidFill>
                  <a:srgbClr val="000000">
                    <a:alpha val="100000"/>
                  </a:srgbClr>
                </a:solidFill>
                <a:latin typeface="DengXian"/>
                <a:ea typeface="DengXian"/>
                <a:cs typeface="DengXian"/>
              </a:rPr>
              <a:t> </a:t>
            </a:r>
            <a:r>
              <a:rPr sz="1500" b="1" kern="0" spc="60" dirty="0">
                <a:solidFill>
                  <a:srgbClr val="000000">
                    <a:alpha val="100000"/>
                  </a:srgbClr>
                </a:solidFill>
                <a:latin typeface="DengXian"/>
                <a:ea typeface="DengXian"/>
                <a:cs typeface="DengXian"/>
              </a:rPr>
              <a:t>华</a:t>
            </a:r>
            <a:r>
              <a:rPr sz="1500" b="1" kern="0" spc="50" dirty="0">
                <a:solidFill>
                  <a:srgbClr val="000000">
                    <a:alpha val="100000"/>
                  </a:srgbClr>
                </a:solidFill>
                <a:latin typeface="DengXian"/>
                <a:ea typeface="DengXian"/>
                <a:cs typeface="DengXian"/>
              </a:rPr>
              <a:t>为公司正</a:t>
            </a:r>
            <a:r>
              <a:rPr sz="1500" b="1" kern="0" spc="90" dirty="0">
                <a:solidFill>
                  <a:srgbClr val="000000">
                    <a:alpha val="100000"/>
                  </a:srgbClr>
                </a:solidFill>
                <a:latin typeface="DengXian"/>
                <a:ea typeface="DengXian"/>
                <a:cs typeface="DengXian"/>
              </a:rPr>
              <a:t>式提出合作协议到期不再续</a:t>
            </a:r>
            <a:r>
              <a:rPr sz="1500" b="1" kern="0" spc="80" dirty="0">
                <a:solidFill>
                  <a:srgbClr val="000000">
                    <a:alpha val="100000"/>
                  </a:srgbClr>
                </a:solidFill>
                <a:latin typeface="DengXian"/>
                <a:ea typeface="DengXian"/>
                <a:cs typeface="DengXian"/>
              </a:rPr>
              <a:t>约</a:t>
            </a:r>
            <a:r>
              <a:rPr sz="1500" b="1" kern="0" spc="-210" dirty="0">
                <a:solidFill>
                  <a:srgbClr val="000000">
                    <a:alpha val="100000"/>
                  </a:srgbClr>
                </a:solidFill>
                <a:latin typeface="DengXian"/>
                <a:ea typeface="DengXian"/>
                <a:cs typeface="DengXian"/>
              </a:rPr>
              <a:t> </a:t>
            </a:r>
            <a:r>
              <a:rPr sz="1500" b="1" kern="0" spc="80" dirty="0">
                <a:solidFill>
                  <a:srgbClr val="000000">
                    <a:alpha val="100000"/>
                  </a:srgbClr>
                </a:solidFill>
                <a:latin typeface="DengXian"/>
                <a:ea typeface="DengXian"/>
                <a:cs typeface="DengXian"/>
              </a:rPr>
              <a:t>。</a:t>
            </a:r>
            <a:r>
              <a:rPr sz="1500" b="1" kern="0" spc="-300" dirty="0">
                <a:solidFill>
                  <a:srgbClr val="000000">
                    <a:alpha val="100000"/>
                  </a:srgbClr>
                </a:solidFill>
                <a:latin typeface="DengXian"/>
                <a:ea typeface="DengXian"/>
                <a:cs typeface="DengXian"/>
              </a:rPr>
              <a:t> </a:t>
            </a:r>
            <a:r>
              <a:rPr sz="1500" kern="0" spc="80" dirty="0">
                <a:solidFill>
                  <a:srgbClr val="000000">
                    <a:alpha val="100000"/>
                  </a:srgbClr>
                </a:solidFill>
                <a:latin typeface="DengXian"/>
                <a:ea typeface="DengXian"/>
                <a:cs typeface="DengXian"/>
              </a:rPr>
              <a:t>根据现行合作协议华为物联网</a:t>
            </a:r>
            <a:r>
              <a:rPr sz="1500" kern="0" spc="70" dirty="0">
                <a:solidFill>
                  <a:srgbClr val="000000">
                    <a:alpha val="100000"/>
                  </a:srgbClr>
                </a:solidFill>
                <a:latin typeface="DengXian"/>
                <a:ea typeface="DengXian"/>
                <a:cs typeface="DengXian"/>
              </a:rPr>
              <a:t>平台将于</a:t>
            </a:r>
            <a:r>
              <a:rPr sz="1500" kern="0" spc="220" dirty="0">
                <a:solidFill>
                  <a:srgbClr val="000000">
                    <a:alpha val="100000"/>
                  </a:srgbClr>
                </a:solidFill>
                <a:latin typeface="DengXian"/>
                <a:ea typeface="DengXian"/>
                <a:cs typeface="DengXian"/>
              </a:rPr>
              <a:t> </a:t>
            </a:r>
            <a:r>
              <a:rPr sz="1500" b="1" kern="0" spc="70" dirty="0">
                <a:solidFill>
                  <a:srgbClr val="000000">
                    <a:alpha val="100000"/>
                  </a:srgbClr>
                </a:solidFill>
                <a:latin typeface="Microsoft YaHei"/>
                <a:ea typeface="Microsoft YaHei"/>
                <a:cs typeface="Microsoft YaHei"/>
              </a:rPr>
              <a:t>2026</a:t>
            </a:r>
            <a:r>
              <a:rPr sz="1500" b="1" kern="0" spc="70" dirty="0">
                <a:solidFill>
                  <a:srgbClr val="000000">
                    <a:alpha val="100000"/>
                  </a:srgbClr>
                </a:solidFill>
                <a:latin typeface="DengXian"/>
                <a:ea typeface="DengXian"/>
                <a:cs typeface="DengXian"/>
              </a:rPr>
              <a:t>年</a:t>
            </a:r>
            <a:r>
              <a:rPr sz="1500" b="1" kern="0" spc="70" dirty="0">
                <a:solidFill>
                  <a:srgbClr val="000000">
                    <a:alpha val="100000"/>
                  </a:srgbClr>
                </a:solidFill>
                <a:latin typeface="Microsoft YaHei"/>
                <a:ea typeface="Microsoft YaHei"/>
                <a:cs typeface="Microsoft YaHei"/>
              </a:rPr>
              <a:t>2</a:t>
            </a:r>
            <a:r>
              <a:rPr sz="1500" b="1" kern="0" spc="70" dirty="0">
                <a:solidFill>
                  <a:srgbClr val="000000">
                    <a:alpha val="100000"/>
                  </a:srgbClr>
                </a:solidFill>
                <a:latin typeface="DengXian"/>
                <a:ea typeface="DengXian"/>
                <a:cs typeface="DengXian"/>
              </a:rPr>
              <a:t>月</a:t>
            </a:r>
            <a:r>
              <a:rPr sz="1500" b="1" kern="0" spc="70" dirty="0">
                <a:solidFill>
                  <a:srgbClr val="000000">
                    <a:alpha val="100000"/>
                  </a:srgbClr>
                </a:solidFill>
                <a:latin typeface="Microsoft YaHei"/>
                <a:ea typeface="Microsoft YaHei"/>
                <a:cs typeface="Microsoft YaHei"/>
              </a:rPr>
              <a:t>28</a:t>
            </a:r>
            <a:r>
              <a:rPr sz="1500" b="1" kern="0" spc="70" dirty="0">
                <a:solidFill>
                  <a:srgbClr val="000000">
                    <a:alpha val="100000"/>
                  </a:srgbClr>
                </a:solidFill>
                <a:latin typeface="DengXian"/>
                <a:ea typeface="DengXian"/>
                <a:cs typeface="DengXian"/>
              </a:rPr>
              <a:t>日停止服务</a:t>
            </a:r>
            <a:endParaRPr sz="1500" dirty="0">
              <a:latin typeface="DengXian"/>
              <a:ea typeface="DengXian"/>
              <a:cs typeface="DengXian"/>
            </a:endParaRPr>
          </a:p>
          <a:p>
            <a:pPr marL="419734" algn="l" rtl="0" eaLnBrk="0">
              <a:lnSpc>
                <a:spcPct val="88000"/>
              </a:lnSpc>
              <a:spcBef>
                <a:spcPts val="984"/>
              </a:spcBef>
              <a:tabLst/>
            </a:pPr>
            <a:r>
              <a:rPr sz="1500" kern="0" spc="90" dirty="0">
                <a:solidFill>
                  <a:srgbClr val="000000">
                    <a:alpha val="100000"/>
                  </a:srgbClr>
                </a:solidFill>
                <a:latin typeface="Microsoft YaHei"/>
                <a:ea typeface="Microsoft YaHei"/>
                <a:cs typeface="Microsoft YaHei"/>
              </a:rPr>
              <a:t>根据前期合作协议</a:t>
            </a:r>
            <a:r>
              <a:rPr sz="1500" kern="0" spc="-200" dirty="0">
                <a:solidFill>
                  <a:srgbClr val="000000">
                    <a:alpha val="100000"/>
                  </a:srgbClr>
                </a:solidFill>
                <a:latin typeface="Microsoft YaHei"/>
                <a:ea typeface="Microsoft YaHei"/>
                <a:cs typeface="Microsoft YaHei"/>
              </a:rPr>
              <a:t> </a:t>
            </a:r>
            <a:r>
              <a:rPr sz="1500" kern="0" spc="90" dirty="0">
                <a:solidFill>
                  <a:srgbClr val="000000">
                    <a:alpha val="100000"/>
                  </a:srgbClr>
                </a:solidFill>
                <a:latin typeface="Microsoft YaHei"/>
                <a:ea typeface="Microsoft YaHei"/>
                <a:cs typeface="Microsoft YaHei"/>
              </a:rPr>
              <a:t>，</a:t>
            </a:r>
            <a:r>
              <a:rPr sz="1500" kern="0" spc="-230" dirty="0">
                <a:solidFill>
                  <a:srgbClr val="000000">
                    <a:alpha val="100000"/>
                  </a:srgbClr>
                </a:solidFill>
                <a:latin typeface="Microsoft YaHei"/>
                <a:ea typeface="Microsoft YaHei"/>
                <a:cs typeface="Microsoft YaHei"/>
              </a:rPr>
              <a:t> </a:t>
            </a:r>
            <a:r>
              <a:rPr sz="1500" kern="0" spc="0" dirty="0">
                <a:solidFill>
                  <a:srgbClr val="000000">
                    <a:alpha val="100000"/>
                  </a:srgbClr>
                </a:solidFill>
                <a:latin typeface="Microsoft YaHei"/>
                <a:ea typeface="Microsoft YaHei"/>
                <a:cs typeface="Microsoft YaHei"/>
              </a:rPr>
              <a:t>NB</a:t>
            </a:r>
            <a:r>
              <a:rPr sz="1500" kern="0" spc="90" dirty="0">
                <a:solidFill>
                  <a:srgbClr val="000000">
                    <a:alpha val="100000"/>
                  </a:srgbClr>
                </a:solidFill>
                <a:latin typeface="Microsoft YaHei"/>
                <a:ea typeface="Microsoft YaHei"/>
                <a:cs typeface="Microsoft YaHei"/>
              </a:rPr>
              <a:t>网</a:t>
            </a:r>
            <a:r>
              <a:rPr sz="1500" kern="0" spc="80" dirty="0">
                <a:solidFill>
                  <a:srgbClr val="000000">
                    <a:alpha val="100000"/>
                  </a:srgbClr>
                </a:solidFill>
                <a:latin typeface="Microsoft YaHei"/>
                <a:ea typeface="Microsoft YaHei"/>
                <a:cs typeface="Microsoft YaHei"/>
              </a:rPr>
              <a:t>关平台代码及知识产权属于华为</a:t>
            </a:r>
            <a:endParaRPr sz="1500" dirty="0">
              <a:latin typeface="Microsoft YaHei"/>
              <a:ea typeface="Microsoft YaHei"/>
              <a:cs typeface="Microsoft YaHei"/>
            </a:endParaRPr>
          </a:p>
          <a:p>
            <a:pPr marL="12700" indent="-635" algn="l" rtl="0" eaLnBrk="0">
              <a:lnSpc>
                <a:spcPct val="164000"/>
              </a:lnSpc>
              <a:spcBef>
                <a:spcPts val="5"/>
              </a:spcBef>
              <a:tabLst/>
            </a:pPr>
            <a:r>
              <a:rPr sz="1500" kern="0" spc="70" dirty="0">
                <a:solidFill>
                  <a:srgbClr val="000000">
                    <a:alpha val="100000"/>
                  </a:srgbClr>
                </a:solidFill>
                <a:latin typeface="Microsoft YaHei"/>
                <a:ea typeface="Microsoft YaHei"/>
                <a:cs typeface="Microsoft YaHei"/>
              </a:rPr>
              <a:t>所有</a:t>
            </a:r>
            <a:r>
              <a:rPr sz="1500" kern="0" spc="-140" dirty="0">
                <a:solidFill>
                  <a:srgbClr val="000000">
                    <a:alpha val="100000"/>
                  </a:srgbClr>
                </a:solidFill>
                <a:latin typeface="Microsoft YaHei"/>
                <a:ea typeface="Microsoft YaHei"/>
                <a:cs typeface="Microsoft YaHei"/>
              </a:rPr>
              <a:t> </a:t>
            </a:r>
            <a:r>
              <a:rPr sz="1500" kern="0" spc="70" dirty="0">
                <a:solidFill>
                  <a:srgbClr val="000000">
                    <a:alpha val="100000"/>
                  </a:srgbClr>
                </a:solidFill>
                <a:latin typeface="Microsoft YaHei"/>
                <a:ea typeface="Microsoft YaHei"/>
                <a:cs typeface="Microsoft YaHei"/>
              </a:rPr>
              <a:t>，</a:t>
            </a:r>
            <a:r>
              <a:rPr sz="1500" kern="0" spc="-240" dirty="0">
                <a:solidFill>
                  <a:srgbClr val="000000">
                    <a:alpha val="100000"/>
                  </a:srgbClr>
                </a:solidFill>
                <a:latin typeface="Microsoft YaHei"/>
                <a:ea typeface="Microsoft YaHei"/>
                <a:cs typeface="Microsoft YaHei"/>
              </a:rPr>
              <a:t> </a:t>
            </a:r>
            <a:r>
              <a:rPr sz="1500" kern="0" spc="70" dirty="0">
                <a:solidFill>
                  <a:srgbClr val="000000">
                    <a:alpha val="100000"/>
                  </a:srgbClr>
                </a:solidFill>
                <a:latin typeface="Microsoft YaHei"/>
                <a:ea typeface="Microsoft YaHei"/>
                <a:cs typeface="Microsoft YaHei"/>
              </a:rPr>
              <a:t>中国电信无法承接研发迭代、</a:t>
            </a:r>
            <a:r>
              <a:rPr sz="1500" kern="0" spc="-330" dirty="0">
                <a:solidFill>
                  <a:srgbClr val="000000">
                    <a:alpha val="100000"/>
                  </a:srgbClr>
                </a:solidFill>
                <a:latin typeface="Microsoft YaHei"/>
                <a:ea typeface="Microsoft YaHei"/>
                <a:cs typeface="Microsoft YaHei"/>
              </a:rPr>
              <a:t> </a:t>
            </a:r>
            <a:r>
              <a:rPr sz="1500" kern="0" spc="70" dirty="0">
                <a:solidFill>
                  <a:srgbClr val="000000">
                    <a:alpha val="100000"/>
                  </a:srgbClr>
                </a:solidFill>
                <a:latin typeface="Microsoft YaHei"/>
                <a:ea typeface="Microsoft YaHei"/>
                <a:cs typeface="Microsoft YaHei"/>
              </a:rPr>
              <a:t>系统运维、</a:t>
            </a:r>
            <a:r>
              <a:rPr sz="1500" kern="0" spc="-320" dirty="0">
                <a:solidFill>
                  <a:srgbClr val="000000">
                    <a:alpha val="100000"/>
                  </a:srgbClr>
                </a:solidFill>
                <a:latin typeface="Microsoft YaHei"/>
                <a:ea typeface="Microsoft YaHei"/>
                <a:cs typeface="Microsoft YaHei"/>
              </a:rPr>
              <a:t> </a:t>
            </a:r>
            <a:r>
              <a:rPr sz="1500" kern="0" spc="70" dirty="0">
                <a:solidFill>
                  <a:srgbClr val="000000">
                    <a:alpha val="100000"/>
                  </a:srgbClr>
                </a:solidFill>
                <a:latin typeface="Microsoft YaHei"/>
                <a:ea typeface="Microsoft YaHei"/>
                <a:cs typeface="Microsoft YaHei"/>
              </a:rPr>
              <a:t>安全保障以及</a:t>
            </a:r>
            <a:r>
              <a:rPr sz="1500" kern="0" spc="100" dirty="0">
                <a:solidFill>
                  <a:srgbClr val="000000">
                    <a:alpha val="100000"/>
                  </a:srgbClr>
                </a:solidFill>
                <a:latin typeface="Microsoft YaHei"/>
                <a:ea typeface="Microsoft YaHei"/>
                <a:cs typeface="Microsoft YaHei"/>
              </a:rPr>
              <a:t>版本更新工作。</a:t>
            </a:r>
            <a:r>
              <a:rPr sz="1500" kern="0" spc="-330" dirty="0">
                <a:solidFill>
                  <a:srgbClr val="000000">
                    <a:alpha val="100000"/>
                  </a:srgbClr>
                </a:solidFill>
                <a:latin typeface="Microsoft YaHei"/>
                <a:ea typeface="Microsoft YaHei"/>
                <a:cs typeface="Microsoft YaHei"/>
              </a:rPr>
              <a:t> </a:t>
            </a:r>
            <a:r>
              <a:rPr sz="1500" kern="0" spc="100" dirty="0">
                <a:solidFill>
                  <a:srgbClr val="000000">
                    <a:alpha val="100000"/>
                  </a:srgbClr>
                </a:solidFill>
                <a:latin typeface="Microsoft YaHei"/>
                <a:ea typeface="Microsoft YaHei"/>
                <a:cs typeface="Microsoft YaHei"/>
              </a:rPr>
              <a:t>到期后无法支撑</a:t>
            </a:r>
            <a:r>
              <a:rPr sz="1500" kern="0" spc="0" dirty="0">
                <a:solidFill>
                  <a:srgbClr val="000000">
                    <a:alpha val="100000"/>
                  </a:srgbClr>
                </a:solidFill>
                <a:latin typeface="Microsoft YaHei"/>
                <a:ea typeface="Microsoft YaHei"/>
                <a:cs typeface="Microsoft YaHei"/>
              </a:rPr>
              <a:t>NB</a:t>
            </a:r>
            <a:r>
              <a:rPr sz="1500" kern="0" spc="100" dirty="0">
                <a:solidFill>
                  <a:srgbClr val="000000">
                    <a:alpha val="100000"/>
                  </a:srgbClr>
                </a:solidFill>
                <a:latin typeface="Microsoft YaHei"/>
                <a:ea typeface="Microsoft YaHei"/>
                <a:cs typeface="Microsoft YaHei"/>
              </a:rPr>
              <a:t>网关平台持续稳</a:t>
            </a:r>
            <a:r>
              <a:rPr sz="1500" kern="0" spc="90" dirty="0">
                <a:solidFill>
                  <a:srgbClr val="000000">
                    <a:alpha val="100000"/>
                  </a:srgbClr>
                </a:solidFill>
                <a:latin typeface="Microsoft YaHei"/>
                <a:ea typeface="Microsoft YaHei"/>
                <a:cs typeface="Microsoft YaHei"/>
              </a:rPr>
              <a:t>定服务</a:t>
            </a:r>
            <a:endParaRPr sz="1500" dirty="0">
              <a:latin typeface="Microsoft YaHei"/>
              <a:ea typeface="Microsoft YaHei"/>
              <a:cs typeface="Microsoft YaHei"/>
            </a:endParaRPr>
          </a:p>
          <a:p>
            <a:pPr marL="27305" algn="l" rtl="0" eaLnBrk="0">
              <a:lnSpc>
                <a:spcPct val="98000"/>
              </a:lnSpc>
              <a:spcBef>
                <a:spcPts val="915"/>
              </a:spcBef>
              <a:tabLst/>
            </a:pPr>
            <a:r>
              <a:rPr sz="1500" kern="0" spc="60" dirty="0">
                <a:solidFill>
                  <a:srgbClr val="C00000">
                    <a:alpha val="100000"/>
                  </a:srgbClr>
                </a:solidFill>
                <a:latin typeface="Wingdings"/>
                <a:ea typeface="Wingdings"/>
                <a:cs typeface="Wingdings"/>
              </a:rPr>
              <a:t>n</a:t>
            </a:r>
            <a:r>
              <a:rPr sz="1500" kern="0" spc="-410" dirty="0">
                <a:solidFill>
                  <a:srgbClr val="C00000">
                    <a:alpha val="100000"/>
                  </a:srgbClr>
                </a:solidFill>
                <a:latin typeface="Wingdings"/>
                <a:ea typeface="Wingdings"/>
                <a:cs typeface="Wingdings"/>
              </a:rPr>
              <a:t> </a:t>
            </a:r>
            <a:r>
              <a:rPr sz="1500" b="1" kern="0" spc="60" dirty="0">
                <a:solidFill>
                  <a:srgbClr val="C00000">
                    <a:alpha val="100000"/>
                  </a:srgbClr>
                </a:solidFill>
                <a:latin typeface="DengXian"/>
                <a:ea typeface="DengXian"/>
                <a:cs typeface="DengXian"/>
              </a:rPr>
              <a:t>服务保障策略：</a:t>
            </a:r>
            <a:endParaRPr sz="1500" dirty="0">
              <a:latin typeface="DengXian"/>
              <a:ea typeface="DengXian"/>
              <a:cs typeface="DengXian"/>
            </a:endParaRPr>
          </a:p>
          <a:p>
            <a:pPr marL="435609" algn="l" rtl="0" eaLnBrk="0">
              <a:lnSpc>
                <a:spcPts val="1923"/>
              </a:lnSpc>
              <a:spcBef>
                <a:spcPts val="1190"/>
              </a:spcBef>
              <a:tabLst/>
            </a:pPr>
            <a:r>
              <a:rPr sz="1500" kern="0" spc="90" dirty="0">
                <a:solidFill>
                  <a:srgbClr val="000000">
                    <a:alpha val="100000"/>
                  </a:srgbClr>
                </a:solidFill>
                <a:latin typeface="DengXian"/>
                <a:ea typeface="DengXian"/>
                <a:cs typeface="DengXian"/>
              </a:rPr>
              <a:t>为保障电信客户存量业务持续稳定运行，</a:t>
            </a:r>
            <a:r>
              <a:rPr sz="1500" kern="0" spc="-160" dirty="0">
                <a:solidFill>
                  <a:srgbClr val="000000">
                    <a:alpha val="100000"/>
                  </a:srgbClr>
                </a:solidFill>
                <a:latin typeface="DengXian"/>
                <a:ea typeface="DengXian"/>
                <a:cs typeface="DengXian"/>
              </a:rPr>
              <a:t> </a:t>
            </a:r>
            <a:r>
              <a:rPr sz="1500" kern="0" spc="0" dirty="0">
                <a:solidFill>
                  <a:srgbClr val="000000">
                    <a:alpha val="100000"/>
                  </a:srgbClr>
                </a:solidFill>
                <a:latin typeface="Microsoft YaHei"/>
                <a:ea typeface="Microsoft YaHei"/>
                <a:cs typeface="Microsoft YaHei"/>
              </a:rPr>
              <a:t>NB</a:t>
            </a:r>
            <a:r>
              <a:rPr sz="1500" kern="0" spc="90" dirty="0">
                <a:solidFill>
                  <a:srgbClr val="000000">
                    <a:alpha val="100000"/>
                  </a:srgbClr>
                </a:solidFill>
                <a:latin typeface="DengXian"/>
                <a:ea typeface="DengXian"/>
                <a:cs typeface="DengXian"/>
              </a:rPr>
              <a:t>网</a:t>
            </a:r>
            <a:r>
              <a:rPr sz="1500" kern="0" spc="80" dirty="0">
                <a:solidFill>
                  <a:srgbClr val="000000">
                    <a:alpha val="100000"/>
                  </a:srgbClr>
                </a:solidFill>
                <a:latin typeface="DengXian"/>
                <a:ea typeface="DengXian"/>
                <a:cs typeface="DengXian"/>
              </a:rPr>
              <a:t>关存量设备</a:t>
            </a:r>
            <a:endParaRPr sz="1500" dirty="0">
              <a:latin typeface="DengXian"/>
              <a:ea typeface="DengXian"/>
              <a:cs typeface="DengXian"/>
            </a:endParaRPr>
          </a:p>
          <a:p>
            <a:pPr marL="21590" algn="l" rtl="0" eaLnBrk="0">
              <a:lnSpc>
                <a:spcPts val="2561"/>
              </a:lnSpc>
              <a:tabLst/>
            </a:pPr>
            <a:r>
              <a:rPr sz="1500" kern="0" spc="80" dirty="0">
                <a:solidFill>
                  <a:srgbClr val="000000">
                    <a:alpha val="100000"/>
                  </a:srgbClr>
                </a:solidFill>
                <a:latin typeface="DengXian"/>
                <a:ea typeface="DengXian"/>
                <a:cs typeface="DengXian"/>
              </a:rPr>
              <a:t>迁移已势在必行</a:t>
            </a:r>
            <a:endParaRPr sz="1500" dirty="0">
              <a:latin typeface="DengXian"/>
              <a:ea typeface="DengXian"/>
              <a:cs typeface="DengXian"/>
            </a:endParaRPr>
          </a:p>
          <a:p>
            <a:pPr marL="427355" algn="l" rtl="0" eaLnBrk="0">
              <a:lnSpc>
                <a:spcPts val="1923"/>
              </a:lnSpc>
              <a:spcBef>
                <a:spcPts val="1110"/>
              </a:spcBef>
              <a:tabLst/>
            </a:pPr>
            <a:r>
              <a:rPr sz="1500" kern="0" spc="80" dirty="0">
                <a:solidFill>
                  <a:srgbClr val="000000">
                    <a:alpha val="100000"/>
                  </a:srgbClr>
                </a:solidFill>
                <a:latin typeface="DengXian"/>
                <a:ea typeface="DengXian"/>
                <a:cs typeface="DengXian"/>
              </a:rPr>
              <a:t>经过中国电信集团公司</a:t>
            </a:r>
            <a:r>
              <a:rPr sz="1500" kern="0" spc="-200" dirty="0">
                <a:solidFill>
                  <a:srgbClr val="000000">
                    <a:alpha val="100000"/>
                  </a:srgbClr>
                </a:solidFill>
                <a:latin typeface="DengXian"/>
                <a:ea typeface="DengXian"/>
                <a:cs typeface="DengXian"/>
              </a:rPr>
              <a:t> </a:t>
            </a:r>
            <a:r>
              <a:rPr sz="1500" kern="0" spc="80" dirty="0">
                <a:solidFill>
                  <a:srgbClr val="000000">
                    <a:alpha val="100000"/>
                  </a:srgbClr>
                </a:solidFill>
                <a:latin typeface="DengXian"/>
                <a:ea typeface="DengXian"/>
                <a:cs typeface="DengXian"/>
              </a:rPr>
              <a:t>、</a:t>
            </a:r>
            <a:r>
              <a:rPr sz="1500" kern="0" spc="-270" dirty="0">
                <a:solidFill>
                  <a:srgbClr val="000000">
                    <a:alpha val="100000"/>
                  </a:srgbClr>
                </a:solidFill>
                <a:latin typeface="DengXian"/>
                <a:ea typeface="DengXian"/>
                <a:cs typeface="DengXian"/>
              </a:rPr>
              <a:t> </a:t>
            </a:r>
            <a:r>
              <a:rPr sz="1500" kern="0" spc="80" dirty="0">
                <a:solidFill>
                  <a:srgbClr val="000000">
                    <a:alpha val="100000"/>
                  </a:srgbClr>
                </a:solidFill>
                <a:latin typeface="DengXian"/>
                <a:ea typeface="DengXian"/>
                <a:cs typeface="DengXian"/>
              </a:rPr>
              <a:t>物联网公司多轮研</a:t>
            </a:r>
            <a:r>
              <a:rPr sz="1500" kern="0" spc="70" dirty="0">
                <a:solidFill>
                  <a:srgbClr val="000000">
                    <a:alpha val="100000"/>
                  </a:srgbClr>
                </a:solidFill>
                <a:latin typeface="DengXian"/>
                <a:ea typeface="DengXian"/>
                <a:cs typeface="DengXian"/>
              </a:rPr>
              <a:t>讨最终决定，</a:t>
            </a:r>
            <a:endParaRPr sz="1500" dirty="0">
              <a:latin typeface="DengXian"/>
              <a:ea typeface="DengXian"/>
              <a:cs typeface="DengXian"/>
            </a:endParaRPr>
          </a:p>
          <a:p>
            <a:pPr algn="l" rtl="0" eaLnBrk="0">
              <a:lnSpc>
                <a:spcPct val="107000"/>
              </a:lnSpc>
              <a:tabLst/>
            </a:pPr>
            <a:endParaRPr sz="500" dirty="0">
              <a:latin typeface="Arial"/>
              <a:ea typeface="Arial"/>
              <a:cs typeface="Arial"/>
            </a:endParaRPr>
          </a:p>
          <a:p>
            <a:pPr marL="21590" indent="-635" algn="l" rtl="0" eaLnBrk="0">
              <a:lnSpc>
                <a:spcPct val="145000"/>
              </a:lnSpc>
              <a:spcBef>
                <a:spcPts val="4"/>
              </a:spcBef>
              <a:tabLst/>
            </a:pPr>
            <a:r>
              <a:rPr sz="1500" kern="0" spc="100" dirty="0">
                <a:solidFill>
                  <a:srgbClr val="000000">
                    <a:alpha val="100000"/>
                  </a:srgbClr>
                </a:solidFill>
                <a:latin typeface="DengXian"/>
                <a:ea typeface="DengXian"/>
                <a:cs typeface="DengXian"/>
              </a:rPr>
              <a:t>通过建设自研</a:t>
            </a:r>
            <a:r>
              <a:rPr sz="1500" b="1" kern="0" spc="0" dirty="0">
                <a:solidFill>
                  <a:srgbClr val="000000">
                    <a:alpha val="100000"/>
                  </a:srgbClr>
                </a:solidFill>
                <a:latin typeface="Microsoft YaHei"/>
                <a:ea typeface="Microsoft YaHei"/>
                <a:cs typeface="Microsoft YaHei"/>
              </a:rPr>
              <a:t>AEP</a:t>
            </a:r>
            <a:r>
              <a:rPr sz="1500" b="1" kern="0" spc="100" dirty="0">
                <a:solidFill>
                  <a:srgbClr val="000000">
                    <a:alpha val="100000"/>
                  </a:srgbClr>
                </a:solidFill>
                <a:latin typeface="DengXian"/>
                <a:ea typeface="DengXian"/>
                <a:cs typeface="DengXian"/>
              </a:rPr>
              <a:t>平台分节点</a:t>
            </a:r>
            <a:r>
              <a:rPr sz="1500" kern="0" spc="100" dirty="0">
                <a:solidFill>
                  <a:srgbClr val="000000">
                    <a:alpha val="100000"/>
                  </a:srgbClr>
                </a:solidFill>
                <a:latin typeface="DengXian"/>
                <a:ea typeface="DengXian"/>
                <a:cs typeface="DengXian"/>
              </a:rPr>
              <a:t>承载</a:t>
            </a:r>
            <a:r>
              <a:rPr sz="1500" kern="0" spc="0" dirty="0">
                <a:solidFill>
                  <a:srgbClr val="000000">
                    <a:alpha val="100000"/>
                  </a:srgbClr>
                </a:solidFill>
                <a:latin typeface="Microsoft YaHei"/>
                <a:ea typeface="Microsoft YaHei"/>
                <a:cs typeface="Microsoft YaHei"/>
              </a:rPr>
              <a:t>NB</a:t>
            </a:r>
            <a:r>
              <a:rPr sz="1500" kern="0" spc="100" dirty="0">
                <a:solidFill>
                  <a:srgbClr val="000000">
                    <a:alpha val="100000"/>
                  </a:srgbClr>
                </a:solidFill>
                <a:latin typeface="DengXian"/>
                <a:ea typeface="DengXian"/>
                <a:cs typeface="DengXian"/>
              </a:rPr>
              <a:t>网关存量业务，</a:t>
            </a:r>
            <a:r>
              <a:rPr sz="1500" kern="0" spc="-190" dirty="0">
                <a:solidFill>
                  <a:srgbClr val="000000">
                    <a:alpha val="100000"/>
                  </a:srgbClr>
                </a:solidFill>
                <a:latin typeface="DengXian"/>
                <a:ea typeface="DengXian"/>
                <a:cs typeface="DengXian"/>
              </a:rPr>
              <a:t> </a:t>
            </a:r>
            <a:r>
              <a:rPr sz="1500" kern="0" spc="100" dirty="0">
                <a:solidFill>
                  <a:srgbClr val="000000">
                    <a:alpha val="100000"/>
                  </a:srgbClr>
                </a:solidFill>
                <a:latin typeface="DengXian"/>
                <a:ea typeface="DengXian"/>
                <a:cs typeface="DengXian"/>
              </a:rPr>
              <a:t>此外针对</a:t>
            </a:r>
            <a:r>
              <a:rPr sz="1500" b="1" kern="0" spc="100" dirty="0">
                <a:solidFill>
                  <a:srgbClr val="000000">
                    <a:alpha val="100000"/>
                  </a:srgbClr>
                </a:solidFill>
                <a:latin typeface="DengXian"/>
                <a:ea typeface="DengXian"/>
                <a:cs typeface="DengXian"/>
              </a:rPr>
              <a:t>重点保障客户可建设客户级专属云</a:t>
            </a:r>
            <a:r>
              <a:rPr sz="1500" kern="0" spc="100" dirty="0">
                <a:solidFill>
                  <a:srgbClr val="000000">
                    <a:alpha val="100000"/>
                  </a:srgbClr>
                </a:solidFill>
                <a:latin typeface="DengXian"/>
                <a:ea typeface="DengXian"/>
                <a:cs typeface="DengXian"/>
              </a:rPr>
              <a:t>，</a:t>
            </a:r>
            <a:r>
              <a:rPr sz="1500" kern="0" spc="90" dirty="0">
                <a:solidFill>
                  <a:srgbClr val="000000">
                    <a:alpha val="100000"/>
                  </a:srgbClr>
                </a:solidFill>
                <a:latin typeface="DengXian"/>
                <a:ea typeface="DengXian"/>
                <a:cs typeface="DengXian"/>
              </a:rPr>
              <a:t>保障大客户业务稳定过渡</a:t>
            </a:r>
            <a:endParaRPr sz="1500" dirty="0">
              <a:latin typeface="DengXian"/>
              <a:ea typeface="DengXian"/>
              <a:cs typeface="DengXian"/>
            </a:endParaRPr>
          </a:p>
        </p:txBody>
      </p:sp>
      <p:pic>
        <p:nvPicPr>
          <p:cNvPr id="44" name="picture 44"/>
          <p:cNvPicPr>
            <a:picLocks noChangeAspect="1"/>
          </p:cNvPicPr>
          <p:nvPr/>
        </p:nvPicPr>
        <p:blipFill>
          <a:blip r:embed="rId2"/>
          <a:stretch>
            <a:fillRect/>
          </a:stretch>
        </p:blipFill>
        <p:spPr>
          <a:xfrm rot="21600000">
            <a:off x="6801611" y="1126236"/>
            <a:ext cx="4725923" cy="4901183"/>
          </a:xfrm>
          <a:prstGeom prst="rect">
            <a:avLst/>
          </a:prstGeom>
        </p:spPr>
      </p:pic>
      <p:pic>
        <p:nvPicPr>
          <p:cNvPr id="46" name="picture 46"/>
          <p:cNvPicPr>
            <a:picLocks noChangeAspect="1"/>
          </p:cNvPicPr>
          <p:nvPr/>
        </p:nvPicPr>
        <p:blipFill>
          <a:blip r:embed="rId3"/>
          <a:stretch>
            <a:fillRect/>
          </a:stretch>
        </p:blipFill>
        <p:spPr>
          <a:xfrm rot="21600000">
            <a:off x="335279" y="807720"/>
            <a:ext cx="11519916" cy="67055"/>
          </a:xfrm>
          <a:prstGeom prst="rect">
            <a:avLst/>
          </a:prstGeom>
        </p:spPr>
      </p:pic>
      <p:sp>
        <p:nvSpPr>
          <p:cNvPr id="48" name="textbox 48"/>
          <p:cNvSpPr/>
          <p:nvPr/>
        </p:nvSpPr>
        <p:spPr>
          <a:xfrm>
            <a:off x="440613" y="331178"/>
            <a:ext cx="2428239" cy="332104"/>
          </a:xfrm>
          <a:prstGeom prst="rect">
            <a:avLst/>
          </a:prstGeom>
          <a:noFill/>
          <a:ln w="0" cap="flat">
            <a:noFill/>
            <a:prstDash val="solid"/>
            <a:miter lim="0"/>
          </a:ln>
        </p:spPr>
        <p:txBody>
          <a:bodyPr vert="horz" wrap="square" lIns="0" tIns="0" rIns="0" bIns="0"/>
          <a:lstStyle/>
          <a:p>
            <a:pPr algn="l" rtl="0" eaLnBrk="0">
              <a:lnSpc>
                <a:spcPct val="92286"/>
              </a:lnSpc>
              <a:tabLst/>
            </a:pPr>
            <a:endParaRPr sz="100" dirty="0">
              <a:latin typeface="Arial"/>
              <a:ea typeface="Arial"/>
              <a:cs typeface="Arial"/>
            </a:endParaRPr>
          </a:p>
          <a:p>
            <a:pPr marL="12700" algn="l" rtl="0" eaLnBrk="0">
              <a:lnSpc>
                <a:spcPct val="87000"/>
              </a:lnSpc>
              <a:tabLst/>
            </a:pPr>
            <a:r>
              <a:rPr sz="2300" b="1" kern="0" spc="0" dirty="0">
                <a:solidFill>
                  <a:srgbClr val="C00000">
                    <a:alpha val="100000"/>
                  </a:srgbClr>
                </a:solidFill>
                <a:latin typeface="Microsoft YaHei"/>
                <a:ea typeface="Microsoft YaHei"/>
                <a:cs typeface="Microsoft YaHei"/>
              </a:rPr>
              <a:t>NB</a:t>
            </a:r>
            <a:r>
              <a:rPr sz="2300" b="1" kern="0" spc="260" dirty="0">
                <a:solidFill>
                  <a:srgbClr val="C00000">
                    <a:alpha val="100000"/>
                  </a:srgbClr>
                </a:solidFill>
                <a:latin typeface="Microsoft YaHei"/>
                <a:ea typeface="Microsoft YaHei"/>
                <a:cs typeface="Microsoft YaHei"/>
              </a:rPr>
              <a:t>网关迁移背景</a:t>
            </a:r>
            <a:endParaRPr sz="2300" dirty="0">
              <a:latin typeface="Microsoft YaHei"/>
              <a:ea typeface="Microsoft YaHei"/>
              <a:cs typeface="Microsoft YaHei"/>
            </a:endParaRPr>
          </a:p>
        </p:txBody>
      </p:sp>
      <p:pic>
        <p:nvPicPr>
          <p:cNvPr id="50" name="picture 50"/>
          <p:cNvPicPr>
            <a:picLocks noChangeAspect="1"/>
          </p:cNvPicPr>
          <p:nvPr/>
        </p:nvPicPr>
        <p:blipFill>
          <a:blip r:embed="rId4"/>
          <a:stretch>
            <a:fillRect/>
          </a:stretch>
        </p:blipFill>
        <p:spPr>
          <a:xfrm rot="21600000">
            <a:off x="11297604" y="201722"/>
            <a:ext cx="768423" cy="542128"/>
          </a:xfrm>
          <a:prstGeom prst="rect">
            <a:avLst/>
          </a:prstGeom>
        </p:spPr>
      </p:pic>
      <p:sp>
        <p:nvSpPr>
          <p:cNvPr id="52" name="textbox 52"/>
          <p:cNvSpPr/>
          <p:nvPr/>
        </p:nvSpPr>
        <p:spPr>
          <a:xfrm>
            <a:off x="11657476" y="6537521"/>
            <a:ext cx="118110" cy="178435"/>
          </a:xfrm>
          <a:prstGeom prst="rect">
            <a:avLst/>
          </a:prstGeom>
          <a:noFill/>
          <a:ln w="0" cap="flat">
            <a:noFill/>
            <a:prstDash val="solid"/>
            <a:miter lim="0"/>
          </a:ln>
        </p:spPr>
        <p:txBody>
          <a:bodyPr vert="horz" wrap="square" lIns="0" tIns="0" rIns="0" bIns="0"/>
          <a:lstStyle/>
          <a:p>
            <a:pPr algn="l" rtl="0" eaLnBrk="0">
              <a:lnSpc>
                <a:spcPct val="82098"/>
              </a:lnSpc>
              <a:tabLst/>
            </a:pPr>
            <a:endParaRPr sz="100" dirty="0">
              <a:latin typeface="Arial"/>
              <a:ea typeface="Arial"/>
              <a:cs typeface="Arial"/>
            </a:endParaRPr>
          </a:p>
          <a:p>
            <a:pPr marL="12700" algn="l" rtl="0" eaLnBrk="0">
              <a:lnSpc>
                <a:spcPct val="67000"/>
              </a:lnSpc>
              <a:tabLst/>
            </a:pPr>
            <a:r>
              <a:rPr sz="1500" kern="0" spc="-20" dirty="0">
                <a:solidFill>
                  <a:srgbClr val="898989">
                    <a:alpha val="100000"/>
                  </a:srgbClr>
                </a:solidFill>
                <a:latin typeface="Calibri"/>
                <a:ea typeface="Calibri"/>
                <a:cs typeface="Calibri"/>
              </a:rPr>
              <a:t>3</a:t>
            </a:r>
            <a:endParaRPr sz="1500" dirty="0">
              <a:latin typeface="Calibri"/>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54"/>
          <p:cNvSpPr/>
          <p:nvPr/>
        </p:nvSpPr>
        <p:spPr>
          <a:xfrm>
            <a:off x="11652006" y="6538939"/>
            <a:ext cx="123825" cy="176529"/>
          </a:xfrm>
          <a:prstGeom prst="rect">
            <a:avLst/>
          </a:prstGeom>
          <a:noFill/>
          <a:ln w="0" cap="flat">
            <a:noFill/>
            <a:prstDash val="solid"/>
            <a:miter lim="0"/>
          </a:ln>
        </p:spPr>
        <p:txBody>
          <a:bodyPr vert="horz" wrap="square" lIns="0" tIns="0" rIns="0" bIns="0"/>
          <a:lstStyle/>
          <a:p>
            <a:pPr algn="l" rtl="0" eaLnBrk="0">
              <a:lnSpc>
                <a:spcPct val="84413"/>
              </a:lnSpc>
              <a:tabLst/>
            </a:pPr>
            <a:endParaRPr sz="100" dirty="0">
              <a:latin typeface="Arial"/>
              <a:ea typeface="Arial"/>
              <a:cs typeface="Arial"/>
            </a:endParaRPr>
          </a:p>
          <a:p>
            <a:pPr marL="12700" algn="l" rtl="0" eaLnBrk="0">
              <a:lnSpc>
                <a:spcPct val="66000"/>
              </a:lnSpc>
              <a:tabLst/>
            </a:pPr>
            <a:r>
              <a:rPr sz="1500" kern="0" spc="-10" dirty="0">
                <a:solidFill>
                  <a:srgbClr val="898989">
                    <a:alpha val="100000"/>
                  </a:srgbClr>
                </a:solidFill>
                <a:latin typeface="Calibri"/>
                <a:ea typeface="Calibri"/>
                <a:cs typeface="Calibri"/>
              </a:rPr>
              <a:t>4</a:t>
            </a:r>
            <a:endParaRPr sz="1500" dirty="0">
              <a:latin typeface="Calibri"/>
              <a:ea typeface="Calibri"/>
              <a:cs typeface="Calibri"/>
            </a:endParaRPr>
          </a:p>
        </p:txBody>
      </p:sp>
      <p:graphicFrame>
        <p:nvGraphicFramePr>
          <p:cNvPr id="56" name="table 56"/>
          <p:cNvGraphicFramePr>
            <a:graphicFrameLocks noGrp="1"/>
          </p:cNvGraphicFramePr>
          <p:nvPr/>
        </p:nvGraphicFramePr>
        <p:xfrm>
          <a:off x="5148579" y="977900"/>
          <a:ext cx="6720203" cy="5619115"/>
        </p:xfrm>
        <a:graphic>
          <a:graphicData uri="http://schemas.openxmlformats.org/drawingml/2006/table">
            <a:tbl>
              <a:tblPr/>
              <a:tblGrid>
                <a:gridCol w="2316479"/>
                <a:gridCol w="2139314"/>
                <a:gridCol w="2264410"/>
              </a:tblGrid>
              <a:tr h="412750">
                <a:tc>
                  <a:txBody>
                    <a:bodyPr/>
                    <a:lstStyle/>
                    <a:p>
                      <a:pPr algn="l" rtl="0" eaLnBrk="0">
                        <a:lnSpc>
                          <a:spcPct val="103000"/>
                        </a:lnSpc>
                        <a:tabLst/>
                      </a:pPr>
                      <a:endParaRPr sz="900" dirty="0">
                        <a:latin typeface="Arial"/>
                        <a:ea typeface="Arial"/>
                        <a:cs typeface="Arial"/>
                      </a:endParaRPr>
                    </a:p>
                    <a:p>
                      <a:pPr marL="859155" algn="l" rtl="0" eaLnBrk="0">
                        <a:lnSpc>
                          <a:spcPct val="87000"/>
                        </a:lnSpc>
                        <a:spcBef>
                          <a:spcPts val="3"/>
                        </a:spcBef>
                        <a:tabLst/>
                      </a:pPr>
                      <a:r>
                        <a:rPr sz="1200" b="1" kern="0" spc="-10" dirty="0">
                          <a:solidFill>
                            <a:srgbClr val="FFFFFF">
                              <a:alpha val="100000"/>
                            </a:srgbClr>
                          </a:solidFill>
                          <a:latin typeface="Microsoft YaHei"/>
                          <a:ea typeface="Microsoft YaHei"/>
                          <a:cs typeface="Microsoft YaHei"/>
                        </a:rPr>
                        <a:t>AEP功能</a:t>
                      </a:r>
                      <a:endParaRPr sz="12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00000"/>
                    </a:solidFill>
                  </a:tcPr>
                </a:tc>
                <a:tc>
                  <a:txBody>
                    <a:bodyPr/>
                    <a:lstStyle/>
                    <a:p>
                      <a:pPr algn="l" rtl="0" eaLnBrk="0">
                        <a:lnSpc>
                          <a:spcPct val="103000"/>
                        </a:lnSpc>
                        <a:tabLst/>
                      </a:pPr>
                      <a:endParaRPr sz="900" dirty="0">
                        <a:latin typeface="Arial"/>
                        <a:ea typeface="Arial"/>
                        <a:cs typeface="Arial"/>
                      </a:endParaRPr>
                    </a:p>
                    <a:p>
                      <a:pPr marL="661034" algn="l" rtl="0" eaLnBrk="0">
                        <a:lnSpc>
                          <a:spcPct val="87000"/>
                        </a:lnSpc>
                        <a:spcBef>
                          <a:spcPts val="3"/>
                        </a:spcBef>
                        <a:tabLst/>
                      </a:pPr>
                      <a:r>
                        <a:rPr sz="1200" b="1" kern="0" spc="-20" dirty="0">
                          <a:solidFill>
                            <a:srgbClr val="FFFFFF">
                              <a:alpha val="100000"/>
                            </a:srgbClr>
                          </a:solidFill>
                          <a:latin typeface="Microsoft YaHei"/>
                          <a:ea typeface="Microsoft YaHei"/>
                          <a:cs typeface="Microsoft YaHei"/>
                        </a:rPr>
                        <a:t>NB网关功能</a:t>
                      </a:r>
                      <a:endParaRPr sz="12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9D18E"/>
                    </a:solidFill>
                  </a:tcPr>
                </a:tc>
                <a:tc>
                  <a:txBody>
                    <a:bodyPr/>
                    <a:lstStyle/>
                    <a:p>
                      <a:pPr algn="l" rtl="0" eaLnBrk="0">
                        <a:lnSpc>
                          <a:spcPct val="103000"/>
                        </a:lnSpc>
                        <a:tabLst/>
                      </a:pPr>
                      <a:endParaRPr sz="900" dirty="0">
                        <a:latin typeface="Arial"/>
                        <a:ea typeface="Arial"/>
                        <a:cs typeface="Arial"/>
                      </a:endParaRPr>
                    </a:p>
                    <a:p>
                      <a:pPr algn="l" rtl="0" eaLnBrk="0">
                        <a:lnSpc>
                          <a:spcPct val="6271"/>
                        </a:lnSpc>
                        <a:tabLst/>
                      </a:pPr>
                      <a:endParaRPr sz="100" dirty="0">
                        <a:latin typeface="Arial"/>
                        <a:ea typeface="Arial"/>
                        <a:cs typeface="Arial"/>
                      </a:endParaRPr>
                    </a:p>
                    <a:p>
                      <a:pPr marL="979169" algn="l" rtl="0" eaLnBrk="0">
                        <a:lnSpc>
                          <a:spcPct val="86000"/>
                        </a:lnSpc>
                        <a:tabLst/>
                      </a:pPr>
                      <a:r>
                        <a:rPr sz="1200" b="1" kern="0" spc="-20" dirty="0">
                          <a:solidFill>
                            <a:srgbClr val="FFFFFF">
                              <a:alpha val="100000"/>
                            </a:srgbClr>
                          </a:solidFill>
                          <a:latin typeface="Microsoft YaHei"/>
                          <a:ea typeface="Microsoft YaHei"/>
                          <a:cs typeface="Microsoft YaHei"/>
                        </a:rPr>
                        <a:t>备注</a:t>
                      </a:r>
                      <a:endParaRPr sz="12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9D18E"/>
                    </a:solidFill>
                  </a:tcPr>
                </a:tc>
              </a:tr>
              <a:tr h="538479">
                <a:tc gridSpan="2">
                  <a:txBody>
                    <a:bodyPr/>
                    <a:lstStyle/>
                    <a:p>
                      <a:pPr algn="l" rtl="0" eaLnBrk="0">
                        <a:lnSpc>
                          <a:spcPct val="110000"/>
                        </a:lnSpc>
                        <a:tabLst/>
                      </a:pPr>
                      <a:endParaRPr sz="200" dirty="0">
                        <a:latin typeface="Arial"/>
                        <a:ea typeface="Arial"/>
                        <a:cs typeface="Arial"/>
                      </a:endParaRPr>
                    </a:p>
                    <a:p>
                      <a:pPr marL="79375" indent="-1270" algn="l" rtl="0" eaLnBrk="0">
                        <a:lnSpc>
                          <a:spcPct val="114000"/>
                        </a:lnSpc>
                        <a:tabLst/>
                      </a:pPr>
                      <a:r>
                        <a:rPr sz="900" kern="0" spc="90" dirty="0">
                          <a:solidFill>
                            <a:srgbClr val="000000">
                              <a:alpha val="100000"/>
                            </a:srgbClr>
                          </a:solidFill>
                          <a:latin typeface="Microsoft YaHei"/>
                          <a:ea typeface="Microsoft YaHei"/>
                          <a:cs typeface="Microsoft YaHei"/>
                        </a:rPr>
                        <a:t>应用管理、</a:t>
                      </a:r>
                      <a:r>
                        <a:rPr sz="900" kern="0" spc="-15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插件管理、</a:t>
                      </a:r>
                      <a:r>
                        <a:rPr sz="900" kern="0" spc="-8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profile</a:t>
                      </a:r>
                      <a:r>
                        <a:rPr sz="900" kern="0" spc="90" dirty="0">
                          <a:solidFill>
                            <a:srgbClr val="000000">
                              <a:alpha val="100000"/>
                            </a:srgbClr>
                          </a:solidFill>
                          <a:latin typeface="Microsoft YaHei"/>
                          <a:ea typeface="Microsoft YaHei"/>
                          <a:cs typeface="Microsoft YaHei"/>
                        </a:rPr>
                        <a:t>管</a:t>
                      </a:r>
                      <a:r>
                        <a:rPr sz="900" kern="0" spc="80" dirty="0">
                          <a:solidFill>
                            <a:srgbClr val="000000">
                              <a:alpha val="100000"/>
                            </a:srgbClr>
                          </a:solidFill>
                          <a:latin typeface="Microsoft YaHei"/>
                          <a:ea typeface="Microsoft YaHei"/>
                          <a:cs typeface="Microsoft YaHei"/>
                        </a:rPr>
                        <a:t>理、</a:t>
                      </a:r>
                      <a:r>
                        <a:rPr sz="900" kern="0" spc="-15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Microsoft YaHei"/>
                          <a:ea typeface="Microsoft YaHei"/>
                          <a:cs typeface="Microsoft YaHei"/>
                        </a:rPr>
                        <a:t>免心跳、</a:t>
                      </a:r>
                      <a:r>
                        <a:rPr sz="900" kern="0" spc="-13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Microsoft YaHei"/>
                          <a:ea typeface="Microsoft YaHei"/>
                          <a:cs typeface="Microsoft YaHei"/>
                        </a:rPr>
                        <a:t>上行拥塞控制、</a:t>
                      </a:r>
                      <a:r>
                        <a:rPr sz="900" kern="0" spc="-14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Microsoft YaHei"/>
                          <a:ea typeface="Microsoft YaHei"/>
                          <a:cs typeface="Microsoft YaHei"/>
                        </a:rPr>
                        <a:t>下行离散调度、</a:t>
                      </a:r>
                      <a:r>
                        <a:rPr sz="900" kern="0" spc="80" dirty="0">
                          <a:solidFill>
                            <a:srgbClr val="000000">
                              <a:alpha val="100000"/>
                            </a:srgbClr>
                          </a:solidFill>
                          <a:latin typeface="Microsoft YaHei"/>
                          <a:ea typeface="Microsoft YaHei"/>
                          <a:cs typeface="Microsoft YaHei"/>
                        </a:rPr>
                        <a:t>省电模式管理、</a:t>
                      </a:r>
                      <a:r>
                        <a:rPr sz="900" kern="0" spc="-15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Microsoft YaHei"/>
                          <a:ea typeface="Microsoft YaHei"/>
                          <a:cs typeface="Microsoft YaHei"/>
                        </a:rPr>
                        <a:t>批量操作、</a:t>
                      </a:r>
                      <a:r>
                        <a:rPr sz="900" kern="0" spc="-14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Microsoft YaHei"/>
                          <a:ea typeface="Microsoft YaHei"/>
                          <a:cs typeface="Microsoft YaHei"/>
                        </a:rPr>
                        <a:t>设备日志、</a:t>
                      </a:r>
                      <a:r>
                        <a:rPr sz="900" kern="0" spc="-15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Microsoft YaHei"/>
                          <a:ea typeface="Microsoft YaHei"/>
                          <a:cs typeface="Microsoft YaHei"/>
                        </a:rPr>
                        <a:t>原生协议支持、</a:t>
                      </a:r>
                      <a:r>
                        <a:rPr sz="900" kern="0" spc="-15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Microsoft YaHei"/>
                          <a:ea typeface="Microsoft YaHei"/>
                          <a:cs typeface="Microsoft YaHei"/>
                        </a:rPr>
                        <a:t>分权分域、</a:t>
                      </a:r>
                      <a:r>
                        <a:rPr sz="900" kern="0" spc="-15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Microsoft YaHei"/>
                          <a:ea typeface="Microsoft YaHei"/>
                          <a:cs typeface="Microsoft YaHei"/>
                        </a:rPr>
                        <a:t>规则引擎、</a:t>
                      </a:r>
                      <a:r>
                        <a:rPr sz="900" kern="0" spc="90" dirty="0">
                          <a:solidFill>
                            <a:srgbClr val="000000">
                              <a:alpha val="100000"/>
                            </a:srgbClr>
                          </a:solidFill>
                          <a:latin typeface="Microsoft YaHei"/>
                          <a:ea typeface="Microsoft YaHei"/>
                          <a:cs typeface="Microsoft YaHei"/>
                        </a:rPr>
                        <a:t>设备接入鉴权</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hMerge="1">
                  <a:txBody>
                    <a:bodyPr/>
                    <a:lstStyle/>
                    <a:p>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a:txBody>
                    <a:bodyPr/>
                    <a:lstStyle/>
                    <a:p>
                      <a:pPr algn="l" rtl="0" eaLnBrk="0">
                        <a:lnSpc>
                          <a:spcPct val="102000"/>
                        </a:lnSpc>
                        <a:tabLst/>
                      </a:pPr>
                      <a:endParaRPr sz="400" dirty="0">
                        <a:latin typeface="Arial"/>
                        <a:ea typeface="Arial"/>
                        <a:cs typeface="Arial"/>
                      </a:endParaRPr>
                    </a:p>
                    <a:p>
                      <a:pPr marL="749934" algn="l" rtl="0" eaLnBrk="0">
                        <a:lnSpc>
                          <a:spcPct val="91000"/>
                        </a:lnSpc>
                        <a:spcBef>
                          <a:spcPts val="2"/>
                        </a:spcBef>
                        <a:tabLst/>
                      </a:pPr>
                      <a:r>
                        <a:rPr sz="900" kern="0" spc="90" dirty="0">
                          <a:solidFill>
                            <a:srgbClr val="000000">
                              <a:alpha val="100000"/>
                            </a:srgbClr>
                          </a:solidFill>
                          <a:latin typeface="Microsoft YaHei"/>
                          <a:ea typeface="Microsoft YaHei"/>
                          <a:cs typeface="Microsoft YaHei"/>
                        </a:rPr>
                        <a:t>功能完全一致</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r>
              <a:tr h="339725">
                <a:tc>
                  <a:txBody>
                    <a:bodyPr/>
                    <a:lstStyle/>
                    <a:p>
                      <a:pPr algn="l" rtl="0" eaLnBrk="0">
                        <a:lnSpc>
                          <a:spcPct val="106000"/>
                        </a:lnSpc>
                        <a:tabLst/>
                      </a:pPr>
                      <a:endParaRPr sz="700" dirty="0">
                        <a:latin typeface="Arial"/>
                        <a:ea typeface="Arial"/>
                        <a:cs typeface="Arial"/>
                      </a:endParaRPr>
                    </a:p>
                    <a:p>
                      <a:pPr marL="354965" algn="l" rtl="0" eaLnBrk="0">
                        <a:lnSpc>
                          <a:spcPct val="92000"/>
                        </a:lnSpc>
                        <a:spcBef>
                          <a:spcPts val="2"/>
                        </a:spcBef>
                        <a:tabLst/>
                      </a:pPr>
                      <a:r>
                        <a:rPr sz="900" kern="0" spc="90" dirty="0">
                          <a:solidFill>
                            <a:srgbClr val="000000">
                              <a:alpha val="100000"/>
                            </a:srgbClr>
                          </a:solidFill>
                          <a:latin typeface="Microsoft YaHei"/>
                          <a:ea typeface="Microsoft YaHei"/>
                          <a:cs typeface="Microsoft YaHei"/>
                        </a:rPr>
                        <a:t>设备最新状态查询+指令下发</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a:txBody>
                    <a:bodyPr/>
                    <a:lstStyle/>
                    <a:p>
                      <a:pPr algn="l" rtl="0" eaLnBrk="0">
                        <a:lnSpc>
                          <a:spcPct val="106000"/>
                        </a:lnSpc>
                        <a:tabLst/>
                      </a:pPr>
                      <a:endParaRPr sz="700" dirty="0">
                        <a:latin typeface="Arial"/>
                        <a:ea typeface="Arial"/>
                        <a:cs typeface="Arial"/>
                      </a:endParaRPr>
                    </a:p>
                    <a:p>
                      <a:pPr marL="818514" algn="l" rtl="0" eaLnBrk="0">
                        <a:lnSpc>
                          <a:spcPct val="91000"/>
                        </a:lnSpc>
                        <a:spcBef>
                          <a:spcPts val="6"/>
                        </a:spcBef>
                        <a:tabLst/>
                      </a:pPr>
                      <a:r>
                        <a:rPr sz="900" kern="0" spc="90" dirty="0">
                          <a:solidFill>
                            <a:srgbClr val="000000">
                              <a:alpha val="100000"/>
                            </a:srgbClr>
                          </a:solidFill>
                          <a:latin typeface="Microsoft YaHei"/>
                          <a:ea typeface="Microsoft YaHei"/>
                          <a:cs typeface="Microsoft YaHei"/>
                        </a:rPr>
                        <a:t>设备影子</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rowSpan="10">
                  <a:txBody>
                    <a:bodyPr/>
                    <a:lstStyle/>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marL="876935" algn="l" rtl="0" eaLnBrk="0">
                        <a:lnSpc>
                          <a:spcPct val="92000"/>
                        </a:lnSpc>
                        <a:spcBef>
                          <a:spcPts val="4"/>
                        </a:spcBef>
                        <a:tabLst/>
                      </a:pPr>
                      <a:r>
                        <a:rPr sz="900" kern="0" spc="90" dirty="0">
                          <a:solidFill>
                            <a:srgbClr val="000000">
                              <a:alpha val="100000"/>
                            </a:srgbClr>
                          </a:solidFill>
                          <a:latin typeface="Microsoft YaHei"/>
                          <a:ea typeface="Microsoft YaHei"/>
                          <a:cs typeface="Microsoft YaHei"/>
                        </a:rPr>
                        <a:t>功能类似</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r>
              <a:tr h="199389">
                <a:tc>
                  <a:txBody>
                    <a:bodyPr/>
                    <a:lstStyle/>
                    <a:p>
                      <a:pPr algn="l" rtl="0" eaLnBrk="0">
                        <a:lnSpc>
                          <a:spcPct val="148000"/>
                        </a:lnSpc>
                        <a:tabLst/>
                      </a:pPr>
                      <a:endParaRPr sz="200" dirty="0">
                        <a:latin typeface="Arial"/>
                        <a:ea typeface="Arial"/>
                        <a:cs typeface="Arial"/>
                      </a:endParaRPr>
                    </a:p>
                    <a:p>
                      <a:pPr marL="908050" algn="l" rtl="0" eaLnBrk="0">
                        <a:lnSpc>
                          <a:spcPct val="91000"/>
                        </a:lnSpc>
                        <a:tabLst/>
                      </a:pPr>
                      <a:r>
                        <a:rPr sz="900" kern="0" spc="90" dirty="0">
                          <a:solidFill>
                            <a:srgbClr val="000000">
                              <a:alpha val="100000"/>
                            </a:srgbClr>
                          </a:solidFill>
                          <a:latin typeface="Microsoft YaHei"/>
                          <a:ea typeface="Microsoft YaHei"/>
                          <a:cs typeface="Microsoft YaHei"/>
                        </a:rPr>
                        <a:t>数据分析</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a:txBody>
                    <a:bodyPr/>
                    <a:lstStyle/>
                    <a:p>
                      <a:pPr algn="l" rtl="0" eaLnBrk="0">
                        <a:lnSpc>
                          <a:spcPct val="141000"/>
                        </a:lnSpc>
                        <a:tabLst/>
                      </a:pPr>
                      <a:endParaRPr sz="200" dirty="0">
                        <a:latin typeface="Arial"/>
                        <a:ea typeface="Arial"/>
                        <a:cs typeface="Arial"/>
                      </a:endParaRPr>
                    </a:p>
                    <a:p>
                      <a:pPr marL="817244" algn="l" rtl="0" eaLnBrk="0">
                        <a:lnSpc>
                          <a:spcPct val="92000"/>
                        </a:lnSpc>
                        <a:spcBef>
                          <a:spcPts val="1"/>
                        </a:spcBef>
                        <a:tabLst/>
                      </a:pPr>
                      <a:r>
                        <a:rPr sz="900" kern="0" spc="90" dirty="0">
                          <a:solidFill>
                            <a:srgbClr val="000000">
                              <a:alpha val="100000"/>
                            </a:srgbClr>
                          </a:solidFill>
                          <a:latin typeface="Microsoft YaHei"/>
                          <a:ea typeface="Microsoft YaHei"/>
                          <a:cs typeface="Microsoft YaHei"/>
                        </a:rPr>
                        <a:t>报表服务</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198120">
                <a:tc>
                  <a:txBody>
                    <a:bodyPr/>
                    <a:lstStyle/>
                    <a:p>
                      <a:pPr algn="l" rtl="0" eaLnBrk="0">
                        <a:lnSpc>
                          <a:spcPct val="132000"/>
                        </a:lnSpc>
                        <a:tabLst/>
                      </a:pPr>
                      <a:endParaRPr sz="100" dirty="0">
                        <a:latin typeface="Arial"/>
                        <a:ea typeface="Arial"/>
                        <a:cs typeface="Arial"/>
                      </a:endParaRPr>
                    </a:p>
                    <a:p>
                      <a:pPr marL="505459" algn="l" rtl="0" eaLnBrk="0">
                        <a:lnSpc>
                          <a:spcPts val="1284"/>
                        </a:lnSpc>
                        <a:spcBef>
                          <a:spcPts val="1"/>
                        </a:spcBef>
                        <a:tabLst/>
                      </a:pPr>
                      <a:r>
                        <a:rPr sz="900" kern="0" spc="110" dirty="0">
                          <a:solidFill>
                            <a:srgbClr val="000000">
                              <a:alpha val="100000"/>
                            </a:srgbClr>
                          </a:solidFill>
                          <a:latin typeface="Microsoft YaHei"/>
                          <a:ea typeface="Microsoft YaHei"/>
                          <a:cs typeface="Microsoft YaHei"/>
                        </a:rPr>
                        <a:t>北向</a:t>
                      </a:r>
                      <a:r>
                        <a:rPr sz="900" kern="0" spc="0" dirty="0">
                          <a:solidFill>
                            <a:srgbClr val="000000">
                              <a:alpha val="100000"/>
                            </a:srgbClr>
                          </a:solidFill>
                          <a:latin typeface="Microsoft YaHei"/>
                          <a:ea typeface="Microsoft YaHei"/>
                          <a:cs typeface="Microsoft YaHei"/>
                        </a:rPr>
                        <a:t>API</a:t>
                      </a:r>
                      <a:r>
                        <a:rPr sz="900" kern="0" spc="110" dirty="0">
                          <a:solidFill>
                            <a:srgbClr val="000000">
                              <a:alpha val="100000"/>
                            </a:srgbClr>
                          </a:solidFill>
                          <a:latin typeface="Microsoft YaHei"/>
                          <a:ea typeface="Microsoft YaHei"/>
                          <a:cs typeface="Microsoft YaHei"/>
                        </a:rPr>
                        <a:t>查询+数据查询</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a:txBody>
                    <a:bodyPr/>
                    <a:lstStyle/>
                    <a:p>
                      <a:pPr algn="l" rtl="0" eaLnBrk="0">
                        <a:lnSpc>
                          <a:spcPct val="141000"/>
                        </a:lnSpc>
                        <a:tabLst/>
                      </a:pPr>
                      <a:endParaRPr sz="200" dirty="0">
                        <a:latin typeface="Arial"/>
                        <a:ea typeface="Arial"/>
                        <a:cs typeface="Arial"/>
                      </a:endParaRPr>
                    </a:p>
                    <a:p>
                      <a:pPr marL="816610" algn="l" rtl="0" eaLnBrk="0">
                        <a:lnSpc>
                          <a:spcPct val="92000"/>
                        </a:lnSpc>
                        <a:spcBef>
                          <a:spcPts val="1"/>
                        </a:spcBef>
                        <a:tabLst/>
                      </a:pPr>
                      <a:r>
                        <a:rPr sz="900" kern="0" spc="90" dirty="0">
                          <a:solidFill>
                            <a:srgbClr val="000000">
                              <a:alpha val="100000"/>
                            </a:srgbClr>
                          </a:solidFill>
                          <a:latin typeface="Microsoft YaHei"/>
                          <a:ea typeface="Microsoft YaHei"/>
                          <a:cs typeface="Microsoft YaHei"/>
                        </a:rPr>
                        <a:t>数据采集</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00025">
                <a:tc>
                  <a:txBody>
                    <a:bodyPr/>
                    <a:lstStyle/>
                    <a:p>
                      <a:pPr algn="l" rtl="0" eaLnBrk="0">
                        <a:lnSpc>
                          <a:spcPct val="118000"/>
                        </a:lnSpc>
                        <a:tabLst/>
                      </a:pPr>
                      <a:endParaRPr sz="300" dirty="0">
                        <a:latin typeface="Arial"/>
                        <a:ea typeface="Arial"/>
                        <a:cs typeface="Arial"/>
                      </a:endParaRPr>
                    </a:p>
                    <a:p>
                      <a:pPr marL="876300" algn="l" rtl="0" eaLnBrk="0">
                        <a:lnSpc>
                          <a:spcPct val="95000"/>
                        </a:lnSpc>
                        <a:spcBef>
                          <a:spcPts val="2"/>
                        </a:spcBef>
                        <a:tabLst/>
                      </a:pPr>
                      <a:r>
                        <a:rPr sz="900" kern="0" spc="30" dirty="0">
                          <a:solidFill>
                            <a:srgbClr val="000000">
                              <a:alpha val="100000"/>
                            </a:srgbClr>
                          </a:solidFill>
                          <a:latin typeface="Microsoft YaHei"/>
                          <a:ea typeface="Microsoft YaHei"/>
                          <a:cs typeface="Microsoft YaHei"/>
                        </a:rPr>
                        <a:t>Bootstrap</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a:txBody>
                    <a:bodyPr/>
                    <a:lstStyle/>
                    <a:p>
                      <a:pPr algn="l" rtl="0" eaLnBrk="0">
                        <a:lnSpc>
                          <a:spcPct val="142000"/>
                        </a:lnSpc>
                        <a:tabLst/>
                      </a:pPr>
                      <a:endParaRPr sz="200" dirty="0">
                        <a:latin typeface="Arial"/>
                        <a:ea typeface="Arial"/>
                        <a:cs typeface="Arial"/>
                      </a:endParaRPr>
                    </a:p>
                    <a:p>
                      <a:pPr marL="818514" algn="l" rtl="0" eaLnBrk="0">
                        <a:lnSpc>
                          <a:spcPct val="92000"/>
                        </a:lnSpc>
                        <a:tabLst/>
                      </a:pPr>
                      <a:r>
                        <a:rPr sz="900" kern="0" spc="90" dirty="0">
                          <a:solidFill>
                            <a:srgbClr val="000000">
                              <a:alpha val="100000"/>
                            </a:srgbClr>
                          </a:solidFill>
                          <a:latin typeface="Microsoft YaHei"/>
                          <a:ea typeface="Microsoft YaHei"/>
                          <a:cs typeface="Microsoft YaHei"/>
                        </a:rPr>
                        <a:t>设备发放</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198755">
                <a:tc>
                  <a:txBody>
                    <a:bodyPr/>
                    <a:lstStyle/>
                    <a:p>
                      <a:pPr algn="l" rtl="0" eaLnBrk="0">
                        <a:lnSpc>
                          <a:spcPct val="144000"/>
                        </a:lnSpc>
                        <a:tabLst/>
                      </a:pPr>
                      <a:endParaRPr sz="200" dirty="0">
                        <a:latin typeface="Arial"/>
                        <a:ea typeface="Arial"/>
                        <a:cs typeface="Arial"/>
                      </a:endParaRPr>
                    </a:p>
                    <a:p>
                      <a:pPr marL="783590" algn="l" rtl="0" eaLnBrk="0">
                        <a:lnSpc>
                          <a:spcPct val="90000"/>
                        </a:lnSpc>
                        <a:spcBef>
                          <a:spcPts val="2"/>
                        </a:spcBef>
                        <a:tabLst/>
                      </a:pPr>
                      <a:r>
                        <a:rPr sz="900" kern="0" spc="130" dirty="0">
                          <a:solidFill>
                            <a:srgbClr val="000000">
                              <a:alpha val="100000"/>
                            </a:srgbClr>
                          </a:solidFill>
                          <a:latin typeface="Microsoft YaHei"/>
                          <a:ea typeface="Microsoft YaHei"/>
                          <a:cs typeface="Microsoft YaHei"/>
                        </a:rPr>
                        <a:t>终端接入</a:t>
                      </a:r>
                      <a:r>
                        <a:rPr sz="900" kern="0" spc="0" dirty="0">
                          <a:solidFill>
                            <a:srgbClr val="000000">
                              <a:alpha val="100000"/>
                            </a:srgbClr>
                          </a:solidFill>
                          <a:latin typeface="Microsoft YaHei"/>
                          <a:ea typeface="Microsoft YaHei"/>
                          <a:cs typeface="Microsoft YaHei"/>
                        </a:rPr>
                        <a:t>SDK</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a:txBody>
                    <a:bodyPr/>
                    <a:lstStyle/>
                    <a:p>
                      <a:pPr algn="l" rtl="0" eaLnBrk="0">
                        <a:lnSpc>
                          <a:spcPct val="141000"/>
                        </a:lnSpc>
                        <a:tabLst/>
                      </a:pPr>
                      <a:endParaRPr sz="200" dirty="0">
                        <a:latin typeface="Arial"/>
                        <a:ea typeface="Arial"/>
                        <a:cs typeface="Arial"/>
                      </a:endParaRPr>
                    </a:p>
                    <a:p>
                      <a:pPr marL="818514" algn="l" rtl="0" eaLnBrk="0">
                        <a:lnSpc>
                          <a:spcPct val="91000"/>
                        </a:lnSpc>
                        <a:spcBef>
                          <a:spcPts val="2"/>
                        </a:spcBef>
                        <a:tabLst/>
                      </a:pPr>
                      <a:r>
                        <a:rPr sz="900" kern="0" spc="180" dirty="0">
                          <a:solidFill>
                            <a:srgbClr val="000000">
                              <a:alpha val="100000"/>
                            </a:srgbClr>
                          </a:solidFill>
                          <a:latin typeface="Microsoft YaHei"/>
                          <a:ea typeface="Microsoft YaHei"/>
                          <a:cs typeface="Microsoft YaHei"/>
                        </a:rPr>
                        <a:t>集成</a:t>
                      </a:r>
                      <a:r>
                        <a:rPr sz="900" kern="0" spc="0" dirty="0">
                          <a:solidFill>
                            <a:srgbClr val="000000">
                              <a:alpha val="100000"/>
                            </a:srgbClr>
                          </a:solidFill>
                          <a:latin typeface="Microsoft YaHei"/>
                          <a:ea typeface="Microsoft YaHei"/>
                          <a:cs typeface="Microsoft YaHei"/>
                        </a:rPr>
                        <a:t>SDK</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26059">
                <a:tc>
                  <a:txBody>
                    <a:bodyPr/>
                    <a:lstStyle/>
                    <a:p>
                      <a:pPr algn="l" rtl="0" eaLnBrk="0">
                        <a:lnSpc>
                          <a:spcPct val="127000"/>
                        </a:lnSpc>
                        <a:tabLst/>
                      </a:pPr>
                      <a:endParaRPr sz="300" dirty="0">
                        <a:latin typeface="Arial"/>
                        <a:ea typeface="Arial"/>
                        <a:cs typeface="Arial"/>
                      </a:endParaRPr>
                    </a:p>
                    <a:p>
                      <a:pPr marL="781684" algn="l" rtl="0" eaLnBrk="0">
                        <a:lnSpc>
                          <a:spcPct val="90000"/>
                        </a:lnSpc>
                        <a:spcBef>
                          <a:spcPts val="3"/>
                        </a:spcBef>
                        <a:tabLst/>
                      </a:pPr>
                      <a:r>
                        <a:rPr sz="900" kern="0" spc="90" dirty="0">
                          <a:solidFill>
                            <a:srgbClr val="000000">
                              <a:alpha val="100000"/>
                            </a:srgbClr>
                          </a:solidFill>
                          <a:latin typeface="Microsoft YaHei"/>
                          <a:ea typeface="Microsoft YaHei"/>
                          <a:cs typeface="Microsoft YaHei"/>
                        </a:rPr>
                        <a:t>位置信息上报</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25000"/>
                        </a:lnSpc>
                        <a:tabLst/>
                      </a:pPr>
                      <a:endParaRPr sz="300" dirty="0">
                        <a:latin typeface="Arial"/>
                        <a:ea typeface="Arial"/>
                        <a:cs typeface="Arial"/>
                      </a:endParaRPr>
                    </a:p>
                    <a:p>
                      <a:pPr marL="691515" algn="l" rtl="0" eaLnBrk="0">
                        <a:lnSpc>
                          <a:spcPct val="91000"/>
                        </a:lnSpc>
                        <a:spcBef>
                          <a:spcPts val="2"/>
                        </a:spcBef>
                        <a:tabLst/>
                      </a:pPr>
                      <a:r>
                        <a:rPr sz="900" kern="0" spc="90" dirty="0">
                          <a:solidFill>
                            <a:srgbClr val="000000">
                              <a:alpha val="100000"/>
                            </a:srgbClr>
                          </a:solidFill>
                          <a:latin typeface="Microsoft YaHei"/>
                          <a:ea typeface="Microsoft YaHei"/>
                          <a:cs typeface="Microsoft YaHei"/>
                        </a:rPr>
                        <a:t>设备位置管理</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25425">
                <a:tc>
                  <a:txBody>
                    <a:bodyPr/>
                    <a:lstStyle/>
                    <a:p>
                      <a:pPr algn="l" rtl="0" eaLnBrk="0">
                        <a:lnSpc>
                          <a:spcPct val="126000"/>
                        </a:lnSpc>
                        <a:tabLst/>
                      </a:pPr>
                      <a:endParaRPr sz="300" dirty="0">
                        <a:latin typeface="Arial"/>
                        <a:ea typeface="Arial"/>
                        <a:cs typeface="Arial"/>
                      </a:endParaRPr>
                    </a:p>
                    <a:p>
                      <a:pPr marL="910589" algn="l" rtl="0" eaLnBrk="0">
                        <a:lnSpc>
                          <a:spcPct val="90000"/>
                        </a:lnSpc>
                        <a:spcBef>
                          <a:spcPts val="3"/>
                        </a:spcBef>
                        <a:tabLst/>
                      </a:pPr>
                      <a:r>
                        <a:rPr sz="900" kern="0" spc="80" dirty="0">
                          <a:solidFill>
                            <a:srgbClr val="000000">
                              <a:alpha val="100000"/>
                            </a:srgbClr>
                          </a:solidFill>
                          <a:latin typeface="Microsoft YaHei"/>
                          <a:ea typeface="Microsoft YaHei"/>
                          <a:cs typeface="Microsoft YaHei"/>
                        </a:rPr>
                        <a:t>告警管理</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26000"/>
                        </a:lnSpc>
                        <a:tabLst/>
                      </a:pPr>
                      <a:endParaRPr sz="300" dirty="0">
                        <a:latin typeface="Arial"/>
                        <a:ea typeface="Arial"/>
                        <a:cs typeface="Arial"/>
                      </a:endParaRPr>
                    </a:p>
                    <a:p>
                      <a:pPr marL="819150" algn="l" rtl="0" eaLnBrk="0">
                        <a:lnSpc>
                          <a:spcPct val="90000"/>
                        </a:lnSpc>
                        <a:spcBef>
                          <a:spcPts val="3"/>
                        </a:spcBef>
                        <a:tabLst/>
                      </a:pPr>
                      <a:r>
                        <a:rPr sz="900" kern="0" spc="80" dirty="0">
                          <a:solidFill>
                            <a:srgbClr val="000000">
                              <a:alpha val="100000"/>
                            </a:srgbClr>
                          </a:solidFill>
                          <a:latin typeface="Microsoft YaHei"/>
                          <a:ea typeface="Microsoft YaHei"/>
                          <a:cs typeface="Microsoft YaHei"/>
                        </a:rPr>
                        <a:t>告警管理</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26059">
                <a:tc>
                  <a:txBody>
                    <a:bodyPr/>
                    <a:lstStyle/>
                    <a:p>
                      <a:pPr algn="l" rtl="0" eaLnBrk="0">
                        <a:lnSpc>
                          <a:spcPct val="128000"/>
                        </a:lnSpc>
                        <a:tabLst/>
                      </a:pPr>
                      <a:endParaRPr sz="300" dirty="0">
                        <a:latin typeface="Arial"/>
                        <a:ea typeface="Arial"/>
                        <a:cs typeface="Arial"/>
                      </a:endParaRPr>
                    </a:p>
                    <a:p>
                      <a:pPr marL="908685" algn="l" rtl="0" eaLnBrk="0">
                        <a:lnSpc>
                          <a:spcPct val="90000"/>
                        </a:lnSpc>
                        <a:spcBef>
                          <a:spcPts val="1"/>
                        </a:spcBef>
                        <a:tabLst/>
                      </a:pPr>
                      <a:r>
                        <a:rPr sz="900" kern="0" spc="90" dirty="0">
                          <a:solidFill>
                            <a:srgbClr val="000000">
                              <a:alpha val="100000"/>
                            </a:srgbClr>
                          </a:solidFill>
                          <a:latin typeface="Microsoft YaHei"/>
                          <a:ea typeface="Microsoft YaHei"/>
                          <a:cs typeface="Microsoft YaHei"/>
                        </a:rPr>
                        <a:t>远程升级</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12000"/>
                        </a:lnSpc>
                        <a:tabLst/>
                      </a:pPr>
                      <a:endParaRPr sz="200" dirty="0">
                        <a:latin typeface="Arial"/>
                        <a:ea typeface="Arial"/>
                        <a:cs typeface="Arial"/>
                      </a:endParaRPr>
                    </a:p>
                    <a:p>
                      <a:pPr marL="718819" algn="l" rtl="0" eaLnBrk="0">
                        <a:lnSpc>
                          <a:spcPts val="1284"/>
                        </a:lnSpc>
                        <a:tabLst/>
                      </a:pPr>
                      <a:r>
                        <a:rPr sz="900" kern="0" spc="40" dirty="0">
                          <a:solidFill>
                            <a:srgbClr val="000000">
                              <a:alpha val="100000"/>
                            </a:srgbClr>
                          </a:solidFill>
                          <a:latin typeface="Microsoft YaHei"/>
                          <a:ea typeface="Microsoft YaHei"/>
                          <a:cs typeface="Microsoft YaHei"/>
                        </a:rPr>
                        <a:t>FOTA/SOTA</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26059">
                <a:tc>
                  <a:txBody>
                    <a:bodyPr/>
                    <a:lstStyle/>
                    <a:p>
                      <a:pPr algn="l" rtl="0" eaLnBrk="0">
                        <a:lnSpc>
                          <a:spcPct val="125000"/>
                        </a:lnSpc>
                        <a:tabLst/>
                      </a:pPr>
                      <a:endParaRPr sz="300" dirty="0">
                        <a:latin typeface="Arial"/>
                        <a:ea typeface="Arial"/>
                        <a:cs typeface="Arial"/>
                      </a:endParaRPr>
                    </a:p>
                    <a:p>
                      <a:pPr marL="782955" algn="l" rtl="0" eaLnBrk="0">
                        <a:lnSpc>
                          <a:spcPct val="91000"/>
                        </a:lnSpc>
                        <a:spcBef>
                          <a:spcPts val="2"/>
                        </a:spcBef>
                        <a:tabLst/>
                      </a:pPr>
                      <a:r>
                        <a:rPr sz="900" kern="0" spc="90" dirty="0">
                          <a:solidFill>
                            <a:srgbClr val="000000">
                              <a:alpha val="100000"/>
                            </a:srgbClr>
                          </a:solidFill>
                          <a:latin typeface="Microsoft YaHei"/>
                          <a:ea typeface="Microsoft YaHei"/>
                          <a:cs typeface="Microsoft YaHei"/>
                        </a:rPr>
                        <a:t>设备标签管理</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25000"/>
                        </a:lnSpc>
                        <a:tabLst/>
                      </a:pPr>
                      <a:endParaRPr sz="300" dirty="0">
                        <a:latin typeface="Arial"/>
                        <a:ea typeface="Arial"/>
                        <a:cs typeface="Arial"/>
                      </a:endParaRPr>
                    </a:p>
                    <a:p>
                      <a:pPr marL="755015" algn="l" rtl="0" eaLnBrk="0">
                        <a:lnSpc>
                          <a:spcPct val="91000"/>
                        </a:lnSpc>
                        <a:spcBef>
                          <a:spcPts val="2"/>
                        </a:spcBef>
                        <a:tabLst/>
                      </a:pPr>
                      <a:r>
                        <a:rPr sz="900" kern="0" spc="90" dirty="0">
                          <a:solidFill>
                            <a:srgbClr val="000000">
                              <a:alpha val="100000"/>
                            </a:srgbClr>
                          </a:solidFill>
                          <a:latin typeface="Microsoft YaHei"/>
                          <a:ea typeface="Microsoft YaHei"/>
                          <a:cs typeface="Microsoft YaHei"/>
                        </a:rPr>
                        <a:t>设备打标签</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26694">
                <a:tc>
                  <a:txBody>
                    <a:bodyPr/>
                    <a:lstStyle/>
                    <a:p>
                      <a:pPr algn="l" rtl="0" eaLnBrk="0">
                        <a:lnSpc>
                          <a:spcPct val="112000"/>
                        </a:lnSpc>
                        <a:tabLst/>
                      </a:pPr>
                      <a:endParaRPr sz="200" dirty="0">
                        <a:latin typeface="Arial"/>
                        <a:ea typeface="Arial"/>
                        <a:cs typeface="Arial"/>
                      </a:endParaRPr>
                    </a:p>
                    <a:p>
                      <a:pPr marL="273050" algn="l" rtl="0" eaLnBrk="0">
                        <a:lnSpc>
                          <a:spcPts val="1284"/>
                        </a:lnSpc>
                        <a:tabLst/>
                      </a:pPr>
                      <a:r>
                        <a:rPr sz="900" kern="0" spc="90" dirty="0">
                          <a:solidFill>
                            <a:srgbClr val="000000">
                              <a:alpha val="100000"/>
                            </a:srgbClr>
                          </a:solidFill>
                          <a:latin typeface="Microsoft YaHei"/>
                          <a:ea typeface="Microsoft YaHei"/>
                          <a:cs typeface="Microsoft YaHei"/>
                        </a:rPr>
                        <a:t>数据存储（按需设置存储周期）</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12000"/>
                        </a:lnSpc>
                        <a:tabLst/>
                      </a:pPr>
                      <a:endParaRPr sz="200" dirty="0">
                        <a:latin typeface="Arial"/>
                        <a:ea typeface="Arial"/>
                        <a:cs typeface="Arial"/>
                      </a:endParaRPr>
                    </a:p>
                    <a:p>
                      <a:pPr marL="589280" algn="l" rtl="0" eaLnBrk="0">
                        <a:lnSpc>
                          <a:spcPts val="1284"/>
                        </a:lnSpc>
                        <a:tabLst/>
                      </a:pPr>
                      <a:r>
                        <a:rPr sz="900" kern="0" spc="70" dirty="0">
                          <a:solidFill>
                            <a:srgbClr val="000000">
                              <a:alpha val="100000"/>
                            </a:srgbClr>
                          </a:solidFill>
                          <a:latin typeface="Microsoft YaHei"/>
                          <a:ea typeface="Microsoft YaHei"/>
                          <a:cs typeface="Microsoft YaHei"/>
                        </a:rPr>
                        <a:t>数据存储（7天）</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37820">
                <a:tc>
                  <a:txBody>
                    <a:bodyPr/>
                    <a:lstStyle/>
                    <a:p>
                      <a:pPr algn="l" rtl="0" eaLnBrk="0">
                        <a:lnSpc>
                          <a:spcPct val="114000"/>
                        </a:lnSpc>
                        <a:tabLst/>
                      </a:pPr>
                      <a:endParaRPr sz="500" dirty="0">
                        <a:latin typeface="Arial"/>
                        <a:ea typeface="Arial"/>
                        <a:cs typeface="Arial"/>
                      </a:endParaRPr>
                    </a:p>
                    <a:p>
                      <a:pPr marL="306704" algn="l" rtl="0" eaLnBrk="0">
                        <a:lnSpc>
                          <a:spcPts val="1312"/>
                        </a:lnSpc>
                        <a:spcBef>
                          <a:spcPts val="3"/>
                        </a:spcBef>
                        <a:tabLst/>
                      </a:pPr>
                      <a:r>
                        <a:rPr sz="900" kern="0" spc="70" dirty="0">
                          <a:solidFill>
                            <a:srgbClr val="000000">
                              <a:alpha val="100000"/>
                            </a:srgbClr>
                          </a:solidFill>
                          <a:latin typeface="Microsoft YaHei"/>
                          <a:ea typeface="Microsoft YaHei"/>
                          <a:cs typeface="Microsoft YaHei"/>
                        </a:rPr>
                        <a:t>设备分组（单产品、</a:t>
                      </a:r>
                      <a:r>
                        <a:rPr sz="900" kern="0" spc="-9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Microsoft YaHei"/>
                          <a:ea typeface="Microsoft YaHei"/>
                          <a:cs typeface="Microsoft YaHei"/>
                        </a:rPr>
                        <a:t>多产品）</a:t>
                      </a:r>
                      <a:r>
                        <a:rPr sz="900" kern="0" spc="-90" dirty="0">
                          <a:solidFill>
                            <a:srgbClr val="000000">
                              <a:alpha val="100000"/>
                            </a:srgbClr>
                          </a:solidFill>
                          <a:latin typeface="Microsoft YaHei"/>
                          <a:ea typeface="Microsoft YaHei"/>
                          <a:cs typeface="Microsoft YaHei"/>
                        </a:rPr>
                        <a:t> </a:t>
                      </a:r>
                      <a:r>
                        <a:rPr sz="900" b="1" kern="0" spc="70" dirty="0">
                          <a:solidFill>
                            <a:srgbClr val="FF0000">
                              <a:alpha val="100000"/>
                            </a:srgbClr>
                          </a:solidFill>
                          <a:latin typeface="Microsoft YaHei"/>
                          <a:ea typeface="Microsoft YaHei"/>
                          <a:cs typeface="Microsoft YaHei"/>
                        </a:rPr>
                        <a:t>↑</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06000"/>
                        </a:lnSpc>
                        <a:tabLst/>
                      </a:pPr>
                      <a:endParaRPr sz="700" dirty="0">
                        <a:latin typeface="Arial"/>
                        <a:ea typeface="Arial"/>
                        <a:cs typeface="Arial"/>
                      </a:endParaRPr>
                    </a:p>
                    <a:p>
                      <a:pPr marL="818514" algn="l" rtl="0" eaLnBrk="0">
                        <a:lnSpc>
                          <a:spcPct val="91000"/>
                        </a:lnSpc>
                        <a:spcBef>
                          <a:spcPts val="2"/>
                        </a:spcBef>
                        <a:tabLst/>
                      </a:pPr>
                      <a:r>
                        <a:rPr sz="900" kern="0" spc="90" dirty="0">
                          <a:solidFill>
                            <a:srgbClr val="000000">
                              <a:alpha val="100000"/>
                            </a:srgbClr>
                          </a:solidFill>
                          <a:latin typeface="Microsoft YaHei"/>
                          <a:ea typeface="Microsoft YaHei"/>
                          <a:cs typeface="Microsoft YaHei"/>
                        </a:rPr>
                        <a:t>设备分组</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06000"/>
                        </a:lnSpc>
                        <a:tabLst/>
                      </a:pPr>
                      <a:endParaRPr sz="700" dirty="0">
                        <a:latin typeface="Arial"/>
                        <a:ea typeface="Arial"/>
                        <a:cs typeface="Arial"/>
                      </a:endParaRPr>
                    </a:p>
                    <a:p>
                      <a:pPr marL="339725" algn="l" rtl="0" eaLnBrk="0">
                        <a:lnSpc>
                          <a:spcPts val="1092"/>
                        </a:lnSpc>
                        <a:spcBef>
                          <a:spcPts val="4"/>
                        </a:spcBef>
                        <a:tabLst/>
                      </a:pPr>
                      <a:r>
                        <a:rPr sz="900" kern="0" spc="0" dirty="0">
                          <a:solidFill>
                            <a:srgbClr val="000000">
                              <a:alpha val="100000"/>
                            </a:srgbClr>
                          </a:solidFill>
                          <a:latin typeface="Microsoft YaHei"/>
                          <a:ea typeface="Microsoft YaHei"/>
                          <a:cs typeface="Microsoft YaHei"/>
                        </a:rPr>
                        <a:t>aep</a:t>
                      </a:r>
                      <a:r>
                        <a:rPr sz="900" kern="0" spc="100" dirty="0">
                          <a:solidFill>
                            <a:srgbClr val="000000">
                              <a:alpha val="100000"/>
                            </a:srgbClr>
                          </a:solidFill>
                          <a:latin typeface="Microsoft YaHei"/>
                          <a:ea typeface="Microsoft YaHei"/>
                          <a:cs typeface="Microsoft YaHei"/>
                        </a:rPr>
                        <a:t>可跨产品分组</a:t>
                      </a:r>
                      <a:r>
                        <a:rPr sz="900" kern="0" spc="-110" dirty="0">
                          <a:solidFill>
                            <a:srgbClr val="000000">
                              <a:alpha val="100000"/>
                            </a:srgbClr>
                          </a:solidFill>
                          <a:latin typeface="Microsoft YaHei"/>
                          <a:ea typeface="Microsoft YaHei"/>
                          <a:cs typeface="Microsoft YaHei"/>
                        </a:rPr>
                        <a:t> </a:t>
                      </a:r>
                      <a:r>
                        <a:rPr sz="900" kern="0" spc="100" dirty="0">
                          <a:solidFill>
                            <a:srgbClr val="000000">
                              <a:alpha val="100000"/>
                            </a:srgbClr>
                          </a:solidFill>
                          <a:latin typeface="Microsoft YaHei"/>
                          <a:ea typeface="Microsoft YaHei"/>
                          <a:cs typeface="Microsoft YaHei"/>
                        </a:rPr>
                        <a:t>，</a:t>
                      </a:r>
                      <a:r>
                        <a:rPr sz="900" kern="0" spc="-14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aep</a:t>
                      </a:r>
                      <a:r>
                        <a:rPr sz="900" kern="0" spc="100" dirty="0">
                          <a:solidFill>
                            <a:srgbClr val="000000">
                              <a:alpha val="100000"/>
                            </a:srgbClr>
                          </a:solidFill>
                          <a:latin typeface="Microsoft YaHei"/>
                          <a:ea typeface="Microsoft YaHei"/>
                          <a:cs typeface="Microsoft YaHei"/>
                        </a:rPr>
                        <a:t>更优</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r>
              <a:tr h="338454">
                <a:tc>
                  <a:txBody>
                    <a:bodyPr/>
                    <a:lstStyle/>
                    <a:p>
                      <a:pPr algn="l" rtl="0" eaLnBrk="0">
                        <a:lnSpc>
                          <a:spcPct val="114000"/>
                        </a:lnSpc>
                        <a:tabLst/>
                      </a:pPr>
                      <a:endParaRPr sz="500" dirty="0">
                        <a:latin typeface="Arial"/>
                        <a:ea typeface="Arial"/>
                        <a:cs typeface="Arial"/>
                      </a:endParaRPr>
                    </a:p>
                    <a:p>
                      <a:pPr marL="241934" algn="l" rtl="0" eaLnBrk="0">
                        <a:lnSpc>
                          <a:spcPts val="1312"/>
                        </a:lnSpc>
                        <a:spcBef>
                          <a:spcPts val="3"/>
                        </a:spcBef>
                        <a:tabLst/>
                      </a:pPr>
                      <a:r>
                        <a:rPr sz="900" kern="0" spc="70" dirty="0">
                          <a:solidFill>
                            <a:srgbClr val="000000">
                              <a:alpha val="100000"/>
                            </a:srgbClr>
                          </a:solidFill>
                          <a:latin typeface="Microsoft YaHei"/>
                          <a:ea typeface="Microsoft YaHei"/>
                          <a:cs typeface="Microsoft YaHei"/>
                        </a:rPr>
                        <a:t>下行命令缓存（50条/租户/天）</a:t>
                      </a:r>
                      <a:r>
                        <a:rPr sz="900" kern="0" spc="-40" dirty="0">
                          <a:solidFill>
                            <a:srgbClr val="000000">
                              <a:alpha val="100000"/>
                            </a:srgbClr>
                          </a:solidFill>
                          <a:latin typeface="Microsoft YaHei"/>
                          <a:ea typeface="Microsoft YaHei"/>
                          <a:cs typeface="Microsoft YaHei"/>
                        </a:rPr>
                        <a:t> </a:t>
                      </a:r>
                      <a:r>
                        <a:rPr sz="900" b="1" kern="0" spc="70" dirty="0">
                          <a:solidFill>
                            <a:srgbClr val="FF0000">
                              <a:alpha val="100000"/>
                            </a:srgbClr>
                          </a:solidFill>
                          <a:latin typeface="Microsoft YaHei"/>
                          <a:ea typeface="Microsoft YaHei"/>
                          <a:cs typeface="Microsoft YaHei"/>
                        </a:rPr>
                        <a:t>↑</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18000"/>
                        </a:lnSpc>
                        <a:tabLst/>
                      </a:pPr>
                      <a:endParaRPr sz="500" dirty="0">
                        <a:latin typeface="Arial"/>
                        <a:ea typeface="Arial"/>
                        <a:cs typeface="Arial"/>
                      </a:endParaRPr>
                    </a:p>
                    <a:p>
                      <a:pPr marL="307975" algn="l" rtl="0" eaLnBrk="0">
                        <a:lnSpc>
                          <a:spcPts val="1284"/>
                        </a:lnSpc>
                        <a:spcBef>
                          <a:spcPts val="1"/>
                        </a:spcBef>
                        <a:tabLst/>
                      </a:pPr>
                      <a:r>
                        <a:rPr sz="900" kern="0" spc="70" dirty="0">
                          <a:solidFill>
                            <a:srgbClr val="000000">
                              <a:alpha val="100000"/>
                            </a:srgbClr>
                          </a:solidFill>
                          <a:latin typeface="Microsoft YaHei"/>
                          <a:ea typeface="Microsoft YaHei"/>
                          <a:cs typeface="Microsoft YaHei"/>
                        </a:rPr>
                        <a:t>命令缓存（20条/租户/天）</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05000"/>
                        </a:lnSpc>
                        <a:tabLst/>
                      </a:pPr>
                      <a:endParaRPr sz="700" dirty="0">
                        <a:latin typeface="Arial"/>
                        <a:ea typeface="Arial"/>
                        <a:cs typeface="Arial"/>
                      </a:endParaRPr>
                    </a:p>
                    <a:p>
                      <a:pPr algn="l" rtl="0" eaLnBrk="0">
                        <a:lnSpc>
                          <a:spcPct val="6130"/>
                        </a:lnSpc>
                        <a:tabLst/>
                      </a:pPr>
                      <a:endParaRPr sz="100" dirty="0">
                        <a:latin typeface="Arial"/>
                        <a:ea typeface="Arial"/>
                        <a:cs typeface="Arial"/>
                      </a:endParaRPr>
                    </a:p>
                    <a:p>
                      <a:pPr marL="257175" algn="l" rtl="0" eaLnBrk="0">
                        <a:lnSpc>
                          <a:spcPts val="1097"/>
                        </a:lnSpc>
                        <a:tabLst/>
                      </a:pPr>
                      <a:r>
                        <a:rPr sz="900" kern="0" spc="90" dirty="0">
                          <a:solidFill>
                            <a:srgbClr val="000000">
                              <a:alpha val="100000"/>
                            </a:srgbClr>
                          </a:solidFill>
                          <a:latin typeface="Microsoft YaHei"/>
                          <a:ea typeface="Microsoft YaHei"/>
                          <a:cs typeface="Microsoft YaHei"/>
                        </a:rPr>
                        <a:t>允许缓存指令的条数</a:t>
                      </a:r>
                      <a:r>
                        <a:rPr sz="900" kern="0" spc="-12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a:t>
                      </a:r>
                      <a:r>
                        <a:rPr sz="900" kern="0" spc="-14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aep</a:t>
                      </a:r>
                      <a:r>
                        <a:rPr sz="900" kern="0" spc="90" dirty="0">
                          <a:solidFill>
                            <a:srgbClr val="000000">
                              <a:alpha val="100000"/>
                            </a:srgbClr>
                          </a:solidFill>
                          <a:latin typeface="Microsoft YaHei"/>
                          <a:ea typeface="Microsoft YaHei"/>
                          <a:cs typeface="Microsoft YaHei"/>
                        </a:rPr>
                        <a:t>更</a:t>
                      </a:r>
                      <a:r>
                        <a:rPr sz="900" kern="0" spc="80" dirty="0">
                          <a:solidFill>
                            <a:srgbClr val="000000">
                              <a:alpha val="100000"/>
                            </a:srgbClr>
                          </a:solidFill>
                          <a:latin typeface="Microsoft YaHei"/>
                          <a:ea typeface="Microsoft YaHei"/>
                          <a:cs typeface="Microsoft YaHei"/>
                        </a:rPr>
                        <a:t>优</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r>
              <a:tr h="361950">
                <a:tc>
                  <a:txBody>
                    <a:bodyPr/>
                    <a:lstStyle/>
                    <a:p>
                      <a:pPr algn="l" rtl="0" eaLnBrk="0">
                        <a:lnSpc>
                          <a:spcPct val="108000"/>
                        </a:lnSpc>
                        <a:tabLst/>
                      </a:pPr>
                      <a:endParaRPr sz="600" dirty="0">
                        <a:latin typeface="Arial"/>
                        <a:ea typeface="Arial"/>
                        <a:cs typeface="Arial"/>
                      </a:endParaRPr>
                    </a:p>
                    <a:p>
                      <a:pPr marL="178435" algn="l" rtl="0" eaLnBrk="0">
                        <a:lnSpc>
                          <a:spcPts val="1312"/>
                        </a:lnSpc>
                        <a:spcBef>
                          <a:spcPts val="5"/>
                        </a:spcBef>
                        <a:tabLst/>
                      </a:pPr>
                      <a:r>
                        <a:rPr sz="900" kern="0" spc="60" dirty="0">
                          <a:solidFill>
                            <a:srgbClr val="000000">
                              <a:alpha val="100000"/>
                            </a:srgbClr>
                          </a:solidFill>
                          <a:latin typeface="Microsoft YaHei"/>
                          <a:ea typeface="Microsoft YaHei"/>
                          <a:cs typeface="Microsoft YaHei"/>
                        </a:rPr>
                        <a:t>消息推送（应用层加密</a:t>
                      </a:r>
                      <a:r>
                        <a:rPr sz="900" kern="0" spc="-30" dirty="0">
                          <a:solidFill>
                            <a:srgbClr val="000000">
                              <a:alpha val="100000"/>
                            </a:srgbClr>
                          </a:solidFill>
                          <a:latin typeface="Microsoft YaHei"/>
                          <a:ea typeface="Microsoft YaHei"/>
                          <a:cs typeface="Microsoft YaHei"/>
                        </a:rPr>
                        <a:t> </a:t>
                      </a:r>
                      <a:r>
                        <a:rPr sz="900" kern="0" spc="60" dirty="0">
                          <a:solidFill>
                            <a:srgbClr val="000000">
                              <a:alpha val="100000"/>
                            </a:srgbClr>
                          </a:solidFill>
                          <a:latin typeface="Microsoft YaHei"/>
                          <a:ea typeface="Microsoft YaHei"/>
                          <a:cs typeface="Microsoft YaHei"/>
                        </a:rPr>
                        <a:t>，</a:t>
                      </a:r>
                      <a:r>
                        <a:rPr sz="900" kern="0" spc="-100" dirty="0">
                          <a:solidFill>
                            <a:srgbClr val="000000">
                              <a:alpha val="100000"/>
                            </a:srgbClr>
                          </a:solidFill>
                          <a:latin typeface="Microsoft YaHei"/>
                          <a:ea typeface="Microsoft YaHei"/>
                          <a:cs typeface="Microsoft YaHei"/>
                        </a:rPr>
                        <a:t> </a:t>
                      </a:r>
                      <a:r>
                        <a:rPr sz="900" kern="0" spc="60" dirty="0">
                          <a:solidFill>
                            <a:srgbClr val="000000">
                              <a:alpha val="100000"/>
                            </a:srgbClr>
                          </a:solidFill>
                          <a:latin typeface="Microsoft YaHei"/>
                          <a:ea typeface="Microsoft YaHei"/>
                          <a:cs typeface="Microsoft YaHei"/>
                        </a:rPr>
                        <a:t>白名单）</a:t>
                      </a:r>
                      <a:r>
                        <a:rPr sz="900" kern="0" spc="-80" dirty="0">
                          <a:solidFill>
                            <a:srgbClr val="000000">
                              <a:alpha val="100000"/>
                            </a:srgbClr>
                          </a:solidFill>
                          <a:latin typeface="Microsoft YaHei"/>
                          <a:ea typeface="Microsoft YaHei"/>
                          <a:cs typeface="Microsoft YaHei"/>
                        </a:rPr>
                        <a:t> </a:t>
                      </a:r>
                      <a:r>
                        <a:rPr sz="900" b="1" kern="0" spc="60" dirty="0">
                          <a:solidFill>
                            <a:srgbClr val="FF0000">
                              <a:alpha val="100000"/>
                            </a:srgbClr>
                          </a:solidFill>
                          <a:latin typeface="Microsoft YaHei"/>
                          <a:ea typeface="Microsoft YaHei"/>
                          <a:cs typeface="Microsoft YaHei"/>
                        </a:rPr>
                        <a:t>↑</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02000"/>
                        </a:lnSpc>
                        <a:tabLst/>
                      </a:pPr>
                      <a:endParaRPr sz="800" dirty="0">
                        <a:latin typeface="Arial"/>
                        <a:ea typeface="Arial"/>
                        <a:cs typeface="Arial"/>
                      </a:endParaRPr>
                    </a:p>
                    <a:p>
                      <a:pPr algn="l" rtl="0" eaLnBrk="0">
                        <a:lnSpc>
                          <a:spcPct val="6257"/>
                        </a:lnSpc>
                        <a:tabLst/>
                      </a:pPr>
                      <a:endParaRPr sz="100" dirty="0">
                        <a:latin typeface="Arial"/>
                        <a:ea typeface="Arial"/>
                        <a:cs typeface="Arial"/>
                      </a:endParaRPr>
                    </a:p>
                    <a:p>
                      <a:pPr marL="691515" algn="l" rtl="0" eaLnBrk="0">
                        <a:lnSpc>
                          <a:spcPct val="91000"/>
                        </a:lnSpc>
                        <a:tabLst/>
                      </a:pPr>
                      <a:r>
                        <a:rPr sz="900" kern="0" spc="90" dirty="0">
                          <a:solidFill>
                            <a:srgbClr val="000000">
                              <a:alpha val="100000"/>
                            </a:srgbClr>
                          </a:solidFill>
                          <a:latin typeface="Microsoft YaHei"/>
                          <a:ea typeface="Microsoft YaHei"/>
                          <a:cs typeface="Microsoft YaHei"/>
                        </a:rPr>
                        <a:t>设备北向推送</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c>
                  <a:txBody>
                    <a:bodyPr/>
                    <a:lstStyle/>
                    <a:p>
                      <a:pPr algn="l" rtl="0" eaLnBrk="0">
                        <a:lnSpc>
                          <a:spcPct val="106000"/>
                        </a:lnSpc>
                        <a:tabLst/>
                      </a:pPr>
                      <a:endParaRPr sz="300" dirty="0">
                        <a:latin typeface="Arial"/>
                        <a:ea typeface="Arial"/>
                        <a:cs typeface="Arial"/>
                      </a:endParaRPr>
                    </a:p>
                    <a:p>
                      <a:pPr marL="521334" indent="-450850" algn="l" rtl="0" eaLnBrk="0">
                        <a:lnSpc>
                          <a:spcPct val="106000"/>
                        </a:lnSpc>
                        <a:spcBef>
                          <a:spcPts val="3"/>
                        </a:spcBef>
                        <a:tabLst/>
                      </a:pPr>
                      <a:r>
                        <a:rPr sz="900" kern="0" spc="0" dirty="0">
                          <a:solidFill>
                            <a:srgbClr val="000000">
                              <a:alpha val="100000"/>
                            </a:srgbClr>
                          </a:solidFill>
                          <a:latin typeface="Microsoft YaHei"/>
                          <a:ea typeface="Microsoft YaHei"/>
                          <a:cs typeface="Microsoft YaHei"/>
                        </a:rPr>
                        <a:t>aep</a:t>
                      </a:r>
                      <a:r>
                        <a:rPr sz="900" kern="0" spc="100" dirty="0">
                          <a:solidFill>
                            <a:srgbClr val="000000">
                              <a:alpha val="100000"/>
                            </a:srgbClr>
                          </a:solidFill>
                          <a:latin typeface="Microsoft YaHei"/>
                          <a:ea typeface="Microsoft YaHei"/>
                          <a:cs typeface="Microsoft YaHei"/>
                        </a:rPr>
                        <a:t>可对应用层加密</a:t>
                      </a:r>
                      <a:r>
                        <a:rPr sz="900" kern="0" spc="-110" dirty="0">
                          <a:solidFill>
                            <a:srgbClr val="000000">
                              <a:alpha val="100000"/>
                            </a:srgbClr>
                          </a:solidFill>
                          <a:latin typeface="Microsoft YaHei"/>
                          <a:ea typeface="Microsoft YaHei"/>
                          <a:cs typeface="Microsoft YaHei"/>
                        </a:rPr>
                        <a:t> </a:t>
                      </a:r>
                      <a:r>
                        <a:rPr sz="900" kern="0" spc="100" dirty="0">
                          <a:solidFill>
                            <a:srgbClr val="000000">
                              <a:alpha val="100000"/>
                            </a:srgbClr>
                          </a:solidFill>
                          <a:latin typeface="Microsoft YaHei"/>
                          <a:ea typeface="Microsoft YaHei"/>
                          <a:cs typeface="Microsoft YaHei"/>
                        </a:rPr>
                        <a:t>，可对</a:t>
                      </a:r>
                      <a:r>
                        <a:rPr sz="900" kern="0" spc="90" dirty="0">
                          <a:solidFill>
                            <a:srgbClr val="000000">
                              <a:alpha val="100000"/>
                            </a:srgbClr>
                          </a:solidFill>
                          <a:latin typeface="Microsoft YaHei"/>
                          <a:ea typeface="Microsoft YaHei"/>
                          <a:cs typeface="Microsoft YaHei"/>
                        </a:rPr>
                        <a:t>推送地址做</a:t>
                      </a:r>
                      <a:r>
                        <a:rPr sz="900" kern="0" spc="70" dirty="0">
                          <a:solidFill>
                            <a:srgbClr val="000000">
                              <a:alpha val="100000"/>
                            </a:srgbClr>
                          </a:solidFill>
                          <a:latin typeface="Microsoft YaHei"/>
                          <a:ea typeface="Microsoft YaHei"/>
                          <a:cs typeface="Microsoft YaHei"/>
                        </a:rPr>
                        <a:t>白名单限制</a:t>
                      </a:r>
                      <a:r>
                        <a:rPr sz="900" kern="0" spc="-9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Microsoft YaHei"/>
                          <a:ea typeface="Microsoft YaHei"/>
                          <a:cs typeface="Microsoft YaHei"/>
                        </a:rPr>
                        <a:t>，</a:t>
                      </a:r>
                      <a:r>
                        <a:rPr sz="900" kern="0" spc="-15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aep</a:t>
                      </a:r>
                      <a:r>
                        <a:rPr sz="900" kern="0" spc="70" dirty="0">
                          <a:solidFill>
                            <a:srgbClr val="000000">
                              <a:alpha val="100000"/>
                            </a:srgbClr>
                          </a:solidFill>
                          <a:latin typeface="Microsoft YaHei"/>
                          <a:ea typeface="Microsoft YaHei"/>
                          <a:cs typeface="Microsoft YaHei"/>
                        </a:rPr>
                        <a:t>更优</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B9CA"/>
                    </a:solidFill>
                  </a:tcPr>
                </a:tc>
              </a:tr>
              <a:tr h="226059">
                <a:tc>
                  <a:txBody>
                    <a:bodyPr/>
                    <a:lstStyle/>
                    <a:p>
                      <a:pPr algn="l" rtl="0" eaLnBrk="0">
                        <a:lnSpc>
                          <a:spcPct val="127000"/>
                        </a:lnSpc>
                        <a:tabLst/>
                      </a:pPr>
                      <a:endParaRPr sz="300" dirty="0">
                        <a:latin typeface="Arial"/>
                        <a:ea typeface="Arial"/>
                        <a:cs typeface="Arial"/>
                      </a:endParaRPr>
                    </a:p>
                    <a:p>
                      <a:pPr marL="908685" algn="l" rtl="0" eaLnBrk="0">
                        <a:lnSpc>
                          <a:spcPct val="90000"/>
                        </a:lnSpc>
                        <a:tabLst/>
                      </a:pPr>
                      <a:r>
                        <a:rPr sz="900" kern="0" spc="90" dirty="0">
                          <a:solidFill>
                            <a:srgbClr val="254061">
                              <a:alpha val="100000"/>
                            </a:srgbClr>
                          </a:solidFill>
                          <a:latin typeface="Microsoft YaHei"/>
                          <a:ea typeface="Microsoft YaHei"/>
                          <a:cs typeface="Microsoft YaHei"/>
                        </a:rPr>
                        <a:t>在线调试</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a:txBody>
                    <a:bodyPr/>
                    <a:lstStyle/>
                    <a:p>
                      <a:pPr algn="l" rtl="0" eaLnBrk="0">
                        <a:lnSpc>
                          <a:spcPct val="100000"/>
                        </a:lnSpc>
                        <a:tabLst/>
                      </a:pPr>
                      <a:endParaRPr sz="800" dirty="0">
                        <a:latin typeface="Arial"/>
                        <a:ea typeface="Arial"/>
                        <a:cs typeface="Arial"/>
                      </a:endParaRPr>
                    </a:p>
                    <a:p>
                      <a:pPr marL="1115694" algn="l" rtl="0" eaLnBrk="0">
                        <a:lnSpc>
                          <a:spcPts val="355"/>
                        </a:lnSpc>
                        <a:spcBef>
                          <a:spcPts val="1"/>
                        </a:spcBef>
                        <a:tabLst/>
                      </a:pPr>
                      <a:r>
                        <a:rPr sz="900" kern="0" spc="-20" dirty="0">
                          <a:solidFill>
                            <a:srgbClr val="000000">
                              <a:alpha val="100000"/>
                            </a:srgbClr>
                          </a:solidFill>
                          <a:latin typeface="Microsoft YaHei"/>
                          <a:ea typeface="Microsoft YaHei"/>
                          <a:cs typeface="Microsoft YaHei"/>
                        </a:rPr>
                        <a:t>-</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rowSpan="6">
                  <a:txBody>
                    <a:bodyPr/>
                    <a:lstStyle/>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7557"/>
                        </a:lnSpc>
                        <a:tabLst/>
                      </a:pPr>
                      <a:endParaRPr sz="100" dirty="0">
                        <a:latin typeface="Arial"/>
                        <a:ea typeface="Arial"/>
                        <a:cs typeface="Arial"/>
                      </a:endParaRPr>
                    </a:p>
                    <a:p>
                      <a:pPr marL="476250" algn="l" rtl="0" eaLnBrk="0">
                        <a:lnSpc>
                          <a:spcPct val="91000"/>
                        </a:lnSpc>
                        <a:tabLst/>
                      </a:pPr>
                      <a:r>
                        <a:rPr sz="900" kern="0" spc="0" dirty="0">
                          <a:solidFill>
                            <a:srgbClr val="000000">
                              <a:alpha val="100000"/>
                            </a:srgbClr>
                          </a:solidFill>
                          <a:latin typeface="Microsoft YaHei"/>
                          <a:ea typeface="Microsoft YaHei"/>
                          <a:cs typeface="Microsoft YaHei"/>
                        </a:rPr>
                        <a:t>AEP</a:t>
                      </a:r>
                      <a:r>
                        <a:rPr sz="900" kern="0" spc="90" dirty="0">
                          <a:solidFill>
                            <a:srgbClr val="000000">
                              <a:alpha val="100000"/>
                            </a:srgbClr>
                          </a:solidFill>
                          <a:latin typeface="Microsoft YaHei"/>
                          <a:ea typeface="Microsoft YaHei"/>
                          <a:cs typeface="Microsoft YaHei"/>
                        </a:rPr>
                        <a:t>特有</a:t>
                      </a:r>
                      <a:r>
                        <a:rPr sz="900" kern="0" spc="-8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a:t>
                      </a:r>
                      <a:r>
                        <a:rPr sz="900" kern="0" spc="-10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NB</a:t>
                      </a:r>
                      <a:r>
                        <a:rPr sz="900" kern="0" spc="90" dirty="0">
                          <a:solidFill>
                            <a:srgbClr val="000000">
                              <a:alpha val="100000"/>
                            </a:srgbClr>
                          </a:solidFill>
                          <a:latin typeface="Microsoft YaHei"/>
                          <a:ea typeface="Microsoft YaHei"/>
                          <a:cs typeface="Microsoft YaHei"/>
                        </a:rPr>
                        <a:t>网关没有</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r>
              <a:tr h="227329">
                <a:tc>
                  <a:txBody>
                    <a:bodyPr/>
                    <a:lstStyle/>
                    <a:p>
                      <a:pPr algn="l" rtl="0" eaLnBrk="0">
                        <a:lnSpc>
                          <a:spcPct val="127000"/>
                        </a:lnSpc>
                        <a:tabLst/>
                      </a:pPr>
                      <a:endParaRPr sz="300" dirty="0">
                        <a:latin typeface="Arial"/>
                        <a:ea typeface="Arial"/>
                        <a:cs typeface="Arial"/>
                      </a:endParaRPr>
                    </a:p>
                    <a:p>
                      <a:pPr marL="720090" algn="l" rtl="0" eaLnBrk="0">
                        <a:lnSpc>
                          <a:spcPct val="91000"/>
                        </a:lnSpc>
                        <a:spcBef>
                          <a:spcPts val="2"/>
                        </a:spcBef>
                        <a:tabLst/>
                      </a:pPr>
                      <a:r>
                        <a:rPr sz="900" kern="0" spc="130" dirty="0">
                          <a:solidFill>
                            <a:srgbClr val="254061">
                              <a:alpha val="100000"/>
                            </a:srgbClr>
                          </a:solidFill>
                          <a:latin typeface="Microsoft YaHei"/>
                          <a:ea typeface="Microsoft YaHei"/>
                          <a:cs typeface="Microsoft YaHei"/>
                        </a:rPr>
                        <a:t>北向多语言</a:t>
                      </a:r>
                      <a:r>
                        <a:rPr sz="900" kern="0" spc="0" dirty="0">
                          <a:solidFill>
                            <a:srgbClr val="254061">
                              <a:alpha val="100000"/>
                            </a:srgbClr>
                          </a:solidFill>
                          <a:latin typeface="Microsoft YaHei"/>
                          <a:ea typeface="Microsoft YaHei"/>
                          <a:cs typeface="Microsoft YaHei"/>
                        </a:rPr>
                        <a:t>SDK</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a:txBody>
                    <a:bodyPr/>
                    <a:lstStyle/>
                    <a:p>
                      <a:pPr algn="l" rtl="0" eaLnBrk="0">
                        <a:lnSpc>
                          <a:spcPct val="100000"/>
                        </a:lnSpc>
                        <a:tabLst/>
                      </a:pPr>
                      <a:endParaRPr sz="800" dirty="0">
                        <a:latin typeface="Arial"/>
                        <a:ea typeface="Arial"/>
                        <a:cs typeface="Arial"/>
                      </a:endParaRPr>
                    </a:p>
                    <a:p>
                      <a:pPr marL="1115694" algn="l" rtl="0" eaLnBrk="0">
                        <a:lnSpc>
                          <a:spcPts val="355"/>
                        </a:lnSpc>
                        <a:spcBef>
                          <a:spcPts val="6"/>
                        </a:spcBef>
                        <a:tabLst/>
                      </a:pPr>
                      <a:r>
                        <a:rPr sz="900" kern="0" spc="-20" dirty="0">
                          <a:solidFill>
                            <a:srgbClr val="000000">
                              <a:alpha val="100000"/>
                            </a:srgbClr>
                          </a:solidFill>
                          <a:latin typeface="Microsoft YaHei"/>
                          <a:ea typeface="Microsoft YaHei"/>
                          <a:cs typeface="Microsoft YaHei"/>
                        </a:rPr>
                        <a:t>-</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25425">
                <a:tc>
                  <a:txBody>
                    <a:bodyPr/>
                    <a:lstStyle/>
                    <a:p>
                      <a:pPr algn="l" rtl="0" eaLnBrk="0">
                        <a:lnSpc>
                          <a:spcPct val="126000"/>
                        </a:lnSpc>
                        <a:tabLst/>
                      </a:pPr>
                      <a:endParaRPr sz="300" dirty="0">
                        <a:latin typeface="Arial"/>
                        <a:ea typeface="Arial"/>
                        <a:cs typeface="Arial"/>
                      </a:endParaRPr>
                    </a:p>
                    <a:p>
                      <a:pPr marL="932814" algn="l" rtl="0" eaLnBrk="0">
                        <a:lnSpc>
                          <a:spcPct val="90000"/>
                        </a:lnSpc>
                        <a:spcBef>
                          <a:spcPts val="2"/>
                        </a:spcBef>
                        <a:tabLst/>
                      </a:pPr>
                      <a:r>
                        <a:rPr sz="900" kern="0" spc="0" dirty="0">
                          <a:solidFill>
                            <a:srgbClr val="000000">
                              <a:alpha val="100000"/>
                            </a:srgbClr>
                          </a:solidFill>
                          <a:latin typeface="Microsoft YaHei"/>
                          <a:ea typeface="Microsoft YaHei"/>
                          <a:cs typeface="Microsoft YaHei"/>
                        </a:rPr>
                        <a:t>MQ</a:t>
                      </a:r>
                      <a:r>
                        <a:rPr sz="900" kern="0" spc="120" dirty="0">
                          <a:solidFill>
                            <a:srgbClr val="000000">
                              <a:alpha val="100000"/>
                            </a:srgbClr>
                          </a:solidFill>
                          <a:latin typeface="Microsoft YaHei"/>
                          <a:ea typeface="Microsoft YaHei"/>
                          <a:cs typeface="Microsoft YaHei"/>
                        </a:rPr>
                        <a:t>推送</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a:txBody>
                    <a:bodyPr/>
                    <a:lstStyle/>
                    <a:p>
                      <a:pPr algn="l" rtl="0" eaLnBrk="0">
                        <a:lnSpc>
                          <a:spcPct val="113000"/>
                        </a:lnSpc>
                        <a:tabLst/>
                      </a:pPr>
                      <a:endParaRPr sz="700" dirty="0">
                        <a:latin typeface="Arial"/>
                        <a:ea typeface="Arial"/>
                        <a:cs typeface="Arial"/>
                      </a:endParaRPr>
                    </a:p>
                    <a:p>
                      <a:pPr marL="1115694" algn="l" rtl="0" eaLnBrk="0">
                        <a:lnSpc>
                          <a:spcPts val="355"/>
                        </a:lnSpc>
                        <a:spcBef>
                          <a:spcPts val="7"/>
                        </a:spcBef>
                        <a:tabLst/>
                      </a:pPr>
                      <a:r>
                        <a:rPr sz="900" kern="0" spc="-20" dirty="0">
                          <a:solidFill>
                            <a:srgbClr val="000000">
                              <a:alpha val="100000"/>
                            </a:srgbClr>
                          </a:solidFill>
                          <a:latin typeface="Microsoft YaHei"/>
                          <a:ea typeface="Microsoft YaHei"/>
                          <a:cs typeface="Microsoft YaHei"/>
                        </a:rPr>
                        <a:t>-</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26059">
                <a:tc>
                  <a:txBody>
                    <a:bodyPr/>
                    <a:lstStyle/>
                    <a:p>
                      <a:pPr algn="l" rtl="0" eaLnBrk="0">
                        <a:lnSpc>
                          <a:spcPct val="128000"/>
                        </a:lnSpc>
                        <a:tabLst/>
                      </a:pPr>
                      <a:endParaRPr sz="300" dirty="0">
                        <a:latin typeface="Arial"/>
                        <a:ea typeface="Arial"/>
                        <a:cs typeface="Arial"/>
                      </a:endParaRPr>
                    </a:p>
                    <a:p>
                      <a:pPr marL="908685" algn="l" rtl="0" eaLnBrk="0">
                        <a:lnSpc>
                          <a:spcPct val="90000"/>
                        </a:lnSpc>
                        <a:spcBef>
                          <a:spcPts val="2"/>
                        </a:spcBef>
                        <a:tabLst/>
                      </a:pPr>
                      <a:r>
                        <a:rPr sz="900" kern="0" spc="90" dirty="0">
                          <a:solidFill>
                            <a:srgbClr val="000000">
                              <a:alpha val="100000"/>
                            </a:srgbClr>
                          </a:solidFill>
                          <a:latin typeface="Microsoft YaHei"/>
                          <a:ea typeface="Microsoft YaHei"/>
                          <a:cs typeface="Microsoft YaHei"/>
                        </a:rPr>
                        <a:t>场景联动</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a:txBody>
                    <a:bodyPr/>
                    <a:lstStyle/>
                    <a:p>
                      <a:pPr algn="l" rtl="0" eaLnBrk="0">
                        <a:lnSpc>
                          <a:spcPct val="100000"/>
                        </a:lnSpc>
                        <a:tabLst/>
                      </a:pPr>
                      <a:endParaRPr sz="800" dirty="0">
                        <a:latin typeface="Arial"/>
                        <a:ea typeface="Arial"/>
                        <a:cs typeface="Arial"/>
                      </a:endParaRPr>
                    </a:p>
                    <a:p>
                      <a:pPr marL="1115694" algn="l" rtl="0" eaLnBrk="0">
                        <a:lnSpc>
                          <a:spcPts val="355"/>
                        </a:lnSpc>
                        <a:spcBef>
                          <a:spcPts val="1"/>
                        </a:spcBef>
                        <a:tabLst/>
                      </a:pPr>
                      <a:r>
                        <a:rPr sz="900" kern="0" spc="-20" dirty="0">
                          <a:solidFill>
                            <a:srgbClr val="000000">
                              <a:alpha val="100000"/>
                            </a:srgbClr>
                          </a:solidFill>
                          <a:latin typeface="Microsoft YaHei"/>
                          <a:ea typeface="Microsoft YaHei"/>
                          <a:cs typeface="Microsoft YaHei"/>
                        </a:rPr>
                        <a:t>-</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26059">
                <a:tc>
                  <a:txBody>
                    <a:bodyPr/>
                    <a:lstStyle/>
                    <a:p>
                      <a:pPr algn="l" rtl="0" eaLnBrk="0">
                        <a:lnSpc>
                          <a:spcPct val="126000"/>
                        </a:lnSpc>
                        <a:tabLst/>
                      </a:pPr>
                      <a:endParaRPr sz="300" dirty="0">
                        <a:latin typeface="Arial"/>
                        <a:ea typeface="Arial"/>
                        <a:cs typeface="Arial"/>
                      </a:endParaRPr>
                    </a:p>
                    <a:p>
                      <a:pPr marL="847089" algn="l" rtl="0" eaLnBrk="0">
                        <a:lnSpc>
                          <a:spcPct val="91000"/>
                        </a:lnSpc>
                        <a:spcBef>
                          <a:spcPts val="1"/>
                        </a:spcBef>
                        <a:tabLst/>
                      </a:pPr>
                      <a:r>
                        <a:rPr sz="900" kern="0" spc="90" dirty="0">
                          <a:solidFill>
                            <a:srgbClr val="000000">
                              <a:alpha val="100000"/>
                            </a:srgbClr>
                          </a:solidFill>
                          <a:latin typeface="Microsoft YaHei"/>
                          <a:ea typeface="Microsoft YaHei"/>
                          <a:cs typeface="Microsoft YaHei"/>
                        </a:rPr>
                        <a:t>多协议支持</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a:txBody>
                    <a:bodyPr/>
                    <a:lstStyle/>
                    <a:p>
                      <a:pPr algn="l" rtl="0" eaLnBrk="0">
                        <a:lnSpc>
                          <a:spcPct val="100000"/>
                        </a:lnSpc>
                        <a:tabLst/>
                      </a:pPr>
                      <a:endParaRPr sz="800" dirty="0">
                        <a:latin typeface="Arial"/>
                        <a:ea typeface="Arial"/>
                        <a:cs typeface="Arial"/>
                      </a:endParaRPr>
                    </a:p>
                    <a:p>
                      <a:pPr marL="1115694" algn="l" rtl="0" eaLnBrk="0">
                        <a:lnSpc>
                          <a:spcPts val="355"/>
                        </a:lnSpc>
                        <a:spcBef>
                          <a:spcPts val="1"/>
                        </a:spcBef>
                        <a:tabLst/>
                      </a:pPr>
                      <a:r>
                        <a:rPr sz="900" kern="0" spc="-20" dirty="0">
                          <a:solidFill>
                            <a:srgbClr val="000000">
                              <a:alpha val="100000"/>
                            </a:srgbClr>
                          </a:solidFill>
                          <a:latin typeface="Microsoft YaHei"/>
                          <a:ea typeface="Microsoft YaHei"/>
                          <a:cs typeface="Microsoft YaHei"/>
                        </a:rPr>
                        <a:t>-</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2409">
                <a:tc>
                  <a:txBody>
                    <a:bodyPr/>
                    <a:lstStyle/>
                    <a:p>
                      <a:pPr algn="l" rtl="0" eaLnBrk="0">
                        <a:lnSpc>
                          <a:spcPct val="123000"/>
                        </a:lnSpc>
                        <a:tabLst/>
                      </a:pPr>
                      <a:endParaRPr sz="300" dirty="0">
                        <a:latin typeface="Arial"/>
                        <a:ea typeface="Arial"/>
                        <a:cs typeface="Arial"/>
                      </a:endParaRPr>
                    </a:p>
                    <a:p>
                      <a:pPr marL="591184" algn="l" rtl="0" eaLnBrk="0">
                        <a:lnSpc>
                          <a:spcPct val="92000"/>
                        </a:lnSpc>
                        <a:spcBef>
                          <a:spcPts val="3"/>
                        </a:spcBef>
                        <a:tabLst/>
                      </a:pPr>
                      <a:r>
                        <a:rPr sz="900" kern="0" spc="90" dirty="0">
                          <a:solidFill>
                            <a:srgbClr val="000000">
                              <a:alpha val="100000"/>
                            </a:srgbClr>
                          </a:solidFill>
                          <a:latin typeface="Microsoft YaHei"/>
                          <a:ea typeface="Microsoft YaHei"/>
                          <a:cs typeface="Microsoft YaHei"/>
                        </a:rPr>
                        <a:t>端网云协同故障诊断</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a:txBody>
                    <a:bodyPr/>
                    <a:lstStyle/>
                    <a:p>
                      <a:pPr algn="l" rtl="0" eaLnBrk="0">
                        <a:lnSpc>
                          <a:spcPct val="100000"/>
                        </a:lnSpc>
                        <a:tabLst/>
                      </a:pPr>
                      <a:endParaRPr sz="800" dirty="0">
                        <a:latin typeface="Arial"/>
                        <a:ea typeface="Arial"/>
                        <a:cs typeface="Arial"/>
                      </a:endParaRPr>
                    </a:p>
                    <a:p>
                      <a:pPr marL="1052194" algn="l" rtl="0" eaLnBrk="0">
                        <a:lnSpc>
                          <a:spcPts val="355"/>
                        </a:lnSpc>
                        <a:spcBef>
                          <a:spcPts val="1"/>
                        </a:spcBef>
                        <a:tabLst/>
                      </a:pPr>
                      <a:r>
                        <a:rPr sz="900" kern="0" spc="-20" dirty="0">
                          <a:solidFill>
                            <a:srgbClr val="000000">
                              <a:alpha val="100000"/>
                            </a:srgbClr>
                          </a:solidFill>
                          <a:latin typeface="Microsoft YaHei"/>
                          <a:ea typeface="Microsoft YaHei"/>
                          <a:cs typeface="Microsoft YaHei"/>
                        </a:rPr>
                        <a:t>-</a:t>
                      </a:r>
                      <a:endParaRPr sz="9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DFFF"/>
                    </a:solidFill>
                  </a:tcPr>
                </a:tc>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58" name="textbox 58"/>
          <p:cNvSpPr/>
          <p:nvPr/>
        </p:nvSpPr>
        <p:spPr>
          <a:xfrm>
            <a:off x="408885" y="1144026"/>
            <a:ext cx="4470400" cy="5371465"/>
          </a:xfrm>
          <a:prstGeom prst="rect">
            <a:avLst/>
          </a:prstGeom>
          <a:noFill/>
          <a:ln w="0" cap="flat">
            <a:noFill/>
            <a:prstDash val="solid"/>
            <a:miter lim="0"/>
          </a:ln>
        </p:spPr>
        <p:txBody>
          <a:bodyPr vert="horz" wrap="square" lIns="0" tIns="0" rIns="0" bIns="0"/>
          <a:lstStyle/>
          <a:p>
            <a:pPr algn="l" rtl="0" eaLnBrk="0">
              <a:lnSpc>
                <a:spcPct val="76754"/>
              </a:lnSpc>
              <a:tabLst/>
            </a:pPr>
            <a:endParaRPr sz="100" dirty="0">
              <a:latin typeface="Arial"/>
              <a:ea typeface="Arial"/>
              <a:cs typeface="Arial"/>
            </a:endParaRPr>
          </a:p>
          <a:p>
            <a:pPr marL="12700" algn="l" rtl="0" eaLnBrk="0">
              <a:lnSpc>
                <a:spcPct val="89000"/>
              </a:lnSpc>
              <a:tabLst/>
            </a:pPr>
            <a:r>
              <a:rPr sz="1500" b="1" kern="0" spc="0" dirty="0">
                <a:solidFill>
                  <a:srgbClr val="FF0000">
                    <a:alpha val="100000"/>
                  </a:srgbClr>
                </a:solidFill>
                <a:latin typeface="Microsoft YaHei"/>
                <a:ea typeface="Microsoft YaHei"/>
                <a:cs typeface="Microsoft YaHei"/>
              </a:rPr>
              <a:t>AEP</a:t>
            </a:r>
            <a:r>
              <a:rPr sz="1500" b="1" kern="0" spc="100" dirty="0">
                <a:solidFill>
                  <a:srgbClr val="FF0000">
                    <a:alpha val="100000"/>
                  </a:srgbClr>
                </a:solidFill>
                <a:latin typeface="Microsoft YaHei"/>
                <a:ea typeface="Microsoft YaHei"/>
                <a:cs typeface="Microsoft YaHei"/>
              </a:rPr>
              <a:t>平台全部兼容</a:t>
            </a:r>
            <a:r>
              <a:rPr sz="1500" b="1" kern="0" spc="0" dirty="0">
                <a:solidFill>
                  <a:srgbClr val="FF0000">
                    <a:alpha val="100000"/>
                  </a:srgbClr>
                </a:solidFill>
                <a:latin typeface="Microsoft YaHei"/>
                <a:ea typeface="Microsoft YaHei"/>
                <a:cs typeface="Microsoft YaHei"/>
              </a:rPr>
              <a:t>NB</a:t>
            </a:r>
            <a:r>
              <a:rPr sz="1500" b="1" kern="0" spc="100" dirty="0">
                <a:solidFill>
                  <a:srgbClr val="FF0000">
                    <a:alpha val="100000"/>
                  </a:srgbClr>
                </a:solidFill>
                <a:latin typeface="Microsoft YaHei"/>
                <a:ea typeface="Microsoft YaHei"/>
                <a:cs typeface="Microsoft YaHei"/>
              </a:rPr>
              <a:t>网关能力</a:t>
            </a:r>
            <a:r>
              <a:rPr sz="1500" b="1" kern="0" spc="-240" dirty="0">
                <a:solidFill>
                  <a:srgbClr val="FF0000">
                    <a:alpha val="100000"/>
                  </a:srgbClr>
                </a:solidFill>
                <a:latin typeface="Microsoft YaHei"/>
                <a:ea typeface="Microsoft YaHei"/>
                <a:cs typeface="Microsoft YaHei"/>
              </a:rPr>
              <a:t> </a:t>
            </a:r>
            <a:r>
              <a:rPr sz="1500" b="1" kern="0" spc="100" dirty="0">
                <a:solidFill>
                  <a:srgbClr val="FF0000">
                    <a:alpha val="100000"/>
                  </a:srgbClr>
                </a:solidFill>
                <a:latin typeface="Microsoft YaHei"/>
                <a:ea typeface="Microsoft YaHei"/>
                <a:cs typeface="Microsoft YaHei"/>
              </a:rPr>
              <a:t>，部分更强：</a:t>
            </a:r>
            <a:endParaRPr sz="1500" dirty="0">
              <a:latin typeface="Microsoft YaHei"/>
              <a:ea typeface="Microsoft YaHei"/>
              <a:cs typeface="Microsoft YaHei"/>
            </a:endParaRPr>
          </a:p>
          <a:p>
            <a:pPr algn="l" rtl="0" eaLnBrk="0">
              <a:lnSpc>
                <a:spcPct val="140000"/>
              </a:lnSpc>
              <a:tabLst/>
            </a:pPr>
            <a:endParaRPr sz="1000" dirty="0">
              <a:latin typeface="Arial"/>
              <a:ea typeface="Arial"/>
              <a:cs typeface="Arial"/>
            </a:endParaRPr>
          </a:p>
          <a:p>
            <a:pPr marL="299084" indent="-274954" algn="l" rtl="0" eaLnBrk="0">
              <a:lnSpc>
                <a:spcPct val="133000"/>
              </a:lnSpc>
              <a:spcBef>
                <a:spcPts val="425"/>
              </a:spcBef>
              <a:tabLst>
                <a:tab pos="151129" algn="l"/>
              </a:tabLst>
            </a:pPr>
            <a:r>
              <a:rPr sz="1400" kern="0" spc="0" dirty="0">
                <a:solidFill>
                  <a:srgbClr val="000000">
                    <a:alpha val="100000"/>
                  </a:srgbClr>
                </a:solidFill>
                <a:latin typeface="Microsoft YaHei"/>
                <a:ea typeface="Microsoft YaHei"/>
                <a:cs typeface="Microsoft YaHei"/>
              </a:rPr>
              <a:t>	</a:t>
            </a:r>
            <a:r>
              <a:rPr sz="1400" kern="0" spc="170" dirty="0">
                <a:solidFill>
                  <a:srgbClr val="000000">
                    <a:alpha val="100000"/>
                  </a:srgbClr>
                </a:solidFill>
                <a:latin typeface="Microsoft YaHei"/>
                <a:ea typeface="Microsoft YaHei"/>
                <a:cs typeface="Microsoft YaHei"/>
              </a:rPr>
              <a:t>  </a:t>
            </a:r>
            <a:r>
              <a:rPr sz="1400" kern="0" spc="0" dirty="0">
                <a:solidFill>
                  <a:srgbClr val="000000">
                    <a:alpha val="100000"/>
                  </a:srgbClr>
                </a:solidFill>
                <a:latin typeface="Microsoft YaHei"/>
                <a:ea typeface="Microsoft YaHei"/>
                <a:cs typeface="Microsoft YaHei"/>
              </a:rPr>
              <a:t>南向设备侧适配：适配profil</a:t>
            </a:r>
            <a:r>
              <a:rPr sz="1400" kern="0" spc="-10" dirty="0">
                <a:solidFill>
                  <a:srgbClr val="000000">
                    <a:alpha val="100000"/>
                  </a:srgbClr>
                </a:solidFill>
                <a:latin typeface="Microsoft YaHei"/>
                <a:ea typeface="Microsoft YaHei"/>
                <a:cs typeface="Microsoft YaHei"/>
              </a:rPr>
              <a:t>e+编解码插件功能；海</a:t>
            </a:r>
            <a:r>
              <a:rPr sz="1400" kern="0" spc="0" dirty="0">
                <a:solidFill>
                  <a:srgbClr val="000000">
                    <a:alpha val="100000"/>
                  </a:srgbClr>
                </a:solidFill>
                <a:latin typeface="Microsoft YaHei"/>
                <a:ea typeface="Microsoft YaHei"/>
                <a:cs typeface="Microsoft YaHei"/>
              </a:rPr>
              <a:t>思120协议适配；免心</a:t>
            </a:r>
            <a:r>
              <a:rPr sz="1400" kern="0" spc="-10" dirty="0">
                <a:solidFill>
                  <a:srgbClr val="000000">
                    <a:alpha val="100000"/>
                  </a:srgbClr>
                </a:solidFill>
                <a:latin typeface="Microsoft YaHei"/>
                <a:ea typeface="Microsoft YaHei"/>
                <a:cs typeface="Microsoft YaHei"/>
              </a:rPr>
              <a:t>跳功能；</a:t>
            </a:r>
            <a:endParaRPr sz="1400" dirty="0">
              <a:latin typeface="Microsoft YaHei"/>
              <a:ea typeface="Microsoft YaHei"/>
              <a:cs typeface="Microsoft YaHei"/>
            </a:endParaRPr>
          </a:p>
          <a:p>
            <a:pPr marL="298450" indent="-274320" algn="l" rtl="0" eaLnBrk="0">
              <a:lnSpc>
                <a:spcPct val="135000"/>
              </a:lnSpc>
              <a:spcBef>
                <a:spcPts val="849"/>
              </a:spcBef>
              <a:tabLst>
                <a:tab pos="151129" algn="l"/>
              </a:tabLst>
            </a:pPr>
            <a:r>
              <a:rPr sz="1400" kern="0" spc="0" dirty="0">
                <a:solidFill>
                  <a:srgbClr val="000000">
                    <a:alpha val="100000"/>
                  </a:srgbClr>
                </a:solidFill>
                <a:latin typeface="Microsoft YaHei"/>
                <a:ea typeface="Microsoft YaHei"/>
                <a:cs typeface="Microsoft YaHei"/>
              </a:rPr>
              <a:t>	</a:t>
            </a:r>
            <a:r>
              <a:rPr sz="1400" kern="0" spc="170" dirty="0">
                <a:solidFill>
                  <a:srgbClr val="000000">
                    <a:alpha val="100000"/>
                  </a:srgbClr>
                </a:solidFill>
                <a:latin typeface="Microsoft YaHei"/>
                <a:ea typeface="Microsoft YaHei"/>
                <a:cs typeface="Microsoft YaHei"/>
              </a:rPr>
              <a:t>  </a:t>
            </a:r>
            <a:r>
              <a:rPr sz="1400" kern="0" spc="0" dirty="0">
                <a:solidFill>
                  <a:srgbClr val="000000">
                    <a:alpha val="100000"/>
                  </a:srgbClr>
                </a:solidFill>
                <a:latin typeface="Microsoft YaHei"/>
                <a:ea typeface="Microsoft YaHei"/>
                <a:cs typeface="Microsoft YaHei"/>
              </a:rPr>
              <a:t>北向应用侧适配：推送消息类型、消息格式兼</a:t>
            </a:r>
            <a:r>
              <a:rPr sz="1400" kern="0" spc="-10" dirty="0">
                <a:solidFill>
                  <a:srgbClr val="000000">
                    <a:alpha val="100000"/>
                  </a:srgbClr>
                </a:solidFill>
                <a:latin typeface="Microsoft YaHei"/>
                <a:ea typeface="Microsoft YaHei"/>
                <a:cs typeface="Microsoft YaHei"/>
              </a:rPr>
              <a:t>容；兼</a:t>
            </a:r>
            <a:r>
              <a:rPr sz="1400" kern="0" spc="-20" dirty="0">
                <a:solidFill>
                  <a:srgbClr val="000000">
                    <a:alpha val="100000"/>
                  </a:srgbClr>
                </a:solidFill>
                <a:latin typeface="Microsoft YaHei"/>
                <a:ea typeface="Microsoft YaHei"/>
                <a:cs typeface="Microsoft YaHei"/>
              </a:rPr>
              <a:t>容NB网关API接口</a:t>
            </a:r>
            <a:r>
              <a:rPr sz="1400" kern="0" spc="-17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，涉及订阅接口6个</a:t>
            </a:r>
            <a:r>
              <a:rPr sz="1400" kern="0" spc="-21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，设备管理接</a:t>
            </a:r>
            <a:r>
              <a:rPr sz="1400" kern="0" spc="-10" dirty="0">
                <a:solidFill>
                  <a:srgbClr val="000000">
                    <a:alpha val="100000"/>
                  </a:srgbClr>
                </a:solidFill>
                <a:latin typeface="Microsoft YaHei"/>
                <a:ea typeface="Microsoft YaHei"/>
                <a:cs typeface="Microsoft YaHei"/>
              </a:rPr>
              <a:t>口29个</a:t>
            </a:r>
            <a:r>
              <a:rPr sz="1400" kern="0" spc="-21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，数据查看接口3个；SDK改造适配；双向认</a:t>
            </a:r>
            <a:r>
              <a:rPr sz="1400" kern="0" spc="-10" dirty="0">
                <a:solidFill>
                  <a:srgbClr val="000000">
                    <a:alpha val="100000"/>
                  </a:srgbClr>
                </a:solidFill>
                <a:latin typeface="Microsoft YaHei"/>
                <a:ea typeface="Microsoft YaHei"/>
                <a:cs typeface="Microsoft YaHei"/>
              </a:rPr>
              <a:t>证</a:t>
            </a:r>
            <a:endParaRPr sz="1400" dirty="0">
              <a:latin typeface="Microsoft YaHei"/>
              <a:ea typeface="Microsoft YaHei"/>
              <a:cs typeface="Microsoft YaHei"/>
            </a:endParaRPr>
          </a:p>
          <a:p>
            <a:pPr algn="l" rtl="0" eaLnBrk="0">
              <a:lnSpc>
                <a:spcPct val="158000"/>
              </a:lnSpc>
              <a:tabLst/>
            </a:pPr>
            <a:endParaRPr sz="1000" dirty="0">
              <a:latin typeface="Arial"/>
              <a:ea typeface="Arial"/>
              <a:cs typeface="Arial"/>
            </a:endParaRPr>
          </a:p>
          <a:p>
            <a:pPr marL="25400" algn="l" rtl="0" eaLnBrk="0">
              <a:lnSpc>
                <a:spcPct val="87000"/>
              </a:lnSpc>
              <a:spcBef>
                <a:spcPts val="420"/>
              </a:spcBef>
              <a:tabLst/>
            </a:pPr>
            <a:r>
              <a:rPr sz="1400" b="1" kern="0" spc="-20" dirty="0">
                <a:solidFill>
                  <a:srgbClr val="000000">
                    <a:alpha val="100000"/>
                  </a:srgbClr>
                </a:solidFill>
                <a:latin typeface="Microsoft YaHei"/>
                <a:ea typeface="Microsoft YaHei"/>
                <a:cs typeface="Microsoft YaHei"/>
              </a:rPr>
              <a:t>已迁移实施情况：</a:t>
            </a:r>
            <a:endParaRPr sz="1400" dirty="0">
              <a:latin typeface="Microsoft YaHei"/>
              <a:ea typeface="Microsoft YaHei"/>
              <a:cs typeface="Microsoft YaHei"/>
            </a:endParaRPr>
          </a:p>
          <a:p>
            <a:pPr marL="299084" indent="-273050" algn="l" rtl="0" eaLnBrk="0">
              <a:lnSpc>
                <a:spcPct val="132000"/>
              </a:lnSpc>
              <a:spcBef>
                <a:spcPts val="791"/>
              </a:spcBef>
              <a:tabLst/>
            </a:pPr>
            <a:r>
              <a:rPr sz="1400" kern="0" spc="-20" dirty="0">
                <a:solidFill>
                  <a:srgbClr val="000000">
                    <a:alpha val="100000"/>
                  </a:srgbClr>
                </a:solidFill>
                <a:latin typeface="Wingdings"/>
                <a:ea typeface="Wingdings"/>
                <a:cs typeface="Wingdings"/>
              </a:rPr>
              <a:t>l </a:t>
            </a:r>
            <a:r>
              <a:rPr sz="1400" kern="0" spc="-20" dirty="0">
                <a:solidFill>
                  <a:srgbClr val="000000">
                    <a:alpha val="100000"/>
                  </a:srgbClr>
                </a:solidFill>
                <a:latin typeface="Microsoft YaHei"/>
                <a:ea typeface="Microsoft YaHei"/>
                <a:cs typeface="Microsoft YaHei"/>
              </a:rPr>
              <a:t>22年至今</a:t>
            </a:r>
            <a:r>
              <a:rPr sz="1400" kern="0" spc="-21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，通过无感迁移已实现</a:t>
            </a:r>
            <a:r>
              <a:rPr sz="1400" kern="0" spc="-20" dirty="0">
                <a:solidFill>
                  <a:srgbClr val="FF0000">
                    <a:alpha val="100000"/>
                  </a:srgbClr>
                </a:solidFill>
                <a:latin typeface="Microsoft YaHei"/>
                <a:ea typeface="Microsoft YaHei"/>
                <a:cs typeface="Microsoft YaHei"/>
              </a:rPr>
              <a:t>83个</a:t>
            </a:r>
            <a:r>
              <a:rPr sz="1400" kern="0" spc="-20" dirty="0">
                <a:solidFill>
                  <a:srgbClr val="000000">
                    <a:alpha val="100000"/>
                  </a:srgbClr>
                </a:solidFill>
                <a:latin typeface="Microsoft YaHei"/>
                <a:ea typeface="Microsoft YaHei"/>
                <a:cs typeface="Microsoft YaHei"/>
              </a:rPr>
              <a:t>客户</a:t>
            </a:r>
            <a:r>
              <a:rPr sz="1400" kern="0" spc="-20" dirty="0">
                <a:solidFill>
                  <a:srgbClr val="FF0000">
                    <a:alpha val="100000"/>
                  </a:srgbClr>
                </a:solidFill>
                <a:latin typeface="Microsoft YaHei"/>
                <a:ea typeface="Microsoft YaHei"/>
                <a:cs typeface="Microsoft YaHei"/>
              </a:rPr>
              <a:t>259.4万</a:t>
            </a:r>
            <a:r>
              <a:rPr sz="1400" kern="0" spc="-20" dirty="0">
                <a:solidFill>
                  <a:srgbClr val="000000">
                    <a:alpha val="100000"/>
                  </a:srgbClr>
                </a:solidFill>
                <a:latin typeface="Microsoft YaHei"/>
                <a:ea typeface="Microsoft YaHei"/>
                <a:cs typeface="Microsoft YaHei"/>
              </a:rPr>
              <a:t>终</a:t>
            </a:r>
            <a:r>
              <a:rPr sz="1400" kern="0" spc="0" dirty="0">
                <a:solidFill>
                  <a:srgbClr val="000000">
                    <a:alpha val="100000"/>
                  </a:srgbClr>
                </a:solidFill>
                <a:latin typeface="Microsoft YaHei"/>
                <a:ea typeface="Microsoft YaHei"/>
                <a:cs typeface="Microsoft YaHei"/>
              </a:rPr>
              <a:t>端迁移AEP集约平台（目前已承载超1</a:t>
            </a:r>
            <a:r>
              <a:rPr sz="1400" kern="0" spc="-10" dirty="0">
                <a:solidFill>
                  <a:srgbClr val="000000">
                    <a:alpha val="100000"/>
                  </a:srgbClr>
                </a:solidFill>
                <a:latin typeface="Microsoft YaHei"/>
                <a:ea typeface="Microsoft YaHei"/>
                <a:cs typeface="Microsoft YaHei"/>
              </a:rPr>
              <a:t>.8亿设备）</a:t>
            </a:r>
            <a:endParaRPr sz="1400" dirty="0">
              <a:latin typeface="Microsoft YaHei"/>
              <a:ea typeface="Microsoft YaHei"/>
              <a:cs typeface="Microsoft YaHei"/>
            </a:endParaRPr>
          </a:p>
          <a:p>
            <a:pPr marL="299720" indent="-273684" algn="l" rtl="0" eaLnBrk="0">
              <a:lnSpc>
                <a:spcPct val="128000"/>
              </a:lnSpc>
              <a:spcBef>
                <a:spcPts val="621"/>
              </a:spcBef>
              <a:tabLst/>
            </a:pPr>
            <a:r>
              <a:rPr sz="1400" kern="0" spc="-20" dirty="0">
                <a:solidFill>
                  <a:srgbClr val="000000">
                    <a:alpha val="100000"/>
                  </a:srgbClr>
                </a:solidFill>
                <a:latin typeface="Wingdings"/>
                <a:ea typeface="Wingdings"/>
                <a:cs typeface="Wingdings"/>
              </a:rPr>
              <a:t>l </a:t>
            </a:r>
            <a:r>
              <a:rPr sz="1400" kern="0" spc="-20" dirty="0">
                <a:solidFill>
                  <a:srgbClr val="000000">
                    <a:alpha val="100000"/>
                  </a:srgbClr>
                </a:solidFill>
                <a:latin typeface="Microsoft YaHei"/>
                <a:ea typeface="Microsoft YaHei"/>
                <a:cs typeface="Microsoft YaHei"/>
              </a:rPr>
              <a:t>专属云已经实施项目情况</a:t>
            </a:r>
            <a:r>
              <a:rPr sz="1400" kern="0" spc="-21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a:t>
            </a:r>
            <a:r>
              <a:rPr sz="1400" kern="0" spc="-20" dirty="0">
                <a:solidFill>
                  <a:srgbClr val="FF0000">
                    <a:alpha val="100000"/>
                  </a:srgbClr>
                </a:solidFill>
                <a:latin typeface="Microsoft YaHei"/>
                <a:ea typeface="Microsoft YaHei"/>
                <a:cs typeface="Microsoft YaHei"/>
              </a:rPr>
              <a:t>武汉燃气</a:t>
            </a:r>
            <a:r>
              <a:rPr sz="1400" kern="0" spc="-20" dirty="0">
                <a:solidFill>
                  <a:srgbClr val="000000">
                    <a:alpha val="100000"/>
                  </a:srgbClr>
                </a:solidFill>
                <a:latin typeface="Microsoft YaHei"/>
                <a:ea typeface="Microsoft YaHei"/>
                <a:cs typeface="Microsoft YaHei"/>
              </a:rPr>
              <a:t>项目：完成</a:t>
            </a:r>
            <a:r>
              <a:rPr sz="1400" kern="0" spc="-30" dirty="0">
                <a:solidFill>
                  <a:srgbClr val="FF0000">
                    <a:alpha val="100000"/>
                  </a:srgbClr>
                </a:solidFill>
                <a:latin typeface="Microsoft YaHei"/>
                <a:ea typeface="Microsoft YaHei"/>
                <a:cs typeface="Microsoft YaHei"/>
              </a:rPr>
              <a:t>120</a:t>
            </a:r>
            <a:r>
              <a:rPr sz="1400" kern="0" spc="-10" dirty="0">
                <a:solidFill>
                  <a:srgbClr val="FF0000">
                    <a:alpha val="100000"/>
                  </a:srgbClr>
                </a:solidFill>
                <a:latin typeface="Microsoft YaHei"/>
                <a:ea typeface="Microsoft YaHei"/>
                <a:cs typeface="Microsoft YaHei"/>
              </a:rPr>
              <a:t>万</a:t>
            </a:r>
            <a:r>
              <a:rPr sz="1400" kern="0" spc="-10" dirty="0">
                <a:solidFill>
                  <a:srgbClr val="000000">
                    <a:alpha val="100000"/>
                  </a:srgbClr>
                </a:solidFill>
                <a:latin typeface="Microsoft YaHei"/>
                <a:ea typeface="Microsoft YaHei"/>
                <a:cs typeface="Microsoft YaHei"/>
              </a:rPr>
              <a:t>存量设备迁移</a:t>
            </a:r>
            <a:endParaRPr sz="1400" dirty="0">
              <a:latin typeface="Microsoft YaHei"/>
              <a:ea typeface="Microsoft YaHei"/>
              <a:cs typeface="Microsoft YaHei"/>
            </a:endParaRPr>
          </a:p>
          <a:p>
            <a:pPr marL="299084" indent="-273050" algn="l" rtl="0" eaLnBrk="0">
              <a:lnSpc>
                <a:spcPct val="128000"/>
              </a:lnSpc>
              <a:spcBef>
                <a:spcPts val="740"/>
              </a:spcBef>
              <a:tabLst/>
            </a:pPr>
            <a:r>
              <a:rPr sz="1400" kern="0" spc="-10" dirty="0">
                <a:solidFill>
                  <a:srgbClr val="000000">
                    <a:alpha val="100000"/>
                  </a:srgbClr>
                </a:solidFill>
                <a:latin typeface="Wingdings"/>
                <a:ea typeface="Wingdings"/>
                <a:cs typeface="Wingdings"/>
              </a:rPr>
              <a:t>l </a:t>
            </a:r>
            <a:r>
              <a:rPr sz="1400" kern="0" spc="-10" dirty="0">
                <a:solidFill>
                  <a:srgbClr val="000000">
                    <a:alpha val="100000"/>
                  </a:srgbClr>
                </a:solidFill>
                <a:latin typeface="Microsoft YaHei"/>
                <a:ea typeface="Microsoft YaHei"/>
                <a:cs typeface="Microsoft YaHei"/>
              </a:rPr>
              <a:t>私有化平台迁移：深燃、北燃等已完</a:t>
            </a:r>
            <a:r>
              <a:rPr sz="1400" kern="0" spc="-20" dirty="0">
                <a:solidFill>
                  <a:srgbClr val="000000">
                    <a:alpha val="100000"/>
                  </a:srgbClr>
                </a:solidFill>
                <a:latin typeface="Microsoft YaHei"/>
                <a:ea typeface="Microsoft YaHei"/>
                <a:cs typeface="Microsoft YaHei"/>
              </a:rPr>
              <a:t>成超</a:t>
            </a:r>
            <a:r>
              <a:rPr sz="1400" kern="0" spc="-20" dirty="0">
                <a:solidFill>
                  <a:srgbClr val="FF0000">
                    <a:alpha val="100000"/>
                  </a:srgbClr>
                </a:solidFill>
                <a:latin typeface="Microsoft YaHei"/>
                <a:ea typeface="Microsoft YaHei"/>
                <a:cs typeface="Microsoft YaHei"/>
              </a:rPr>
              <a:t>500万</a:t>
            </a:r>
            <a:r>
              <a:rPr sz="1400" kern="0" spc="-20" dirty="0">
                <a:solidFill>
                  <a:srgbClr val="000000">
                    <a:alpha val="100000"/>
                  </a:srgbClr>
                </a:solidFill>
                <a:latin typeface="Microsoft YaHei"/>
                <a:ea typeface="Microsoft YaHei"/>
                <a:cs typeface="Microsoft YaHei"/>
              </a:rPr>
              <a:t>设备</a:t>
            </a:r>
            <a:r>
              <a:rPr sz="1400" kern="0" spc="-20" dirty="0">
                <a:solidFill>
                  <a:srgbClr val="000000">
                    <a:alpha val="100000"/>
                  </a:srgbClr>
                </a:solidFill>
                <a:latin typeface="Microsoft YaHei"/>
                <a:ea typeface="Microsoft YaHei"/>
                <a:cs typeface="Microsoft YaHei"/>
              </a:rPr>
              <a:t>迁移</a:t>
            </a:r>
            <a:endParaRPr sz="1400" dirty="0">
              <a:latin typeface="Microsoft YaHei"/>
              <a:ea typeface="Microsoft YaHei"/>
              <a:cs typeface="Microsoft YaHei"/>
            </a:endParaRPr>
          </a:p>
          <a:p>
            <a:pPr marL="20320" indent="-4444" algn="l" rtl="0" eaLnBrk="0">
              <a:lnSpc>
                <a:spcPct val="147000"/>
              </a:lnSpc>
              <a:spcBef>
                <a:spcPts val="101"/>
              </a:spcBef>
              <a:tabLst/>
            </a:pPr>
            <a:r>
              <a:rPr sz="1400" b="1" kern="0" spc="-10" dirty="0">
                <a:solidFill>
                  <a:srgbClr val="000000">
                    <a:alpha val="100000"/>
                  </a:srgbClr>
                </a:solidFill>
                <a:latin typeface="Microsoft YaHei"/>
                <a:ea typeface="Microsoft YaHei"/>
                <a:cs typeface="Microsoft YaHei"/>
              </a:rPr>
              <a:t>平台能力及迁移技术方案已经过多轮充分验证</a:t>
            </a:r>
            <a:r>
              <a:rPr sz="1400" b="1" kern="0" spc="-220" dirty="0">
                <a:solidFill>
                  <a:srgbClr val="000000">
                    <a:alpha val="100000"/>
                  </a:srgbClr>
                </a:solidFill>
                <a:latin typeface="Microsoft YaHei"/>
                <a:ea typeface="Microsoft YaHei"/>
                <a:cs typeface="Microsoft YaHei"/>
              </a:rPr>
              <a:t> </a:t>
            </a:r>
            <a:r>
              <a:rPr sz="1400" b="1" kern="0" spc="-10" dirty="0">
                <a:solidFill>
                  <a:srgbClr val="000000">
                    <a:alpha val="100000"/>
                  </a:srgbClr>
                </a:solidFill>
                <a:latin typeface="Microsoft YaHei"/>
                <a:ea typeface="Microsoft YaHei"/>
                <a:cs typeface="Microsoft YaHei"/>
              </a:rPr>
              <a:t>，可充分保</a:t>
            </a:r>
            <a:r>
              <a:rPr sz="1400" b="1" kern="0" spc="-10" dirty="0">
                <a:solidFill>
                  <a:srgbClr val="000000">
                    <a:alpha val="100000"/>
                  </a:srgbClr>
                </a:solidFill>
                <a:latin typeface="Microsoft YaHei"/>
                <a:ea typeface="Microsoft YaHei"/>
                <a:cs typeface="Microsoft YaHei"/>
              </a:rPr>
              <a:t>障NB网关存量业务迁移及稳定运行</a:t>
            </a:r>
            <a:endParaRPr sz="1400" dirty="0">
              <a:latin typeface="Microsoft YaHei"/>
              <a:ea typeface="Microsoft YaHei"/>
              <a:cs typeface="Microsoft YaHei"/>
            </a:endParaRPr>
          </a:p>
        </p:txBody>
      </p:sp>
      <p:pic>
        <p:nvPicPr>
          <p:cNvPr id="60" name="picture 60"/>
          <p:cNvPicPr>
            <a:picLocks noChangeAspect="1"/>
          </p:cNvPicPr>
          <p:nvPr/>
        </p:nvPicPr>
        <p:blipFill>
          <a:blip r:embed="rId2"/>
          <a:stretch>
            <a:fillRect/>
          </a:stretch>
        </p:blipFill>
        <p:spPr>
          <a:xfrm rot="21600000">
            <a:off x="433217" y="2312456"/>
            <a:ext cx="127224" cy="116696"/>
          </a:xfrm>
          <a:prstGeom prst="rect">
            <a:avLst/>
          </a:prstGeom>
        </p:spPr>
      </p:pic>
      <p:pic>
        <p:nvPicPr>
          <p:cNvPr id="62" name="picture 62"/>
          <p:cNvPicPr>
            <a:picLocks noChangeAspect="1"/>
          </p:cNvPicPr>
          <p:nvPr/>
        </p:nvPicPr>
        <p:blipFill>
          <a:blip r:embed="rId3"/>
          <a:stretch>
            <a:fillRect/>
          </a:stretch>
        </p:blipFill>
        <p:spPr>
          <a:xfrm rot="21600000">
            <a:off x="433217" y="1672376"/>
            <a:ext cx="127224" cy="116696"/>
          </a:xfrm>
          <a:prstGeom prst="rect">
            <a:avLst/>
          </a:prstGeom>
        </p:spPr>
      </p:pic>
      <p:sp>
        <p:nvSpPr>
          <p:cNvPr id="64" name="textbox 64"/>
          <p:cNvSpPr/>
          <p:nvPr/>
        </p:nvSpPr>
        <p:spPr>
          <a:xfrm>
            <a:off x="422325" y="328129"/>
            <a:ext cx="5964554" cy="333375"/>
          </a:xfrm>
          <a:prstGeom prst="rect">
            <a:avLst/>
          </a:prstGeom>
          <a:noFill/>
          <a:ln w="0" cap="flat">
            <a:noFill/>
            <a:prstDash val="solid"/>
            <a:miter lim="0"/>
          </a:ln>
        </p:spPr>
        <p:txBody>
          <a:bodyPr vert="horz" wrap="square" lIns="0" tIns="0" rIns="0" bIns="0"/>
          <a:lstStyle/>
          <a:p>
            <a:pPr algn="l" rtl="0" eaLnBrk="0">
              <a:lnSpc>
                <a:spcPct val="77586"/>
              </a:lnSpc>
              <a:tabLst/>
            </a:pPr>
            <a:endParaRPr sz="100" dirty="0">
              <a:latin typeface="Arial"/>
              <a:ea typeface="Arial"/>
              <a:cs typeface="Arial"/>
            </a:endParaRPr>
          </a:p>
          <a:p>
            <a:pPr marL="12700" algn="l" rtl="0" eaLnBrk="0">
              <a:lnSpc>
                <a:spcPct val="88000"/>
              </a:lnSpc>
              <a:tabLst/>
            </a:pPr>
            <a:r>
              <a:rPr sz="2300" b="1" kern="0" spc="110" dirty="0">
                <a:solidFill>
                  <a:srgbClr val="C00000">
                    <a:alpha val="100000"/>
                  </a:srgbClr>
                </a:solidFill>
                <a:latin typeface="Microsoft YaHei"/>
                <a:ea typeface="Microsoft YaHei"/>
                <a:cs typeface="Microsoft YaHei"/>
              </a:rPr>
              <a:t>平台功能对标：</a:t>
            </a:r>
            <a:r>
              <a:rPr sz="2300" b="1" kern="0" spc="-580" dirty="0">
                <a:solidFill>
                  <a:srgbClr val="C00000">
                    <a:alpha val="100000"/>
                  </a:srgbClr>
                </a:solidFill>
                <a:latin typeface="Microsoft YaHei"/>
                <a:ea typeface="Microsoft YaHei"/>
                <a:cs typeface="Microsoft YaHei"/>
              </a:rPr>
              <a:t> </a:t>
            </a:r>
            <a:r>
              <a:rPr sz="2300" b="1" kern="0" spc="0" dirty="0">
                <a:solidFill>
                  <a:srgbClr val="C00000">
                    <a:alpha val="100000"/>
                  </a:srgbClr>
                </a:solidFill>
                <a:latin typeface="Microsoft YaHei"/>
                <a:ea typeface="Microsoft YaHei"/>
                <a:cs typeface="Microsoft YaHei"/>
              </a:rPr>
              <a:t>AEP</a:t>
            </a:r>
            <a:r>
              <a:rPr sz="2300" b="1" kern="0" spc="110" dirty="0">
                <a:solidFill>
                  <a:srgbClr val="C00000">
                    <a:alpha val="100000"/>
                  </a:srgbClr>
                </a:solidFill>
                <a:latin typeface="Microsoft YaHei"/>
                <a:ea typeface="Microsoft YaHei"/>
                <a:cs typeface="Microsoft YaHei"/>
              </a:rPr>
              <a:t>已全部兼容</a:t>
            </a:r>
            <a:r>
              <a:rPr sz="2300" b="1" kern="0" spc="0" dirty="0">
                <a:solidFill>
                  <a:srgbClr val="C00000">
                    <a:alpha val="100000"/>
                  </a:srgbClr>
                </a:solidFill>
                <a:latin typeface="Microsoft YaHei"/>
                <a:ea typeface="Microsoft YaHei"/>
                <a:cs typeface="Microsoft YaHei"/>
              </a:rPr>
              <a:t>NB</a:t>
            </a:r>
            <a:r>
              <a:rPr sz="2300" b="1" kern="0" spc="110" dirty="0">
                <a:solidFill>
                  <a:srgbClr val="C00000">
                    <a:alpha val="100000"/>
                  </a:srgbClr>
                </a:solidFill>
                <a:latin typeface="Microsoft YaHei"/>
                <a:ea typeface="Microsoft YaHei"/>
                <a:cs typeface="Microsoft YaHei"/>
              </a:rPr>
              <a:t>网关能</a:t>
            </a:r>
            <a:r>
              <a:rPr sz="2300" b="1" kern="0" spc="100" dirty="0">
                <a:solidFill>
                  <a:srgbClr val="C00000">
                    <a:alpha val="100000"/>
                  </a:srgbClr>
                </a:solidFill>
                <a:latin typeface="Microsoft YaHei"/>
                <a:ea typeface="Microsoft YaHei"/>
                <a:cs typeface="Microsoft YaHei"/>
              </a:rPr>
              <a:t>力</a:t>
            </a:r>
            <a:endParaRPr sz="2300" dirty="0">
              <a:latin typeface="Microsoft YaHei"/>
              <a:ea typeface="Microsoft YaHei"/>
              <a:cs typeface="Microsoft YaHei"/>
            </a:endParaRPr>
          </a:p>
        </p:txBody>
      </p:sp>
      <p:pic>
        <p:nvPicPr>
          <p:cNvPr id="66" name="picture 66"/>
          <p:cNvPicPr>
            <a:picLocks noChangeAspect="1"/>
          </p:cNvPicPr>
          <p:nvPr/>
        </p:nvPicPr>
        <p:blipFill>
          <a:blip r:embed="rId4"/>
          <a:stretch>
            <a:fillRect/>
          </a:stretch>
        </p:blipFill>
        <p:spPr>
          <a:xfrm rot="21600000">
            <a:off x="335279" y="807720"/>
            <a:ext cx="11519916" cy="67055"/>
          </a:xfrm>
          <a:prstGeom prst="rect">
            <a:avLst/>
          </a:prstGeom>
        </p:spPr>
      </p:pic>
      <p:pic>
        <p:nvPicPr>
          <p:cNvPr id="68" name="picture 68"/>
          <p:cNvPicPr>
            <a:picLocks noChangeAspect="1"/>
          </p:cNvPicPr>
          <p:nvPr/>
        </p:nvPicPr>
        <p:blipFill>
          <a:blip r:embed="rId5"/>
          <a:stretch>
            <a:fillRect/>
          </a:stretch>
        </p:blipFill>
        <p:spPr>
          <a:xfrm rot="21600000">
            <a:off x="11297604" y="201722"/>
            <a:ext cx="768423" cy="5421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70"/>
          <p:cNvPicPr>
            <a:picLocks noChangeAspect="1"/>
          </p:cNvPicPr>
          <p:nvPr/>
        </p:nvPicPr>
        <p:blipFill>
          <a:blip r:embed="rId2"/>
          <a:stretch>
            <a:fillRect/>
          </a:stretch>
        </p:blipFill>
        <p:spPr>
          <a:xfrm rot="21600000">
            <a:off x="4164126" y="1381252"/>
            <a:ext cx="3576346" cy="4044594"/>
          </a:xfrm>
          <a:prstGeom prst="rect">
            <a:avLst/>
          </a:prstGeom>
        </p:spPr>
      </p:pic>
      <p:pic>
        <p:nvPicPr>
          <p:cNvPr id="72" name="picture 72"/>
          <p:cNvPicPr>
            <a:picLocks noChangeAspect="1"/>
          </p:cNvPicPr>
          <p:nvPr/>
        </p:nvPicPr>
        <p:blipFill>
          <a:blip r:embed="rId3"/>
          <a:stretch>
            <a:fillRect/>
          </a:stretch>
        </p:blipFill>
        <p:spPr>
          <a:xfrm rot="21600000">
            <a:off x="8104631" y="1417320"/>
            <a:ext cx="3563111" cy="3934967"/>
          </a:xfrm>
          <a:prstGeom prst="rect">
            <a:avLst/>
          </a:prstGeom>
        </p:spPr>
      </p:pic>
      <p:pic>
        <p:nvPicPr>
          <p:cNvPr id="74" name="picture 74"/>
          <p:cNvPicPr>
            <a:picLocks noChangeAspect="1"/>
          </p:cNvPicPr>
          <p:nvPr/>
        </p:nvPicPr>
        <p:blipFill>
          <a:blip r:embed="rId4"/>
          <a:stretch>
            <a:fillRect/>
          </a:stretch>
        </p:blipFill>
        <p:spPr>
          <a:xfrm rot="21600000">
            <a:off x="328929" y="1381264"/>
            <a:ext cx="3471633" cy="3977665"/>
          </a:xfrm>
          <a:prstGeom prst="rect">
            <a:avLst/>
          </a:prstGeom>
        </p:spPr>
      </p:pic>
      <p:sp>
        <p:nvSpPr>
          <p:cNvPr id="76" name="textbox 76"/>
          <p:cNvSpPr/>
          <p:nvPr/>
        </p:nvSpPr>
        <p:spPr>
          <a:xfrm>
            <a:off x="4527498" y="2472880"/>
            <a:ext cx="2935604" cy="2552700"/>
          </a:xfrm>
          <a:prstGeom prst="rect">
            <a:avLst/>
          </a:prstGeom>
          <a:noFill/>
          <a:ln w="0" cap="flat">
            <a:noFill/>
            <a:prstDash val="solid"/>
            <a:miter lim="0"/>
          </a:ln>
        </p:spPr>
        <p:txBody>
          <a:bodyPr vert="horz" wrap="square" lIns="0" tIns="0" rIns="0" bIns="0"/>
          <a:lstStyle/>
          <a:p>
            <a:pPr algn="l" rtl="0" eaLnBrk="0">
              <a:lnSpc>
                <a:spcPct val="90768"/>
              </a:lnSpc>
              <a:tabLst/>
            </a:pPr>
            <a:endParaRPr sz="100" dirty="0">
              <a:latin typeface="Arial"/>
              <a:ea typeface="Arial"/>
              <a:cs typeface="Arial"/>
            </a:endParaRPr>
          </a:p>
          <a:p>
            <a:pPr marL="339725" indent="-327025" algn="l" rtl="0" eaLnBrk="0">
              <a:lnSpc>
                <a:spcPct val="139000"/>
              </a:lnSpc>
              <a:tabLst>
                <a:tab pos="196850" algn="l"/>
              </a:tabLst>
            </a:pPr>
            <a:r>
              <a:rPr sz="1700" kern="0" spc="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  </a:t>
            </a:r>
            <a:r>
              <a:rPr sz="1700" kern="0" spc="100" dirty="0">
                <a:solidFill>
                  <a:srgbClr val="000000">
                    <a:alpha val="100000"/>
                  </a:srgbClr>
                </a:solidFill>
                <a:latin typeface="Microsoft YaHei"/>
                <a:ea typeface="Microsoft YaHei"/>
                <a:cs typeface="Microsoft YaHei"/>
              </a:rPr>
              <a:t>设备支持远程修改</a:t>
            </a:r>
            <a:r>
              <a:rPr sz="1700" kern="0" spc="0" dirty="0">
                <a:solidFill>
                  <a:srgbClr val="000000">
                    <a:alpha val="100000"/>
                  </a:srgbClr>
                </a:solidFill>
                <a:latin typeface="Microsoft YaHei"/>
                <a:ea typeface="Microsoft YaHei"/>
                <a:cs typeface="Microsoft YaHei"/>
              </a:rPr>
              <a:t>IP</a:t>
            </a:r>
            <a:r>
              <a:rPr sz="1700" kern="0" spc="100" dirty="0">
                <a:solidFill>
                  <a:srgbClr val="000000">
                    <a:alpha val="100000"/>
                  </a:srgbClr>
                </a:solidFill>
                <a:latin typeface="Microsoft YaHei"/>
                <a:ea typeface="Microsoft YaHei"/>
                <a:cs typeface="Microsoft YaHei"/>
              </a:rPr>
              <a:t>（需</a:t>
            </a:r>
            <a:r>
              <a:rPr sz="1700" kern="0" spc="80" dirty="0">
                <a:solidFill>
                  <a:srgbClr val="000000">
                    <a:alpha val="100000"/>
                  </a:srgbClr>
                </a:solidFill>
                <a:latin typeface="Microsoft YaHei"/>
                <a:ea typeface="Microsoft YaHei"/>
                <a:cs typeface="Microsoft YaHei"/>
              </a:rPr>
              <a:t>要咨询设备厂家）</a:t>
            </a:r>
            <a:endParaRPr sz="1700" dirty="0">
              <a:latin typeface="Microsoft YaHei"/>
              <a:ea typeface="Microsoft YaHei"/>
              <a:cs typeface="Microsoft YaHei"/>
            </a:endParaRPr>
          </a:p>
          <a:p>
            <a:pPr marL="336550" indent="-324484" algn="l" rtl="0" eaLnBrk="0">
              <a:lnSpc>
                <a:spcPct val="139000"/>
              </a:lnSpc>
              <a:spcBef>
                <a:spcPts val="1409"/>
              </a:spcBef>
              <a:tabLst>
                <a:tab pos="196850" algn="l"/>
              </a:tabLst>
            </a:pPr>
            <a:r>
              <a:rPr sz="1700" kern="0" spc="0" dirty="0">
                <a:solidFill>
                  <a:srgbClr val="000000">
                    <a:alpha val="100000"/>
                  </a:srgbClr>
                </a:solidFill>
                <a:latin typeface="Microsoft YaHei"/>
                <a:ea typeface="Microsoft YaHei"/>
                <a:cs typeface="Microsoft YaHei"/>
              </a:rPr>
              <a:t>	</a:t>
            </a:r>
            <a:r>
              <a:rPr sz="1700" kern="0" spc="50" dirty="0">
                <a:solidFill>
                  <a:srgbClr val="000000">
                    <a:alpha val="100000"/>
                  </a:srgbClr>
                </a:solidFill>
                <a:latin typeface="Microsoft YaHei"/>
                <a:ea typeface="Microsoft YaHei"/>
                <a:cs typeface="Microsoft YaHei"/>
              </a:rPr>
              <a:t>  </a:t>
            </a:r>
            <a:r>
              <a:rPr sz="1700" kern="0" spc="120" dirty="0">
                <a:solidFill>
                  <a:srgbClr val="000000">
                    <a:alpha val="100000"/>
                  </a:srgbClr>
                </a:solidFill>
                <a:latin typeface="Microsoft YaHei"/>
                <a:ea typeface="Microsoft YaHei"/>
                <a:cs typeface="Microsoft YaHei"/>
              </a:rPr>
              <a:t>应用支持</a:t>
            </a:r>
            <a:r>
              <a:rPr sz="1700" kern="0" spc="0" dirty="0">
                <a:solidFill>
                  <a:srgbClr val="000000">
                    <a:alpha val="100000"/>
                  </a:srgbClr>
                </a:solidFill>
                <a:latin typeface="Microsoft YaHei"/>
                <a:ea typeface="Microsoft YaHei"/>
                <a:cs typeface="Microsoft YaHei"/>
              </a:rPr>
              <a:t>coap</a:t>
            </a:r>
            <a:r>
              <a:rPr sz="1700" kern="0" spc="120" dirty="0">
                <a:solidFill>
                  <a:srgbClr val="000000">
                    <a:alpha val="100000"/>
                  </a:srgbClr>
                </a:solidFill>
                <a:latin typeface="Microsoft YaHei"/>
                <a:ea typeface="Microsoft YaHei"/>
                <a:cs typeface="Microsoft YaHei"/>
              </a:rPr>
              <a:t>协议（咨询</a:t>
            </a:r>
            <a:r>
              <a:rPr sz="1700" kern="0" spc="80" dirty="0">
                <a:solidFill>
                  <a:srgbClr val="000000">
                    <a:alpha val="100000"/>
                  </a:srgbClr>
                </a:solidFill>
                <a:latin typeface="Microsoft YaHei"/>
                <a:ea typeface="Microsoft YaHei"/>
                <a:cs typeface="Microsoft YaHei"/>
              </a:rPr>
              <a:t>应用开发商）</a:t>
            </a:r>
            <a:endParaRPr sz="1700" dirty="0">
              <a:latin typeface="Microsoft YaHei"/>
              <a:ea typeface="Microsoft YaHei"/>
              <a:cs typeface="Microsoft YaHei"/>
            </a:endParaRPr>
          </a:p>
          <a:p>
            <a:pPr algn="l" rtl="0" eaLnBrk="0">
              <a:lnSpc>
                <a:spcPct val="106000"/>
              </a:lnSpc>
              <a:tabLst/>
            </a:pPr>
            <a:endParaRPr sz="1300" dirty="0">
              <a:latin typeface="Arial"/>
              <a:ea typeface="Arial"/>
              <a:cs typeface="Arial"/>
            </a:endParaRPr>
          </a:p>
          <a:p>
            <a:pPr algn="l" rtl="0" eaLnBrk="0">
              <a:lnSpc>
                <a:spcPct val="12908"/>
              </a:lnSpc>
              <a:tabLst/>
            </a:pPr>
            <a:endParaRPr sz="100" dirty="0">
              <a:latin typeface="Arial"/>
              <a:ea typeface="Arial"/>
              <a:cs typeface="Arial"/>
            </a:endParaRPr>
          </a:p>
          <a:p>
            <a:pPr marL="339725" indent="-327659" algn="l" rtl="0" eaLnBrk="0">
              <a:lnSpc>
                <a:spcPct val="134000"/>
              </a:lnSpc>
              <a:tabLst>
                <a:tab pos="196850" algn="l"/>
              </a:tabLst>
            </a:pPr>
            <a:r>
              <a:rPr sz="1700" kern="0" spc="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  卡为使用的最终客户名义</a:t>
            </a:r>
            <a:r>
              <a:rPr sz="1700" kern="0" spc="50" dirty="0">
                <a:solidFill>
                  <a:srgbClr val="000000">
                    <a:alpha val="100000"/>
                  </a:srgbClr>
                </a:solidFill>
                <a:latin typeface="Microsoft YaHei"/>
                <a:ea typeface="Microsoft YaHei"/>
                <a:cs typeface="Microsoft YaHei"/>
              </a:rPr>
              <a:t>开卡</a:t>
            </a:r>
            <a:r>
              <a:rPr sz="1700" kern="0" spc="-170" dirty="0">
                <a:solidFill>
                  <a:srgbClr val="000000">
                    <a:alpha val="100000"/>
                  </a:srgbClr>
                </a:solidFill>
                <a:latin typeface="Microsoft YaHei"/>
                <a:ea typeface="Microsoft YaHei"/>
                <a:cs typeface="Microsoft YaHei"/>
              </a:rPr>
              <a:t> </a:t>
            </a:r>
            <a:r>
              <a:rPr sz="1700" kern="0" spc="50" dirty="0">
                <a:solidFill>
                  <a:srgbClr val="000000">
                    <a:alpha val="100000"/>
                  </a:srgbClr>
                </a:solidFill>
                <a:latin typeface="Microsoft YaHei"/>
                <a:ea typeface="Microsoft YaHei"/>
                <a:cs typeface="Microsoft YaHei"/>
              </a:rPr>
              <a:t>，</a:t>
            </a:r>
            <a:r>
              <a:rPr sz="1700" kern="0" spc="-410" dirty="0">
                <a:solidFill>
                  <a:srgbClr val="000000">
                    <a:alpha val="100000"/>
                  </a:srgbClr>
                </a:solidFill>
                <a:latin typeface="Microsoft YaHei"/>
                <a:ea typeface="Microsoft YaHei"/>
                <a:cs typeface="Microsoft YaHei"/>
              </a:rPr>
              <a:t> </a:t>
            </a:r>
            <a:r>
              <a:rPr sz="1700" kern="0" spc="50" dirty="0">
                <a:solidFill>
                  <a:srgbClr val="000000">
                    <a:alpha val="100000"/>
                  </a:srgbClr>
                </a:solidFill>
                <a:latin typeface="Microsoft YaHei"/>
                <a:ea typeface="Microsoft YaHei"/>
                <a:cs typeface="Microsoft YaHei"/>
              </a:rPr>
              <a:t>可修改</a:t>
            </a:r>
            <a:r>
              <a:rPr sz="1700" kern="0" spc="0" dirty="0">
                <a:solidFill>
                  <a:srgbClr val="000000">
                    <a:alpha val="100000"/>
                  </a:srgbClr>
                </a:solidFill>
                <a:latin typeface="Microsoft YaHei"/>
                <a:ea typeface="Microsoft YaHei"/>
                <a:cs typeface="Microsoft YaHei"/>
              </a:rPr>
              <a:t>IP</a:t>
            </a:r>
            <a:r>
              <a:rPr sz="1700" kern="0" spc="50" dirty="0">
                <a:solidFill>
                  <a:srgbClr val="000000">
                    <a:alpha val="100000"/>
                  </a:srgbClr>
                </a:solidFill>
                <a:latin typeface="Microsoft YaHei"/>
                <a:ea typeface="Microsoft YaHei"/>
                <a:cs typeface="Microsoft YaHei"/>
              </a:rPr>
              <a:t>定向</a:t>
            </a:r>
            <a:endParaRPr sz="1700" dirty="0">
              <a:latin typeface="Microsoft YaHei"/>
              <a:ea typeface="Microsoft YaHei"/>
              <a:cs typeface="Microsoft YaHei"/>
            </a:endParaRPr>
          </a:p>
        </p:txBody>
      </p:sp>
      <p:pic>
        <p:nvPicPr>
          <p:cNvPr id="78" name="picture 78"/>
          <p:cNvPicPr>
            <a:picLocks noChangeAspect="1"/>
          </p:cNvPicPr>
          <p:nvPr/>
        </p:nvPicPr>
        <p:blipFill>
          <a:blip r:embed="rId5"/>
          <a:stretch>
            <a:fillRect/>
          </a:stretch>
        </p:blipFill>
        <p:spPr>
          <a:xfrm rot="21600000">
            <a:off x="4540198" y="4315447"/>
            <a:ext cx="184480" cy="253288"/>
          </a:xfrm>
          <a:prstGeom prst="rect">
            <a:avLst/>
          </a:prstGeom>
        </p:spPr>
      </p:pic>
      <p:pic>
        <p:nvPicPr>
          <p:cNvPr id="80" name="picture 80"/>
          <p:cNvPicPr>
            <a:picLocks noChangeAspect="1"/>
          </p:cNvPicPr>
          <p:nvPr/>
        </p:nvPicPr>
        <p:blipFill>
          <a:blip r:embed="rId6"/>
          <a:stretch>
            <a:fillRect/>
          </a:stretch>
        </p:blipFill>
        <p:spPr>
          <a:xfrm rot="21600000">
            <a:off x="4540198" y="3416287"/>
            <a:ext cx="184480" cy="253288"/>
          </a:xfrm>
          <a:prstGeom prst="rect">
            <a:avLst/>
          </a:prstGeom>
        </p:spPr>
      </p:pic>
      <p:pic>
        <p:nvPicPr>
          <p:cNvPr id="82" name="picture 82"/>
          <p:cNvPicPr>
            <a:picLocks noChangeAspect="1"/>
          </p:cNvPicPr>
          <p:nvPr/>
        </p:nvPicPr>
        <p:blipFill>
          <a:blip r:embed="rId7"/>
          <a:stretch>
            <a:fillRect/>
          </a:stretch>
        </p:blipFill>
        <p:spPr>
          <a:xfrm rot="21600000">
            <a:off x="4540198" y="2517127"/>
            <a:ext cx="184480" cy="253288"/>
          </a:xfrm>
          <a:prstGeom prst="rect">
            <a:avLst/>
          </a:prstGeom>
        </p:spPr>
      </p:pic>
      <p:sp>
        <p:nvSpPr>
          <p:cNvPr id="84" name="textbox 84"/>
          <p:cNvSpPr/>
          <p:nvPr/>
        </p:nvSpPr>
        <p:spPr>
          <a:xfrm>
            <a:off x="563778" y="2514028"/>
            <a:ext cx="2867025" cy="1716404"/>
          </a:xfrm>
          <a:prstGeom prst="rect">
            <a:avLst/>
          </a:prstGeom>
          <a:noFill/>
          <a:ln w="0" cap="flat">
            <a:noFill/>
            <a:prstDash val="solid"/>
            <a:miter lim="0"/>
          </a:ln>
        </p:spPr>
        <p:txBody>
          <a:bodyPr vert="horz" wrap="square" lIns="0" tIns="0" rIns="0" bIns="0"/>
          <a:lstStyle/>
          <a:p>
            <a:pPr algn="l" rtl="0" eaLnBrk="0">
              <a:lnSpc>
                <a:spcPct val="80632"/>
              </a:lnSpc>
              <a:tabLst/>
            </a:pPr>
            <a:endParaRPr sz="100" dirty="0">
              <a:latin typeface="Arial"/>
              <a:ea typeface="Arial"/>
              <a:cs typeface="Arial"/>
            </a:endParaRPr>
          </a:p>
          <a:p>
            <a:pPr marL="12700" algn="l" rtl="0" eaLnBrk="0">
              <a:lnSpc>
                <a:spcPct val="88000"/>
              </a:lnSpc>
              <a:tabLst>
                <a:tab pos="175260" algn="l"/>
              </a:tabLst>
            </a:pPr>
            <a:r>
              <a:rPr sz="1700" kern="0" spc="0" dirty="0">
                <a:solidFill>
                  <a:srgbClr val="000000">
                    <a:alpha val="100000"/>
                  </a:srgbClr>
                </a:solidFill>
                <a:latin typeface="Microsoft YaHei"/>
                <a:ea typeface="Microsoft YaHei"/>
                <a:cs typeface="Microsoft YaHei"/>
              </a:rPr>
              <a:t>	</a:t>
            </a:r>
            <a:r>
              <a:rPr sz="1700" kern="0" spc="15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研发能力强</a:t>
            </a:r>
            <a:endParaRPr sz="1700" dirty="0">
              <a:latin typeface="Microsoft YaHei"/>
              <a:ea typeface="Microsoft YaHei"/>
              <a:cs typeface="Microsoft YaHei"/>
            </a:endParaRPr>
          </a:p>
          <a:p>
            <a:pPr algn="l" rtl="0" eaLnBrk="0">
              <a:lnSpc>
                <a:spcPct val="101000"/>
              </a:lnSpc>
              <a:tabLst/>
            </a:pPr>
            <a:endParaRPr sz="1000" dirty="0">
              <a:latin typeface="Arial"/>
              <a:ea typeface="Arial"/>
              <a:cs typeface="Arial"/>
            </a:endParaRPr>
          </a:p>
          <a:p>
            <a:pPr marL="12700" algn="l" rtl="0" eaLnBrk="0">
              <a:lnSpc>
                <a:spcPts val="2323"/>
              </a:lnSpc>
              <a:spcBef>
                <a:spcPts val="512"/>
              </a:spcBef>
              <a:tabLst>
                <a:tab pos="175260" algn="l"/>
              </a:tabLst>
            </a:pPr>
            <a:r>
              <a:rPr sz="1700" kern="0" spc="0" dirty="0">
                <a:solidFill>
                  <a:srgbClr val="000000">
                    <a:alpha val="100000"/>
                  </a:srgbClr>
                </a:solidFill>
                <a:latin typeface="Microsoft YaHei"/>
                <a:ea typeface="Microsoft YaHei"/>
                <a:cs typeface="Microsoft YaHei"/>
              </a:rPr>
              <a:t>	</a:t>
            </a:r>
            <a:r>
              <a:rPr sz="1700" kern="0" spc="19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终端/应用自主可控</a:t>
            </a:r>
            <a:endParaRPr sz="17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marL="12700" algn="l" rtl="0" eaLnBrk="0">
              <a:lnSpc>
                <a:spcPct val="88000"/>
              </a:lnSpc>
              <a:spcBef>
                <a:spcPts val="519"/>
              </a:spcBef>
              <a:tabLst>
                <a:tab pos="175260" algn="l"/>
              </a:tabLst>
            </a:pPr>
            <a:r>
              <a:rPr sz="1700" kern="0" spc="0" dirty="0">
                <a:solidFill>
                  <a:srgbClr val="000000">
                    <a:alpha val="100000"/>
                  </a:srgbClr>
                </a:solidFill>
                <a:latin typeface="Microsoft YaHei"/>
                <a:ea typeface="Microsoft YaHei"/>
                <a:cs typeface="Microsoft YaHei"/>
              </a:rPr>
              <a:t>	</a:t>
            </a:r>
            <a:r>
              <a:rPr sz="1700" kern="0" spc="18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可协调资源进行二次开发</a:t>
            </a:r>
            <a:endParaRPr sz="1700" dirty="0">
              <a:latin typeface="Microsoft YaHei"/>
              <a:ea typeface="Microsoft YaHei"/>
              <a:cs typeface="Microsoft YaHei"/>
            </a:endParaRPr>
          </a:p>
          <a:p>
            <a:pPr algn="l" rtl="0" eaLnBrk="0">
              <a:lnSpc>
                <a:spcPct val="126000"/>
              </a:lnSpc>
              <a:tabLst/>
            </a:pPr>
            <a:endParaRPr sz="1000" dirty="0">
              <a:latin typeface="Arial"/>
              <a:ea typeface="Arial"/>
              <a:cs typeface="Arial"/>
            </a:endParaRPr>
          </a:p>
          <a:p>
            <a:pPr algn="l" rtl="0" eaLnBrk="0">
              <a:lnSpc>
                <a:spcPct val="108000"/>
              </a:lnSpc>
              <a:tabLst/>
            </a:pPr>
            <a:endParaRPr sz="400" dirty="0">
              <a:latin typeface="Arial"/>
              <a:ea typeface="Arial"/>
              <a:cs typeface="Arial"/>
            </a:endParaRPr>
          </a:p>
          <a:p>
            <a:pPr marL="12700" algn="l" rtl="0" eaLnBrk="0">
              <a:lnSpc>
                <a:spcPct val="88000"/>
              </a:lnSpc>
              <a:spcBef>
                <a:spcPts val="1"/>
              </a:spcBef>
              <a:tabLst>
                <a:tab pos="175260" algn="l"/>
              </a:tabLst>
            </a:pPr>
            <a:r>
              <a:rPr sz="1700" kern="0" spc="0" dirty="0">
                <a:solidFill>
                  <a:srgbClr val="000000">
                    <a:alpha val="100000"/>
                  </a:srgbClr>
                </a:solidFill>
                <a:latin typeface="Microsoft YaHei"/>
                <a:ea typeface="Microsoft YaHei"/>
                <a:cs typeface="Microsoft YaHei"/>
              </a:rPr>
              <a:t>	</a:t>
            </a:r>
            <a:r>
              <a:rPr sz="1700" kern="0" spc="15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设备量级小</a:t>
            </a:r>
            <a:endParaRPr sz="1700" dirty="0">
              <a:latin typeface="Microsoft YaHei"/>
              <a:ea typeface="Microsoft YaHei"/>
              <a:cs typeface="Microsoft YaHei"/>
            </a:endParaRPr>
          </a:p>
        </p:txBody>
      </p:sp>
      <p:pic>
        <p:nvPicPr>
          <p:cNvPr id="86" name="picture 86"/>
          <p:cNvPicPr>
            <a:picLocks noChangeAspect="1"/>
          </p:cNvPicPr>
          <p:nvPr/>
        </p:nvPicPr>
        <p:blipFill>
          <a:blip r:embed="rId8"/>
          <a:stretch>
            <a:fillRect/>
          </a:stretch>
        </p:blipFill>
        <p:spPr>
          <a:xfrm rot="21600000">
            <a:off x="576478" y="4007827"/>
            <a:ext cx="162991" cy="149504"/>
          </a:xfrm>
          <a:prstGeom prst="rect">
            <a:avLst/>
          </a:prstGeom>
        </p:spPr>
      </p:pic>
      <p:pic>
        <p:nvPicPr>
          <p:cNvPr id="88" name="picture 88"/>
          <p:cNvPicPr>
            <a:picLocks noChangeAspect="1"/>
          </p:cNvPicPr>
          <p:nvPr/>
        </p:nvPicPr>
        <p:blipFill>
          <a:blip r:embed="rId9"/>
          <a:stretch>
            <a:fillRect/>
          </a:stretch>
        </p:blipFill>
        <p:spPr>
          <a:xfrm rot="21600000">
            <a:off x="576478" y="3520147"/>
            <a:ext cx="162991" cy="149504"/>
          </a:xfrm>
          <a:prstGeom prst="rect">
            <a:avLst/>
          </a:prstGeom>
        </p:spPr>
      </p:pic>
      <p:pic>
        <p:nvPicPr>
          <p:cNvPr id="90" name="picture 90"/>
          <p:cNvPicPr>
            <a:picLocks noChangeAspect="1"/>
          </p:cNvPicPr>
          <p:nvPr/>
        </p:nvPicPr>
        <p:blipFill>
          <a:blip r:embed="rId10"/>
          <a:stretch>
            <a:fillRect/>
          </a:stretch>
        </p:blipFill>
        <p:spPr>
          <a:xfrm rot="21600000">
            <a:off x="576478" y="3032468"/>
            <a:ext cx="162991" cy="149504"/>
          </a:xfrm>
          <a:prstGeom prst="rect">
            <a:avLst/>
          </a:prstGeom>
        </p:spPr>
      </p:pic>
      <p:pic>
        <p:nvPicPr>
          <p:cNvPr id="92" name="picture 92"/>
          <p:cNvPicPr>
            <a:picLocks noChangeAspect="1"/>
          </p:cNvPicPr>
          <p:nvPr/>
        </p:nvPicPr>
        <p:blipFill>
          <a:blip r:embed="rId11"/>
          <a:stretch>
            <a:fillRect/>
          </a:stretch>
        </p:blipFill>
        <p:spPr>
          <a:xfrm rot="21600000">
            <a:off x="576478" y="2544788"/>
            <a:ext cx="162991" cy="149504"/>
          </a:xfrm>
          <a:prstGeom prst="rect">
            <a:avLst/>
          </a:prstGeom>
        </p:spPr>
      </p:pic>
      <p:sp>
        <p:nvSpPr>
          <p:cNvPr id="94" name="textbox 94"/>
          <p:cNvSpPr/>
          <p:nvPr/>
        </p:nvSpPr>
        <p:spPr>
          <a:xfrm>
            <a:off x="566521" y="5888342"/>
            <a:ext cx="10864850" cy="278765"/>
          </a:xfrm>
          <a:prstGeom prst="rect">
            <a:avLst/>
          </a:prstGeom>
          <a:noFill/>
          <a:ln w="0" cap="flat">
            <a:noFill/>
            <a:prstDash val="solid"/>
            <a:miter lim="0"/>
          </a:ln>
        </p:spPr>
        <p:txBody>
          <a:bodyPr vert="horz" wrap="square" lIns="0" tIns="0" rIns="0" bIns="0"/>
          <a:lstStyle/>
          <a:p>
            <a:pPr algn="l" rtl="0" eaLnBrk="0">
              <a:lnSpc>
                <a:spcPct val="79499"/>
              </a:lnSpc>
              <a:tabLst/>
            </a:pPr>
            <a:endParaRPr sz="100" dirty="0">
              <a:latin typeface="Arial"/>
              <a:ea typeface="Arial"/>
              <a:cs typeface="Arial"/>
            </a:endParaRPr>
          </a:p>
          <a:p>
            <a:pPr marL="12700" algn="l" rtl="0" eaLnBrk="0">
              <a:lnSpc>
                <a:spcPct val="98000"/>
              </a:lnSpc>
              <a:tabLst>
                <a:tab pos="174625" algn="l"/>
              </a:tabLst>
            </a:pPr>
            <a:r>
              <a:rPr sz="1700" kern="0" spc="0" dirty="0">
                <a:solidFill>
                  <a:srgbClr val="000000">
                    <a:alpha val="100000"/>
                  </a:srgbClr>
                </a:solidFill>
                <a:latin typeface="Microsoft YaHei"/>
                <a:ea typeface="Microsoft YaHei"/>
                <a:cs typeface="Microsoft YaHei"/>
              </a:rPr>
              <a:t>	</a:t>
            </a:r>
            <a:r>
              <a:rPr sz="1700" kern="0" spc="14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风险提示：</a:t>
            </a:r>
            <a:r>
              <a:rPr sz="1700" kern="0" spc="-39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存量设备迁移过程中如果设备地址修改失败或设备没上线</a:t>
            </a:r>
            <a:r>
              <a:rPr sz="1700" kern="0" spc="-23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a:t>
            </a:r>
            <a:r>
              <a:rPr sz="1700" kern="0" spc="-40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可能需要现场对设</a:t>
            </a:r>
            <a:r>
              <a:rPr sz="1700" kern="0" spc="80" dirty="0">
                <a:solidFill>
                  <a:srgbClr val="000000">
                    <a:alpha val="100000"/>
                  </a:srgbClr>
                </a:solidFill>
                <a:latin typeface="Microsoft YaHei"/>
                <a:ea typeface="Microsoft YaHei"/>
                <a:cs typeface="Microsoft YaHei"/>
              </a:rPr>
              <a:t>备进行维护处理</a:t>
            </a:r>
            <a:endParaRPr sz="1700" dirty="0">
              <a:latin typeface="Microsoft YaHei"/>
              <a:ea typeface="Microsoft YaHei"/>
              <a:cs typeface="Microsoft YaHei"/>
            </a:endParaRPr>
          </a:p>
        </p:txBody>
      </p:sp>
      <p:pic>
        <p:nvPicPr>
          <p:cNvPr id="96" name="picture 96"/>
          <p:cNvPicPr>
            <a:picLocks noChangeAspect="1"/>
          </p:cNvPicPr>
          <p:nvPr/>
        </p:nvPicPr>
        <p:blipFill>
          <a:blip r:embed="rId12"/>
          <a:stretch>
            <a:fillRect/>
          </a:stretch>
        </p:blipFill>
        <p:spPr>
          <a:xfrm rot="21600000">
            <a:off x="579221" y="5901042"/>
            <a:ext cx="162305" cy="253288"/>
          </a:xfrm>
          <a:prstGeom prst="rect">
            <a:avLst/>
          </a:prstGeom>
        </p:spPr>
      </p:pic>
      <p:sp>
        <p:nvSpPr>
          <p:cNvPr id="98" name="textbox 98"/>
          <p:cNvSpPr/>
          <p:nvPr/>
        </p:nvSpPr>
        <p:spPr>
          <a:xfrm>
            <a:off x="418591" y="262991"/>
            <a:ext cx="2342514" cy="42799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3165"/>
              </a:lnSpc>
              <a:tabLst/>
            </a:pPr>
            <a:r>
              <a:rPr sz="2300" b="1" kern="0" spc="70" dirty="0">
                <a:solidFill>
                  <a:srgbClr val="C00000">
                    <a:alpha val="100000"/>
                  </a:srgbClr>
                </a:solidFill>
                <a:latin typeface="Microsoft YaHei"/>
                <a:ea typeface="Microsoft YaHei"/>
                <a:cs typeface="Microsoft YaHei"/>
              </a:rPr>
              <a:t>方案1：</a:t>
            </a:r>
            <a:r>
              <a:rPr sz="2300" b="1" kern="0" spc="-540" dirty="0">
                <a:solidFill>
                  <a:srgbClr val="C00000">
                    <a:alpha val="100000"/>
                  </a:srgbClr>
                </a:solidFill>
                <a:latin typeface="Microsoft YaHei"/>
                <a:ea typeface="Microsoft YaHei"/>
                <a:cs typeface="Microsoft YaHei"/>
              </a:rPr>
              <a:t> </a:t>
            </a:r>
            <a:r>
              <a:rPr sz="2300" b="1" kern="0" spc="70" dirty="0">
                <a:solidFill>
                  <a:srgbClr val="C00000">
                    <a:alpha val="100000"/>
                  </a:srgbClr>
                </a:solidFill>
                <a:latin typeface="Microsoft YaHei"/>
                <a:ea typeface="Microsoft YaHei"/>
                <a:cs typeface="Microsoft YaHei"/>
              </a:rPr>
              <a:t>直连方案</a:t>
            </a:r>
            <a:endParaRPr sz="2300" dirty="0">
              <a:latin typeface="Microsoft YaHei"/>
              <a:ea typeface="Microsoft YaHei"/>
              <a:cs typeface="Microsoft YaHei"/>
            </a:endParaRPr>
          </a:p>
        </p:txBody>
      </p:sp>
      <p:pic>
        <p:nvPicPr>
          <p:cNvPr id="100" name="picture 100"/>
          <p:cNvPicPr>
            <a:picLocks noChangeAspect="1"/>
          </p:cNvPicPr>
          <p:nvPr/>
        </p:nvPicPr>
        <p:blipFill>
          <a:blip r:embed="rId13"/>
          <a:stretch>
            <a:fillRect/>
          </a:stretch>
        </p:blipFill>
        <p:spPr>
          <a:xfrm rot="21600000">
            <a:off x="335279" y="807720"/>
            <a:ext cx="11519916" cy="67055"/>
          </a:xfrm>
          <a:prstGeom prst="rect">
            <a:avLst/>
          </a:prstGeom>
        </p:spPr>
      </p:pic>
      <p:sp>
        <p:nvSpPr>
          <p:cNvPr id="102" name="textbox 102"/>
          <p:cNvSpPr/>
          <p:nvPr/>
        </p:nvSpPr>
        <p:spPr>
          <a:xfrm>
            <a:off x="8593429" y="2504427"/>
            <a:ext cx="2178050" cy="278765"/>
          </a:xfrm>
          <a:prstGeom prst="rect">
            <a:avLst/>
          </a:prstGeom>
          <a:noFill/>
          <a:ln w="0" cap="flat">
            <a:noFill/>
            <a:prstDash val="solid"/>
            <a:miter lim="0"/>
          </a:ln>
        </p:spPr>
        <p:txBody>
          <a:bodyPr vert="horz" wrap="square" lIns="0" tIns="0" rIns="0" bIns="0"/>
          <a:lstStyle/>
          <a:p>
            <a:pPr algn="l" rtl="0" eaLnBrk="0">
              <a:lnSpc>
                <a:spcPct val="79499"/>
              </a:lnSpc>
              <a:tabLst/>
            </a:pPr>
            <a:endParaRPr sz="100" dirty="0">
              <a:latin typeface="Arial"/>
              <a:ea typeface="Arial"/>
              <a:cs typeface="Arial"/>
            </a:endParaRPr>
          </a:p>
          <a:p>
            <a:pPr marL="12700" algn="l" rtl="0" eaLnBrk="0">
              <a:lnSpc>
                <a:spcPct val="98000"/>
              </a:lnSpc>
              <a:tabLst>
                <a:tab pos="174625" algn="l"/>
              </a:tabLst>
            </a:pPr>
            <a:r>
              <a:rPr sz="1700" kern="0" spc="0" dirty="0">
                <a:solidFill>
                  <a:srgbClr val="000000">
                    <a:alpha val="100000"/>
                  </a:srgbClr>
                </a:solidFill>
                <a:latin typeface="Microsoft YaHei"/>
                <a:ea typeface="Microsoft YaHei"/>
                <a:cs typeface="Microsoft YaHei"/>
              </a:rPr>
              <a:t>	</a:t>
            </a:r>
            <a:r>
              <a:rPr sz="1700" kern="0" spc="16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不受电信平台影响</a:t>
            </a:r>
            <a:endParaRPr sz="1700" dirty="0">
              <a:latin typeface="Microsoft YaHei"/>
              <a:ea typeface="Microsoft YaHei"/>
              <a:cs typeface="Microsoft YaHei"/>
            </a:endParaRPr>
          </a:p>
        </p:txBody>
      </p:sp>
      <p:pic>
        <p:nvPicPr>
          <p:cNvPr id="104" name="picture 104"/>
          <p:cNvPicPr>
            <a:picLocks noChangeAspect="1"/>
          </p:cNvPicPr>
          <p:nvPr/>
        </p:nvPicPr>
        <p:blipFill>
          <a:blip r:embed="rId14"/>
          <a:stretch>
            <a:fillRect/>
          </a:stretch>
        </p:blipFill>
        <p:spPr>
          <a:xfrm rot="21600000">
            <a:off x="8606129" y="2517127"/>
            <a:ext cx="162305" cy="253288"/>
          </a:xfrm>
          <a:prstGeom prst="rect">
            <a:avLst/>
          </a:prstGeom>
        </p:spPr>
      </p:pic>
      <p:sp>
        <p:nvSpPr>
          <p:cNvPr id="106" name="textbox 106"/>
          <p:cNvSpPr/>
          <p:nvPr/>
        </p:nvSpPr>
        <p:spPr>
          <a:xfrm>
            <a:off x="5206390" y="1622056"/>
            <a:ext cx="1518919" cy="332740"/>
          </a:xfrm>
          <a:prstGeom prst="rect">
            <a:avLst/>
          </a:prstGeom>
          <a:noFill/>
          <a:ln w="0" cap="flat">
            <a:noFill/>
            <a:prstDash val="solid"/>
            <a:miter lim="0"/>
          </a:ln>
        </p:spPr>
        <p:txBody>
          <a:bodyPr vert="horz" wrap="square" lIns="0" tIns="0" rIns="0" bIns="0"/>
          <a:lstStyle/>
          <a:p>
            <a:pPr algn="l" rtl="0" eaLnBrk="0">
              <a:lnSpc>
                <a:spcPct val="73160"/>
              </a:lnSpc>
              <a:tabLst/>
            </a:pPr>
            <a:endParaRPr sz="100" dirty="0">
              <a:latin typeface="Arial"/>
              <a:ea typeface="Arial"/>
              <a:cs typeface="Arial"/>
            </a:endParaRPr>
          </a:p>
          <a:p>
            <a:pPr marL="12700" algn="l" rtl="0" eaLnBrk="0">
              <a:lnSpc>
                <a:spcPct val="88000"/>
              </a:lnSpc>
              <a:tabLst/>
            </a:pPr>
            <a:r>
              <a:rPr sz="2300" b="1" kern="0" spc="40" dirty="0">
                <a:solidFill>
                  <a:srgbClr val="C00000">
                    <a:alpha val="100000"/>
                  </a:srgbClr>
                </a:solidFill>
                <a:latin typeface="Microsoft YaHei"/>
                <a:ea typeface="Microsoft YaHei"/>
                <a:cs typeface="Microsoft YaHei"/>
              </a:rPr>
              <a:t>需具备条件</a:t>
            </a:r>
            <a:endParaRPr sz="2300" dirty="0">
              <a:latin typeface="Microsoft YaHei"/>
              <a:ea typeface="Microsoft YaHei"/>
              <a:cs typeface="Microsoft YaHei"/>
            </a:endParaRPr>
          </a:p>
        </p:txBody>
      </p:sp>
      <p:pic>
        <p:nvPicPr>
          <p:cNvPr id="108" name="picture 108"/>
          <p:cNvPicPr>
            <a:picLocks noChangeAspect="1"/>
          </p:cNvPicPr>
          <p:nvPr/>
        </p:nvPicPr>
        <p:blipFill>
          <a:blip r:embed="rId15"/>
          <a:stretch>
            <a:fillRect/>
          </a:stretch>
        </p:blipFill>
        <p:spPr>
          <a:xfrm rot="21600000">
            <a:off x="11126046" y="215885"/>
            <a:ext cx="721486" cy="526694"/>
          </a:xfrm>
          <a:prstGeom prst="rect">
            <a:avLst/>
          </a:prstGeom>
        </p:spPr>
      </p:pic>
      <p:sp>
        <p:nvSpPr>
          <p:cNvPr id="110" name="textbox 110"/>
          <p:cNvSpPr/>
          <p:nvPr/>
        </p:nvSpPr>
        <p:spPr>
          <a:xfrm>
            <a:off x="9286061" y="1637144"/>
            <a:ext cx="1223010" cy="332104"/>
          </a:xfrm>
          <a:prstGeom prst="rect">
            <a:avLst/>
          </a:prstGeom>
          <a:noFill/>
          <a:ln w="0" cap="flat">
            <a:noFill/>
            <a:prstDash val="solid"/>
            <a:miter lim="0"/>
          </a:ln>
        </p:spPr>
        <p:txBody>
          <a:bodyPr vert="horz" wrap="square" lIns="0" tIns="0" rIns="0" bIns="0"/>
          <a:lstStyle/>
          <a:p>
            <a:pPr algn="l" rtl="0" eaLnBrk="0">
              <a:lnSpc>
                <a:spcPct val="94821"/>
              </a:lnSpc>
              <a:tabLst/>
            </a:pPr>
            <a:endParaRPr sz="100" dirty="0">
              <a:latin typeface="Arial"/>
              <a:ea typeface="Arial"/>
              <a:cs typeface="Arial"/>
            </a:endParaRPr>
          </a:p>
          <a:p>
            <a:pPr marL="12700" algn="l" rtl="0" eaLnBrk="0">
              <a:lnSpc>
                <a:spcPct val="87000"/>
              </a:lnSpc>
              <a:tabLst/>
            </a:pPr>
            <a:r>
              <a:rPr sz="2300" b="1" kern="0" spc="50" dirty="0">
                <a:solidFill>
                  <a:srgbClr val="C00000">
                    <a:alpha val="100000"/>
                  </a:srgbClr>
                </a:solidFill>
                <a:latin typeface="Microsoft YaHei"/>
                <a:ea typeface="Microsoft YaHei"/>
                <a:cs typeface="Microsoft YaHei"/>
              </a:rPr>
              <a:t>方案优势</a:t>
            </a:r>
            <a:endParaRPr sz="2300" dirty="0">
              <a:latin typeface="Microsoft YaHei"/>
              <a:ea typeface="Microsoft YaHei"/>
              <a:cs typeface="Microsoft YaHei"/>
            </a:endParaRPr>
          </a:p>
        </p:txBody>
      </p:sp>
      <p:sp>
        <p:nvSpPr>
          <p:cNvPr id="112" name="textbox 112"/>
          <p:cNvSpPr/>
          <p:nvPr/>
        </p:nvSpPr>
        <p:spPr>
          <a:xfrm>
            <a:off x="1539430" y="1622361"/>
            <a:ext cx="1220469" cy="332104"/>
          </a:xfrm>
          <a:prstGeom prst="rect">
            <a:avLst/>
          </a:prstGeom>
          <a:noFill/>
          <a:ln w="0" cap="flat">
            <a:noFill/>
            <a:prstDash val="solid"/>
            <a:miter lim="0"/>
          </a:ln>
        </p:spPr>
        <p:txBody>
          <a:bodyPr vert="horz" wrap="square" lIns="0" tIns="0" rIns="0" bIns="0"/>
          <a:lstStyle/>
          <a:p>
            <a:pPr algn="l" rtl="0" eaLnBrk="0">
              <a:lnSpc>
                <a:spcPct val="94288"/>
              </a:lnSpc>
              <a:tabLst/>
            </a:pPr>
            <a:endParaRPr sz="100" dirty="0">
              <a:latin typeface="Arial"/>
              <a:ea typeface="Arial"/>
              <a:cs typeface="Arial"/>
            </a:endParaRPr>
          </a:p>
          <a:p>
            <a:pPr marL="12700" algn="l" rtl="0" eaLnBrk="0">
              <a:lnSpc>
                <a:spcPct val="87000"/>
              </a:lnSpc>
              <a:tabLst/>
            </a:pPr>
            <a:r>
              <a:rPr sz="2300" b="1" kern="0" spc="40" dirty="0">
                <a:solidFill>
                  <a:srgbClr val="C00000">
                    <a:alpha val="100000"/>
                  </a:srgbClr>
                </a:solidFill>
                <a:latin typeface="Microsoft YaHei"/>
                <a:ea typeface="Microsoft YaHei"/>
                <a:cs typeface="Microsoft YaHei"/>
              </a:rPr>
              <a:t>适配用户</a:t>
            </a:r>
            <a:endParaRPr sz="2300" dirty="0">
              <a:latin typeface="Microsoft YaHei"/>
              <a:ea typeface="Microsoft YaHei"/>
              <a:cs typeface="Microsoft YaHei"/>
            </a:endParaRPr>
          </a:p>
        </p:txBody>
      </p:sp>
      <p:sp>
        <p:nvSpPr>
          <p:cNvPr id="114" name="textbox 114"/>
          <p:cNvSpPr/>
          <p:nvPr/>
        </p:nvSpPr>
        <p:spPr>
          <a:xfrm>
            <a:off x="11658894" y="6462377"/>
            <a:ext cx="120650"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10" dirty="0">
                <a:solidFill>
                  <a:srgbClr val="B1B1B1">
                    <a:alpha val="100000"/>
                  </a:srgbClr>
                </a:solidFill>
                <a:latin typeface="DengXian"/>
                <a:ea typeface="DengXian"/>
                <a:cs typeface="DengXian"/>
              </a:rPr>
              <a:t>5</a:t>
            </a:r>
            <a:endParaRPr sz="1500" dirty="0">
              <a:latin typeface="DengXian"/>
              <a:ea typeface="DengXian"/>
              <a:cs typeface="DengXian"/>
            </a:endParaRPr>
          </a:p>
        </p:txBody>
      </p:sp>
      <p:pic>
        <p:nvPicPr>
          <p:cNvPr id="116" name="picture 116"/>
          <p:cNvPicPr>
            <a:picLocks noChangeAspect="1"/>
          </p:cNvPicPr>
          <p:nvPr/>
        </p:nvPicPr>
        <p:blipFill>
          <a:blip r:embed="rId16"/>
          <a:stretch>
            <a:fillRect/>
          </a:stretch>
        </p:blipFill>
        <p:spPr>
          <a:xfrm rot="21600000">
            <a:off x="680935" y="2146007"/>
            <a:ext cx="2699994" cy="7620"/>
          </a:xfrm>
          <a:prstGeom prst="rect">
            <a:avLst/>
          </a:prstGeom>
        </p:spPr>
      </p:pic>
      <p:pic>
        <p:nvPicPr>
          <p:cNvPr id="118" name="picture 118"/>
          <p:cNvPicPr>
            <a:picLocks noChangeAspect="1"/>
          </p:cNvPicPr>
          <p:nvPr/>
        </p:nvPicPr>
        <p:blipFill>
          <a:blip r:embed="rId17"/>
          <a:stretch>
            <a:fillRect/>
          </a:stretch>
        </p:blipFill>
        <p:spPr>
          <a:xfrm rot="21600000">
            <a:off x="4663770" y="2146007"/>
            <a:ext cx="2699994" cy="7620"/>
          </a:xfrm>
          <a:prstGeom prst="rect">
            <a:avLst/>
          </a:prstGeom>
        </p:spPr>
      </p:pic>
      <p:pic>
        <p:nvPicPr>
          <p:cNvPr id="120" name="picture 120"/>
          <p:cNvPicPr>
            <a:picLocks noChangeAspect="1"/>
          </p:cNvPicPr>
          <p:nvPr/>
        </p:nvPicPr>
        <p:blipFill>
          <a:blip r:embed="rId18"/>
          <a:stretch>
            <a:fillRect/>
          </a:stretch>
        </p:blipFill>
        <p:spPr>
          <a:xfrm rot="21600000">
            <a:off x="8573313" y="2149246"/>
            <a:ext cx="2699994" cy="76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 name="picture 122"/>
          <p:cNvPicPr>
            <a:picLocks noChangeAspect="1"/>
          </p:cNvPicPr>
          <p:nvPr/>
        </p:nvPicPr>
        <p:blipFill>
          <a:blip r:embed="rId2"/>
          <a:stretch>
            <a:fillRect/>
          </a:stretch>
        </p:blipFill>
        <p:spPr>
          <a:xfrm rot="21600000">
            <a:off x="4164126" y="1381252"/>
            <a:ext cx="3576346" cy="4737811"/>
          </a:xfrm>
          <a:prstGeom prst="rect">
            <a:avLst/>
          </a:prstGeom>
        </p:spPr>
      </p:pic>
      <p:pic>
        <p:nvPicPr>
          <p:cNvPr id="124" name="picture 124"/>
          <p:cNvPicPr>
            <a:picLocks noChangeAspect="1"/>
          </p:cNvPicPr>
          <p:nvPr/>
        </p:nvPicPr>
        <p:blipFill>
          <a:blip r:embed="rId3"/>
          <a:stretch>
            <a:fillRect/>
          </a:stretch>
        </p:blipFill>
        <p:spPr>
          <a:xfrm rot="21600000">
            <a:off x="8104631" y="1388363"/>
            <a:ext cx="3563111" cy="4724400"/>
          </a:xfrm>
          <a:prstGeom prst="rect">
            <a:avLst/>
          </a:prstGeom>
        </p:spPr>
      </p:pic>
      <p:pic>
        <p:nvPicPr>
          <p:cNvPr id="126" name="picture 126"/>
          <p:cNvPicPr>
            <a:picLocks noChangeAspect="1"/>
          </p:cNvPicPr>
          <p:nvPr/>
        </p:nvPicPr>
        <p:blipFill>
          <a:blip r:embed="rId4"/>
          <a:stretch>
            <a:fillRect/>
          </a:stretch>
        </p:blipFill>
        <p:spPr>
          <a:xfrm rot="21600000">
            <a:off x="328929" y="1381264"/>
            <a:ext cx="3471633" cy="4737798"/>
          </a:xfrm>
          <a:prstGeom prst="rect">
            <a:avLst/>
          </a:prstGeom>
        </p:spPr>
      </p:pic>
      <p:sp>
        <p:nvSpPr>
          <p:cNvPr id="128" name="textbox 128"/>
          <p:cNvSpPr/>
          <p:nvPr/>
        </p:nvSpPr>
        <p:spPr>
          <a:xfrm>
            <a:off x="8492909" y="2504427"/>
            <a:ext cx="2696845" cy="2717164"/>
          </a:xfrm>
          <a:prstGeom prst="rect">
            <a:avLst/>
          </a:prstGeom>
          <a:noFill/>
          <a:ln w="0" cap="flat">
            <a:noFill/>
            <a:prstDash val="solid"/>
            <a:miter lim="0"/>
          </a:ln>
        </p:spPr>
        <p:txBody>
          <a:bodyPr vert="horz" wrap="square" lIns="0" tIns="0" rIns="0" bIns="0"/>
          <a:lstStyle/>
          <a:p>
            <a:pPr algn="l" rtl="0" eaLnBrk="0">
              <a:lnSpc>
                <a:spcPct val="79499"/>
              </a:lnSpc>
              <a:tabLst/>
            </a:pPr>
            <a:endParaRPr sz="100" dirty="0">
              <a:latin typeface="Arial"/>
              <a:ea typeface="Arial"/>
              <a:cs typeface="Arial"/>
            </a:endParaRPr>
          </a:p>
          <a:p>
            <a:pPr marL="12700" algn="l" rtl="0" eaLnBrk="0">
              <a:lnSpc>
                <a:spcPct val="98000"/>
              </a:lnSpc>
              <a:tabLst>
                <a:tab pos="174625" algn="l"/>
              </a:tabLst>
            </a:pPr>
            <a:r>
              <a:rPr sz="1700" kern="0" spc="0" dirty="0">
                <a:solidFill>
                  <a:srgbClr val="000000">
                    <a:alpha val="100000"/>
                  </a:srgbClr>
                </a:solidFill>
                <a:latin typeface="Microsoft YaHei"/>
                <a:ea typeface="Microsoft YaHei"/>
                <a:cs typeface="Microsoft YaHei"/>
              </a:rPr>
              <a:t>	</a:t>
            </a:r>
            <a:r>
              <a:rPr sz="1700" kern="0" spc="15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设备统一管理</a:t>
            </a:r>
            <a:endParaRPr sz="1700" dirty="0">
              <a:latin typeface="Microsoft YaHei"/>
              <a:ea typeface="Microsoft YaHei"/>
              <a:cs typeface="Microsoft YaHei"/>
            </a:endParaRPr>
          </a:p>
          <a:p>
            <a:pPr algn="l" rtl="0" eaLnBrk="0">
              <a:lnSpc>
                <a:spcPct val="110000"/>
              </a:lnSpc>
              <a:tabLst/>
            </a:pPr>
            <a:endParaRPr sz="1000" dirty="0">
              <a:latin typeface="Arial"/>
              <a:ea typeface="Arial"/>
              <a:cs typeface="Arial"/>
            </a:endParaRPr>
          </a:p>
          <a:p>
            <a:pPr marL="12700" algn="l" rtl="0" eaLnBrk="0">
              <a:lnSpc>
                <a:spcPct val="98000"/>
              </a:lnSpc>
              <a:spcBef>
                <a:spcPts val="521"/>
              </a:spcBef>
              <a:tabLst>
                <a:tab pos="174625" algn="l"/>
              </a:tabLst>
            </a:pPr>
            <a:r>
              <a:rPr sz="1700" kern="0" spc="0" dirty="0">
                <a:solidFill>
                  <a:srgbClr val="000000">
                    <a:alpha val="100000"/>
                  </a:srgbClr>
                </a:solidFill>
                <a:latin typeface="Microsoft YaHei"/>
                <a:ea typeface="Microsoft YaHei"/>
                <a:cs typeface="Microsoft YaHei"/>
              </a:rPr>
              <a:t>	</a:t>
            </a:r>
            <a:r>
              <a:rPr sz="1700" kern="0" spc="15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标准化行业平台</a:t>
            </a:r>
            <a:endParaRPr sz="1700" dirty="0">
              <a:latin typeface="Microsoft YaHei"/>
              <a:ea typeface="Microsoft YaHei"/>
              <a:cs typeface="Microsoft YaHei"/>
            </a:endParaRPr>
          </a:p>
          <a:p>
            <a:pPr marL="12700" algn="l" rtl="0" eaLnBrk="0">
              <a:lnSpc>
                <a:spcPts val="2323"/>
              </a:lnSpc>
              <a:spcBef>
                <a:spcPts val="1597"/>
              </a:spcBef>
              <a:tabLst>
                <a:tab pos="174625" algn="l"/>
              </a:tabLst>
            </a:pPr>
            <a:r>
              <a:rPr sz="1700" kern="0" spc="0" dirty="0">
                <a:solidFill>
                  <a:srgbClr val="000000">
                    <a:alpha val="100000"/>
                  </a:srgbClr>
                </a:solidFill>
                <a:latin typeface="Microsoft YaHei"/>
                <a:ea typeface="Microsoft YaHei"/>
                <a:cs typeface="Microsoft YaHei"/>
              </a:rPr>
              <a:t>	</a:t>
            </a:r>
            <a:r>
              <a:rPr sz="1700" kern="0" spc="200" dirty="0">
                <a:solidFill>
                  <a:srgbClr val="000000">
                    <a:alpha val="100000"/>
                  </a:srgbClr>
                </a:solidFill>
                <a:latin typeface="Microsoft YaHei"/>
                <a:ea typeface="Microsoft YaHei"/>
                <a:cs typeface="Microsoft YaHei"/>
              </a:rPr>
              <a:t>  </a:t>
            </a:r>
            <a:r>
              <a:rPr sz="1700" kern="0" spc="60" dirty="0">
                <a:solidFill>
                  <a:srgbClr val="000000">
                    <a:alpha val="100000"/>
                  </a:srgbClr>
                </a:solidFill>
                <a:latin typeface="Microsoft YaHei"/>
                <a:ea typeface="Microsoft YaHei"/>
                <a:cs typeface="Microsoft YaHei"/>
              </a:rPr>
              <a:t>7*24小时 400客服服务</a:t>
            </a:r>
            <a:endParaRPr sz="1700" dirty="0">
              <a:latin typeface="Microsoft YaHei"/>
              <a:ea typeface="Microsoft YaHei"/>
              <a:cs typeface="Microsoft YaHei"/>
            </a:endParaRPr>
          </a:p>
          <a:p>
            <a:pPr algn="l" rtl="0" eaLnBrk="0">
              <a:lnSpc>
                <a:spcPct val="104000"/>
              </a:lnSpc>
              <a:tabLst/>
            </a:pPr>
            <a:endParaRPr sz="1000" dirty="0">
              <a:latin typeface="Arial"/>
              <a:ea typeface="Arial"/>
              <a:cs typeface="Arial"/>
            </a:endParaRPr>
          </a:p>
          <a:p>
            <a:pPr marL="12700" algn="l" rtl="0" eaLnBrk="0">
              <a:lnSpc>
                <a:spcPct val="98000"/>
              </a:lnSpc>
              <a:spcBef>
                <a:spcPts val="512"/>
              </a:spcBef>
              <a:tabLst>
                <a:tab pos="174625" algn="l"/>
              </a:tabLst>
            </a:pPr>
            <a:r>
              <a:rPr sz="1700" kern="0" spc="0" dirty="0">
                <a:solidFill>
                  <a:srgbClr val="000000">
                    <a:alpha val="100000"/>
                  </a:srgbClr>
                </a:solidFill>
                <a:latin typeface="Microsoft YaHei"/>
                <a:ea typeface="Microsoft YaHei"/>
                <a:cs typeface="Microsoft YaHei"/>
              </a:rPr>
              <a:t>	</a:t>
            </a:r>
            <a:r>
              <a:rPr sz="1700" kern="0" spc="160" dirty="0">
                <a:solidFill>
                  <a:srgbClr val="000000">
                    <a:alpha val="100000"/>
                  </a:srgbClr>
                </a:solidFill>
                <a:latin typeface="Microsoft YaHei"/>
                <a:ea typeface="Microsoft YaHei"/>
                <a:cs typeface="Microsoft YaHei"/>
              </a:rPr>
              <a:t>  </a:t>
            </a:r>
            <a:r>
              <a:rPr sz="1700" kern="0" spc="60" dirty="0">
                <a:solidFill>
                  <a:srgbClr val="000000">
                    <a:alpha val="100000"/>
                  </a:srgbClr>
                </a:solidFill>
                <a:latin typeface="Microsoft YaHei"/>
                <a:ea typeface="Microsoft YaHei"/>
                <a:cs typeface="Microsoft YaHei"/>
              </a:rPr>
              <a:t>平台成熟</a:t>
            </a:r>
            <a:r>
              <a:rPr sz="1700" kern="0" spc="-220" dirty="0">
                <a:solidFill>
                  <a:srgbClr val="000000">
                    <a:alpha val="100000"/>
                  </a:srgbClr>
                </a:solidFill>
                <a:latin typeface="Microsoft YaHei"/>
                <a:ea typeface="Microsoft YaHei"/>
                <a:cs typeface="Microsoft YaHei"/>
              </a:rPr>
              <a:t> </a:t>
            </a:r>
            <a:r>
              <a:rPr sz="1700" kern="0" spc="60" dirty="0">
                <a:solidFill>
                  <a:srgbClr val="000000">
                    <a:alpha val="100000"/>
                  </a:srgbClr>
                </a:solidFill>
                <a:latin typeface="Microsoft YaHei"/>
                <a:ea typeface="Microsoft YaHei"/>
                <a:cs typeface="Microsoft YaHei"/>
              </a:rPr>
              <a:t>，稳定运行</a:t>
            </a:r>
            <a:endParaRPr sz="1700" dirty="0">
              <a:latin typeface="Microsoft YaHei"/>
              <a:ea typeface="Microsoft YaHei"/>
              <a:cs typeface="Microsoft YaHei"/>
            </a:endParaRPr>
          </a:p>
          <a:p>
            <a:pPr algn="l" rtl="0" eaLnBrk="0">
              <a:lnSpc>
                <a:spcPct val="110000"/>
              </a:lnSpc>
              <a:tabLst/>
            </a:pPr>
            <a:endParaRPr sz="1000" dirty="0">
              <a:latin typeface="Arial"/>
              <a:ea typeface="Arial"/>
              <a:cs typeface="Arial"/>
            </a:endParaRPr>
          </a:p>
          <a:p>
            <a:pPr marL="12700" algn="l" rtl="0" eaLnBrk="0">
              <a:lnSpc>
                <a:spcPct val="98000"/>
              </a:lnSpc>
              <a:spcBef>
                <a:spcPts val="521"/>
              </a:spcBef>
              <a:tabLst>
                <a:tab pos="174625" algn="l"/>
              </a:tabLst>
            </a:pPr>
            <a:r>
              <a:rPr sz="1700" kern="0" spc="0" dirty="0">
                <a:solidFill>
                  <a:srgbClr val="000000">
                    <a:alpha val="100000"/>
                  </a:srgbClr>
                </a:solidFill>
                <a:latin typeface="Microsoft YaHei"/>
                <a:ea typeface="Microsoft YaHei"/>
                <a:cs typeface="Microsoft YaHei"/>
              </a:rPr>
              <a:t>	</a:t>
            </a:r>
            <a:r>
              <a:rPr sz="1700" kern="0" spc="160" dirty="0">
                <a:solidFill>
                  <a:srgbClr val="000000">
                    <a:alpha val="100000"/>
                  </a:srgbClr>
                </a:solidFill>
                <a:latin typeface="Microsoft YaHei"/>
                <a:ea typeface="Microsoft YaHei"/>
                <a:cs typeface="Microsoft YaHei"/>
              </a:rPr>
              <a:t>  </a:t>
            </a:r>
            <a:r>
              <a:rPr sz="1700" kern="0" spc="60" dirty="0">
                <a:solidFill>
                  <a:srgbClr val="000000">
                    <a:alpha val="100000"/>
                  </a:srgbClr>
                </a:solidFill>
                <a:latin typeface="Microsoft YaHei"/>
                <a:ea typeface="Microsoft YaHei"/>
                <a:cs typeface="Microsoft YaHei"/>
              </a:rPr>
              <a:t>能力开放</a:t>
            </a:r>
            <a:r>
              <a:rPr sz="1700" kern="0" spc="-220" dirty="0">
                <a:solidFill>
                  <a:srgbClr val="000000">
                    <a:alpha val="100000"/>
                  </a:srgbClr>
                </a:solidFill>
                <a:latin typeface="Microsoft YaHei"/>
                <a:ea typeface="Microsoft YaHei"/>
                <a:cs typeface="Microsoft YaHei"/>
              </a:rPr>
              <a:t> </a:t>
            </a:r>
            <a:r>
              <a:rPr sz="1700" kern="0" spc="60" dirty="0">
                <a:solidFill>
                  <a:srgbClr val="000000">
                    <a:alpha val="100000"/>
                  </a:srgbClr>
                </a:solidFill>
                <a:latin typeface="Microsoft YaHei"/>
                <a:ea typeface="Microsoft YaHei"/>
                <a:cs typeface="Microsoft YaHei"/>
              </a:rPr>
              <a:t>，接口丰富</a:t>
            </a:r>
            <a:endParaRPr sz="1700" dirty="0">
              <a:latin typeface="Microsoft YaHei"/>
              <a:ea typeface="Microsoft YaHei"/>
              <a:cs typeface="Microsoft YaHei"/>
            </a:endParaRPr>
          </a:p>
          <a:p>
            <a:pPr algn="l" rtl="0" eaLnBrk="0">
              <a:lnSpc>
                <a:spcPct val="110000"/>
              </a:lnSpc>
              <a:tabLst/>
            </a:pPr>
            <a:endParaRPr sz="1000" dirty="0">
              <a:latin typeface="Arial"/>
              <a:ea typeface="Arial"/>
              <a:cs typeface="Arial"/>
            </a:endParaRPr>
          </a:p>
          <a:p>
            <a:pPr algn="l" rtl="0" eaLnBrk="0">
              <a:lnSpc>
                <a:spcPct val="108000"/>
              </a:lnSpc>
              <a:tabLst/>
            </a:pPr>
            <a:endParaRPr sz="400" dirty="0">
              <a:latin typeface="Arial"/>
              <a:ea typeface="Arial"/>
              <a:cs typeface="Arial"/>
            </a:endParaRPr>
          </a:p>
          <a:p>
            <a:pPr marL="12700" algn="l" rtl="0" eaLnBrk="0">
              <a:lnSpc>
                <a:spcPct val="98000"/>
              </a:lnSpc>
              <a:spcBef>
                <a:spcPts val="3"/>
              </a:spcBef>
              <a:tabLst>
                <a:tab pos="174625" algn="l"/>
              </a:tabLst>
            </a:pPr>
            <a:r>
              <a:rPr sz="1700" kern="0" spc="0" dirty="0">
                <a:solidFill>
                  <a:srgbClr val="000000">
                    <a:alpha val="100000"/>
                  </a:srgbClr>
                </a:solidFill>
                <a:latin typeface="Microsoft YaHei"/>
                <a:ea typeface="Microsoft YaHei"/>
                <a:cs typeface="Microsoft YaHei"/>
              </a:rPr>
              <a:t>	</a:t>
            </a:r>
            <a:r>
              <a:rPr sz="1700" kern="0" spc="14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物模型丰富</a:t>
            </a:r>
            <a:endParaRPr sz="1700" dirty="0">
              <a:latin typeface="Microsoft YaHei"/>
              <a:ea typeface="Microsoft YaHei"/>
              <a:cs typeface="Microsoft YaHei"/>
            </a:endParaRPr>
          </a:p>
        </p:txBody>
      </p:sp>
      <p:pic>
        <p:nvPicPr>
          <p:cNvPr id="130" name="picture 130"/>
          <p:cNvPicPr>
            <a:picLocks noChangeAspect="1"/>
          </p:cNvPicPr>
          <p:nvPr/>
        </p:nvPicPr>
        <p:blipFill>
          <a:blip r:embed="rId5"/>
          <a:stretch>
            <a:fillRect/>
          </a:stretch>
        </p:blipFill>
        <p:spPr>
          <a:xfrm rot="21600000">
            <a:off x="8505609" y="4955526"/>
            <a:ext cx="162305" cy="253288"/>
          </a:xfrm>
          <a:prstGeom prst="rect">
            <a:avLst/>
          </a:prstGeom>
        </p:spPr>
      </p:pic>
      <p:pic>
        <p:nvPicPr>
          <p:cNvPr id="132" name="picture 132"/>
          <p:cNvPicPr>
            <a:picLocks noChangeAspect="1"/>
          </p:cNvPicPr>
          <p:nvPr/>
        </p:nvPicPr>
        <p:blipFill>
          <a:blip r:embed="rId6"/>
          <a:stretch>
            <a:fillRect/>
          </a:stretch>
        </p:blipFill>
        <p:spPr>
          <a:xfrm rot="21600000">
            <a:off x="8505609" y="4467847"/>
            <a:ext cx="162305" cy="253288"/>
          </a:xfrm>
          <a:prstGeom prst="rect">
            <a:avLst/>
          </a:prstGeom>
        </p:spPr>
      </p:pic>
      <p:pic>
        <p:nvPicPr>
          <p:cNvPr id="134" name="picture 134"/>
          <p:cNvPicPr>
            <a:picLocks noChangeAspect="1"/>
          </p:cNvPicPr>
          <p:nvPr/>
        </p:nvPicPr>
        <p:blipFill>
          <a:blip r:embed="rId7"/>
          <a:stretch>
            <a:fillRect/>
          </a:stretch>
        </p:blipFill>
        <p:spPr>
          <a:xfrm rot="21600000">
            <a:off x="8505609" y="3980167"/>
            <a:ext cx="162305" cy="253288"/>
          </a:xfrm>
          <a:prstGeom prst="rect">
            <a:avLst/>
          </a:prstGeom>
        </p:spPr>
      </p:pic>
      <p:pic>
        <p:nvPicPr>
          <p:cNvPr id="136" name="picture 136"/>
          <p:cNvPicPr>
            <a:picLocks noChangeAspect="1"/>
          </p:cNvPicPr>
          <p:nvPr/>
        </p:nvPicPr>
        <p:blipFill>
          <a:blip r:embed="rId8"/>
          <a:stretch>
            <a:fillRect/>
          </a:stretch>
        </p:blipFill>
        <p:spPr>
          <a:xfrm rot="21600000">
            <a:off x="8505609" y="3492487"/>
            <a:ext cx="162305" cy="253288"/>
          </a:xfrm>
          <a:prstGeom prst="rect">
            <a:avLst/>
          </a:prstGeom>
        </p:spPr>
      </p:pic>
      <p:pic>
        <p:nvPicPr>
          <p:cNvPr id="138" name="picture 138"/>
          <p:cNvPicPr>
            <a:picLocks noChangeAspect="1"/>
          </p:cNvPicPr>
          <p:nvPr/>
        </p:nvPicPr>
        <p:blipFill>
          <a:blip r:embed="rId9"/>
          <a:stretch>
            <a:fillRect/>
          </a:stretch>
        </p:blipFill>
        <p:spPr>
          <a:xfrm rot="21600000">
            <a:off x="8505609" y="3004807"/>
            <a:ext cx="162305" cy="253288"/>
          </a:xfrm>
          <a:prstGeom prst="rect">
            <a:avLst/>
          </a:prstGeom>
        </p:spPr>
      </p:pic>
      <p:pic>
        <p:nvPicPr>
          <p:cNvPr id="140" name="picture 140"/>
          <p:cNvPicPr>
            <a:picLocks noChangeAspect="1"/>
          </p:cNvPicPr>
          <p:nvPr/>
        </p:nvPicPr>
        <p:blipFill>
          <a:blip r:embed="rId10"/>
          <a:stretch>
            <a:fillRect/>
          </a:stretch>
        </p:blipFill>
        <p:spPr>
          <a:xfrm rot="21600000">
            <a:off x="8505609" y="2517127"/>
            <a:ext cx="162305" cy="253288"/>
          </a:xfrm>
          <a:prstGeom prst="rect">
            <a:avLst/>
          </a:prstGeom>
        </p:spPr>
      </p:pic>
      <p:sp>
        <p:nvSpPr>
          <p:cNvPr id="142" name="textbox 142"/>
          <p:cNvSpPr/>
          <p:nvPr/>
        </p:nvSpPr>
        <p:spPr>
          <a:xfrm>
            <a:off x="4520412" y="2513800"/>
            <a:ext cx="3051175" cy="1152525"/>
          </a:xfrm>
          <a:prstGeom prst="rect">
            <a:avLst/>
          </a:prstGeom>
          <a:noFill/>
          <a:ln w="0" cap="flat">
            <a:noFill/>
            <a:prstDash val="solid"/>
            <a:miter lim="0"/>
          </a:ln>
        </p:spPr>
        <p:txBody>
          <a:bodyPr vert="horz" wrap="square" lIns="0" tIns="0" rIns="0" bIns="0"/>
          <a:lstStyle/>
          <a:p>
            <a:pPr algn="l" rtl="0" eaLnBrk="0">
              <a:lnSpc>
                <a:spcPct val="100000"/>
              </a:lnSpc>
              <a:tabLst/>
            </a:pPr>
            <a:endParaRPr sz="100" dirty="0">
              <a:latin typeface="Arial"/>
              <a:ea typeface="Arial"/>
              <a:cs typeface="Arial"/>
            </a:endParaRPr>
          </a:p>
          <a:p>
            <a:pPr marL="344170" indent="-332104" algn="l" rtl="0" eaLnBrk="0">
              <a:lnSpc>
                <a:spcPct val="127000"/>
              </a:lnSpc>
              <a:tabLst/>
            </a:pPr>
            <a:r>
              <a:rPr sz="1700" kern="0" spc="30" dirty="0">
                <a:solidFill>
                  <a:srgbClr val="000000">
                    <a:alpha val="100000"/>
                  </a:srgbClr>
                </a:solidFill>
                <a:latin typeface="Arial"/>
                <a:ea typeface="Arial"/>
                <a:cs typeface="Arial"/>
              </a:rPr>
              <a:t>•    </a:t>
            </a:r>
            <a:r>
              <a:rPr sz="1700" kern="0" spc="30" dirty="0">
                <a:solidFill>
                  <a:srgbClr val="000000">
                    <a:alpha val="100000"/>
                  </a:srgbClr>
                </a:solidFill>
                <a:latin typeface="Microsoft YaHei"/>
                <a:ea typeface="Microsoft YaHei"/>
                <a:cs typeface="Microsoft YaHei"/>
              </a:rPr>
              <a:t>燃气表厂家</a:t>
            </a:r>
            <a:r>
              <a:rPr sz="1700" kern="0" spc="-140" dirty="0">
                <a:solidFill>
                  <a:srgbClr val="000000">
                    <a:alpha val="100000"/>
                  </a:srgbClr>
                </a:solidFill>
                <a:latin typeface="Microsoft YaHei"/>
                <a:ea typeface="Microsoft YaHei"/>
                <a:cs typeface="Microsoft YaHei"/>
              </a:rPr>
              <a:t> </a:t>
            </a:r>
            <a:r>
              <a:rPr sz="1700" kern="0" spc="30" dirty="0">
                <a:solidFill>
                  <a:srgbClr val="000000">
                    <a:alpha val="100000"/>
                  </a:srgbClr>
                </a:solidFill>
                <a:latin typeface="Microsoft YaHei"/>
                <a:ea typeface="Microsoft YaHei"/>
                <a:cs typeface="Microsoft YaHei"/>
              </a:rPr>
              <a:t>：金卡、</a:t>
            </a:r>
            <a:r>
              <a:rPr sz="1700" kern="0" spc="-380" dirty="0">
                <a:solidFill>
                  <a:srgbClr val="000000">
                    <a:alpha val="100000"/>
                  </a:srgbClr>
                </a:solidFill>
                <a:latin typeface="Microsoft YaHei"/>
                <a:ea typeface="Microsoft YaHei"/>
                <a:cs typeface="Microsoft YaHei"/>
              </a:rPr>
              <a:t> </a:t>
            </a:r>
            <a:r>
              <a:rPr sz="1700" kern="0" spc="30" dirty="0">
                <a:solidFill>
                  <a:srgbClr val="000000">
                    <a:alpha val="100000"/>
                  </a:srgbClr>
                </a:solidFill>
                <a:latin typeface="Microsoft YaHei"/>
                <a:ea typeface="Microsoft YaHei"/>
                <a:cs typeface="Microsoft YaHei"/>
              </a:rPr>
              <a:t>威星、</a:t>
            </a:r>
            <a:r>
              <a:rPr sz="1700" kern="0" spc="80" dirty="0">
                <a:solidFill>
                  <a:srgbClr val="000000">
                    <a:alpha val="100000"/>
                  </a:srgbClr>
                </a:solidFill>
                <a:latin typeface="Microsoft YaHei"/>
                <a:ea typeface="Microsoft YaHei"/>
                <a:cs typeface="Microsoft YaHei"/>
              </a:rPr>
              <a:t>先锋</a:t>
            </a:r>
            <a:endParaRPr sz="1700" dirty="0">
              <a:latin typeface="Microsoft YaHei"/>
              <a:ea typeface="Microsoft YaHei"/>
              <a:cs typeface="Microsoft YaHei"/>
            </a:endParaRPr>
          </a:p>
          <a:p>
            <a:pPr algn="l" rtl="0" eaLnBrk="0">
              <a:lnSpc>
                <a:spcPct val="113000"/>
              </a:lnSpc>
              <a:tabLst/>
            </a:pPr>
            <a:endParaRPr sz="1000" dirty="0">
              <a:latin typeface="Arial"/>
              <a:ea typeface="Arial"/>
              <a:cs typeface="Arial"/>
            </a:endParaRPr>
          </a:p>
          <a:p>
            <a:pPr algn="l" rtl="0" eaLnBrk="0">
              <a:lnSpc>
                <a:spcPct val="108000"/>
              </a:lnSpc>
              <a:tabLst/>
            </a:pPr>
            <a:endParaRPr sz="400" dirty="0">
              <a:latin typeface="Arial"/>
              <a:ea typeface="Arial"/>
              <a:cs typeface="Arial"/>
            </a:endParaRPr>
          </a:p>
          <a:p>
            <a:pPr marL="12700" algn="l" rtl="0" eaLnBrk="0">
              <a:lnSpc>
                <a:spcPct val="88000"/>
              </a:lnSpc>
              <a:spcBef>
                <a:spcPts val="3"/>
              </a:spcBef>
              <a:tabLst/>
            </a:pPr>
            <a:r>
              <a:rPr sz="1700" kern="0" spc="30" dirty="0">
                <a:solidFill>
                  <a:srgbClr val="000000">
                    <a:alpha val="100000"/>
                  </a:srgbClr>
                </a:solidFill>
                <a:latin typeface="Arial"/>
                <a:ea typeface="Arial"/>
                <a:cs typeface="Arial"/>
              </a:rPr>
              <a:t>•</a:t>
            </a:r>
            <a:r>
              <a:rPr sz="1700" kern="0" spc="50" dirty="0">
                <a:solidFill>
                  <a:srgbClr val="000000">
                    <a:alpha val="100000"/>
                  </a:srgbClr>
                </a:solidFill>
                <a:latin typeface="Arial"/>
                <a:ea typeface="Arial"/>
                <a:cs typeface="Arial"/>
              </a:rPr>
              <a:t>    </a:t>
            </a:r>
            <a:r>
              <a:rPr sz="1700" kern="0" spc="30" dirty="0">
                <a:solidFill>
                  <a:srgbClr val="000000">
                    <a:alpha val="100000"/>
                  </a:srgbClr>
                </a:solidFill>
                <a:latin typeface="Microsoft YaHei"/>
                <a:ea typeface="Microsoft YaHei"/>
                <a:cs typeface="Microsoft YaHei"/>
              </a:rPr>
              <a:t>水表厂家</a:t>
            </a:r>
            <a:r>
              <a:rPr sz="1700" kern="0" spc="-160" dirty="0">
                <a:solidFill>
                  <a:srgbClr val="000000">
                    <a:alpha val="100000"/>
                  </a:srgbClr>
                </a:solidFill>
                <a:latin typeface="Microsoft YaHei"/>
                <a:ea typeface="Microsoft YaHei"/>
                <a:cs typeface="Microsoft YaHei"/>
              </a:rPr>
              <a:t> </a:t>
            </a:r>
            <a:r>
              <a:rPr sz="1700" kern="0" spc="30" dirty="0">
                <a:solidFill>
                  <a:srgbClr val="000000">
                    <a:alpha val="100000"/>
                  </a:srgbClr>
                </a:solidFill>
                <a:latin typeface="Microsoft YaHei"/>
                <a:ea typeface="Microsoft YaHei"/>
                <a:cs typeface="Microsoft YaHei"/>
              </a:rPr>
              <a:t>：汇中</a:t>
            </a:r>
            <a:endParaRPr sz="1700" dirty="0">
              <a:latin typeface="Microsoft YaHei"/>
              <a:ea typeface="Microsoft YaHei"/>
              <a:cs typeface="Microsoft YaHei"/>
            </a:endParaRPr>
          </a:p>
        </p:txBody>
      </p:sp>
      <p:sp>
        <p:nvSpPr>
          <p:cNvPr id="144" name="textbox 144"/>
          <p:cNvSpPr/>
          <p:nvPr/>
        </p:nvSpPr>
        <p:spPr>
          <a:xfrm>
            <a:off x="563778" y="2515857"/>
            <a:ext cx="2638425" cy="1226819"/>
          </a:xfrm>
          <a:prstGeom prst="rect">
            <a:avLst/>
          </a:prstGeom>
          <a:noFill/>
          <a:ln w="0" cap="flat">
            <a:noFill/>
            <a:prstDash val="solid"/>
            <a:miter lim="0"/>
          </a:ln>
        </p:spPr>
        <p:txBody>
          <a:bodyPr vert="horz" wrap="square" lIns="0" tIns="0" rIns="0" bIns="0"/>
          <a:lstStyle/>
          <a:p>
            <a:pPr algn="l" rtl="0" eaLnBrk="0">
              <a:lnSpc>
                <a:spcPct val="77764"/>
              </a:lnSpc>
              <a:tabLst/>
            </a:pPr>
            <a:endParaRPr sz="100" dirty="0">
              <a:latin typeface="Arial"/>
              <a:ea typeface="Arial"/>
              <a:cs typeface="Arial"/>
            </a:endParaRPr>
          </a:p>
          <a:p>
            <a:pPr marL="12700" algn="l" rtl="0" eaLnBrk="0">
              <a:lnSpc>
                <a:spcPct val="88000"/>
              </a:lnSpc>
              <a:tabLst>
                <a:tab pos="175260" algn="l"/>
              </a:tabLst>
            </a:pPr>
            <a:r>
              <a:rPr sz="1700" kern="0" spc="0" dirty="0">
                <a:solidFill>
                  <a:srgbClr val="000000">
                    <a:alpha val="100000"/>
                  </a:srgbClr>
                </a:solidFill>
                <a:latin typeface="Microsoft YaHei"/>
                <a:ea typeface="Microsoft YaHei"/>
                <a:cs typeface="Microsoft YaHei"/>
              </a:rPr>
              <a:t>	</a:t>
            </a:r>
            <a:r>
              <a:rPr sz="1700" kern="0" spc="220" dirty="0">
                <a:solidFill>
                  <a:srgbClr val="000000">
                    <a:alpha val="100000"/>
                  </a:srgbClr>
                </a:solidFill>
                <a:latin typeface="Microsoft YaHei"/>
                <a:ea typeface="Microsoft YaHei"/>
                <a:cs typeface="Microsoft YaHei"/>
              </a:rPr>
              <a:t>  </a:t>
            </a:r>
            <a:r>
              <a:rPr sz="1700" kern="0" spc="100" dirty="0">
                <a:solidFill>
                  <a:srgbClr val="000000">
                    <a:alpha val="100000"/>
                  </a:srgbClr>
                </a:solidFill>
                <a:latin typeface="Microsoft YaHei"/>
                <a:ea typeface="Microsoft YaHei"/>
                <a:cs typeface="Microsoft YaHei"/>
              </a:rPr>
              <a:t>已对接使用</a:t>
            </a:r>
            <a:r>
              <a:rPr sz="1700" kern="0" spc="0" dirty="0">
                <a:solidFill>
                  <a:srgbClr val="000000">
                    <a:alpha val="100000"/>
                  </a:srgbClr>
                </a:solidFill>
                <a:latin typeface="Microsoft YaHei"/>
                <a:ea typeface="Microsoft YaHei"/>
                <a:cs typeface="Microsoft YaHei"/>
              </a:rPr>
              <a:t>AEP</a:t>
            </a:r>
            <a:endParaRPr sz="1700" dirty="0">
              <a:latin typeface="Microsoft YaHei"/>
              <a:ea typeface="Microsoft YaHei"/>
              <a:cs typeface="Microsoft YaHei"/>
            </a:endParaRPr>
          </a:p>
          <a:p>
            <a:pPr algn="l" rtl="0" eaLnBrk="0">
              <a:lnSpc>
                <a:spcPct val="100000"/>
              </a:lnSpc>
              <a:tabLst/>
            </a:pPr>
            <a:endParaRPr sz="1000" dirty="0">
              <a:latin typeface="Arial"/>
              <a:ea typeface="Arial"/>
              <a:cs typeface="Arial"/>
            </a:endParaRPr>
          </a:p>
          <a:p>
            <a:pPr marL="12700" algn="l" rtl="0" eaLnBrk="0">
              <a:lnSpc>
                <a:spcPts val="2323"/>
              </a:lnSpc>
              <a:spcBef>
                <a:spcPts val="513"/>
              </a:spcBef>
              <a:tabLst>
                <a:tab pos="175260" algn="l"/>
              </a:tabLst>
            </a:pPr>
            <a:r>
              <a:rPr sz="1700" kern="0" spc="0" dirty="0">
                <a:solidFill>
                  <a:srgbClr val="000000">
                    <a:alpha val="100000"/>
                  </a:srgbClr>
                </a:solidFill>
                <a:latin typeface="Microsoft YaHei"/>
                <a:ea typeface="Microsoft YaHei"/>
                <a:cs typeface="Microsoft YaHei"/>
              </a:rPr>
              <a:t>	</a:t>
            </a:r>
            <a:r>
              <a:rPr sz="1700" kern="0" spc="16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设备/卡无法配置直</a:t>
            </a:r>
            <a:r>
              <a:rPr sz="1700" kern="0" spc="80" dirty="0">
                <a:solidFill>
                  <a:srgbClr val="000000">
                    <a:alpha val="100000"/>
                  </a:srgbClr>
                </a:solidFill>
                <a:latin typeface="Microsoft YaHei"/>
                <a:ea typeface="Microsoft YaHei"/>
                <a:cs typeface="Microsoft YaHei"/>
              </a:rPr>
              <a:t>连</a:t>
            </a:r>
            <a:endParaRPr sz="1700" dirty="0">
              <a:latin typeface="Microsoft YaHei"/>
              <a:ea typeface="Microsoft YaHei"/>
              <a:cs typeface="Microsoft YaHei"/>
            </a:endParaRPr>
          </a:p>
          <a:p>
            <a:pPr algn="l" rtl="0" eaLnBrk="0">
              <a:lnSpc>
                <a:spcPct val="110000"/>
              </a:lnSpc>
              <a:tabLst/>
            </a:pPr>
            <a:endParaRPr sz="1000" dirty="0">
              <a:latin typeface="Arial"/>
              <a:ea typeface="Arial"/>
              <a:cs typeface="Arial"/>
            </a:endParaRPr>
          </a:p>
          <a:p>
            <a:pPr algn="l" rtl="0" eaLnBrk="0">
              <a:lnSpc>
                <a:spcPct val="108000"/>
              </a:lnSpc>
              <a:tabLst/>
            </a:pPr>
            <a:endParaRPr sz="400" dirty="0">
              <a:latin typeface="Arial"/>
              <a:ea typeface="Arial"/>
              <a:cs typeface="Arial"/>
            </a:endParaRPr>
          </a:p>
          <a:p>
            <a:pPr marL="12700" algn="l" rtl="0" eaLnBrk="0">
              <a:lnSpc>
                <a:spcPct val="88000"/>
              </a:lnSpc>
              <a:tabLst>
                <a:tab pos="175260" algn="l"/>
              </a:tabLst>
            </a:pPr>
            <a:r>
              <a:rPr sz="1700" kern="0" spc="0" dirty="0">
                <a:solidFill>
                  <a:srgbClr val="000000">
                    <a:alpha val="100000"/>
                  </a:srgbClr>
                </a:solidFill>
                <a:latin typeface="Microsoft YaHei"/>
                <a:ea typeface="Microsoft YaHei"/>
                <a:cs typeface="Microsoft YaHei"/>
              </a:rPr>
              <a:t>	</a:t>
            </a:r>
            <a:r>
              <a:rPr sz="1700" kern="0" spc="18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设备量大且分布范围广</a:t>
            </a:r>
            <a:endParaRPr sz="1700" dirty="0">
              <a:latin typeface="Microsoft YaHei"/>
              <a:ea typeface="Microsoft YaHei"/>
              <a:cs typeface="Microsoft YaHei"/>
            </a:endParaRPr>
          </a:p>
        </p:txBody>
      </p:sp>
      <p:pic>
        <p:nvPicPr>
          <p:cNvPr id="146" name="picture 146"/>
          <p:cNvPicPr>
            <a:picLocks noChangeAspect="1"/>
          </p:cNvPicPr>
          <p:nvPr/>
        </p:nvPicPr>
        <p:blipFill>
          <a:blip r:embed="rId11"/>
          <a:stretch>
            <a:fillRect/>
          </a:stretch>
        </p:blipFill>
        <p:spPr>
          <a:xfrm rot="21600000">
            <a:off x="576478" y="3520147"/>
            <a:ext cx="162991" cy="149504"/>
          </a:xfrm>
          <a:prstGeom prst="rect">
            <a:avLst/>
          </a:prstGeom>
        </p:spPr>
      </p:pic>
      <p:pic>
        <p:nvPicPr>
          <p:cNvPr id="148" name="picture 148"/>
          <p:cNvPicPr>
            <a:picLocks noChangeAspect="1"/>
          </p:cNvPicPr>
          <p:nvPr/>
        </p:nvPicPr>
        <p:blipFill>
          <a:blip r:embed="rId12"/>
          <a:stretch>
            <a:fillRect/>
          </a:stretch>
        </p:blipFill>
        <p:spPr>
          <a:xfrm rot="21600000">
            <a:off x="576478" y="3032468"/>
            <a:ext cx="162991" cy="149504"/>
          </a:xfrm>
          <a:prstGeom prst="rect">
            <a:avLst/>
          </a:prstGeom>
        </p:spPr>
      </p:pic>
      <p:pic>
        <p:nvPicPr>
          <p:cNvPr id="150" name="picture 150"/>
          <p:cNvPicPr>
            <a:picLocks noChangeAspect="1"/>
          </p:cNvPicPr>
          <p:nvPr/>
        </p:nvPicPr>
        <p:blipFill>
          <a:blip r:embed="rId13"/>
          <a:stretch>
            <a:fillRect/>
          </a:stretch>
        </p:blipFill>
        <p:spPr>
          <a:xfrm rot="21600000">
            <a:off x="576478" y="2544788"/>
            <a:ext cx="162991" cy="149504"/>
          </a:xfrm>
          <a:prstGeom prst="rect">
            <a:avLst/>
          </a:prstGeom>
        </p:spPr>
      </p:pic>
      <p:sp>
        <p:nvSpPr>
          <p:cNvPr id="152" name="textbox 152"/>
          <p:cNvSpPr/>
          <p:nvPr/>
        </p:nvSpPr>
        <p:spPr>
          <a:xfrm>
            <a:off x="418591" y="262991"/>
            <a:ext cx="3250564" cy="42799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3165"/>
              </a:lnSpc>
              <a:tabLst/>
            </a:pPr>
            <a:r>
              <a:rPr sz="2300" b="1" kern="0" spc="90" dirty="0">
                <a:solidFill>
                  <a:srgbClr val="C00000">
                    <a:alpha val="100000"/>
                  </a:srgbClr>
                </a:solidFill>
                <a:latin typeface="Microsoft YaHei"/>
                <a:ea typeface="Microsoft YaHei"/>
                <a:cs typeface="Microsoft YaHei"/>
              </a:rPr>
              <a:t>方案2：</a:t>
            </a:r>
            <a:r>
              <a:rPr sz="2300" b="1" kern="0" spc="-500" dirty="0">
                <a:solidFill>
                  <a:srgbClr val="C00000">
                    <a:alpha val="100000"/>
                  </a:srgbClr>
                </a:solidFill>
                <a:latin typeface="Microsoft YaHei"/>
                <a:ea typeface="Microsoft YaHei"/>
                <a:cs typeface="Microsoft YaHei"/>
              </a:rPr>
              <a:t> </a:t>
            </a:r>
            <a:r>
              <a:rPr sz="2300" b="1" kern="0" spc="90" dirty="0">
                <a:solidFill>
                  <a:srgbClr val="C00000">
                    <a:alpha val="100000"/>
                  </a:srgbClr>
                </a:solidFill>
                <a:latin typeface="Microsoft YaHei"/>
                <a:ea typeface="Microsoft YaHei"/>
                <a:cs typeface="Microsoft YaHei"/>
              </a:rPr>
              <a:t>迁移至</a:t>
            </a:r>
            <a:r>
              <a:rPr sz="2300" b="1" kern="0" spc="0" dirty="0">
                <a:solidFill>
                  <a:srgbClr val="C00000">
                    <a:alpha val="100000"/>
                  </a:srgbClr>
                </a:solidFill>
                <a:latin typeface="Microsoft YaHei"/>
                <a:ea typeface="Microsoft YaHei"/>
                <a:cs typeface="Microsoft YaHei"/>
              </a:rPr>
              <a:t>AEP</a:t>
            </a:r>
            <a:r>
              <a:rPr sz="2300" b="1" kern="0" spc="90" dirty="0">
                <a:solidFill>
                  <a:srgbClr val="C00000">
                    <a:alpha val="100000"/>
                  </a:srgbClr>
                </a:solidFill>
                <a:latin typeface="Microsoft YaHei"/>
                <a:ea typeface="Microsoft YaHei"/>
                <a:cs typeface="Microsoft YaHei"/>
              </a:rPr>
              <a:t>方案</a:t>
            </a:r>
            <a:endParaRPr sz="2300" dirty="0">
              <a:latin typeface="Microsoft YaHei"/>
              <a:ea typeface="Microsoft YaHei"/>
              <a:cs typeface="Microsoft YaHei"/>
            </a:endParaRPr>
          </a:p>
        </p:txBody>
      </p:sp>
      <p:pic>
        <p:nvPicPr>
          <p:cNvPr id="154" name="picture 154"/>
          <p:cNvPicPr>
            <a:picLocks noChangeAspect="1"/>
          </p:cNvPicPr>
          <p:nvPr/>
        </p:nvPicPr>
        <p:blipFill>
          <a:blip r:embed="rId14"/>
          <a:stretch>
            <a:fillRect/>
          </a:stretch>
        </p:blipFill>
        <p:spPr>
          <a:xfrm rot="21600000">
            <a:off x="335279" y="807720"/>
            <a:ext cx="11519916" cy="67055"/>
          </a:xfrm>
          <a:prstGeom prst="rect">
            <a:avLst/>
          </a:prstGeom>
        </p:spPr>
      </p:pic>
      <p:pic>
        <p:nvPicPr>
          <p:cNvPr id="156" name="picture 156"/>
          <p:cNvPicPr>
            <a:picLocks noChangeAspect="1"/>
          </p:cNvPicPr>
          <p:nvPr/>
        </p:nvPicPr>
        <p:blipFill>
          <a:blip r:embed="rId15"/>
          <a:stretch>
            <a:fillRect/>
          </a:stretch>
        </p:blipFill>
        <p:spPr>
          <a:xfrm rot="21600000">
            <a:off x="11126046" y="215885"/>
            <a:ext cx="721486" cy="526694"/>
          </a:xfrm>
          <a:prstGeom prst="rect">
            <a:avLst/>
          </a:prstGeom>
        </p:spPr>
      </p:pic>
      <p:sp>
        <p:nvSpPr>
          <p:cNvPr id="158" name="textbox 158"/>
          <p:cNvSpPr/>
          <p:nvPr/>
        </p:nvSpPr>
        <p:spPr>
          <a:xfrm>
            <a:off x="9286061" y="1637144"/>
            <a:ext cx="1223010" cy="332104"/>
          </a:xfrm>
          <a:prstGeom prst="rect">
            <a:avLst/>
          </a:prstGeom>
          <a:noFill/>
          <a:ln w="0" cap="flat">
            <a:noFill/>
            <a:prstDash val="solid"/>
            <a:miter lim="0"/>
          </a:ln>
        </p:spPr>
        <p:txBody>
          <a:bodyPr vert="horz" wrap="square" lIns="0" tIns="0" rIns="0" bIns="0"/>
          <a:lstStyle/>
          <a:p>
            <a:pPr algn="l" rtl="0" eaLnBrk="0">
              <a:lnSpc>
                <a:spcPct val="94821"/>
              </a:lnSpc>
              <a:tabLst/>
            </a:pPr>
            <a:endParaRPr sz="100" dirty="0">
              <a:latin typeface="Arial"/>
              <a:ea typeface="Arial"/>
              <a:cs typeface="Arial"/>
            </a:endParaRPr>
          </a:p>
          <a:p>
            <a:pPr marL="12700" algn="l" rtl="0" eaLnBrk="0">
              <a:lnSpc>
                <a:spcPct val="87000"/>
              </a:lnSpc>
              <a:tabLst/>
            </a:pPr>
            <a:r>
              <a:rPr sz="2300" b="1" kern="0" spc="50" dirty="0">
                <a:solidFill>
                  <a:srgbClr val="C00000">
                    <a:alpha val="100000"/>
                  </a:srgbClr>
                </a:solidFill>
                <a:latin typeface="Microsoft YaHei"/>
                <a:ea typeface="Microsoft YaHei"/>
                <a:cs typeface="Microsoft YaHei"/>
              </a:rPr>
              <a:t>方案优势</a:t>
            </a:r>
            <a:endParaRPr sz="2300" dirty="0">
              <a:latin typeface="Microsoft YaHei"/>
              <a:ea typeface="Microsoft YaHei"/>
              <a:cs typeface="Microsoft YaHei"/>
            </a:endParaRPr>
          </a:p>
        </p:txBody>
      </p:sp>
      <p:sp>
        <p:nvSpPr>
          <p:cNvPr id="160" name="textbox 160"/>
          <p:cNvSpPr/>
          <p:nvPr/>
        </p:nvSpPr>
        <p:spPr>
          <a:xfrm>
            <a:off x="5353176" y="1621751"/>
            <a:ext cx="1221739" cy="331470"/>
          </a:xfrm>
          <a:prstGeom prst="rect">
            <a:avLst/>
          </a:prstGeom>
          <a:noFill/>
          <a:ln w="0" cap="flat">
            <a:noFill/>
            <a:prstDash val="solid"/>
            <a:miter lim="0"/>
          </a:ln>
        </p:spPr>
        <p:txBody>
          <a:bodyPr vert="horz" wrap="square" lIns="0" tIns="0" rIns="0" bIns="0"/>
          <a:lstStyle/>
          <a:p>
            <a:pPr algn="l" rtl="0" eaLnBrk="0">
              <a:lnSpc>
                <a:spcPct val="86820"/>
              </a:lnSpc>
              <a:tabLst/>
            </a:pPr>
            <a:endParaRPr sz="100" dirty="0">
              <a:latin typeface="Arial"/>
              <a:ea typeface="Arial"/>
              <a:cs typeface="Arial"/>
            </a:endParaRPr>
          </a:p>
          <a:p>
            <a:pPr marL="12700" algn="l" rtl="0" eaLnBrk="0">
              <a:lnSpc>
                <a:spcPct val="87000"/>
              </a:lnSpc>
              <a:tabLst/>
            </a:pPr>
            <a:r>
              <a:rPr sz="2300" b="1" kern="0" spc="50" dirty="0">
                <a:solidFill>
                  <a:srgbClr val="C00000">
                    <a:alpha val="100000"/>
                  </a:srgbClr>
                </a:solidFill>
                <a:latin typeface="Microsoft YaHei"/>
                <a:ea typeface="Microsoft YaHei"/>
                <a:cs typeface="Microsoft YaHei"/>
              </a:rPr>
              <a:t>典型客户</a:t>
            </a:r>
            <a:endParaRPr sz="2300" dirty="0">
              <a:latin typeface="Microsoft YaHei"/>
              <a:ea typeface="Microsoft YaHei"/>
              <a:cs typeface="Microsoft YaHei"/>
            </a:endParaRPr>
          </a:p>
        </p:txBody>
      </p:sp>
      <p:sp>
        <p:nvSpPr>
          <p:cNvPr id="162" name="textbox 162"/>
          <p:cNvSpPr/>
          <p:nvPr/>
        </p:nvSpPr>
        <p:spPr>
          <a:xfrm>
            <a:off x="1539430" y="1622361"/>
            <a:ext cx="1220469" cy="332104"/>
          </a:xfrm>
          <a:prstGeom prst="rect">
            <a:avLst/>
          </a:prstGeom>
          <a:noFill/>
          <a:ln w="0" cap="flat">
            <a:noFill/>
            <a:prstDash val="solid"/>
            <a:miter lim="0"/>
          </a:ln>
        </p:spPr>
        <p:txBody>
          <a:bodyPr vert="horz" wrap="square" lIns="0" tIns="0" rIns="0" bIns="0"/>
          <a:lstStyle/>
          <a:p>
            <a:pPr algn="l" rtl="0" eaLnBrk="0">
              <a:lnSpc>
                <a:spcPct val="94288"/>
              </a:lnSpc>
              <a:tabLst/>
            </a:pPr>
            <a:endParaRPr sz="100" dirty="0">
              <a:latin typeface="Arial"/>
              <a:ea typeface="Arial"/>
              <a:cs typeface="Arial"/>
            </a:endParaRPr>
          </a:p>
          <a:p>
            <a:pPr marL="12700" algn="l" rtl="0" eaLnBrk="0">
              <a:lnSpc>
                <a:spcPct val="87000"/>
              </a:lnSpc>
              <a:tabLst/>
            </a:pPr>
            <a:r>
              <a:rPr sz="2300" b="1" kern="0" spc="40" dirty="0">
                <a:solidFill>
                  <a:srgbClr val="C00000">
                    <a:alpha val="100000"/>
                  </a:srgbClr>
                </a:solidFill>
                <a:latin typeface="Microsoft YaHei"/>
                <a:ea typeface="Microsoft YaHei"/>
                <a:cs typeface="Microsoft YaHei"/>
              </a:rPr>
              <a:t>适配用户</a:t>
            </a:r>
            <a:endParaRPr sz="2300" dirty="0">
              <a:latin typeface="Microsoft YaHei"/>
              <a:ea typeface="Microsoft YaHei"/>
              <a:cs typeface="Microsoft YaHei"/>
            </a:endParaRPr>
          </a:p>
        </p:txBody>
      </p:sp>
      <p:sp>
        <p:nvSpPr>
          <p:cNvPr id="164" name="textbox 164"/>
          <p:cNvSpPr/>
          <p:nvPr/>
        </p:nvSpPr>
        <p:spPr>
          <a:xfrm>
            <a:off x="11658894" y="6462377"/>
            <a:ext cx="120650"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10" dirty="0">
                <a:solidFill>
                  <a:srgbClr val="B1B1B1">
                    <a:alpha val="100000"/>
                  </a:srgbClr>
                </a:solidFill>
                <a:latin typeface="DengXian"/>
                <a:ea typeface="DengXian"/>
                <a:cs typeface="DengXian"/>
              </a:rPr>
              <a:t>6</a:t>
            </a:r>
            <a:endParaRPr sz="1500" dirty="0">
              <a:latin typeface="DengXian"/>
              <a:ea typeface="DengXian"/>
              <a:cs typeface="DengXian"/>
            </a:endParaRPr>
          </a:p>
        </p:txBody>
      </p:sp>
      <p:pic>
        <p:nvPicPr>
          <p:cNvPr id="166" name="picture 166"/>
          <p:cNvPicPr>
            <a:picLocks noChangeAspect="1"/>
          </p:cNvPicPr>
          <p:nvPr/>
        </p:nvPicPr>
        <p:blipFill>
          <a:blip r:embed="rId16"/>
          <a:stretch>
            <a:fillRect/>
          </a:stretch>
        </p:blipFill>
        <p:spPr>
          <a:xfrm rot="21600000">
            <a:off x="680935" y="2146007"/>
            <a:ext cx="2699994" cy="7620"/>
          </a:xfrm>
          <a:prstGeom prst="rect">
            <a:avLst/>
          </a:prstGeom>
        </p:spPr>
      </p:pic>
      <p:pic>
        <p:nvPicPr>
          <p:cNvPr id="168" name="picture 168"/>
          <p:cNvPicPr>
            <a:picLocks noChangeAspect="1"/>
          </p:cNvPicPr>
          <p:nvPr/>
        </p:nvPicPr>
        <p:blipFill>
          <a:blip r:embed="rId17"/>
          <a:stretch>
            <a:fillRect/>
          </a:stretch>
        </p:blipFill>
        <p:spPr>
          <a:xfrm rot="21600000">
            <a:off x="4663770" y="2146007"/>
            <a:ext cx="2699994" cy="7620"/>
          </a:xfrm>
          <a:prstGeom prst="rect">
            <a:avLst/>
          </a:prstGeom>
        </p:spPr>
      </p:pic>
      <p:pic>
        <p:nvPicPr>
          <p:cNvPr id="170" name="picture 170"/>
          <p:cNvPicPr>
            <a:picLocks noChangeAspect="1"/>
          </p:cNvPicPr>
          <p:nvPr/>
        </p:nvPicPr>
        <p:blipFill>
          <a:blip r:embed="rId18"/>
          <a:stretch>
            <a:fillRect/>
          </a:stretch>
        </p:blipFill>
        <p:spPr>
          <a:xfrm rot="21600000">
            <a:off x="8573313" y="2149246"/>
            <a:ext cx="2699994" cy="76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picture 172"/>
          <p:cNvPicPr>
            <a:picLocks noChangeAspect="1"/>
          </p:cNvPicPr>
          <p:nvPr/>
        </p:nvPicPr>
        <p:blipFill>
          <a:blip r:embed="rId2"/>
          <a:stretch>
            <a:fillRect/>
          </a:stretch>
        </p:blipFill>
        <p:spPr>
          <a:xfrm rot="21600000">
            <a:off x="4164126" y="1381252"/>
            <a:ext cx="3576346" cy="4737811"/>
          </a:xfrm>
          <a:prstGeom prst="rect">
            <a:avLst/>
          </a:prstGeom>
        </p:spPr>
      </p:pic>
      <p:grpSp>
        <p:nvGrpSpPr>
          <p:cNvPr id="8" name="group 8"/>
          <p:cNvGrpSpPr/>
          <p:nvPr/>
        </p:nvGrpSpPr>
        <p:grpSpPr>
          <a:xfrm rot="21600000">
            <a:off x="8104631" y="1388363"/>
            <a:ext cx="3563111" cy="4724400"/>
            <a:chOff x="0" y="0"/>
            <a:chExt cx="3563111" cy="4724400"/>
          </a:xfrm>
        </p:grpSpPr>
        <p:pic>
          <p:nvPicPr>
            <p:cNvPr id="174" name="picture 174"/>
            <p:cNvPicPr>
              <a:picLocks noChangeAspect="1"/>
            </p:cNvPicPr>
            <p:nvPr/>
          </p:nvPicPr>
          <p:blipFill>
            <a:blip r:embed="rId3"/>
            <a:stretch>
              <a:fillRect/>
            </a:stretch>
          </p:blipFill>
          <p:spPr>
            <a:xfrm rot="21600000">
              <a:off x="0" y="0"/>
              <a:ext cx="3563111" cy="4724400"/>
            </a:xfrm>
            <a:prstGeom prst="rect">
              <a:avLst/>
            </a:prstGeom>
          </p:spPr>
        </p:pic>
        <p:sp>
          <p:nvSpPr>
            <p:cNvPr id="176" name="textbox 176"/>
            <p:cNvSpPr/>
            <p:nvPr/>
          </p:nvSpPr>
          <p:spPr>
            <a:xfrm>
              <a:off x="271552" y="248780"/>
              <a:ext cx="3096895" cy="3618229"/>
            </a:xfrm>
            <a:prstGeom prst="rect">
              <a:avLst/>
            </a:prstGeom>
            <a:noFill/>
            <a:ln w="0" cap="flat">
              <a:noFill/>
              <a:prstDash val="solid"/>
              <a:miter lim="0"/>
            </a:ln>
          </p:spPr>
          <p:txBody>
            <a:bodyPr vert="horz" wrap="square" lIns="0" tIns="0" rIns="0" bIns="0"/>
            <a:lstStyle/>
            <a:p>
              <a:pPr algn="l" rtl="0" eaLnBrk="0">
                <a:lnSpc>
                  <a:spcPct val="94821"/>
                </a:lnSpc>
                <a:tabLst/>
              </a:pPr>
              <a:endParaRPr sz="100" dirty="0">
                <a:latin typeface="Arial"/>
                <a:ea typeface="Arial"/>
                <a:cs typeface="Arial"/>
              </a:endParaRPr>
            </a:p>
            <a:p>
              <a:pPr marL="922019" algn="l" rtl="0" eaLnBrk="0">
                <a:lnSpc>
                  <a:spcPct val="87000"/>
                </a:lnSpc>
                <a:tabLst/>
              </a:pPr>
              <a:r>
                <a:rPr sz="2300" b="1" kern="0" spc="50" dirty="0">
                  <a:solidFill>
                    <a:srgbClr val="C00000">
                      <a:alpha val="100000"/>
                    </a:srgbClr>
                  </a:solidFill>
                  <a:latin typeface="Microsoft YaHei"/>
                  <a:ea typeface="Microsoft YaHei"/>
                  <a:cs typeface="Microsoft YaHei"/>
                </a:rPr>
                <a:t>方案优势</a:t>
              </a:r>
              <a:endParaRPr sz="2300" dirty="0">
                <a:latin typeface="Microsoft YaHei"/>
                <a:ea typeface="Microsoft YaHei"/>
                <a:cs typeface="Microsoft YaHei"/>
              </a:endParaRPr>
            </a:p>
            <a:p>
              <a:pPr algn="l" rtl="0" eaLnBrk="0">
                <a:lnSpc>
                  <a:spcPct val="147000"/>
                </a:lnSpc>
                <a:tabLst/>
              </a:pPr>
              <a:endParaRPr sz="1000" dirty="0">
                <a:latin typeface="Arial"/>
                <a:ea typeface="Arial"/>
                <a:cs typeface="Arial"/>
              </a:endParaRPr>
            </a:p>
            <a:p>
              <a:pPr algn="l" rtl="0" eaLnBrk="0">
                <a:lnSpc>
                  <a:spcPct val="147000"/>
                </a:lnSpc>
                <a:tabLst/>
              </a:pPr>
              <a:endParaRPr sz="1000" dirty="0">
                <a:latin typeface="Arial"/>
                <a:ea typeface="Arial"/>
                <a:cs typeface="Arial"/>
              </a:endParaRPr>
            </a:p>
            <a:p>
              <a:pPr marL="12700" algn="l" rtl="0" eaLnBrk="0">
                <a:lnSpc>
                  <a:spcPct val="98000"/>
                </a:lnSpc>
                <a:spcBef>
                  <a:spcPts val="517"/>
                </a:spcBef>
                <a:tabLst>
                  <a:tab pos="174625" algn="l"/>
                </a:tabLst>
              </a:pPr>
              <a:r>
                <a:rPr sz="1700" kern="0" spc="0" dirty="0">
                  <a:solidFill>
                    <a:srgbClr val="000000">
                      <a:alpha val="100000"/>
                    </a:srgbClr>
                  </a:solidFill>
                  <a:latin typeface="Microsoft YaHei"/>
                  <a:ea typeface="Microsoft YaHei"/>
                  <a:cs typeface="Microsoft YaHei"/>
                </a:rPr>
                <a:t>	</a:t>
              </a:r>
              <a:r>
                <a:rPr sz="1700" kern="0" spc="170" dirty="0">
                  <a:solidFill>
                    <a:srgbClr val="000000">
                      <a:alpha val="100000"/>
                    </a:srgbClr>
                  </a:solidFill>
                  <a:latin typeface="Microsoft YaHei"/>
                  <a:ea typeface="Microsoft YaHei"/>
                  <a:cs typeface="Microsoft YaHei"/>
                </a:rPr>
                <a:t>  </a:t>
              </a:r>
              <a:r>
                <a:rPr sz="1700" kern="0" spc="110" dirty="0">
                  <a:solidFill>
                    <a:srgbClr val="000000">
                      <a:alpha val="100000"/>
                    </a:srgbClr>
                  </a:solidFill>
                  <a:latin typeface="Microsoft YaHei"/>
                  <a:ea typeface="Microsoft YaHei"/>
                  <a:cs typeface="Microsoft YaHei"/>
                </a:rPr>
                <a:t>具备</a:t>
              </a:r>
              <a:r>
                <a:rPr sz="1700" kern="0" spc="0" dirty="0">
                  <a:solidFill>
                    <a:srgbClr val="000000">
                      <a:alpha val="100000"/>
                    </a:srgbClr>
                  </a:solidFill>
                  <a:latin typeface="Microsoft YaHei"/>
                  <a:ea typeface="Microsoft YaHei"/>
                  <a:cs typeface="Microsoft YaHei"/>
                </a:rPr>
                <a:t>AEP</a:t>
              </a:r>
              <a:r>
                <a:rPr sz="1700" kern="0" spc="110" dirty="0">
                  <a:solidFill>
                    <a:srgbClr val="000000">
                      <a:alpha val="100000"/>
                    </a:srgbClr>
                  </a:solidFill>
                  <a:latin typeface="Microsoft YaHei"/>
                  <a:ea typeface="Microsoft YaHei"/>
                  <a:cs typeface="Microsoft YaHei"/>
                </a:rPr>
                <a:t>全量平台功能</a:t>
              </a:r>
              <a:endParaRPr sz="1700" dirty="0">
                <a:latin typeface="Microsoft YaHei"/>
                <a:ea typeface="Microsoft YaHei"/>
                <a:cs typeface="Microsoft YaHei"/>
              </a:endParaRPr>
            </a:p>
            <a:p>
              <a:pPr marL="12700" algn="l" rtl="0" eaLnBrk="0">
                <a:lnSpc>
                  <a:spcPct val="98000"/>
                </a:lnSpc>
                <a:spcBef>
                  <a:spcPts val="1406"/>
                </a:spcBef>
                <a:tabLst>
                  <a:tab pos="174625" algn="l"/>
                </a:tabLst>
              </a:pPr>
              <a:r>
                <a:rPr sz="1700" kern="0" spc="0" dirty="0">
                  <a:solidFill>
                    <a:srgbClr val="000000">
                      <a:alpha val="100000"/>
                    </a:srgbClr>
                  </a:solidFill>
                  <a:latin typeface="Microsoft YaHei"/>
                  <a:ea typeface="Microsoft YaHei"/>
                  <a:cs typeface="Microsoft YaHei"/>
                </a:rPr>
                <a:t>	</a:t>
              </a:r>
              <a:r>
                <a:rPr sz="1700" kern="0" spc="17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独立消息处理资源与服务</a:t>
              </a:r>
              <a:endParaRPr sz="1700" dirty="0">
                <a:latin typeface="Microsoft YaHei"/>
                <a:ea typeface="Microsoft YaHei"/>
                <a:cs typeface="Microsoft YaHei"/>
              </a:endParaRPr>
            </a:p>
            <a:p>
              <a:pPr marL="12700" algn="l" rtl="0" eaLnBrk="0">
                <a:lnSpc>
                  <a:spcPct val="98000"/>
                </a:lnSpc>
                <a:spcBef>
                  <a:spcPts val="1406"/>
                </a:spcBef>
                <a:tabLst>
                  <a:tab pos="174625" algn="l"/>
                </a:tabLst>
              </a:pPr>
              <a:r>
                <a:rPr sz="1700" kern="0" spc="0" dirty="0">
                  <a:solidFill>
                    <a:srgbClr val="000000">
                      <a:alpha val="100000"/>
                    </a:srgbClr>
                  </a:solidFill>
                  <a:latin typeface="Microsoft YaHei"/>
                  <a:ea typeface="Microsoft YaHei"/>
                  <a:cs typeface="Microsoft YaHei"/>
                </a:rPr>
                <a:t>	</a:t>
              </a:r>
              <a:r>
                <a:rPr sz="1700" kern="0" spc="16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支持性能动态提升</a:t>
              </a:r>
              <a:endParaRPr sz="1700" dirty="0">
                <a:latin typeface="Microsoft YaHei"/>
                <a:ea typeface="Microsoft YaHei"/>
                <a:cs typeface="Microsoft YaHei"/>
              </a:endParaRPr>
            </a:p>
            <a:p>
              <a:pPr marL="12700" algn="l" rtl="0" eaLnBrk="0">
                <a:lnSpc>
                  <a:spcPct val="98000"/>
                </a:lnSpc>
                <a:spcBef>
                  <a:spcPts val="1406"/>
                </a:spcBef>
                <a:tabLst>
                  <a:tab pos="174625" algn="l"/>
                </a:tabLst>
              </a:pPr>
              <a:r>
                <a:rPr sz="1700" kern="0" spc="0" dirty="0">
                  <a:solidFill>
                    <a:srgbClr val="000000">
                      <a:alpha val="100000"/>
                    </a:srgbClr>
                  </a:solidFill>
                  <a:latin typeface="Microsoft YaHei"/>
                  <a:ea typeface="Microsoft YaHei"/>
                  <a:cs typeface="Microsoft YaHei"/>
                </a:rPr>
                <a:t>	</a:t>
              </a:r>
              <a:r>
                <a:rPr sz="1700" kern="0" spc="15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定制化云环境</a:t>
              </a:r>
              <a:endParaRPr sz="1700" dirty="0">
                <a:latin typeface="Microsoft YaHei"/>
                <a:ea typeface="Microsoft YaHei"/>
                <a:cs typeface="Microsoft YaHei"/>
              </a:endParaRPr>
            </a:p>
            <a:p>
              <a:pPr marL="340995" indent="-328929" algn="l" rtl="0" eaLnBrk="0">
                <a:lnSpc>
                  <a:spcPct val="125000"/>
                </a:lnSpc>
                <a:spcBef>
                  <a:spcPts val="1152"/>
                </a:spcBef>
                <a:tabLst>
                  <a:tab pos="174625" algn="l"/>
                </a:tabLst>
              </a:pPr>
              <a:r>
                <a:rPr sz="1700" kern="0" spc="0" dirty="0">
                  <a:solidFill>
                    <a:srgbClr val="000000">
                      <a:alpha val="100000"/>
                    </a:srgbClr>
                  </a:solidFill>
                  <a:latin typeface="Microsoft YaHei"/>
                  <a:ea typeface="Microsoft YaHei"/>
                  <a:cs typeface="Microsoft YaHei"/>
                </a:rPr>
                <a:t>	</a:t>
              </a:r>
              <a:r>
                <a:rPr sz="1700" kern="0" spc="24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1v1专属技术专家+</a:t>
              </a:r>
              <a:r>
                <a:rPr sz="1700" kern="0" spc="0" dirty="0">
                  <a:solidFill>
                    <a:srgbClr val="000000">
                      <a:alpha val="100000"/>
                    </a:srgbClr>
                  </a:solidFill>
                  <a:latin typeface="Microsoft YaHei"/>
                  <a:ea typeface="Microsoft YaHei"/>
                  <a:cs typeface="Microsoft YaHei"/>
                </a:rPr>
                <a:t>VIP</a:t>
              </a:r>
              <a:r>
                <a:rPr sz="1700" kern="0" spc="80" dirty="0">
                  <a:solidFill>
                    <a:srgbClr val="000000">
                      <a:alpha val="100000"/>
                    </a:srgbClr>
                  </a:solidFill>
                  <a:latin typeface="Microsoft YaHei"/>
                  <a:ea typeface="Microsoft YaHei"/>
                  <a:cs typeface="Microsoft YaHei"/>
                </a:rPr>
                <a:t>客户</a:t>
              </a:r>
              <a:r>
                <a:rPr sz="1700" kern="0" spc="80" dirty="0">
                  <a:solidFill>
                    <a:srgbClr val="000000">
                      <a:alpha val="100000"/>
                    </a:srgbClr>
                  </a:solidFill>
                  <a:latin typeface="Microsoft YaHei"/>
                  <a:ea typeface="Microsoft YaHei"/>
                  <a:cs typeface="Microsoft YaHei"/>
                </a:rPr>
                <a:t>专属群</a:t>
              </a:r>
              <a:endParaRPr sz="1700" dirty="0">
                <a:latin typeface="Microsoft YaHei"/>
                <a:ea typeface="Microsoft YaHei"/>
                <a:cs typeface="Microsoft YaHei"/>
              </a:endParaRPr>
            </a:p>
            <a:p>
              <a:pPr algn="l" rtl="0" eaLnBrk="0">
                <a:lnSpc>
                  <a:spcPct val="103000"/>
                </a:lnSpc>
                <a:tabLst/>
              </a:pPr>
              <a:endParaRPr sz="1100" dirty="0">
                <a:latin typeface="Arial"/>
                <a:ea typeface="Arial"/>
                <a:cs typeface="Arial"/>
              </a:endParaRPr>
            </a:p>
            <a:p>
              <a:pPr marL="12700" algn="l" rtl="0" eaLnBrk="0">
                <a:lnSpc>
                  <a:spcPct val="98000"/>
                </a:lnSpc>
                <a:spcBef>
                  <a:spcPts val="5"/>
                </a:spcBef>
                <a:tabLst>
                  <a:tab pos="174625" algn="l"/>
                </a:tabLst>
              </a:pPr>
              <a:r>
                <a:rPr sz="1700" kern="0" spc="0" dirty="0">
                  <a:solidFill>
                    <a:srgbClr val="000000">
                      <a:alpha val="100000"/>
                    </a:srgbClr>
                  </a:solidFill>
                  <a:latin typeface="Microsoft YaHei"/>
                  <a:ea typeface="Microsoft YaHei"/>
                  <a:cs typeface="Microsoft YaHei"/>
                </a:rPr>
                <a:t>	</a:t>
              </a:r>
              <a:r>
                <a:rPr sz="1700" kern="0" spc="19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设备秒级、</a:t>
              </a:r>
              <a:r>
                <a:rPr sz="1700" kern="0" spc="-40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应用分钟级监控</a:t>
              </a:r>
              <a:endParaRPr sz="1700" dirty="0">
                <a:latin typeface="Microsoft YaHei"/>
                <a:ea typeface="Microsoft YaHei"/>
                <a:cs typeface="Microsoft YaHei"/>
              </a:endParaRPr>
            </a:p>
          </p:txBody>
        </p:sp>
        <p:pic>
          <p:nvPicPr>
            <p:cNvPr id="178" name="picture 178"/>
            <p:cNvPicPr>
              <a:picLocks noChangeAspect="1"/>
            </p:cNvPicPr>
            <p:nvPr/>
          </p:nvPicPr>
          <p:blipFill>
            <a:blip r:embed="rId4"/>
            <a:stretch>
              <a:fillRect/>
            </a:stretch>
          </p:blipFill>
          <p:spPr>
            <a:xfrm rot="21600000">
              <a:off x="284252" y="3600818"/>
              <a:ext cx="162305" cy="253288"/>
            </a:xfrm>
            <a:prstGeom prst="rect">
              <a:avLst/>
            </a:prstGeom>
          </p:spPr>
        </p:pic>
        <p:pic>
          <p:nvPicPr>
            <p:cNvPr id="180" name="picture 180"/>
            <p:cNvPicPr>
              <a:picLocks noChangeAspect="1"/>
            </p:cNvPicPr>
            <p:nvPr/>
          </p:nvPicPr>
          <p:blipFill>
            <a:blip r:embed="rId5"/>
            <a:stretch>
              <a:fillRect/>
            </a:stretch>
          </p:blipFill>
          <p:spPr>
            <a:xfrm rot="21600000">
              <a:off x="284252" y="2812148"/>
              <a:ext cx="162305" cy="253288"/>
            </a:xfrm>
            <a:prstGeom prst="rect">
              <a:avLst/>
            </a:prstGeom>
          </p:spPr>
        </p:pic>
        <p:pic>
          <p:nvPicPr>
            <p:cNvPr id="182" name="picture 182"/>
            <p:cNvPicPr>
              <a:picLocks noChangeAspect="1"/>
            </p:cNvPicPr>
            <p:nvPr/>
          </p:nvPicPr>
          <p:blipFill>
            <a:blip r:embed="rId6"/>
            <a:stretch>
              <a:fillRect/>
            </a:stretch>
          </p:blipFill>
          <p:spPr>
            <a:xfrm rot="21600000">
              <a:off x="284252" y="2379713"/>
              <a:ext cx="162305" cy="253288"/>
            </a:xfrm>
            <a:prstGeom prst="rect">
              <a:avLst/>
            </a:prstGeom>
          </p:spPr>
        </p:pic>
        <p:pic>
          <p:nvPicPr>
            <p:cNvPr id="184" name="picture 184"/>
            <p:cNvPicPr>
              <a:picLocks noChangeAspect="1"/>
            </p:cNvPicPr>
            <p:nvPr/>
          </p:nvPicPr>
          <p:blipFill>
            <a:blip r:embed="rId7"/>
            <a:stretch>
              <a:fillRect/>
            </a:stretch>
          </p:blipFill>
          <p:spPr>
            <a:xfrm rot="21600000">
              <a:off x="284252" y="1947278"/>
              <a:ext cx="162305" cy="253288"/>
            </a:xfrm>
            <a:prstGeom prst="rect">
              <a:avLst/>
            </a:prstGeom>
          </p:spPr>
        </p:pic>
        <p:pic>
          <p:nvPicPr>
            <p:cNvPr id="186" name="picture 186"/>
            <p:cNvPicPr>
              <a:picLocks noChangeAspect="1"/>
            </p:cNvPicPr>
            <p:nvPr/>
          </p:nvPicPr>
          <p:blipFill>
            <a:blip r:embed="rId8"/>
            <a:stretch>
              <a:fillRect/>
            </a:stretch>
          </p:blipFill>
          <p:spPr>
            <a:xfrm rot="21600000">
              <a:off x="284252" y="1514843"/>
              <a:ext cx="162305" cy="253288"/>
            </a:xfrm>
            <a:prstGeom prst="rect">
              <a:avLst/>
            </a:prstGeom>
          </p:spPr>
        </p:pic>
        <p:pic>
          <p:nvPicPr>
            <p:cNvPr id="188" name="picture 188"/>
            <p:cNvPicPr>
              <a:picLocks noChangeAspect="1"/>
            </p:cNvPicPr>
            <p:nvPr/>
          </p:nvPicPr>
          <p:blipFill>
            <a:blip r:embed="rId9"/>
            <a:stretch>
              <a:fillRect/>
            </a:stretch>
          </p:blipFill>
          <p:spPr>
            <a:xfrm rot="21600000">
              <a:off x="284252" y="1082408"/>
              <a:ext cx="162305" cy="253288"/>
            </a:xfrm>
            <a:prstGeom prst="rect">
              <a:avLst/>
            </a:prstGeom>
          </p:spPr>
        </p:pic>
        <p:pic>
          <p:nvPicPr>
            <p:cNvPr id="190" name="picture 190"/>
            <p:cNvPicPr>
              <a:picLocks noChangeAspect="1"/>
            </p:cNvPicPr>
            <p:nvPr/>
          </p:nvPicPr>
          <p:blipFill>
            <a:blip r:embed="rId10"/>
            <a:stretch>
              <a:fillRect/>
            </a:stretch>
          </p:blipFill>
          <p:spPr>
            <a:xfrm rot="21600000">
              <a:off x="468681" y="760882"/>
              <a:ext cx="2699994" cy="7620"/>
            </a:xfrm>
            <a:prstGeom prst="rect">
              <a:avLst/>
            </a:prstGeom>
          </p:spPr>
        </p:pic>
      </p:grpSp>
      <p:pic>
        <p:nvPicPr>
          <p:cNvPr id="192" name="picture 192"/>
          <p:cNvPicPr>
            <a:picLocks noChangeAspect="1"/>
          </p:cNvPicPr>
          <p:nvPr/>
        </p:nvPicPr>
        <p:blipFill>
          <a:blip r:embed="rId11"/>
          <a:stretch>
            <a:fillRect/>
          </a:stretch>
        </p:blipFill>
        <p:spPr>
          <a:xfrm rot="21600000">
            <a:off x="328929" y="1381264"/>
            <a:ext cx="3471633" cy="4737798"/>
          </a:xfrm>
          <a:prstGeom prst="rect">
            <a:avLst/>
          </a:prstGeom>
        </p:spPr>
      </p:pic>
      <p:sp>
        <p:nvSpPr>
          <p:cNvPr id="194" name="textbox 194"/>
          <p:cNvSpPr/>
          <p:nvPr/>
        </p:nvSpPr>
        <p:spPr>
          <a:xfrm>
            <a:off x="563778" y="2513800"/>
            <a:ext cx="3046729" cy="1661795"/>
          </a:xfrm>
          <a:prstGeom prst="rect">
            <a:avLst/>
          </a:prstGeom>
          <a:noFill/>
          <a:ln w="0" cap="flat">
            <a:noFill/>
            <a:prstDash val="solid"/>
            <a:miter lim="0"/>
          </a:ln>
        </p:spPr>
        <p:txBody>
          <a:bodyPr vert="horz" wrap="square" lIns="0" tIns="0" rIns="0" bIns="0"/>
          <a:lstStyle/>
          <a:p>
            <a:pPr algn="l" rtl="0" eaLnBrk="0">
              <a:lnSpc>
                <a:spcPct val="82015"/>
              </a:lnSpc>
              <a:tabLst/>
            </a:pPr>
            <a:endParaRPr sz="100" dirty="0">
              <a:latin typeface="Arial"/>
              <a:ea typeface="Arial"/>
              <a:cs typeface="Arial"/>
            </a:endParaRPr>
          </a:p>
          <a:p>
            <a:pPr marL="12700" algn="l" rtl="0" eaLnBrk="0">
              <a:lnSpc>
                <a:spcPct val="88000"/>
              </a:lnSpc>
              <a:tabLst>
                <a:tab pos="175260" algn="l"/>
              </a:tabLst>
            </a:pPr>
            <a:r>
              <a:rPr sz="1700" kern="0" spc="0" dirty="0">
                <a:solidFill>
                  <a:srgbClr val="000000">
                    <a:alpha val="100000"/>
                  </a:srgbClr>
                </a:solidFill>
                <a:latin typeface="Microsoft YaHei"/>
                <a:ea typeface="Microsoft YaHei"/>
                <a:cs typeface="Microsoft YaHei"/>
              </a:rPr>
              <a:t>	</a:t>
            </a:r>
            <a:r>
              <a:rPr sz="1700" kern="0" spc="17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设备量大</a:t>
            </a:r>
            <a:endParaRPr sz="1700" dirty="0">
              <a:latin typeface="Microsoft YaHei"/>
              <a:ea typeface="Microsoft YaHei"/>
              <a:cs typeface="Microsoft YaHei"/>
            </a:endParaRPr>
          </a:p>
          <a:p>
            <a:pPr algn="l" rtl="0" eaLnBrk="0">
              <a:lnSpc>
                <a:spcPct val="128000"/>
              </a:lnSpc>
              <a:tabLst/>
            </a:pPr>
            <a:endParaRPr sz="1000" dirty="0">
              <a:latin typeface="Arial"/>
              <a:ea typeface="Arial"/>
              <a:cs typeface="Arial"/>
            </a:endParaRPr>
          </a:p>
          <a:p>
            <a:pPr marL="12700" algn="l" rtl="0" eaLnBrk="0">
              <a:lnSpc>
                <a:spcPct val="88000"/>
              </a:lnSpc>
              <a:spcBef>
                <a:spcPts val="517"/>
              </a:spcBef>
              <a:tabLst>
                <a:tab pos="175260" algn="l"/>
              </a:tabLst>
            </a:pPr>
            <a:r>
              <a:rPr sz="1700" kern="0" spc="0" dirty="0">
                <a:solidFill>
                  <a:srgbClr val="000000">
                    <a:alpha val="100000"/>
                  </a:srgbClr>
                </a:solidFill>
                <a:latin typeface="Microsoft YaHei"/>
                <a:ea typeface="Microsoft YaHei"/>
                <a:cs typeface="Microsoft YaHei"/>
              </a:rPr>
              <a:t>	</a:t>
            </a:r>
            <a:r>
              <a:rPr sz="1700" kern="0" spc="17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要求数据自主管控</a:t>
            </a:r>
            <a:endParaRPr sz="1700" dirty="0">
              <a:latin typeface="Microsoft YaHei"/>
              <a:ea typeface="Microsoft YaHei"/>
              <a:cs typeface="Microsoft YaHei"/>
            </a:endParaRPr>
          </a:p>
          <a:p>
            <a:pPr algn="l" rtl="0" eaLnBrk="0">
              <a:lnSpc>
                <a:spcPct val="125000"/>
              </a:lnSpc>
              <a:tabLst/>
            </a:pPr>
            <a:endParaRPr sz="1000" dirty="0">
              <a:latin typeface="Arial"/>
              <a:ea typeface="Arial"/>
              <a:cs typeface="Arial"/>
            </a:endParaRPr>
          </a:p>
          <a:p>
            <a:pPr algn="l" rtl="0" eaLnBrk="0">
              <a:lnSpc>
                <a:spcPct val="108000"/>
              </a:lnSpc>
              <a:tabLst/>
            </a:pPr>
            <a:endParaRPr sz="400" dirty="0">
              <a:latin typeface="Arial"/>
              <a:ea typeface="Arial"/>
              <a:cs typeface="Arial"/>
            </a:endParaRPr>
          </a:p>
          <a:p>
            <a:pPr marL="342900" indent="-330834" algn="l" rtl="0" eaLnBrk="0">
              <a:lnSpc>
                <a:spcPct val="128000"/>
              </a:lnSpc>
              <a:tabLst>
                <a:tab pos="175260" algn="l"/>
              </a:tabLst>
            </a:pPr>
            <a:r>
              <a:rPr sz="1700" kern="0" spc="0" dirty="0">
                <a:solidFill>
                  <a:srgbClr val="000000">
                    <a:alpha val="100000"/>
                  </a:srgbClr>
                </a:solidFill>
                <a:latin typeface="Microsoft YaHei"/>
                <a:ea typeface="Microsoft YaHei"/>
                <a:cs typeface="Microsoft YaHei"/>
              </a:rPr>
              <a:t>	</a:t>
            </a:r>
            <a:r>
              <a:rPr sz="1700" kern="0" spc="160" dirty="0">
                <a:solidFill>
                  <a:srgbClr val="000000">
                    <a:alpha val="100000"/>
                  </a:srgbClr>
                </a:solidFill>
                <a:latin typeface="Microsoft YaHei"/>
                <a:ea typeface="Microsoft YaHei"/>
                <a:cs typeface="Microsoft YaHei"/>
              </a:rPr>
              <a:t>  </a:t>
            </a:r>
            <a:r>
              <a:rPr sz="1700" kern="0" spc="60" dirty="0">
                <a:solidFill>
                  <a:srgbClr val="000000">
                    <a:alpha val="100000"/>
                  </a:srgbClr>
                </a:solidFill>
                <a:latin typeface="Microsoft YaHei"/>
                <a:ea typeface="Microsoft YaHei"/>
                <a:cs typeface="Microsoft YaHei"/>
              </a:rPr>
              <a:t>要求平台高性能、</a:t>
            </a:r>
            <a:r>
              <a:rPr sz="1700" kern="0" spc="-370" dirty="0">
                <a:solidFill>
                  <a:srgbClr val="000000">
                    <a:alpha val="100000"/>
                  </a:srgbClr>
                </a:solidFill>
                <a:latin typeface="Microsoft YaHei"/>
                <a:ea typeface="Microsoft YaHei"/>
                <a:cs typeface="Microsoft YaHei"/>
              </a:rPr>
              <a:t> </a:t>
            </a:r>
            <a:r>
              <a:rPr sz="1700" kern="0" spc="60" dirty="0">
                <a:solidFill>
                  <a:srgbClr val="000000">
                    <a:alpha val="100000"/>
                  </a:srgbClr>
                </a:solidFill>
                <a:latin typeface="Microsoft YaHei"/>
                <a:ea typeface="Microsoft YaHei"/>
                <a:cs typeface="Microsoft YaHei"/>
              </a:rPr>
              <a:t>高安全、</a:t>
            </a:r>
            <a:r>
              <a:rPr sz="1700" kern="0" spc="80" dirty="0">
                <a:solidFill>
                  <a:srgbClr val="000000">
                    <a:alpha val="100000"/>
                  </a:srgbClr>
                </a:solidFill>
                <a:latin typeface="Microsoft YaHei"/>
                <a:ea typeface="Microsoft YaHei"/>
                <a:cs typeface="Microsoft YaHei"/>
              </a:rPr>
              <a:t>高稳定</a:t>
            </a:r>
            <a:endParaRPr sz="1700" dirty="0">
              <a:latin typeface="Microsoft YaHei"/>
              <a:ea typeface="Microsoft YaHei"/>
              <a:cs typeface="Microsoft YaHei"/>
            </a:endParaRPr>
          </a:p>
        </p:txBody>
      </p:sp>
      <p:pic>
        <p:nvPicPr>
          <p:cNvPr id="196" name="picture 196"/>
          <p:cNvPicPr>
            <a:picLocks noChangeAspect="1"/>
          </p:cNvPicPr>
          <p:nvPr/>
        </p:nvPicPr>
        <p:blipFill>
          <a:blip r:embed="rId12"/>
          <a:stretch>
            <a:fillRect/>
          </a:stretch>
        </p:blipFill>
        <p:spPr>
          <a:xfrm rot="21600000">
            <a:off x="576478" y="3520147"/>
            <a:ext cx="162991" cy="149504"/>
          </a:xfrm>
          <a:prstGeom prst="rect">
            <a:avLst/>
          </a:prstGeom>
        </p:spPr>
      </p:pic>
      <p:pic>
        <p:nvPicPr>
          <p:cNvPr id="198" name="picture 198"/>
          <p:cNvPicPr>
            <a:picLocks noChangeAspect="1"/>
          </p:cNvPicPr>
          <p:nvPr/>
        </p:nvPicPr>
        <p:blipFill>
          <a:blip r:embed="rId13"/>
          <a:stretch>
            <a:fillRect/>
          </a:stretch>
        </p:blipFill>
        <p:spPr>
          <a:xfrm rot="21600000">
            <a:off x="576478" y="3032468"/>
            <a:ext cx="162991" cy="149504"/>
          </a:xfrm>
          <a:prstGeom prst="rect">
            <a:avLst/>
          </a:prstGeom>
        </p:spPr>
      </p:pic>
      <p:pic>
        <p:nvPicPr>
          <p:cNvPr id="200" name="picture 200"/>
          <p:cNvPicPr>
            <a:picLocks noChangeAspect="1"/>
          </p:cNvPicPr>
          <p:nvPr/>
        </p:nvPicPr>
        <p:blipFill>
          <a:blip r:embed="rId14"/>
          <a:stretch>
            <a:fillRect/>
          </a:stretch>
        </p:blipFill>
        <p:spPr>
          <a:xfrm rot="21600000">
            <a:off x="576478" y="2544788"/>
            <a:ext cx="162991" cy="149504"/>
          </a:xfrm>
          <a:prstGeom prst="rect">
            <a:avLst/>
          </a:prstGeom>
        </p:spPr>
      </p:pic>
      <p:sp>
        <p:nvSpPr>
          <p:cNvPr id="202" name="textbox 202"/>
          <p:cNvSpPr/>
          <p:nvPr/>
        </p:nvSpPr>
        <p:spPr>
          <a:xfrm>
            <a:off x="4520412" y="2515628"/>
            <a:ext cx="2870835" cy="1638935"/>
          </a:xfrm>
          <a:prstGeom prst="rect">
            <a:avLst/>
          </a:prstGeom>
          <a:noFill/>
          <a:ln w="0" cap="flat">
            <a:noFill/>
            <a:prstDash val="solid"/>
            <a:miter lim="0"/>
          </a:ln>
        </p:spPr>
        <p:txBody>
          <a:bodyPr vert="horz" wrap="square" lIns="0" tIns="0" rIns="0" bIns="0"/>
          <a:lstStyle/>
          <a:p>
            <a:pPr algn="l" rtl="0" eaLnBrk="0">
              <a:lnSpc>
                <a:spcPct val="88609"/>
              </a:lnSpc>
              <a:tabLst/>
            </a:pPr>
            <a:endParaRPr sz="100" dirty="0">
              <a:latin typeface="Arial"/>
              <a:ea typeface="Arial"/>
              <a:cs typeface="Arial"/>
            </a:endParaRPr>
          </a:p>
          <a:p>
            <a:pPr marL="344170" indent="-332104" algn="l" rtl="0" eaLnBrk="0">
              <a:lnSpc>
                <a:spcPct val="127000"/>
              </a:lnSpc>
              <a:tabLst/>
            </a:pPr>
            <a:r>
              <a:rPr sz="1700" kern="0" spc="50" dirty="0">
                <a:solidFill>
                  <a:srgbClr val="000000">
                    <a:alpha val="100000"/>
                  </a:srgbClr>
                </a:solidFill>
                <a:latin typeface="Arial"/>
                <a:ea typeface="Arial"/>
                <a:cs typeface="Arial"/>
              </a:rPr>
              <a:t>•    </a:t>
            </a:r>
            <a:r>
              <a:rPr sz="1700" kern="0" spc="50" dirty="0">
                <a:solidFill>
                  <a:srgbClr val="000000">
                    <a:alpha val="100000"/>
                  </a:srgbClr>
                </a:solidFill>
                <a:latin typeface="Microsoft YaHei"/>
                <a:ea typeface="Microsoft YaHei"/>
                <a:cs typeface="Microsoft YaHei"/>
              </a:rPr>
              <a:t>燃气公司</a:t>
            </a:r>
            <a:r>
              <a:rPr sz="1700" kern="0" spc="-170" dirty="0">
                <a:solidFill>
                  <a:srgbClr val="000000">
                    <a:alpha val="100000"/>
                  </a:srgbClr>
                </a:solidFill>
                <a:latin typeface="Microsoft YaHei"/>
                <a:ea typeface="Microsoft YaHei"/>
                <a:cs typeface="Microsoft YaHei"/>
              </a:rPr>
              <a:t> </a:t>
            </a:r>
            <a:r>
              <a:rPr sz="1700" kern="0" spc="40" dirty="0">
                <a:solidFill>
                  <a:srgbClr val="000000">
                    <a:alpha val="100000"/>
                  </a:srgbClr>
                </a:solidFill>
                <a:latin typeface="Microsoft YaHei"/>
                <a:ea typeface="Microsoft YaHei"/>
                <a:cs typeface="Microsoft YaHei"/>
              </a:rPr>
              <a:t>：新奥燃气、</a:t>
            </a:r>
            <a:r>
              <a:rPr sz="1700" kern="0" spc="-390" dirty="0">
                <a:solidFill>
                  <a:srgbClr val="000000">
                    <a:alpha val="100000"/>
                  </a:srgbClr>
                </a:solidFill>
                <a:latin typeface="Microsoft YaHei"/>
                <a:ea typeface="Microsoft YaHei"/>
                <a:cs typeface="Microsoft YaHei"/>
              </a:rPr>
              <a:t> </a:t>
            </a:r>
            <a:r>
              <a:rPr sz="1700" kern="0" spc="40" dirty="0">
                <a:solidFill>
                  <a:srgbClr val="000000">
                    <a:alpha val="100000"/>
                  </a:srgbClr>
                </a:solidFill>
                <a:latin typeface="Microsoft YaHei"/>
                <a:ea typeface="Microsoft YaHei"/>
                <a:cs typeface="Microsoft YaHei"/>
              </a:rPr>
              <a:t>太</a:t>
            </a:r>
            <a:r>
              <a:rPr sz="1700" kern="0" spc="70" dirty="0">
                <a:solidFill>
                  <a:srgbClr val="000000">
                    <a:alpha val="100000"/>
                  </a:srgbClr>
                </a:solidFill>
                <a:latin typeface="Microsoft YaHei"/>
                <a:ea typeface="Microsoft YaHei"/>
                <a:cs typeface="Microsoft YaHei"/>
              </a:rPr>
              <a:t>原燃气、</a:t>
            </a:r>
            <a:r>
              <a:rPr sz="1700" kern="0" spc="-300" dirty="0">
                <a:solidFill>
                  <a:srgbClr val="000000">
                    <a:alpha val="100000"/>
                  </a:srgbClr>
                </a:solidFill>
                <a:latin typeface="Microsoft YaHei"/>
                <a:ea typeface="Microsoft YaHei"/>
                <a:cs typeface="Microsoft YaHei"/>
              </a:rPr>
              <a:t> </a:t>
            </a:r>
            <a:r>
              <a:rPr sz="1700" kern="0" spc="70" dirty="0">
                <a:solidFill>
                  <a:srgbClr val="000000">
                    <a:alpha val="100000"/>
                  </a:srgbClr>
                </a:solidFill>
                <a:latin typeface="Microsoft YaHei"/>
                <a:ea typeface="Microsoft YaHei"/>
                <a:cs typeface="Microsoft YaHei"/>
              </a:rPr>
              <a:t>武汉燃气</a:t>
            </a:r>
            <a:endParaRPr sz="1700" dirty="0">
              <a:latin typeface="Microsoft YaHei"/>
              <a:ea typeface="Microsoft YaHei"/>
              <a:cs typeface="Microsoft YaHei"/>
            </a:endParaRPr>
          </a:p>
          <a:p>
            <a:pPr algn="l" rtl="0" eaLnBrk="0">
              <a:lnSpc>
                <a:spcPct val="114000"/>
              </a:lnSpc>
              <a:tabLst/>
            </a:pPr>
            <a:endParaRPr sz="1000" dirty="0">
              <a:latin typeface="Arial"/>
              <a:ea typeface="Arial"/>
              <a:cs typeface="Arial"/>
            </a:endParaRPr>
          </a:p>
          <a:p>
            <a:pPr marL="12700" algn="l" rtl="0" eaLnBrk="0">
              <a:lnSpc>
                <a:spcPct val="88000"/>
              </a:lnSpc>
              <a:spcBef>
                <a:spcPts val="513"/>
              </a:spcBef>
              <a:tabLst/>
            </a:pPr>
            <a:r>
              <a:rPr sz="1700" kern="0" spc="50" dirty="0">
                <a:solidFill>
                  <a:srgbClr val="000000">
                    <a:alpha val="100000"/>
                  </a:srgbClr>
                </a:solidFill>
                <a:latin typeface="Arial"/>
                <a:ea typeface="Arial"/>
                <a:cs typeface="Arial"/>
              </a:rPr>
              <a:t>•    </a:t>
            </a:r>
            <a:r>
              <a:rPr sz="1700" kern="0" spc="50" dirty="0">
                <a:solidFill>
                  <a:srgbClr val="000000">
                    <a:alpha val="100000"/>
                  </a:srgbClr>
                </a:solidFill>
                <a:latin typeface="Microsoft YaHei"/>
                <a:ea typeface="Microsoft YaHei"/>
                <a:cs typeface="Microsoft YaHei"/>
              </a:rPr>
              <a:t>水务公司</a:t>
            </a:r>
            <a:r>
              <a:rPr sz="1700" kern="0" spc="-170" dirty="0">
                <a:solidFill>
                  <a:srgbClr val="000000">
                    <a:alpha val="100000"/>
                  </a:srgbClr>
                </a:solidFill>
                <a:latin typeface="Microsoft YaHei"/>
                <a:ea typeface="Microsoft YaHei"/>
                <a:cs typeface="Microsoft YaHei"/>
              </a:rPr>
              <a:t> </a:t>
            </a:r>
            <a:r>
              <a:rPr sz="1700" kern="0" spc="50" dirty="0">
                <a:solidFill>
                  <a:srgbClr val="000000">
                    <a:alpha val="100000"/>
                  </a:srgbClr>
                </a:solidFill>
                <a:latin typeface="Microsoft YaHei"/>
                <a:ea typeface="Microsoft YaHei"/>
                <a:cs typeface="Microsoft YaHei"/>
              </a:rPr>
              <a:t>：广州自来水</a:t>
            </a:r>
            <a:endParaRPr sz="1700" dirty="0">
              <a:latin typeface="Microsoft YaHei"/>
              <a:ea typeface="Microsoft YaHei"/>
              <a:cs typeface="Microsoft YaHei"/>
            </a:endParaRPr>
          </a:p>
          <a:p>
            <a:pPr algn="l" rtl="0" eaLnBrk="0">
              <a:lnSpc>
                <a:spcPct val="127000"/>
              </a:lnSpc>
              <a:tabLst/>
            </a:pPr>
            <a:endParaRPr sz="1000" dirty="0">
              <a:latin typeface="Arial"/>
              <a:ea typeface="Arial"/>
              <a:cs typeface="Arial"/>
            </a:endParaRPr>
          </a:p>
          <a:p>
            <a:pPr algn="l" rtl="0" eaLnBrk="0">
              <a:lnSpc>
                <a:spcPct val="108000"/>
              </a:lnSpc>
              <a:tabLst/>
            </a:pPr>
            <a:endParaRPr sz="400" dirty="0">
              <a:latin typeface="Arial"/>
              <a:ea typeface="Arial"/>
              <a:cs typeface="Arial"/>
            </a:endParaRPr>
          </a:p>
          <a:p>
            <a:pPr marL="12700" algn="l" rtl="0" eaLnBrk="0">
              <a:lnSpc>
                <a:spcPct val="88000"/>
              </a:lnSpc>
              <a:spcBef>
                <a:spcPts val="3"/>
              </a:spcBef>
              <a:tabLst/>
            </a:pPr>
            <a:r>
              <a:rPr sz="1700" kern="0" spc="70" dirty="0">
                <a:solidFill>
                  <a:srgbClr val="000000">
                    <a:alpha val="100000"/>
                  </a:srgbClr>
                </a:solidFill>
                <a:latin typeface="Arial"/>
                <a:ea typeface="Arial"/>
                <a:cs typeface="Arial"/>
              </a:rPr>
              <a:t>•    </a:t>
            </a:r>
            <a:r>
              <a:rPr sz="1700" kern="0" spc="70" dirty="0">
                <a:solidFill>
                  <a:srgbClr val="000000">
                    <a:alpha val="100000"/>
                  </a:srgbClr>
                </a:solidFill>
                <a:latin typeface="Microsoft YaHei"/>
                <a:ea typeface="Microsoft YaHei"/>
                <a:cs typeface="Microsoft YaHei"/>
              </a:rPr>
              <a:t>优质服务行</a:t>
            </a:r>
            <a:r>
              <a:rPr sz="1700" kern="0" spc="60" dirty="0">
                <a:solidFill>
                  <a:srgbClr val="000000">
                    <a:alpha val="100000"/>
                  </a:srgbClr>
                </a:solidFill>
                <a:latin typeface="Microsoft YaHei"/>
                <a:ea typeface="Microsoft YaHei"/>
                <a:cs typeface="Microsoft YaHei"/>
              </a:rPr>
              <a:t>业：</a:t>
            </a:r>
            <a:r>
              <a:rPr sz="1700" kern="0" spc="-380" dirty="0">
                <a:solidFill>
                  <a:srgbClr val="000000">
                    <a:alpha val="100000"/>
                  </a:srgbClr>
                </a:solidFill>
                <a:latin typeface="Microsoft YaHei"/>
                <a:ea typeface="Microsoft YaHei"/>
                <a:cs typeface="Microsoft YaHei"/>
              </a:rPr>
              <a:t> </a:t>
            </a:r>
            <a:r>
              <a:rPr sz="1700" kern="0" spc="60" dirty="0">
                <a:solidFill>
                  <a:srgbClr val="000000">
                    <a:alpha val="100000"/>
                  </a:srgbClr>
                </a:solidFill>
                <a:latin typeface="Microsoft YaHei"/>
                <a:ea typeface="Microsoft YaHei"/>
                <a:cs typeface="Microsoft YaHei"/>
              </a:rPr>
              <a:t>大金空调</a:t>
            </a:r>
            <a:endParaRPr sz="1700" dirty="0">
              <a:latin typeface="Microsoft YaHei"/>
              <a:ea typeface="Microsoft YaHei"/>
              <a:cs typeface="Microsoft YaHei"/>
            </a:endParaRPr>
          </a:p>
        </p:txBody>
      </p:sp>
      <p:sp>
        <p:nvSpPr>
          <p:cNvPr id="204" name="textbox 204"/>
          <p:cNvSpPr/>
          <p:nvPr/>
        </p:nvSpPr>
        <p:spPr>
          <a:xfrm>
            <a:off x="418591" y="262991"/>
            <a:ext cx="3561715" cy="42799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3165"/>
              </a:lnSpc>
              <a:tabLst/>
            </a:pPr>
            <a:r>
              <a:rPr sz="2300" b="1" kern="0" spc="80" dirty="0">
                <a:solidFill>
                  <a:srgbClr val="C00000">
                    <a:alpha val="100000"/>
                  </a:srgbClr>
                </a:solidFill>
                <a:latin typeface="Microsoft YaHei"/>
                <a:ea typeface="Microsoft YaHei"/>
                <a:cs typeface="Microsoft YaHei"/>
              </a:rPr>
              <a:t>方案3：</a:t>
            </a:r>
            <a:r>
              <a:rPr sz="2300" b="1" kern="0" spc="-540" dirty="0">
                <a:solidFill>
                  <a:srgbClr val="C00000">
                    <a:alpha val="100000"/>
                  </a:srgbClr>
                </a:solidFill>
                <a:latin typeface="Microsoft YaHei"/>
                <a:ea typeface="Microsoft YaHei"/>
                <a:cs typeface="Microsoft YaHei"/>
              </a:rPr>
              <a:t> </a:t>
            </a:r>
            <a:r>
              <a:rPr sz="2300" b="1" kern="0" spc="80" dirty="0">
                <a:solidFill>
                  <a:srgbClr val="C00000">
                    <a:alpha val="100000"/>
                  </a:srgbClr>
                </a:solidFill>
                <a:latin typeface="Microsoft YaHei"/>
                <a:ea typeface="Microsoft YaHei"/>
                <a:cs typeface="Microsoft YaHei"/>
              </a:rPr>
              <a:t>迁移至专属云方案</a:t>
            </a:r>
            <a:endParaRPr sz="2300" dirty="0">
              <a:latin typeface="Microsoft YaHei"/>
              <a:ea typeface="Microsoft YaHei"/>
              <a:cs typeface="Microsoft YaHei"/>
            </a:endParaRPr>
          </a:p>
        </p:txBody>
      </p:sp>
      <p:pic>
        <p:nvPicPr>
          <p:cNvPr id="206" name="picture 206"/>
          <p:cNvPicPr>
            <a:picLocks noChangeAspect="1"/>
          </p:cNvPicPr>
          <p:nvPr/>
        </p:nvPicPr>
        <p:blipFill>
          <a:blip r:embed="rId15"/>
          <a:stretch>
            <a:fillRect/>
          </a:stretch>
        </p:blipFill>
        <p:spPr>
          <a:xfrm rot="21600000">
            <a:off x="335279" y="807720"/>
            <a:ext cx="11519916" cy="67055"/>
          </a:xfrm>
          <a:prstGeom prst="rect">
            <a:avLst/>
          </a:prstGeom>
        </p:spPr>
      </p:pic>
      <p:pic>
        <p:nvPicPr>
          <p:cNvPr id="208" name="picture 208"/>
          <p:cNvPicPr>
            <a:picLocks noChangeAspect="1"/>
          </p:cNvPicPr>
          <p:nvPr/>
        </p:nvPicPr>
        <p:blipFill>
          <a:blip r:embed="rId16"/>
          <a:stretch>
            <a:fillRect/>
          </a:stretch>
        </p:blipFill>
        <p:spPr>
          <a:xfrm rot="21600000">
            <a:off x="11126046" y="215885"/>
            <a:ext cx="721486" cy="526694"/>
          </a:xfrm>
          <a:prstGeom prst="rect">
            <a:avLst/>
          </a:prstGeom>
        </p:spPr>
      </p:pic>
      <p:sp>
        <p:nvSpPr>
          <p:cNvPr id="210" name="textbox 210"/>
          <p:cNvSpPr/>
          <p:nvPr/>
        </p:nvSpPr>
        <p:spPr>
          <a:xfrm>
            <a:off x="5353176" y="1621751"/>
            <a:ext cx="1221739" cy="331470"/>
          </a:xfrm>
          <a:prstGeom prst="rect">
            <a:avLst/>
          </a:prstGeom>
          <a:noFill/>
          <a:ln w="0" cap="flat">
            <a:noFill/>
            <a:prstDash val="solid"/>
            <a:miter lim="0"/>
          </a:ln>
        </p:spPr>
        <p:txBody>
          <a:bodyPr vert="horz" wrap="square" lIns="0" tIns="0" rIns="0" bIns="0"/>
          <a:lstStyle/>
          <a:p>
            <a:pPr algn="l" rtl="0" eaLnBrk="0">
              <a:lnSpc>
                <a:spcPct val="86820"/>
              </a:lnSpc>
              <a:tabLst/>
            </a:pPr>
            <a:endParaRPr sz="100" dirty="0">
              <a:latin typeface="Arial"/>
              <a:ea typeface="Arial"/>
              <a:cs typeface="Arial"/>
            </a:endParaRPr>
          </a:p>
          <a:p>
            <a:pPr marL="12700" algn="l" rtl="0" eaLnBrk="0">
              <a:lnSpc>
                <a:spcPct val="87000"/>
              </a:lnSpc>
              <a:tabLst/>
            </a:pPr>
            <a:r>
              <a:rPr sz="2300" b="1" kern="0" spc="50" dirty="0">
                <a:solidFill>
                  <a:srgbClr val="C00000">
                    <a:alpha val="100000"/>
                  </a:srgbClr>
                </a:solidFill>
                <a:latin typeface="Microsoft YaHei"/>
                <a:ea typeface="Microsoft YaHei"/>
                <a:cs typeface="Microsoft YaHei"/>
              </a:rPr>
              <a:t>典型客户</a:t>
            </a:r>
            <a:endParaRPr sz="2300" dirty="0">
              <a:latin typeface="Microsoft YaHei"/>
              <a:ea typeface="Microsoft YaHei"/>
              <a:cs typeface="Microsoft YaHei"/>
            </a:endParaRPr>
          </a:p>
        </p:txBody>
      </p:sp>
      <p:sp>
        <p:nvSpPr>
          <p:cNvPr id="212" name="textbox 212"/>
          <p:cNvSpPr/>
          <p:nvPr/>
        </p:nvSpPr>
        <p:spPr>
          <a:xfrm>
            <a:off x="1539430" y="1622361"/>
            <a:ext cx="1220469" cy="332104"/>
          </a:xfrm>
          <a:prstGeom prst="rect">
            <a:avLst/>
          </a:prstGeom>
          <a:noFill/>
          <a:ln w="0" cap="flat">
            <a:noFill/>
            <a:prstDash val="solid"/>
            <a:miter lim="0"/>
          </a:ln>
        </p:spPr>
        <p:txBody>
          <a:bodyPr vert="horz" wrap="square" lIns="0" tIns="0" rIns="0" bIns="0"/>
          <a:lstStyle/>
          <a:p>
            <a:pPr algn="l" rtl="0" eaLnBrk="0">
              <a:lnSpc>
                <a:spcPct val="94288"/>
              </a:lnSpc>
              <a:tabLst/>
            </a:pPr>
            <a:endParaRPr sz="100" dirty="0">
              <a:latin typeface="Arial"/>
              <a:ea typeface="Arial"/>
              <a:cs typeface="Arial"/>
            </a:endParaRPr>
          </a:p>
          <a:p>
            <a:pPr marL="12700" algn="l" rtl="0" eaLnBrk="0">
              <a:lnSpc>
                <a:spcPct val="87000"/>
              </a:lnSpc>
              <a:tabLst/>
            </a:pPr>
            <a:r>
              <a:rPr sz="2300" b="1" kern="0" spc="40" dirty="0">
                <a:solidFill>
                  <a:srgbClr val="C00000">
                    <a:alpha val="100000"/>
                  </a:srgbClr>
                </a:solidFill>
                <a:latin typeface="Microsoft YaHei"/>
                <a:ea typeface="Microsoft YaHei"/>
                <a:cs typeface="Microsoft YaHei"/>
              </a:rPr>
              <a:t>适配用户</a:t>
            </a:r>
            <a:endParaRPr sz="2300" dirty="0">
              <a:latin typeface="Microsoft YaHei"/>
              <a:ea typeface="Microsoft YaHei"/>
              <a:cs typeface="Microsoft YaHei"/>
            </a:endParaRPr>
          </a:p>
        </p:txBody>
      </p:sp>
      <p:sp>
        <p:nvSpPr>
          <p:cNvPr id="214" name="textbox 214"/>
          <p:cNvSpPr/>
          <p:nvPr/>
        </p:nvSpPr>
        <p:spPr>
          <a:xfrm>
            <a:off x="11657881" y="6462377"/>
            <a:ext cx="121920"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10" dirty="0">
                <a:solidFill>
                  <a:srgbClr val="B1B1B1">
                    <a:alpha val="100000"/>
                  </a:srgbClr>
                </a:solidFill>
                <a:latin typeface="DengXian"/>
                <a:ea typeface="DengXian"/>
                <a:cs typeface="DengXian"/>
              </a:rPr>
              <a:t>7</a:t>
            </a:r>
            <a:endParaRPr sz="1500" dirty="0">
              <a:latin typeface="DengXian"/>
              <a:ea typeface="DengXian"/>
              <a:cs typeface="DengXian"/>
            </a:endParaRPr>
          </a:p>
        </p:txBody>
      </p:sp>
      <p:pic>
        <p:nvPicPr>
          <p:cNvPr id="216" name="picture 216"/>
          <p:cNvPicPr>
            <a:picLocks noChangeAspect="1"/>
          </p:cNvPicPr>
          <p:nvPr/>
        </p:nvPicPr>
        <p:blipFill>
          <a:blip r:embed="rId17"/>
          <a:stretch>
            <a:fillRect/>
          </a:stretch>
        </p:blipFill>
        <p:spPr>
          <a:xfrm rot="21600000">
            <a:off x="680935" y="2146007"/>
            <a:ext cx="2699994" cy="7620"/>
          </a:xfrm>
          <a:prstGeom prst="rect">
            <a:avLst/>
          </a:prstGeom>
        </p:spPr>
      </p:pic>
      <p:pic>
        <p:nvPicPr>
          <p:cNvPr id="218" name="picture 218"/>
          <p:cNvPicPr>
            <a:picLocks noChangeAspect="1"/>
          </p:cNvPicPr>
          <p:nvPr/>
        </p:nvPicPr>
        <p:blipFill>
          <a:blip r:embed="rId18"/>
          <a:stretch>
            <a:fillRect/>
          </a:stretch>
        </p:blipFill>
        <p:spPr>
          <a:xfrm rot="21600000">
            <a:off x="4663770" y="2146007"/>
            <a:ext cx="2699994" cy="76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 name="picture 220"/>
          <p:cNvPicPr>
            <a:picLocks noChangeAspect="1"/>
          </p:cNvPicPr>
          <p:nvPr/>
        </p:nvPicPr>
        <p:blipFill>
          <a:blip r:embed="rId2"/>
          <a:stretch>
            <a:fillRect/>
          </a:stretch>
        </p:blipFill>
        <p:spPr>
          <a:xfrm rot="21600000">
            <a:off x="1336039" y="1571244"/>
            <a:ext cx="10190479" cy="3444240"/>
          </a:xfrm>
          <a:prstGeom prst="rect">
            <a:avLst/>
          </a:prstGeom>
        </p:spPr>
      </p:pic>
      <p:sp>
        <p:nvSpPr>
          <p:cNvPr id="222" name="textbox 222"/>
          <p:cNvSpPr/>
          <p:nvPr/>
        </p:nvSpPr>
        <p:spPr>
          <a:xfrm>
            <a:off x="6608064" y="5393283"/>
            <a:ext cx="5250179" cy="1221105"/>
          </a:xfrm>
          <a:prstGeom prst="rect">
            <a:avLst/>
          </a:prstGeom>
          <a:noFill/>
          <a:ln w="0" cap="flat">
            <a:noFill/>
            <a:prstDash val="solid"/>
            <a:miter lim="0"/>
          </a:ln>
        </p:spPr>
        <p:txBody>
          <a:bodyPr vert="horz" wrap="square" lIns="0" tIns="0" rIns="0" bIns="0"/>
          <a:lstStyle/>
          <a:p>
            <a:pPr algn="l" rtl="0" eaLnBrk="0">
              <a:lnSpc>
                <a:spcPct val="90147"/>
              </a:lnSpc>
              <a:tabLst/>
            </a:pPr>
            <a:endParaRPr sz="100" dirty="0">
              <a:latin typeface="Arial"/>
              <a:ea typeface="Arial"/>
              <a:cs typeface="Arial"/>
            </a:endParaRPr>
          </a:p>
          <a:p>
            <a:pPr marL="12700" algn="l" rtl="0" eaLnBrk="0">
              <a:lnSpc>
                <a:spcPct val="87000"/>
              </a:lnSpc>
              <a:tabLst/>
            </a:pPr>
            <a:r>
              <a:rPr sz="1700" b="1" kern="0" spc="70" dirty="0">
                <a:solidFill>
                  <a:srgbClr val="0070C0">
                    <a:alpha val="100000"/>
                  </a:srgbClr>
                </a:solidFill>
                <a:latin typeface="Microsoft YaHei"/>
                <a:ea typeface="Microsoft YaHei"/>
                <a:cs typeface="Microsoft YaHei"/>
              </a:rPr>
              <a:t>北向应用：</a:t>
            </a:r>
            <a:endParaRPr sz="1700" dirty="0">
              <a:latin typeface="Microsoft YaHei"/>
              <a:ea typeface="Microsoft YaHei"/>
              <a:cs typeface="Microsoft YaHei"/>
            </a:endParaRPr>
          </a:p>
          <a:p>
            <a:pPr marL="18415" algn="l" rtl="0" eaLnBrk="0">
              <a:lnSpc>
                <a:spcPct val="88000"/>
              </a:lnSpc>
              <a:spcBef>
                <a:spcPts val="1192"/>
              </a:spcBef>
              <a:tabLst/>
            </a:pPr>
            <a:r>
              <a:rPr sz="1400" kern="0" spc="-10" dirty="0">
                <a:solidFill>
                  <a:srgbClr val="000000">
                    <a:alpha val="100000"/>
                  </a:srgbClr>
                </a:solidFill>
                <a:latin typeface="Arial"/>
                <a:ea typeface="Arial"/>
                <a:cs typeface="Arial"/>
              </a:rPr>
              <a:t>•      </a:t>
            </a:r>
            <a:r>
              <a:rPr sz="1400" kern="0" spc="-10" dirty="0">
                <a:solidFill>
                  <a:srgbClr val="000000">
                    <a:alpha val="100000"/>
                  </a:srgbClr>
                </a:solidFill>
                <a:latin typeface="Microsoft YaHei"/>
                <a:ea typeface="Microsoft YaHei"/>
                <a:cs typeface="Microsoft YaHei"/>
              </a:rPr>
              <a:t>同时对接旧平台和新物联网平台</a:t>
            </a:r>
            <a:r>
              <a:rPr sz="1400" kern="0" spc="-21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a:t>
            </a:r>
            <a:r>
              <a:rPr sz="1400" kern="0" spc="-20" dirty="0">
                <a:solidFill>
                  <a:srgbClr val="000000">
                    <a:alpha val="100000"/>
                  </a:srgbClr>
                </a:solidFill>
                <a:latin typeface="Microsoft YaHei"/>
                <a:ea typeface="Microsoft YaHei"/>
                <a:cs typeface="Microsoft YaHei"/>
              </a:rPr>
              <a:t>能够区分设备所在平台</a:t>
            </a:r>
            <a:endParaRPr sz="1400" dirty="0">
              <a:latin typeface="Microsoft YaHei"/>
              <a:ea typeface="Microsoft YaHei"/>
              <a:cs typeface="Microsoft YaHei"/>
            </a:endParaRPr>
          </a:p>
          <a:p>
            <a:pPr marL="18415" algn="l" rtl="0" eaLnBrk="0">
              <a:lnSpc>
                <a:spcPct val="143000"/>
              </a:lnSpc>
              <a:spcBef>
                <a:spcPts val="158"/>
              </a:spcBef>
              <a:tabLst/>
            </a:pPr>
            <a:r>
              <a:rPr sz="1400" kern="0" spc="0" dirty="0">
                <a:solidFill>
                  <a:srgbClr val="000000">
                    <a:alpha val="100000"/>
                  </a:srgbClr>
                </a:solidFill>
                <a:latin typeface="Arial"/>
                <a:ea typeface="Arial"/>
                <a:cs typeface="Arial"/>
              </a:rPr>
              <a:t>•     </a:t>
            </a:r>
            <a:r>
              <a:rPr sz="1400" kern="0" spc="0" dirty="0">
                <a:solidFill>
                  <a:srgbClr val="000000">
                    <a:alpha val="100000"/>
                  </a:srgbClr>
                </a:solidFill>
                <a:latin typeface="Microsoft YaHei"/>
                <a:ea typeface="Microsoft YaHei"/>
                <a:cs typeface="Microsoft YaHei"/>
              </a:rPr>
              <a:t>AEP平台兼容旧平台北向API接口</a:t>
            </a:r>
            <a:r>
              <a:rPr sz="1400" kern="0" spc="-210" dirty="0">
                <a:solidFill>
                  <a:srgbClr val="000000">
                    <a:alpha val="100000"/>
                  </a:srgbClr>
                </a:solidFill>
                <a:latin typeface="Microsoft YaHei"/>
                <a:ea typeface="Microsoft YaHei"/>
                <a:cs typeface="Microsoft YaHei"/>
              </a:rPr>
              <a:t> </a:t>
            </a:r>
            <a:r>
              <a:rPr sz="1400" kern="0" spc="0" dirty="0">
                <a:solidFill>
                  <a:srgbClr val="000000">
                    <a:alpha val="100000"/>
                  </a:srgbClr>
                </a:solidFill>
                <a:latin typeface="Microsoft YaHei"/>
                <a:ea typeface="Microsoft YaHei"/>
                <a:cs typeface="Microsoft YaHei"/>
              </a:rPr>
              <a:t>，北向应用只需</a:t>
            </a:r>
            <a:r>
              <a:rPr sz="1400" kern="0" spc="-10" dirty="0">
                <a:solidFill>
                  <a:srgbClr val="000000">
                    <a:alpha val="100000"/>
                  </a:srgbClr>
                </a:solidFill>
                <a:latin typeface="Microsoft YaHei"/>
                <a:ea typeface="Microsoft YaHei"/>
                <a:cs typeface="Microsoft YaHei"/>
              </a:rPr>
              <a:t>修改对接地址</a:t>
            </a:r>
            <a:r>
              <a:rPr sz="1400" kern="0" spc="10" dirty="0">
                <a:solidFill>
                  <a:srgbClr val="000000">
                    <a:alpha val="100000"/>
                  </a:srgbClr>
                </a:solidFill>
                <a:latin typeface="Arial"/>
                <a:ea typeface="Arial"/>
                <a:cs typeface="Arial"/>
              </a:rPr>
              <a:t>•     </a:t>
            </a:r>
            <a:r>
              <a:rPr sz="1400" kern="0" spc="10" dirty="0">
                <a:solidFill>
                  <a:srgbClr val="000000">
                    <a:alpha val="100000"/>
                  </a:srgbClr>
                </a:solidFill>
                <a:latin typeface="Microsoft YaHei"/>
                <a:ea typeface="Microsoft YaHei"/>
                <a:cs typeface="Microsoft YaHei"/>
              </a:rPr>
              <a:t>北向应用同时接收</a:t>
            </a:r>
            <a:r>
              <a:rPr sz="1400" kern="0" spc="0" dirty="0">
                <a:solidFill>
                  <a:srgbClr val="000000">
                    <a:alpha val="100000"/>
                  </a:srgbClr>
                </a:solidFill>
                <a:latin typeface="Microsoft YaHei"/>
                <a:ea typeface="Microsoft YaHei"/>
                <a:cs typeface="Microsoft YaHei"/>
              </a:rPr>
              <a:t>NB</a:t>
            </a:r>
            <a:r>
              <a:rPr sz="1400" kern="0" spc="10" dirty="0">
                <a:solidFill>
                  <a:srgbClr val="000000">
                    <a:alpha val="100000"/>
                  </a:srgbClr>
                </a:solidFill>
                <a:latin typeface="Microsoft YaHei"/>
                <a:ea typeface="Microsoft YaHei"/>
                <a:cs typeface="Microsoft YaHei"/>
              </a:rPr>
              <a:t>网关</a:t>
            </a:r>
            <a:r>
              <a:rPr sz="1400" kern="0" spc="0" dirty="0">
                <a:solidFill>
                  <a:srgbClr val="000000">
                    <a:alpha val="100000"/>
                  </a:srgbClr>
                </a:solidFill>
                <a:latin typeface="Microsoft YaHei"/>
                <a:ea typeface="Microsoft YaHei"/>
                <a:cs typeface="Microsoft YaHei"/>
              </a:rPr>
              <a:t>平台和AEP台的消息推送</a:t>
            </a:r>
            <a:endParaRPr sz="1400" dirty="0">
              <a:latin typeface="Microsoft YaHei"/>
              <a:ea typeface="Microsoft YaHei"/>
              <a:cs typeface="Microsoft YaHei"/>
            </a:endParaRPr>
          </a:p>
        </p:txBody>
      </p:sp>
      <p:sp>
        <p:nvSpPr>
          <p:cNvPr id="224" name="textbox 224"/>
          <p:cNvSpPr/>
          <p:nvPr/>
        </p:nvSpPr>
        <p:spPr>
          <a:xfrm>
            <a:off x="880351" y="5308447"/>
            <a:ext cx="4906645" cy="1241425"/>
          </a:xfrm>
          <a:prstGeom prst="rect">
            <a:avLst/>
          </a:prstGeom>
          <a:noFill/>
          <a:ln w="0" cap="flat">
            <a:noFill/>
            <a:prstDash val="solid"/>
            <a:miter lim="0"/>
          </a:ln>
        </p:spPr>
        <p:txBody>
          <a:bodyPr vert="horz" wrap="square" lIns="0" tIns="0" rIns="0" bIns="0"/>
          <a:lstStyle/>
          <a:p>
            <a:pPr algn="l" rtl="0" eaLnBrk="0">
              <a:lnSpc>
                <a:spcPct val="84263"/>
              </a:lnSpc>
              <a:tabLst/>
            </a:pPr>
            <a:endParaRPr sz="100" dirty="0">
              <a:latin typeface="Arial"/>
              <a:ea typeface="Arial"/>
              <a:cs typeface="Arial"/>
            </a:endParaRPr>
          </a:p>
          <a:p>
            <a:pPr marL="12700" algn="l" rtl="0" eaLnBrk="0">
              <a:lnSpc>
                <a:spcPct val="87000"/>
              </a:lnSpc>
              <a:tabLst/>
            </a:pPr>
            <a:r>
              <a:rPr sz="1700" b="1" kern="0" spc="60" dirty="0">
                <a:solidFill>
                  <a:srgbClr val="0070C0">
                    <a:alpha val="100000"/>
                  </a:srgbClr>
                </a:solidFill>
                <a:latin typeface="Microsoft YaHei"/>
                <a:ea typeface="Microsoft YaHei"/>
                <a:cs typeface="Microsoft YaHei"/>
              </a:rPr>
              <a:t>南向设备：</a:t>
            </a:r>
            <a:endParaRPr sz="1700" dirty="0">
              <a:latin typeface="Microsoft YaHei"/>
              <a:ea typeface="Microsoft YaHei"/>
              <a:cs typeface="Microsoft YaHei"/>
            </a:endParaRPr>
          </a:p>
          <a:p>
            <a:pPr marL="352425" indent="-336550" algn="l" rtl="0" eaLnBrk="0">
              <a:lnSpc>
                <a:spcPct val="128000"/>
              </a:lnSpc>
              <a:spcBef>
                <a:spcPts val="956"/>
              </a:spcBef>
              <a:tabLst/>
            </a:pPr>
            <a:r>
              <a:rPr sz="1400" kern="0" spc="0" dirty="0">
                <a:solidFill>
                  <a:srgbClr val="000000">
                    <a:alpha val="100000"/>
                  </a:srgbClr>
                </a:solidFill>
                <a:latin typeface="Arial"/>
                <a:ea typeface="Arial"/>
                <a:cs typeface="Arial"/>
              </a:rPr>
              <a:t>•     </a:t>
            </a:r>
            <a:r>
              <a:rPr sz="1400" kern="0" spc="0" dirty="0">
                <a:solidFill>
                  <a:srgbClr val="000000">
                    <a:alpha val="100000"/>
                  </a:srgbClr>
                </a:solidFill>
                <a:latin typeface="Microsoft YaHei"/>
                <a:ea typeface="Microsoft YaHei"/>
                <a:cs typeface="Microsoft YaHei"/>
              </a:rPr>
              <a:t>设备无需修</a:t>
            </a:r>
            <a:r>
              <a:rPr sz="1400" kern="0" spc="-10" dirty="0">
                <a:solidFill>
                  <a:srgbClr val="000000">
                    <a:alpha val="100000"/>
                  </a:srgbClr>
                </a:solidFill>
                <a:latin typeface="Microsoft YaHei"/>
                <a:ea typeface="Microsoft YaHei"/>
                <a:cs typeface="Microsoft YaHei"/>
              </a:rPr>
              <a:t>改IP端口</a:t>
            </a:r>
            <a:r>
              <a:rPr sz="1400" kern="0" spc="-21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，通过修改SIM卡的签约、专线承载，</a:t>
            </a:r>
            <a:r>
              <a:rPr sz="1400" kern="0" spc="-10" dirty="0">
                <a:solidFill>
                  <a:srgbClr val="000000">
                    <a:alpha val="100000"/>
                  </a:srgbClr>
                </a:solidFill>
                <a:latin typeface="Microsoft YaHei"/>
                <a:ea typeface="Microsoft YaHei"/>
                <a:cs typeface="Microsoft YaHei"/>
              </a:rPr>
              <a:t>实现数据路由</a:t>
            </a:r>
            <a:endParaRPr sz="1400" dirty="0">
              <a:latin typeface="Microsoft YaHei"/>
              <a:ea typeface="Microsoft YaHei"/>
              <a:cs typeface="Microsoft YaHei"/>
            </a:endParaRPr>
          </a:p>
          <a:p>
            <a:pPr algn="l" rtl="0" eaLnBrk="0">
              <a:lnSpc>
                <a:spcPct val="101000"/>
              </a:lnSpc>
              <a:tabLst/>
            </a:pPr>
            <a:endParaRPr sz="600" dirty="0">
              <a:latin typeface="Arial"/>
              <a:ea typeface="Arial"/>
              <a:cs typeface="Arial"/>
            </a:endParaRPr>
          </a:p>
          <a:p>
            <a:pPr marL="15875" algn="l" rtl="0" eaLnBrk="0">
              <a:lnSpc>
                <a:spcPts val="1813"/>
              </a:lnSpc>
              <a:spcBef>
                <a:spcPts val="2"/>
              </a:spcBef>
              <a:tabLst/>
            </a:pPr>
            <a:r>
              <a:rPr sz="1400" kern="0" spc="-10" dirty="0">
                <a:solidFill>
                  <a:srgbClr val="000000">
                    <a:alpha val="100000"/>
                  </a:srgbClr>
                </a:solidFill>
                <a:latin typeface="Arial"/>
                <a:ea typeface="Arial"/>
                <a:cs typeface="Arial"/>
              </a:rPr>
              <a:t>•</a:t>
            </a:r>
            <a:r>
              <a:rPr sz="1400" kern="0" spc="50" dirty="0">
                <a:solidFill>
                  <a:srgbClr val="000000">
                    <a:alpha val="100000"/>
                  </a:srgbClr>
                </a:solidFill>
                <a:latin typeface="Arial"/>
                <a:ea typeface="Arial"/>
                <a:cs typeface="Arial"/>
              </a:rPr>
              <a:t>     </a:t>
            </a:r>
            <a:r>
              <a:rPr sz="1400" kern="0" spc="-10" dirty="0">
                <a:solidFill>
                  <a:srgbClr val="000000">
                    <a:alpha val="100000"/>
                  </a:srgbClr>
                </a:solidFill>
                <a:latin typeface="Microsoft YaHei"/>
                <a:ea typeface="Microsoft YaHei"/>
                <a:cs typeface="Microsoft YaHei"/>
              </a:rPr>
              <a:t>复用profile+编解码插件</a:t>
            </a:r>
            <a:r>
              <a:rPr sz="1400" kern="0" spc="-19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a:t>
            </a:r>
            <a:r>
              <a:rPr sz="1400" kern="0" spc="-20" dirty="0">
                <a:solidFill>
                  <a:srgbClr val="000000">
                    <a:alpha val="100000"/>
                  </a:srgbClr>
                </a:solidFill>
                <a:latin typeface="Microsoft YaHei"/>
                <a:ea typeface="Microsoft YaHei"/>
                <a:cs typeface="Microsoft YaHei"/>
              </a:rPr>
              <a:t>设备接入方式完全兼容</a:t>
            </a:r>
            <a:endParaRPr sz="1400" dirty="0">
              <a:latin typeface="Microsoft YaHei"/>
              <a:ea typeface="Microsoft YaHei"/>
              <a:cs typeface="Microsoft YaHei"/>
            </a:endParaRPr>
          </a:p>
        </p:txBody>
      </p:sp>
      <p:sp>
        <p:nvSpPr>
          <p:cNvPr id="226" name="textbox 226"/>
          <p:cNvSpPr/>
          <p:nvPr/>
        </p:nvSpPr>
        <p:spPr>
          <a:xfrm>
            <a:off x="8176063" y="2016291"/>
            <a:ext cx="3161664" cy="146050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75260" algn="l" rtl="0" eaLnBrk="0">
              <a:lnSpc>
                <a:spcPts val="1853"/>
              </a:lnSpc>
              <a:tabLst/>
            </a:pPr>
            <a:r>
              <a:rPr sz="1400" b="1" kern="0" spc="-10" dirty="0">
                <a:solidFill>
                  <a:srgbClr val="000000">
                    <a:alpha val="100000"/>
                  </a:srgbClr>
                </a:solidFill>
                <a:latin typeface="Microsoft YaHei"/>
                <a:ea typeface="Microsoft YaHei"/>
                <a:cs typeface="Microsoft YaHei"/>
              </a:rPr>
              <a:t>API</a:t>
            </a:r>
            <a:endParaRPr sz="1400" dirty="0">
              <a:latin typeface="Microsoft YaHei"/>
              <a:ea typeface="Microsoft YaHei"/>
              <a:cs typeface="Microsoft YaHei"/>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marL="12700" algn="l" rtl="0" eaLnBrk="0">
              <a:lnSpc>
                <a:spcPct val="87000"/>
              </a:lnSpc>
              <a:spcBef>
                <a:spcPts val="424"/>
              </a:spcBef>
              <a:tabLst/>
            </a:pPr>
            <a:r>
              <a:rPr sz="1400" b="1" kern="0" spc="-20" dirty="0">
                <a:solidFill>
                  <a:srgbClr val="000000">
                    <a:alpha val="100000"/>
                  </a:srgbClr>
                </a:solidFill>
                <a:latin typeface="Microsoft YaHei"/>
                <a:ea typeface="Microsoft YaHei"/>
                <a:cs typeface="Microsoft YaHei"/>
              </a:rPr>
              <a:t>推送</a:t>
            </a:r>
            <a:endParaRPr sz="1400" dirty="0">
              <a:latin typeface="Microsoft YaHei"/>
              <a:ea typeface="Microsoft YaHei"/>
              <a:cs typeface="Microsoft YaHei"/>
            </a:endParaRPr>
          </a:p>
          <a:p>
            <a:pPr algn="r" rtl="0" eaLnBrk="0">
              <a:lnSpc>
                <a:spcPct val="87000"/>
              </a:lnSpc>
              <a:spcBef>
                <a:spcPts val="507"/>
              </a:spcBef>
              <a:tabLst/>
            </a:pPr>
            <a:r>
              <a:rPr sz="1700" b="1" kern="0" spc="130" dirty="0">
                <a:solidFill>
                  <a:srgbClr val="FFFFFF">
                    <a:alpha val="100000"/>
                  </a:srgbClr>
                </a:solidFill>
                <a:latin typeface="Microsoft YaHei"/>
                <a:ea typeface="Microsoft YaHei"/>
                <a:cs typeface="Microsoft YaHei"/>
              </a:rPr>
              <a:t>客户北向应用</a:t>
            </a:r>
            <a:r>
              <a:rPr sz="1700" b="1" kern="0" spc="0" dirty="0">
                <a:solidFill>
                  <a:srgbClr val="FFFFFF">
                    <a:alpha val="100000"/>
                  </a:srgbClr>
                </a:solidFill>
                <a:latin typeface="Microsoft YaHei"/>
                <a:ea typeface="Microsoft YaHei"/>
                <a:cs typeface="Microsoft YaHei"/>
              </a:rPr>
              <a:t>SaaS</a:t>
            </a:r>
            <a:endParaRPr sz="1700" dirty="0">
              <a:latin typeface="Microsoft YaHei"/>
              <a:ea typeface="Microsoft YaHei"/>
              <a:cs typeface="Microsoft YaHei"/>
            </a:endParaRPr>
          </a:p>
        </p:txBody>
      </p:sp>
      <p:sp>
        <p:nvSpPr>
          <p:cNvPr id="228" name="textbox 228"/>
          <p:cNvSpPr/>
          <p:nvPr/>
        </p:nvSpPr>
        <p:spPr>
          <a:xfrm>
            <a:off x="1926033" y="3558350"/>
            <a:ext cx="2715895" cy="985519"/>
          </a:xfrm>
          <a:prstGeom prst="rect">
            <a:avLst/>
          </a:prstGeom>
          <a:noFill/>
          <a:ln w="0" cap="flat">
            <a:noFill/>
            <a:prstDash val="solid"/>
            <a:miter lim="0"/>
          </a:ln>
        </p:spPr>
        <p:txBody>
          <a:bodyPr vert="horz" wrap="square" lIns="0" tIns="0" rIns="0" bIns="0"/>
          <a:lstStyle/>
          <a:p>
            <a:pPr algn="l" rtl="0" eaLnBrk="0">
              <a:lnSpc>
                <a:spcPct val="89364"/>
              </a:lnSpc>
              <a:tabLst/>
            </a:pPr>
            <a:endParaRPr sz="100" dirty="0">
              <a:latin typeface="Arial"/>
              <a:ea typeface="Arial"/>
              <a:cs typeface="Arial"/>
            </a:endParaRPr>
          </a:p>
          <a:p>
            <a:pPr marL="2084704" indent="-78739" algn="l" rtl="0" eaLnBrk="0">
              <a:lnSpc>
                <a:spcPct val="104000"/>
              </a:lnSpc>
              <a:tabLst/>
            </a:pPr>
            <a:r>
              <a:rPr sz="1400" b="1" kern="0" spc="-20" dirty="0">
                <a:solidFill>
                  <a:srgbClr val="000000">
                    <a:alpha val="100000"/>
                  </a:srgbClr>
                </a:solidFill>
                <a:latin typeface="Microsoft YaHei"/>
                <a:ea typeface="Microsoft YaHei"/>
                <a:cs typeface="Microsoft YaHei"/>
              </a:rPr>
              <a:t>SIM卡签</a:t>
            </a:r>
            <a:r>
              <a:rPr sz="1400" b="1" kern="0" spc="-10" dirty="0">
                <a:solidFill>
                  <a:srgbClr val="000000">
                    <a:alpha val="100000"/>
                  </a:srgbClr>
                </a:solidFill>
                <a:latin typeface="Microsoft YaHei"/>
                <a:ea typeface="Microsoft YaHei"/>
                <a:cs typeface="Microsoft YaHei"/>
              </a:rPr>
              <a:t>约受理</a:t>
            </a:r>
            <a:endParaRPr sz="1400" dirty="0">
              <a:latin typeface="Microsoft YaHei"/>
              <a:ea typeface="Microsoft YaHei"/>
              <a:cs typeface="Microsoft YaHei"/>
            </a:endParaRPr>
          </a:p>
          <a:p>
            <a:pPr algn="l" rtl="0" eaLnBrk="0">
              <a:lnSpc>
                <a:spcPct val="169000"/>
              </a:lnSpc>
              <a:tabLst/>
            </a:pPr>
            <a:endParaRPr sz="1000" dirty="0">
              <a:latin typeface="Arial"/>
              <a:ea typeface="Arial"/>
              <a:cs typeface="Arial"/>
            </a:endParaRPr>
          </a:p>
          <a:p>
            <a:pPr algn="l" rtl="0" eaLnBrk="0">
              <a:lnSpc>
                <a:spcPct val="128000"/>
              </a:lnSpc>
              <a:tabLst/>
            </a:pPr>
            <a:endParaRPr sz="300" dirty="0">
              <a:latin typeface="Arial"/>
              <a:ea typeface="Arial"/>
              <a:cs typeface="Arial"/>
            </a:endParaRPr>
          </a:p>
          <a:p>
            <a:pPr marL="12700" algn="l" rtl="0" eaLnBrk="0">
              <a:lnSpc>
                <a:spcPct val="87000"/>
              </a:lnSpc>
              <a:tabLst/>
            </a:pPr>
            <a:r>
              <a:rPr sz="1500" b="1" kern="0" spc="120" dirty="0">
                <a:solidFill>
                  <a:srgbClr val="FFFFFF">
                    <a:alpha val="100000"/>
                  </a:srgbClr>
                </a:solidFill>
                <a:latin typeface="Microsoft YaHei"/>
                <a:ea typeface="Microsoft YaHei"/>
                <a:cs typeface="Microsoft YaHei"/>
              </a:rPr>
              <a:t>增量</a:t>
            </a:r>
            <a:r>
              <a:rPr sz="1500" b="1" kern="0" spc="0" dirty="0">
                <a:solidFill>
                  <a:srgbClr val="FFFFFF">
                    <a:alpha val="100000"/>
                  </a:srgbClr>
                </a:solidFill>
                <a:latin typeface="Microsoft YaHei"/>
                <a:ea typeface="Microsoft YaHei"/>
                <a:cs typeface="Microsoft YaHei"/>
              </a:rPr>
              <a:t>NB</a:t>
            </a:r>
            <a:r>
              <a:rPr sz="1500" b="1" kern="0" spc="120" dirty="0">
                <a:solidFill>
                  <a:srgbClr val="FFFFFF">
                    <a:alpha val="100000"/>
                  </a:srgbClr>
                </a:solidFill>
                <a:latin typeface="Microsoft YaHei"/>
                <a:ea typeface="Microsoft YaHei"/>
                <a:cs typeface="Microsoft YaHei"/>
              </a:rPr>
              <a:t>设备</a:t>
            </a:r>
            <a:endParaRPr sz="1500" dirty="0">
              <a:latin typeface="Microsoft YaHei"/>
              <a:ea typeface="Microsoft YaHei"/>
              <a:cs typeface="Microsoft YaHei"/>
            </a:endParaRPr>
          </a:p>
        </p:txBody>
      </p:sp>
      <p:sp>
        <p:nvSpPr>
          <p:cNvPr id="230" name="textbox 230"/>
          <p:cNvSpPr/>
          <p:nvPr/>
        </p:nvSpPr>
        <p:spPr>
          <a:xfrm>
            <a:off x="1793100" y="2254954"/>
            <a:ext cx="1286510" cy="1202689"/>
          </a:xfrm>
          <a:prstGeom prst="rect">
            <a:avLst/>
          </a:prstGeom>
          <a:noFill/>
          <a:ln w="0" cap="flat">
            <a:noFill/>
            <a:prstDash val="solid"/>
            <a:miter lim="0"/>
          </a:ln>
        </p:spPr>
        <p:txBody>
          <a:bodyPr vert="horz" wrap="square" lIns="0" tIns="0" rIns="0" bIns="0"/>
          <a:lstStyle/>
          <a:p>
            <a:pPr algn="l" rtl="0" eaLnBrk="0">
              <a:lnSpc>
                <a:spcPct val="77234"/>
              </a:lnSpc>
              <a:tabLst/>
            </a:pPr>
            <a:endParaRPr sz="100" dirty="0">
              <a:latin typeface="Arial"/>
              <a:ea typeface="Arial"/>
              <a:cs typeface="Arial"/>
            </a:endParaRPr>
          </a:p>
          <a:p>
            <a:pPr marL="145414" algn="l" rtl="0" eaLnBrk="0">
              <a:lnSpc>
                <a:spcPct val="88000"/>
              </a:lnSpc>
              <a:tabLst/>
            </a:pPr>
            <a:r>
              <a:rPr sz="1500" b="1" kern="0" spc="120" dirty="0">
                <a:solidFill>
                  <a:srgbClr val="FFFFFF">
                    <a:alpha val="100000"/>
                  </a:srgbClr>
                </a:solidFill>
                <a:latin typeface="Microsoft YaHei"/>
                <a:ea typeface="Microsoft YaHei"/>
                <a:cs typeface="Microsoft YaHei"/>
              </a:rPr>
              <a:t>存量</a:t>
            </a:r>
            <a:r>
              <a:rPr sz="1500" b="1" kern="0" spc="0" dirty="0">
                <a:solidFill>
                  <a:srgbClr val="FFFFFF">
                    <a:alpha val="100000"/>
                  </a:srgbClr>
                </a:solidFill>
                <a:latin typeface="Microsoft YaHei"/>
                <a:ea typeface="Microsoft YaHei"/>
                <a:cs typeface="Microsoft YaHei"/>
              </a:rPr>
              <a:t>NB</a:t>
            </a:r>
            <a:r>
              <a:rPr sz="1500" b="1" kern="0" spc="120" dirty="0">
                <a:solidFill>
                  <a:srgbClr val="FFFFFF">
                    <a:alpha val="100000"/>
                  </a:srgbClr>
                </a:solidFill>
                <a:latin typeface="Microsoft YaHei"/>
                <a:ea typeface="Microsoft YaHei"/>
                <a:cs typeface="Microsoft YaHei"/>
              </a:rPr>
              <a:t>设备</a:t>
            </a:r>
            <a:endParaRPr sz="1500" dirty="0">
              <a:latin typeface="Microsoft YaHei"/>
              <a:ea typeface="Microsoft YaHei"/>
              <a:cs typeface="Microsoft YaHei"/>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3000"/>
              </a:lnSpc>
              <a:tabLst/>
            </a:pPr>
            <a:endParaRPr sz="1000" dirty="0">
              <a:latin typeface="Arial"/>
              <a:ea typeface="Arial"/>
              <a:cs typeface="Arial"/>
            </a:endParaRPr>
          </a:p>
          <a:p>
            <a:pPr algn="l" rtl="0" eaLnBrk="0">
              <a:lnSpc>
                <a:spcPct val="113000"/>
              </a:lnSpc>
              <a:tabLst/>
            </a:pPr>
            <a:endParaRPr sz="1000" dirty="0">
              <a:latin typeface="Arial"/>
              <a:ea typeface="Arial"/>
              <a:cs typeface="Arial"/>
            </a:endParaRPr>
          </a:p>
          <a:p>
            <a:pPr algn="l" rtl="0" eaLnBrk="0">
              <a:lnSpc>
                <a:spcPct val="107000"/>
              </a:lnSpc>
              <a:tabLst/>
            </a:pPr>
            <a:endParaRPr sz="400" dirty="0">
              <a:latin typeface="Arial"/>
              <a:ea typeface="Arial"/>
              <a:cs typeface="Arial"/>
            </a:endParaRPr>
          </a:p>
          <a:p>
            <a:pPr marL="12700" algn="l" rtl="0" eaLnBrk="0">
              <a:lnSpc>
                <a:spcPct val="87000"/>
              </a:lnSpc>
              <a:spcBef>
                <a:spcPts val="1"/>
              </a:spcBef>
              <a:tabLst/>
            </a:pPr>
            <a:r>
              <a:rPr sz="1700" b="1" kern="0" spc="120" dirty="0">
                <a:solidFill>
                  <a:srgbClr val="000000">
                    <a:alpha val="100000"/>
                  </a:srgbClr>
                </a:solidFill>
                <a:latin typeface="Microsoft YaHei"/>
                <a:ea typeface="Microsoft YaHei"/>
                <a:cs typeface="Microsoft YaHei"/>
              </a:rPr>
              <a:t>客户</a:t>
            </a:r>
            <a:r>
              <a:rPr sz="1700" b="1" kern="0" spc="0" dirty="0">
                <a:solidFill>
                  <a:srgbClr val="000000">
                    <a:alpha val="100000"/>
                  </a:srgbClr>
                </a:solidFill>
                <a:latin typeface="Microsoft YaHei"/>
                <a:ea typeface="Microsoft YaHei"/>
                <a:cs typeface="Microsoft YaHei"/>
              </a:rPr>
              <a:t>NB</a:t>
            </a:r>
            <a:r>
              <a:rPr sz="1700" b="1" kern="0" spc="120" dirty="0">
                <a:solidFill>
                  <a:srgbClr val="000000">
                    <a:alpha val="100000"/>
                  </a:srgbClr>
                </a:solidFill>
                <a:latin typeface="Microsoft YaHei"/>
                <a:ea typeface="Microsoft YaHei"/>
                <a:cs typeface="Microsoft YaHei"/>
              </a:rPr>
              <a:t>设备</a:t>
            </a:r>
            <a:endParaRPr sz="1700" dirty="0">
              <a:latin typeface="Microsoft YaHei"/>
              <a:ea typeface="Microsoft YaHei"/>
              <a:cs typeface="Microsoft YaHei"/>
            </a:endParaRPr>
          </a:p>
        </p:txBody>
      </p:sp>
      <p:sp>
        <p:nvSpPr>
          <p:cNvPr id="232" name="textbox 232"/>
          <p:cNvSpPr/>
          <p:nvPr/>
        </p:nvSpPr>
        <p:spPr>
          <a:xfrm>
            <a:off x="5489956" y="3643376"/>
            <a:ext cx="1397000" cy="781684"/>
          </a:xfrm>
          <a:prstGeom prst="rect">
            <a:avLst/>
          </a:prstGeom>
          <a:noFill/>
          <a:ln w="0" cap="flat">
            <a:noFill/>
            <a:prstDash val="solid"/>
            <a:miter lim="0"/>
          </a:ln>
        </p:spPr>
        <p:txBody>
          <a:bodyPr vert="horz" wrap="square" lIns="0" tIns="0" rIns="0" bIns="0"/>
          <a:lstStyle/>
          <a:p>
            <a:pPr algn="l" rtl="0" eaLnBrk="0">
              <a:lnSpc>
                <a:spcPct val="81935"/>
              </a:lnSpc>
              <a:tabLst/>
            </a:pPr>
            <a:endParaRPr sz="100" dirty="0">
              <a:latin typeface="Arial"/>
              <a:ea typeface="Arial"/>
              <a:cs typeface="Arial"/>
            </a:endParaRPr>
          </a:p>
          <a:p>
            <a:pPr marL="236220" algn="l" rtl="0" eaLnBrk="0">
              <a:lnSpc>
                <a:spcPct val="83000"/>
              </a:lnSpc>
              <a:tabLst/>
            </a:pPr>
            <a:r>
              <a:rPr sz="1200" b="1" kern="0" spc="-10" dirty="0">
                <a:solidFill>
                  <a:srgbClr val="FFFFFF">
                    <a:alpha val="100000"/>
                  </a:srgbClr>
                </a:solidFill>
                <a:latin typeface="Microsoft YaHei"/>
                <a:ea typeface="Microsoft YaHei"/>
                <a:cs typeface="Microsoft YaHei"/>
              </a:rPr>
              <a:t>成熟产品</a:t>
            </a:r>
            <a:r>
              <a:rPr sz="1200" b="1" kern="0" spc="-10" dirty="0">
                <a:solidFill>
                  <a:srgbClr val="000000">
                    <a:alpha val="100000"/>
                  </a:srgbClr>
                </a:solidFill>
                <a:latin typeface="Microsoft YaHei"/>
                <a:ea typeface="Microsoft YaHei"/>
                <a:cs typeface="Microsoft YaHei"/>
              </a:rPr>
              <a:t>复用</a:t>
            </a:r>
            <a:endParaRPr sz="1200" dirty="0">
              <a:latin typeface="Microsoft YaHei"/>
              <a:ea typeface="Microsoft YaHei"/>
              <a:cs typeface="Microsoft YaHei"/>
            </a:endParaRPr>
          </a:p>
          <a:p>
            <a:pPr marL="12700" algn="l" rtl="0" eaLnBrk="0">
              <a:lnSpc>
                <a:spcPts val="1582"/>
              </a:lnSpc>
              <a:tabLst/>
            </a:pPr>
            <a:r>
              <a:rPr sz="1200" b="1" kern="0" spc="-10" dirty="0">
                <a:solidFill>
                  <a:srgbClr val="FFFFFF">
                    <a:alpha val="100000"/>
                  </a:srgbClr>
                </a:solidFill>
                <a:latin typeface="Microsoft YaHei"/>
                <a:ea typeface="Microsoft YaHei"/>
                <a:cs typeface="Microsoft YaHei"/>
              </a:rPr>
              <a:t>Profile+编解码插件</a:t>
            </a:r>
            <a:endParaRPr sz="1200" dirty="0">
              <a:latin typeface="Microsoft YaHei"/>
              <a:ea typeface="Microsoft YaHei"/>
              <a:cs typeface="Microsoft YaHei"/>
            </a:endParaRPr>
          </a:p>
          <a:p>
            <a:pPr marL="273050" algn="l" rtl="0" eaLnBrk="0">
              <a:lnSpc>
                <a:spcPts val="3174"/>
              </a:lnSpc>
              <a:tabLst/>
            </a:pPr>
            <a:r>
              <a:rPr sz="1500" b="1" kern="0" spc="0" dirty="0">
                <a:solidFill>
                  <a:srgbClr val="FFFFFF">
                    <a:alpha val="100000"/>
                  </a:srgbClr>
                </a:solidFill>
                <a:latin typeface="Microsoft YaHei"/>
                <a:ea typeface="Microsoft YaHei"/>
                <a:cs typeface="Microsoft YaHei"/>
              </a:rPr>
              <a:t>AEP</a:t>
            </a:r>
            <a:r>
              <a:rPr sz="1500" b="1" kern="0" spc="150" dirty="0">
                <a:solidFill>
                  <a:srgbClr val="FFFFFF">
                    <a:alpha val="100000"/>
                  </a:srgbClr>
                </a:solidFill>
                <a:latin typeface="Microsoft YaHei"/>
                <a:ea typeface="Microsoft YaHei"/>
                <a:cs typeface="Microsoft YaHei"/>
              </a:rPr>
              <a:t>分节点</a:t>
            </a:r>
            <a:endParaRPr sz="1500" dirty="0">
              <a:latin typeface="Microsoft YaHei"/>
              <a:ea typeface="Microsoft YaHei"/>
              <a:cs typeface="Microsoft YaHei"/>
            </a:endParaRPr>
          </a:p>
        </p:txBody>
      </p:sp>
      <p:sp>
        <p:nvSpPr>
          <p:cNvPr id="234" name="textbox 234"/>
          <p:cNvSpPr/>
          <p:nvPr/>
        </p:nvSpPr>
        <p:spPr>
          <a:xfrm>
            <a:off x="418668" y="329958"/>
            <a:ext cx="3367404" cy="334009"/>
          </a:xfrm>
          <a:prstGeom prst="rect">
            <a:avLst/>
          </a:prstGeom>
          <a:noFill/>
          <a:ln w="0" cap="flat">
            <a:noFill/>
            <a:prstDash val="solid"/>
            <a:miter lim="0"/>
          </a:ln>
        </p:spPr>
        <p:txBody>
          <a:bodyPr vert="horz" wrap="square" lIns="0" tIns="0" rIns="0" bIns="0"/>
          <a:lstStyle/>
          <a:p>
            <a:pPr algn="l" rtl="0" eaLnBrk="0">
              <a:lnSpc>
                <a:spcPct val="81563"/>
              </a:lnSpc>
              <a:tabLst/>
            </a:pPr>
            <a:endParaRPr sz="100" dirty="0">
              <a:latin typeface="Arial"/>
              <a:ea typeface="Arial"/>
              <a:cs typeface="Arial"/>
            </a:endParaRPr>
          </a:p>
          <a:p>
            <a:pPr marL="12700" algn="l" rtl="0" eaLnBrk="0">
              <a:lnSpc>
                <a:spcPct val="88000"/>
              </a:lnSpc>
              <a:tabLst/>
            </a:pPr>
            <a:r>
              <a:rPr sz="2300" b="1" kern="0" spc="110" dirty="0">
                <a:solidFill>
                  <a:srgbClr val="C00000">
                    <a:alpha val="100000"/>
                  </a:srgbClr>
                </a:solidFill>
                <a:latin typeface="Microsoft YaHei"/>
                <a:ea typeface="Microsoft YaHei"/>
                <a:cs typeface="Microsoft YaHei"/>
              </a:rPr>
              <a:t>迁移</a:t>
            </a:r>
            <a:r>
              <a:rPr sz="2300" b="1" kern="0" spc="0" dirty="0">
                <a:solidFill>
                  <a:srgbClr val="C00000">
                    <a:alpha val="100000"/>
                  </a:srgbClr>
                </a:solidFill>
                <a:latin typeface="Microsoft YaHei"/>
                <a:ea typeface="Microsoft YaHei"/>
                <a:cs typeface="Microsoft YaHei"/>
              </a:rPr>
              <a:t>AEP</a:t>
            </a:r>
            <a:r>
              <a:rPr sz="2300" b="1" kern="0" spc="110" dirty="0">
                <a:solidFill>
                  <a:srgbClr val="C00000">
                    <a:alpha val="100000"/>
                  </a:srgbClr>
                </a:solidFill>
                <a:latin typeface="Microsoft YaHei"/>
                <a:ea typeface="Microsoft YaHei"/>
                <a:cs typeface="Microsoft YaHei"/>
              </a:rPr>
              <a:t>分节点方案介绍</a:t>
            </a:r>
            <a:endParaRPr sz="2300" dirty="0">
              <a:latin typeface="Microsoft YaHei"/>
              <a:ea typeface="Microsoft YaHei"/>
              <a:cs typeface="Microsoft YaHei"/>
            </a:endParaRPr>
          </a:p>
        </p:txBody>
      </p:sp>
      <p:sp>
        <p:nvSpPr>
          <p:cNvPr id="236" name="textbox 236"/>
          <p:cNvSpPr/>
          <p:nvPr/>
        </p:nvSpPr>
        <p:spPr>
          <a:xfrm>
            <a:off x="5505589" y="1660461"/>
            <a:ext cx="1397000" cy="72072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582"/>
              </a:lnSpc>
              <a:tabLst/>
            </a:pPr>
            <a:r>
              <a:rPr sz="1200" b="1" kern="0" spc="-10" dirty="0">
                <a:solidFill>
                  <a:srgbClr val="FFFFFF">
                    <a:alpha val="100000"/>
                  </a:srgbClr>
                </a:solidFill>
                <a:latin typeface="Microsoft YaHei"/>
                <a:ea typeface="Microsoft YaHei"/>
                <a:cs typeface="Microsoft YaHei"/>
              </a:rPr>
              <a:t>Profile+编解码插件</a:t>
            </a:r>
            <a:endParaRPr sz="1200" dirty="0">
              <a:latin typeface="Microsoft YaHei"/>
              <a:ea typeface="Microsoft YaHei"/>
              <a:cs typeface="Microsoft YaHei"/>
            </a:endParaRPr>
          </a:p>
          <a:p>
            <a:pPr algn="l" rtl="0" eaLnBrk="0">
              <a:lnSpc>
                <a:spcPct val="154000"/>
              </a:lnSpc>
              <a:tabLst/>
            </a:pPr>
            <a:endParaRPr sz="1000" dirty="0">
              <a:latin typeface="Arial"/>
              <a:ea typeface="Arial"/>
              <a:cs typeface="Arial"/>
            </a:endParaRPr>
          </a:p>
          <a:p>
            <a:pPr algn="l" rtl="0" eaLnBrk="0">
              <a:lnSpc>
                <a:spcPct val="126000"/>
              </a:lnSpc>
              <a:tabLst/>
            </a:pPr>
            <a:endParaRPr sz="300" dirty="0">
              <a:latin typeface="Arial"/>
              <a:ea typeface="Arial"/>
              <a:cs typeface="Arial"/>
            </a:endParaRPr>
          </a:p>
          <a:p>
            <a:pPr marL="210820" algn="l" rtl="0" eaLnBrk="0">
              <a:lnSpc>
                <a:spcPct val="88000"/>
              </a:lnSpc>
              <a:spcBef>
                <a:spcPts val="3"/>
              </a:spcBef>
              <a:tabLst/>
            </a:pPr>
            <a:r>
              <a:rPr sz="1500" b="1" kern="0" spc="0" dirty="0">
                <a:solidFill>
                  <a:srgbClr val="FFFFFF">
                    <a:alpha val="100000"/>
                  </a:srgbClr>
                </a:solidFill>
                <a:latin typeface="Microsoft YaHei"/>
                <a:ea typeface="Microsoft YaHei"/>
                <a:cs typeface="Microsoft YaHei"/>
              </a:rPr>
              <a:t>NB</a:t>
            </a:r>
            <a:r>
              <a:rPr sz="1500" b="1" kern="0" spc="90" dirty="0">
                <a:solidFill>
                  <a:srgbClr val="FFFFFF">
                    <a:alpha val="100000"/>
                  </a:srgbClr>
                </a:solidFill>
                <a:latin typeface="Microsoft YaHei"/>
                <a:ea typeface="Microsoft YaHei"/>
                <a:cs typeface="Microsoft YaHei"/>
              </a:rPr>
              <a:t>网关平台</a:t>
            </a:r>
            <a:endParaRPr sz="1500" dirty="0">
              <a:latin typeface="Microsoft YaHei"/>
              <a:ea typeface="Microsoft YaHei"/>
              <a:cs typeface="Microsoft YaHei"/>
            </a:endParaRPr>
          </a:p>
        </p:txBody>
      </p:sp>
      <p:pic>
        <p:nvPicPr>
          <p:cNvPr id="238" name="picture 238"/>
          <p:cNvPicPr>
            <a:picLocks noChangeAspect="1"/>
          </p:cNvPicPr>
          <p:nvPr/>
        </p:nvPicPr>
        <p:blipFill>
          <a:blip r:embed="rId3"/>
          <a:stretch>
            <a:fillRect/>
          </a:stretch>
        </p:blipFill>
        <p:spPr>
          <a:xfrm rot="21600000">
            <a:off x="335279" y="807720"/>
            <a:ext cx="11519916" cy="67055"/>
          </a:xfrm>
          <a:prstGeom prst="rect">
            <a:avLst/>
          </a:prstGeom>
        </p:spPr>
      </p:pic>
      <p:sp>
        <p:nvSpPr>
          <p:cNvPr id="240" name="textbox 240"/>
          <p:cNvSpPr/>
          <p:nvPr/>
        </p:nvSpPr>
        <p:spPr>
          <a:xfrm>
            <a:off x="894283" y="1054328"/>
            <a:ext cx="3287395" cy="252095"/>
          </a:xfrm>
          <a:prstGeom prst="rect">
            <a:avLst/>
          </a:prstGeom>
          <a:noFill/>
          <a:ln w="0" cap="flat">
            <a:noFill/>
            <a:prstDash val="solid"/>
            <a:miter lim="0"/>
          </a:ln>
        </p:spPr>
        <p:txBody>
          <a:bodyPr vert="horz" wrap="square" lIns="0" tIns="0" rIns="0" bIns="0"/>
          <a:lstStyle/>
          <a:p>
            <a:pPr algn="l" rtl="0" eaLnBrk="0">
              <a:lnSpc>
                <a:spcPct val="91649"/>
              </a:lnSpc>
              <a:tabLst/>
            </a:pPr>
            <a:endParaRPr sz="100" dirty="0">
              <a:latin typeface="Arial"/>
              <a:ea typeface="Arial"/>
              <a:cs typeface="Arial"/>
            </a:endParaRPr>
          </a:p>
          <a:p>
            <a:pPr algn="r" rtl="0" eaLnBrk="0">
              <a:lnSpc>
                <a:spcPct val="87000"/>
              </a:lnSpc>
              <a:tabLst/>
            </a:pPr>
            <a:r>
              <a:rPr sz="1700" b="1" kern="0" spc="0" dirty="0">
                <a:solidFill>
                  <a:srgbClr val="2F5597">
                    <a:alpha val="100000"/>
                  </a:srgbClr>
                </a:solidFill>
                <a:latin typeface="Microsoft YaHei"/>
                <a:ea typeface="Microsoft YaHei"/>
                <a:cs typeface="Microsoft YaHei"/>
              </a:rPr>
              <a:t>NB</a:t>
            </a:r>
            <a:r>
              <a:rPr sz="1700" b="1" kern="0" spc="10" dirty="0">
                <a:solidFill>
                  <a:srgbClr val="2F5597">
                    <a:alpha val="100000"/>
                  </a:srgbClr>
                </a:solidFill>
                <a:latin typeface="Microsoft YaHei"/>
                <a:ea typeface="Microsoft YaHei"/>
                <a:cs typeface="Microsoft YaHei"/>
              </a:rPr>
              <a:t>网关存量设备无感迁</a:t>
            </a:r>
            <a:r>
              <a:rPr sz="1700" b="1" kern="0" spc="0" dirty="0">
                <a:solidFill>
                  <a:srgbClr val="2F5597">
                    <a:alpha val="100000"/>
                  </a:srgbClr>
                </a:solidFill>
                <a:latin typeface="Microsoft YaHei"/>
                <a:ea typeface="Microsoft YaHei"/>
                <a:cs typeface="Microsoft YaHei"/>
              </a:rPr>
              <a:t>移方案：</a:t>
            </a:r>
            <a:endParaRPr sz="1700" dirty="0">
              <a:latin typeface="Microsoft YaHei"/>
              <a:ea typeface="Microsoft YaHei"/>
              <a:cs typeface="Microsoft YaHei"/>
            </a:endParaRPr>
          </a:p>
        </p:txBody>
      </p:sp>
      <p:pic>
        <p:nvPicPr>
          <p:cNvPr id="242" name="picture 242"/>
          <p:cNvPicPr>
            <a:picLocks noChangeAspect="1"/>
          </p:cNvPicPr>
          <p:nvPr/>
        </p:nvPicPr>
        <p:blipFill>
          <a:blip r:embed="rId4"/>
          <a:stretch>
            <a:fillRect/>
          </a:stretch>
        </p:blipFill>
        <p:spPr>
          <a:xfrm rot="21600000">
            <a:off x="11297604" y="201722"/>
            <a:ext cx="768423" cy="542128"/>
          </a:xfrm>
          <a:prstGeom prst="rect">
            <a:avLst/>
          </a:prstGeom>
        </p:spPr>
      </p:pic>
      <p:sp>
        <p:nvSpPr>
          <p:cNvPr id="244" name="textbox 244"/>
          <p:cNvSpPr/>
          <p:nvPr/>
        </p:nvSpPr>
        <p:spPr>
          <a:xfrm>
            <a:off x="7145451" y="4048632"/>
            <a:ext cx="513080" cy="736600"/>
          </a:xfrm>
          <a:prstGeom prst="rect">
            <a:avLst/>
          </a:prstGeom>
          <a:noFill/>
          <a:ln w="0" cap="flat">
            <a:noFill/>
            <a:prstDash val="solid"/>
            <a:miter lim="0"/>
          </a:ln>
        </p:spPr>
        <p:txBody>
          <a:bodyPr vert="horz" wrap="square" lIns="0" tIns="0" rIns="0" bIns="0"/>
          <a:lstStyle/>
          <a:p>
            <a:pPr algn="l" rtl="0" eaLnBrk="0">
              <a:lnSpc>
                <a:spcPct val="82431"/>
              </a:lnSpc>
              <a:tabLst/>
            </a:pPr>
            <a:endParaRPr sz="100" dirty="0">
              <a:latin typeface="Arial"/>
              <a:ea typeface="Arial"/>
              <a:cs typeface="Arial"/>
            </a:endParaRPr>
          </a:p>
          <a:p>
            <a:pPr marL="26034" algn="l" rtl="0" eaLnBrk="0">
              <a:lnSpc>
                <a:spcPct val="79000"/>
              </a:lnSpc>
              <a:tabLst/>
            </a:pPr>
            <a:r>
              <a:rPr sz="1200" b="1" kern="0" spc="-10" dirty="0">
                <a:solidFill>
                  <a:srgbClr val="FFFFFF">
                    <a:alpha val="100000"/>
                  </a:srgbClr>
                </a:solidFill>
                <a:latin typeface="Microsoft YaHei"/>
                <a:ea typeface="Microsoft YaHei"/>
                <a:cs typeface="Microsoft YaHei"/>
              </a:rPr>
              <a:t>AEP平</a:t>
            </a:r>
            <a:endParaRPr sz="1200" dirty="0">
              <a:latin typeface="Microsoft YaHei"/>
              <a:ea typeface="Microsoft YaHei"/>
              <a:cs typeface="Microsoft YaHei"/>
            </a:endParaRPr>
          </a:p>
          <a:p>
            <a:pPr marL="12700" algn="l" rtl="0" eaLnBrk="0">
              <a:lnSpc>
                <a:spcPts val="1582"/>
              </a:lnSpc>
              <a:tabLst/>
            </a:pPr>
            <a:r>
              <a:rPr sz="1200" b="1" kern="0" spc="-10" dirty="0">
                <a:solidFill>
                  <a:srgbClr val="FFFFFF">
                    <a:alpha val="100000"/>
                  </a:srgbClr>
                </a:solidFill>
                <a:latin typeface="Microsoft YaHei"/>
                <a:ea typeface="Microsoft YaHei"/>
                <a:cs typeface="Microsoft YaHei"/>
              </a:rPr>
              <a:t>台API/</a:t>
            </a:r>
            <a:endParaRPr sz="1200" dirty="0">
              <a:latin typeface="Microsoft YaHei"/>
              <a:ea typeface="Microsoft YaHei"/>
              <a:cs typeface="Microsoft YaHei"/>
            </a:endParaRPr>
          </a:p>
          <a:p>
            <a:pPr marL="101600" algn="l" rtl="0" eaLnBrk="0">
              <a:lnSpc>
                <a:spcPct val="83000"/>
              </a:lnSpc>
              <a:spcBef>
                <a:spcPts val="102"/>
              </a:spcBef>
              <a:tabLst/>
            </a:pPr>
            <a:r>
              <a:rPr sz="1200" b="1" kern="0" spc="-20" dirty="0">
                <a:solidFill>
                  <a:srgbClr val="FFFFFF">
                    <a:alpha val="100000"/>
                  </a:srgbClr>
                </a:solidFill>
                <a:latin typeface="Microsoft YaHei"/>
                <a:ea typeface="Microsoft YaHei"/>
                <a:cs typeface="Microsoft YaHei"/>
              </a:rPr>
              <a:t>兼容</a:t>
            </a:r>
            <a:endParaRPr sz="1200" dirty="0">
              <a:latin typeface="Microsoft YaHei"/>
              <a:ea typeface="Microsoft YaHei"/>
              <a:cs typeface="Microsoft YaHei"/>
            </a:endParaRPr>
          </a:p>
          <a:p>
            <a:pPr marL="120014" algn="l" rtl="0" eaLnBrk="0">
              <a:lnSpc>
                <a:spcPts val="1582"/>
              </a:lnSpc>
              <a:tabLst/>
            </a:pPr>
            <a:r>
              <a:rPr sz="1200" b="1" kern="0" spc="-10" dirty="0">
                <a:solidFill>
                  <a:srgbClr val="FFFFFF">
                    <a:alpha val="100000"/>
                  </a:srgbClr>
                </a:solidFill>
                <a:latin typeface="Microsoft YaHei"/>
                <a:ea typeface="Microsoft YaHei"/>
                <a:cs typeface="Microsoft YaHei"/>
              </a:rPr>
              <a:t>API</a:t>
            </a:r>
            <a:endParaRPr sz="1200" dirty="0">
              <a:latin typeface="Microsoft YaHei"/>
              <a:ea typeface="Microsoft YaHei"/>
              <a:cs typeface="Microsoft YaHei"/>
            </a:endParaRPr>
          </a:p>
        </p:txBody>
      </p:sp>
      <p:sp>
        <p:nvSpPr>
          <p:cNvPr id="246" name="textbox 246"/>
          <p:cNvSpPr/>
          <p:nvPr/>
        </p:nvSpPr>
        <p:spPr>
          <a:xfrm>
            <a:off x="7178129" y="2117636"/>
            <a:ext cx="441325" cy="370840"/>
          </a:xfrm>
          <a:prstGeom prst="rect">
            <a:avLst/>
          </a:prstGeom>
          <a:noFill/>
          <a:ln w="0" cap="flat">
            <a:noFill/>
            <a:prstDash val="solid"/>
            <a:miter lim="0"/>
          </a:ln>
        </p:spPr>
        <p:txBody>
          <a:bodyPr vert="horz" wrap="square" lIns="0" tIns="0" rIns="0" bIns="0"/>
          <a:lstStyle/>
          <a:p>
            <a:pPr algn="l" rtl="0" eaLnBrk="0">
              <a:lnSpc>
                <a:spcPct val="82430"/>
              </a:lnSpc>
              <a:tabLst/>
            </a:pPr>
            <a:endParaRPr sz="100" dirty="0">
              <a:latin typeface="Arial"/>
              <a:ea typeface="Arial"/>
              <a:cs typeface="Arial"/>
            </a:endParaRPr>
          </a:p>
          <a:p>
            <a:pPr marL="40005" algn="l" rtl="0" eaLnBrk="0">
              <a:lnSpc>
                <a:spcPct val="79000"/>
              </a:lnSpc>
              <a:tabLst/>
            </a:pPr>
            <a:r>
              <a:rPr sz="1200" b="1" kern="0" spc="-40" dirty="0">
                <a:solidFill>
                  <a:srgbClr val="FFFFFF">
                    <a:alpha val="100000"/>
                  </a:srgbClr>
                </a:solidFill>
                <a:latin typeface="Microsoft YaHei"/>
                <a:ea typeface="Microsoft YaHei"/>
                <a:cs typeface="Microsoft YaHei"/>
              </a:rPr>
              <a:t>NB网</a:t>
            </a:r>
            <a:endParaRPr sz="1200" dirty="0">
              <a:latin typeface="Microsoft YaHei"/>
              <a:ea typeface="Microsoft YaHei"/>
              <a:cs typeface="Microsoft YaHei"/>
            </a:endParaRPr>
          </a:p>
          <a:p>
            <a:pPr marL="12700" algn="l" rtl="0" eaLnBrk="0">
              <a:lnSpc>
                <a:spcPts val="1582"/>
              </a:lnSpc>
              <a:tabLst/>
            </a:pPr>
            <a:r>
              <a:rPr sz="1200" b="1" kern="0" spc="-10" dirty="0">
                <a:solidFill>
                  <a:srgbClr val="FFFFFF">
                    <a:alpha val="100000"/>
                  </a:srgbClr>
                </a:solidFill>
                <a:latin typeface="Microsoft YaHei"/>
                <a:ea typeface="Microsoft YaHei"/>
                <a:cs typeface="Microsoft YaHei"/>
              </a:rPr>
              <a:t>关API</a:t>
            </a:r>
            <a:endParaRPr sz="1200" dirty="0">
              <a:latin typeface="Microsoft YaHei"/>
              <a:ea typeface="Microsoft YaHei"/>
              <a:cs typeface="Microsoft YaHei"/>
            </a:endParaRPr>
          </a:p>
        </p:txBody>
      </p:sp>
      <p:sp>
        <p:nvSpPr>
          <p:cNvPr id="248" name="textbox 248"/>
          <p:cNvSpPr/>
          <p:nvPr/>
        </p:nvSpPr>
        <p:spPr>
          <a:xfrm>
            <a:off x="4090806" y="2779191"/>
            <a:ext cx="379095" cy="422909"/>
          </a:xfrm>
          <a:prstGeom prst="rect">
            <a:avLst/>
          </a:prstGeom>
          <a:noFill/>
          <a:ln w="0" cap="flat">
            <a:noFill/>
            <a:prstDash val="solid"/>
            <a:miter lim="0"/>
          </a:ln>
        </p:spPr>
        <p:txBody>
          <a:bodyPr vert="horz" wrap="square" lIns="0" tIns="0" rIns="0" bIns="0"/>
          <a:lstStyle/>
          <a:p>
            <a:pPr algn="l" rtl="0" eaLnBrk="0">
              <a:lnSpc>
                <a:spcPct val="78332"/>
              </a:lnSpc>
              <a:tabLst/>
            </a:pPr>
            <a:endParaRPr sz="100" dirty="0">
              <a:latin typeface="Arial"/>
              <a:ea typeface="Arial"/>
              <a:cs typeface="Arial"/>
            </a:endParaRPr>
          </a:p>
          <a:p>
            <a:pPr marL="12700" algn="l" rtl="0" eaLnBrk="0">
              <a:lnSpc>
                <a:spcPct val="86000"/>
              </a:lnSpc>
              <a:tabLst/>
            </a:pPr>
            <a:r>
              <a:rPr sz="1400" b="1" kern="0" spc="-20" dirty="0">
                <a:solidFill>
                  <a:srgbClr val="000000">
                    <a:alpha val="100000"/>
                  </a:srgbClr>
                </a:solidFill>
                <a:latin typeface="Microsoft YaHei"/>
                <a:ea typeface="Microsoft YaHei"/>
                <a:cs typeface="Microsoft YaHei"/>
              </a:rPr>
              <a:t>迁移</a:t>
            </a:r>
            <a:endParaRPr sz="1400" dirty="0">
              <a:latin typeface="Microsoft YaHei"/>
              <a:ea typeface="Microsoft YaHei"/>
              <a:cs typeface="Microsoft YaHei"/>
            </a:endParaRPr>
          </a:p>
          <a:p>
            <a:pPr marL="15875" algn="l" rtl="0" eaLnBrk="0">
              <a:lnSpc>
                <a:spcPct val="87000"/>
              </a:lnSpc>
              <a:spcBef>
                <a:spcPts val="228"/>
              </a:spcBef>
              <a:tabLst/>
            </a:pPr>
            <a:r>
              <a:rPr sz="1400" b="1" kern="0" spc="-30" dirty="0">
                <a:solidFill>
                  <a:srgbClr val="000000">
                    <a:alpha val="100000"/>
                  </a:srgbClr>
                </a:solidFill>
                <a:latin typeface="Microsoft YaHei"/>
                <a:ea typeface="Microsoft YaHei"/>
                <a:cs typeface="Microsoft YaHei"/>
              </a:rPr>
              <a:t>割接</a:t>
            </a:r>
            <a:endParaRPr sz="1400" dirty="0">
              <a:latin typeface="Microsoft YaHei"/>
              <a:ea typeface="Microsoft YaHei"/>
              <a:cs typeface="Microsoft YaHei"/>
            </a:endParaRPr>
          </a:p>
        </p:txBody>
      </p:sp>
      <p:sp>
        <p:nvSpPr>
          <p:cNvPr id="250" name="textbox 250"/>
          <p:cNvSpPr/>
          <p:nvPr/>
        </p:nvSpPr>
        <p:spPr>
          <a:xfrm>
            <a:off x="4895359" y="4195935"/>
            <a:ext cx="243204" cy="490855"/>
          </a:xfrm>
          <a:prstGeom prst="rect">
            <a:avLst/>
          </a:prstGeom>
          <a:noFill/>
          <a:ln w="0" cap="flat">
            <a:noFill/>
            <a:prstDash val="solid"/>
            <a:miter lim="0"/>
          </a:ln>
        </p:spPr>
        <p:txBody>
          <a:bodyPr vert="horz" wrap="square" lIns="0" tIns="0" rIns="0" bIns="0"/>
          <a:lstStyle/>
          <a:p>
            <a:pPr algn="l" rtl="0" eaLnBrk="0">
              <a:lnSpc>
                <a:spcPct val="79459"/>
              </a:lnSpc>
              <a:tabLst/>
            </a:pPr>
            <a:endParaRPr sz="100" dirty="0">
              <a:latin typeface="Arial"/>
              <a:ea typeface="Arial"/>
              <a:cs typeface="Arial"/>
            </a:endParaRPr>
          </a:p>
          <a:p>
            <a:pPr marL="13970" algn="l" rtl="0" eaLnBrk="0">
              <a:lnSpc>
                <a:spcPct val="76000"/>
              </a:lnSpc>
              <a:tabLst/>
            </a:pPr>
            <a:r>
              <a:rPr sz="1100" b="1" kern="0" spc="-60" dirty="0">
                <a:solidFill>
                  <a:srgbClr val="FFFFFF">
                    <a:alpha val="100000"/>
                  </a:srgbClr>
                </a:solidFill>
                <a:latin typeface="Microsoft YaHei"/>
                <a:ea typeface="Microsoft YaHei"/>
                <a:cs typeface="Microsoft YaHei"/>
              </a:rPr>
              <a:t>LW</a:t>
            </a:r>
            <a:endParaRPr sz="1100" dirty="0">
              <a:latin typeface="Microsoft YaHei"/>
              <a:ea typeface="Microsoft YaHei"/>
              <a:cs typeface="Microsoft YaHei"/>
            </a:endParaRPr>
          </a:p>
          <a:p>
            <a:pPr marL="12700" algn="l" rtl="0" eaLnBrk="0">
              <a:lnSpc>
                <a:spcPts val="1457"/>
              </a:lnSpc>
              <a:tabLst/>
            </a:pPr>
            <a:r>
              <a:rPr sz="1100" b="1" kern="0" spc="-60" dirty="0">
                <a:solidFill>
                  <a:srgbClr val="FFFFFF">
                    <a:alpha val="100000"/>
                  </a:srgbClr>
                </a:solidFill>
                <a:latin typeface="Microsoft YaHei"/>
                <a:ea typeface="Microsoft YaHei"/>
                <a:cs typeface="Microsoft YaHei"/>
              </a:rPr>
              <a:t>M2</a:t>
            </a:r>
            <a:endParaRPr sz="1100" dirty="0">
              <a:latin typeface="Microsoft YaHei"/>
              <a:ea typeface="Microsoft YaHei"/>
              <a:cs typeface="Microsoft YaHei"/>
            </a:endParaRPr>
          </a:p>
          <a:p>
            <a:pPr marL="55244" algn="l" rtl="0" eaLnBrk="0">
              <a:lnSpc>
                <a:spcPct val="77000"/>
              </a:lnSpc>
              <a:spcBef>
                <a:spcPts val="188"/>
              </a:spcBef>
              <a:tabLst/>
            </a:pPr>
            <a:r>
              <a:rPr sz="1100" b="1" kern="0" spc="-10" dirty="0">
                <a:solidFill>
                  <a:srgbClr val="FFFFFF">
                    <a:alpha val="100000"/>
                  </a:srgbClr>
                </a:solidFill>
                <a:latin typeface="Microsoft YaHei"/>
                <a:ea typeface="Microsoft YaHei"/>
                <a:cs typeface="Microsoft YaHei"/>
              </a:rPr>
              <a:t>M</a:t>
            </a:r>
            <a:endParaRPr sz="1100" dirty="0">
              <a:latin typeface="Microsoft YaHei"/>
              <a:ea typeface="Microsoft YaHei"/>
              <a:cs typeface="Microsoft YaHei"/>
            </a:endParaRPr>
          </a:p>
        </p:txBody>
      </p:sp>
      <p:sp>
        <p:nvSpPr>
          <p:cNvPr id="252" name="textbox 252"/>
          <p:cNvSpPr/>
          <p:nvPr/>
        </p:nvSpPr>
        <p:spPr>
          <a:xfrm>
            <a:off x="4895867" y="2045317"/>
            <a:ext cx="243204" cy="490855"/>
          </a:xfrm>
          <a:prstGeom prst="rect">
            <a:avLst/>
          </a:prstGeom>
          <a:noFill/>
          <a:ln w="0" cap="flat">
            <a:noFill/>
            <a:prstDash val="solid"/>
            <a:miter lim="0"/>
          </a:ln>
        </p:spPr>
        <p:txBody>
          <a:bodyPr vert="horz" wrap="square" lIns="0" tIns="0" rIns="0" bIns="0"/>
          <a:lstStyle/>
          <a:p>
            <a:pPr algn="l" rtl="0" eaLnBrk="0">
              <a:lnSpc>
                <a:spcPct val="79459"/>
              </a:lnSpc>
              <a:tabLst/>
            </a:pPr>
            <a:endParaRPr sz="100" dirty="0">
              <a:latin typeface="Arial"/>
              <a:ea typeface="Arial"/>
              <a:cs typeface="Arial"/>
            </a:endParaRPr>
          </a:p>
          <a:p>
            <a:pPr marL="13970" algn="l" rtl="0" eaLnBrk="0">
              <a:lnSpc>
                <a:spcPct val="76000"/>
              </a:lnSpc>
              <a:tabLst/>
            </a:pPr>
            <a:r>
              <a:rPr sz="1100" b="1" kern="0" spc="-60" dirty="0">
                <a:solidFill>
                  <a:srgbClr val="FFFFFF">
                    <a:alpha val="100000"/>
                  </a:srgbClr>
                </a:solidFill>
                <a:latin typeface="Microsoft YaHei"/>
                <a:ea typeface="Microsoft YaHei"/>
                <a:cs typeface="Microsoft YaHei"/>
              </a:rPr>
              <a:t>LW</a:t>
            </a:r>
            <a:endParaRPr sz="1100" dirty="0">
              <a:latin typeface="Microsoft YaHei"/>
              <a:ea typeface="Microsoft YaHei"/>
              <a:cs typeface="Microsoft YaHei"/>
            </a:endParaRPr>
          </a:p>
          <a:p>
            <a:pPr marL="12700" algn="l" rtl="0" eaLnBrk="0">
              <a:lnSpc>
                <a:spcPts val="1457"/>
              </a:lnSpc>
              <a:tabLst/>
            </a:pPr>
            <a:r>
              <a:rPr sz="1100" b="1" kern="0" spc="-60" dirty="0">
                <a:solidFill>
                  <a:srgbClr val="FFFFFF">
                    <a:alpha val="100000"/>
                  </a:srgbClr>
                </a:solidFill>
                <a:latin typeface="Microsoft YaHei"/>
                <a:ea typeface="Microsoft YaHei"/>
                <a:cs typeface="Microsoft YaHei"/>
              </a:rPr>
              <a:t>M2</a:t>
            </a:r>
            <a:endParaRPr sz="1100" dirty="0">
              <a:latin typeface="Microsoft YaHei"/>
              <a:ea typeface="Microsoft YaHei"/>
              <a:cs typeface="Microsoft YaHei"/>
            </a:endParaRPr>
          </a:p>
          <a:p>
            <a:pPr marL="55244" algn="l" rtl="0" eaLnBrk="0">
              <a:lnSpc>
                <a:spcPct val="77000"/>
              </a:lnSpc>
              <a:spcBef>
                <a:spcPts val="188"/>
              </a:spcBef>
              <a:tabLst/>
            </a:pPr>
            <a:r>
              <a:rPr sz="1100" b="1" kern="0" spc="-10" dirty="0">
                <a:solidFill>
                  <a:srgbClr val="FFFFFF">
                    <a:alpha val="100000"/>
                  </a:srgbClr>
                </a:solidFill>
                <a:latin typeface="Microsoft YaHei"/>
                <a:ea typeface="Microsoft YaHei"/>
                <a:cs typeface="Microsoft YaHei"/>
              </a:rPr>
              <a:t>M</a:t>
            </a:r>
            <a:endParaRPr sz="1100" dirty="0">
              <a:latin typeface="Microsoft YaHei"/>
              <a:ea typeface="Microsoft YaHei"/>
              <a:cs typeface="Microsoft YaHei"/>
            </a:endParaRPr>
          </a:p>
        </p:txBody>
      </p:sp>
      <p:sp>
        <p:nvSpPr>
          <p:cNvPr id="254" name="textbox 254"/>
          <p:cNvSpPr/>
          <p:nvPr/>
        </p:nvSpPr>
        <p:spPr>
          <a:xfrm>
            <a:off x="8360147" y="4487254"/>
            <a:ext cx="335279" cy="26098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853"/>
              </a:lnSpc>
              <a:tabLst/>
            </a:pPr>
            <a:r>
              <a:rPr sz="1400" b="1" kern="0" spc="-10" dirty="0">
                <a:solidFill>
                  <a:srgbClr val="000000">
                    <a:alpha val="100000"/>
                  </a:srgbClr>
                </a:solidFill>
                <a:latin typeface="Microsoft YaHei"/>
                <a:ea typeface="Microsoft YaHei"/>
                <a:cs typeface="Microsoft YaHei"/>
              </a:rPr>
              <a:t>API</a:t>
            </a:r>
            <a:endParaRPr sz="1400" dirty="0">
              <a:latin typeface="Microsoft YaHei"/>
              <a:ea typeface="Microsoft YaHei"/>
              <a:cs typeface="Microsoft YaHei"/>
            </a:endParaRPr>
          </a:p>
        </p:txBody>
      </p:sp>
      <p:sp>
        <p:nvSpPr>
          <p:cNvPr id="256" name="textbox 256"/>
          <p:cNvSpPr/>
          <p:nvPr/>
        </p:nvSpPr>
        <p:spPr>
          <a:xfrm>
            <a:off x="8166284" y="3605422"/>
            <a:ext cx="379729" cy="211454"/>
          </a:xfrm>
          <a:prstGeom prst="rect">
            <a:avLst/>
          </a:prstGeom>
          <a:noFill/>
          <a:ln w="0" cap="flat">
            <a:noFill/>
            <a:prstDash val="solid"/>
            <a:miter lim="0"/>
          </a:ln>
        </p:spPr>
        <p:txBody>
          <a:bodyPr vert="horz" wrap="square" lIns="0" tIns="0" rIns="0" bIns="0"/>
          <a:lstStyle/>
          <a:p>
            <a:pPr algn="l" rtl="0" eaLnBrk="0">
              <a:lnSpc>
                <a:spcPct val="82816"/>
              </a:lnSpc>
              <a:tabLst/>
            </a:pPr>
            <a:endParaRPr sz="100" dirty="0">
              <a:latin typeface="Arial"/>
              <a:ea typeface="Arial"/>
              <a:cs typeface="Arial"/>
            </a:endParaRPr>
          </a:p>
          <a:p>
            <a:pPr marL="12700" algn="l" rtl="0" eaLnBrk="0">
              <a:lnSpc>
                <a:spcPct val="87000"/>
              </a:lnSpc>
              <a:tabLst/>
            </a:pPr>
            <a:r>
              <a:rPr sz="1400" b="1" kern="0" spc="-20" dirty="0">
                <a:solidFill>
                  <a:srgbClr val="000000">
                    <a:alpha val="100000"/>
                  </a:srgbClr>
                </a:solidFill>
                <a:latin typeface="Microsoft YaHei"/>
                <a:ea typeface="Microsoft YaHei"/>
                <a:cs typeface="Microsoft YaHei"/>
              </a:rPr>
              <a:t>推送</a:t>
            </a:r>
            <a:endParaRPr sz="1400" dirty="0">
              <a:latin typeface="Microsoft YaHei"/>
              <a:ea typeface="Microsoft YaHei"/>
              <a:cs typeface="Microsoft YaHei"/>
            </a:endParaRPr>
          </a:p>
        </p:txBody>
      </p:sp>
      <p:sp>
        <p:nvSpPr>
          <p:cNvPr id="258" name="textbox 258"/>
          <p:cNvSpPr/>
          <p:nvPr/>
        </p:nvSpPr>
        <p:spPr>
          <a:xfrm>
            <a:off x="11655450" y="6537521"/>
            <a:ext cx="120014" cy="178435"/>
          </a:xfrm>
          <a:prstGeom prst="rect">
            <a:avLst/>
          </a:prstGeom>
          <a:noFill/>
          <a:ln w="0" cap="flat">
            <a:noFill/>
            <a:prstDash val="solid"/>
            <a:miter lim="0"/>
          </a:ln>
        </p:spPr>
        <p:txBody>
          <a:bodyPr vert="horz" wrap="square" lIns="0" tIns="0" rIns="0" bIns="0"/>
          <a:lstStyle/>
          <a:p>
            <a:pPr algn="l" rtl="0" eaLnBrk="0">
              <a:lnSpc>
                <a:spcPct val="82098"/>
              </a:lnSpc>
              <a:tabLst/>
            </a:pPr>
            <a:endParaRPr sz="100" dirty="0">
              <a:latin typeface="Arial"/>
              <a:ea typeface="Arial"/>
              <a:cs typeface="Arial"/>
            </a:endParaRPr>
          </a:p>
          <a:p>
            <a:pPr marL="12700" algn="l" rtl="0" eaLnBrk="0">
              <a:lnSpc>
                <a:spcPct val="67000"/>
              </a:lnSpc>
              <a:tabLst/>
            </a:pPr>
            <a:r>
              <a:rPr sz="1500" kern="0" spc="-20" dirty="0">
                <a:solidFill>
                  <a:srgbClr val="898989">
                    <a:alpha val="100000"/>
                  </a:srgbClr>
                </a:solidFill>
                <a:latin typeface="Calibri"/>
                <a:ea typeface="Calibri"/>
                <a:cs typeface="Calibri"/>
              </a:rPr>
              <a:t>8</a:t>
            </a:r>
            <a:endParaRPr sz="1500" dirty="0">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0" name="picture 260"/>
          <p:cNvPicPr>
            <a:picLocks noChangeAspect="1"/>
          </p:cNvPicPr>
          <p:nvPr/>
        </p:nvPicPr>
        <p:blipFill>
          <a:blip r:embed="rId2"/>
          <a:stretch>
            <a:fillRect/>
          </a:stretch>
        </p:blipFill>
        <p:spPr>
          <a:xfrm rot="21600000">
            <a:off x="0" y="2267711"/>
            <a:ext cx="8868156" cy="4590288"/>
          </a:xfrm>
          <a:prstGeom prst="rect">
            <a:avLst/>
          </a:prstGeom>
        </p:spPr>
      </p:pic>
      <p:sp>
        <p:nvSpPr>
          <p:cNvPr id="262" name="textbox 262"/>
          <p:cNvSpPr/>
          <p:nvPr/>
        </p:nvSpPr>
        <p:spPr>
          <a:xfrm>
            <a:off x="2171268" y="2314727"/>
            <a:ext cx="8235315" cy="729615"/>
          </a:xfrm>
          <a:prstGeom prst="rect">
            <a:avLst/>
          </a:prstGeom>
          <a:noFill/>
          <a:ln w="0" cap="flat">
            <a:noFill/>
            <a:prstDash val="solid"/>
            <a:miter lim="0"/>
          </a:ln>
        </p:spPr>
        <p:txBody>
          <a:bodyPr vert="horz" wrap="square" lIns="0" tIns="0" rIns="0" bIns="0"/>
          <a:lstStyle/>
          <a:p>
            <a:pPr algn="l" rtl="0" eaLnBrk="0">
              <a:lnSpc>
                <a:spcPct val="90370"/>
              </a:lnSpc>
              <a:tabLst/>
            </a:pPr>
            <a:endParaRPr sz="100" dirty="0">
              <a:latin typeface="Arial"/>
              <a:ea typeface="Arial"/>
              <a:cs typeface="Arial"/>
            </a:endParaRPr>
          </a:p>
          <a:p>
            <a:pPr marL="12700" algn="l" rtl="0" eaLnBrk="0">
              <a:lnSpc>
                <a:spcPct val="87000"/>
              </a:lnSpc>
              <a:tabLst/>
            </a:pPr>
            <a:r>
              <a:rPr sz="5300" b="1" kern="0" spc="70" dirty="0">
                <a:solidFill>
                  <a:srgbClr val="C00000">
                    <a:alpha val="100000"/>
                  </a:srgbClr>
                </a:solidFill>
                <a:latin typeface="Microsoft YaHei"/>
                <a:ea typeface="Microsoft YaHei"/>
                <a:cs typeface="Microsoft YaHei"/>
              </a:rPr>
              <a:t>三、</a:t>
            </a:r>
            <a:r>
              <a:rPr sz="5300" b="1" kern="0" spc="-1400" dirty="0">
                <a:solidFill>
                  <a:srgbClr val="C00000">
                    <a:alpha val="100000"/>
                  </a:srgbClr>
                </a:solidFill>
                <a:latin typeface="Microsoft YaHei"/>
                <a:ea typeface="Microsoft YaHei"/>
                <a:cs typeface="Microsoft YaHei"/>
              </a:rPr>
              <a:t> </a:t>
            </a:r>
            <a:r>
              <a:rPr sz="5300" b="1" kern="0" spc="70" dirty="0">
                <a:solidFill>
                  <a:srgbClr val="C00000">
                    <a:alpha val="100000"/>
                  </a:srgbClr>
                </a:solidFill>
                <a:latin typeface="Microsoft YaHei"/>
                <a:ea typeface="Microsoft YaHei"/>
                <a:cs typeface="Microsoft YaHei"/>
              </a:rPr>
              <a:t>迁移的工作计划和安排</a:t>
            </a:r>
            <a:endParaRPr sz="5300" dirty="0">
              <a:latin typeface="Microsoft YaHei"/>
              <a:ea typeface="Microsoft YaHei"/>
              <a:cs typeface="Microsoft YaHei"/>
            </a:endParaRPr>
          </a:p>
        </p:txBody>
      </p:sp>
      <p:pic>
        <p:nvPicPr>
          <p:cNvPr id="264" name="picture 264"/>
          <p:cNvPicPr>
            <a:picLocks noChangeAspect="1"/>
          </p:cNvPicPr>
          <p:nvPr/>
        </p:nvPicPr>
        <p:blipFill>
          <a:blip r:embed="rId3"/>
          <a:stretch>
            <a:fillRect/>
          </a:stretch>
        </p:blipFill>
        <p:spPr>
          <a:xfrm rot="21600000">
            <a:off x="275159" y="220025"/>
            <a:ext cx="2903497" cy="996243"/>
          </a:xfrm>
          <a:prstGeom prst="rect">
            <a:avLst/>
          </a:prstGeom>
        </p:spPr>
      </p:pic>
      <p:pic>
        <p:nvPicPr>
          <p:cNvPr id="266" name="picture 266"/>
          <p:cNvPicPr>
            <a:picLocks noChangeAspect="1"/>
          </p:cNvPicPr>
          <p:nvPr/>
        </p:nvPicPr>
        <p:blipFill>
          <a:blip r:embed="rId4"/>
          <a:stretch>
            <a:fillRect/>
          </a:stretch>
        </p:blipFill>
        <p:spPr>
          <a:xfrm rot="21600000">
            <a:off x="11199876" y="313943"/>
            <a:ext cx="888492" cy="5440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textbox 268"/>
          <p:cNvSpPr/>
          <p:nvPr/>
        </p:nvSpPr>
        <p:spPr>
          <a:xfrm>
            <a:off x="4347971" y="2081783"/>
            <a:ext cx="3168650" cy="1923414"/>
          </a:xfrm>
          <a:prstGeom prst="rect">
            <a:avLst/>
          </a:prstGeom>
          <a:solidFill>
            <a:srgbClr val="778495">
              <a:alpha val="14509"/>
            </a:srgbClr>
          </a:solidFill>
          <a:ln w="0" cap="flat">
            <a:noFill/>
            <a:prstDash val="solid"/>
            <a:miter lim="0"/>
          </a:ln>
        </p:spPr>
        <p:txBody>
          <a:bodyPr vert="horz" wrap="square" lIns="0" tIns="0" rIns="0" bIns="0"/>
          <a:lstStyle/>
          <a:p>
            <a:pPr algn="l" rtl="0" eaLnBrk="0">
              <a:lnSpc>
                <a:spcPct val="102000"/>
              </a:lnSpc>
              <a:tabLst/>
            </a:pPr>
            <a:endParaRPr sz="700" dirty="0">
              <a:latin typeface="Arial"/>
              <a:ea typeface="Arial"/>
              <a:cs typeface="Arial"/>
            </a:endParaRPr>
          </a:p>
          <a:p>
            <a:pPr marL="92075" algn="l" rtl="0" eaLnBrk="0">
              <a:lnSpc>
                <a:spcPct val="88000"/>
              </a:lnSpc>
              <a:spcBef>
                <a:spcPts val="4"/>
              </a:spcBef>
              <a:tabLst/>
            </a:pPr>
            <a:r>
              <a:rPr sz="2300" b="1" kern="0" spc="90" dirty="0">
                <a:solidFill>
                  <a:srgbClr val="E66D57">
                    <a:alpha val="100000"/>
                  </a:srgbClr>
                </a:solidFill>
                <a:latin typeface="Microsoft YaHei"/>
                <a:ea typeface="Microsoft YaHei"/>
                <a:cs typeface="Microsoft YaHei"/>
              </a:rPr>
              <a:t>第二阶段</a:t>
            </a:r>
            <a:endParaRPr sz="2300" dirty="0">
              <a:latin typeface="Microsoft YaHei"/>
              <a:ea typeface="Microsoft YaHei"/>
              <a:cs typeface="Microsoft YaHei"/>
            </a:endParaRPr>
          </a:p>
          <a:p>
            <a:pPr marL="95250" algn="l" rtl="0" eaLnBrk="0">
              <a:lnSpc>
                <a:spcPct val="87000"/>
              </a:lnSpc>
              <a:spcBef>
                <a:spcPts val="760"/>
              </a:spcBef>
              <a:tabLst/>
            </a:pPr>
            <a:r>
              <a:rPr sz="2300" b="1" kern="0" spc="90" dirty="0">
                <a:solidFill>
                  <a:srgbClr val="E66D57">
                    <a:alpha val="100000"/>
                  </a:srgbClr>
                </a:solidFill>
                <a:latin typeface="Microsoft YaHei"/>
                <a:ea typeface="Microsoft YaHei"/>
                <a:cs typeface="Microsoft YaHei"/>
              </a:rPr>
              <a:t>测试验证阶段</a:t>
            </a:r>
            <a:endParaRPr sz="2300" dirty="0">
              <a:latin typeface="Microsoft YaHei"/>
              <a:ea typeface="Microsoft YaHei"/>
              <a:cs typeface="Microsoft YaHei"/>
            </a:endParaRPr>
          </a:p>
          <a:p>
            <a:pPr algn="l" rtl="0" eaLnBrk="0">
              <a:lnSpc>
                <a:spcPct val="127000"/>
              </a:lnSpc>
              <a:tabLst/>
            </a:pPr>
            <a:endParaRPr sz="1000" dirty="0">
              <a:latin typeface="Arial"/>
              <a:ea typeface="Arial"/>
              <a:cs typeface="Arial"/>
            </a:endParaRPr>
          </a:p>
          <a:p>
            <a:pPr algn="l" rtl="0" eaLnBrk="0">
              <a:lnSpc>
                <a:spcPct val="127000"/>
              </a:lnSpc>
              <a:tabLst/>
            </a:pPr>
            <a:endParaRPr sz="1000" dirty="0">
              <a:latin typeface="Arial"/>
              <a:ea typeface="Arial"/>
              <a:cs typeface="Arial"/>
            </a:endParaRPr>
          </a:p>
          <a:p>
            <a:pPr algn="l" rtl="0" eaLnBrk="0">
              <a:lnSpc>
                <a:spcPct val="127000"/>
              </a:lnSpc>
              <a:tabLst/>
            </a:pPr>
            <a:endParaRPr sz="1000" dirty="0">
              <a:latin typeface="Arial"/>
              <a:ea typeface="Arial"/>
              <a:cs typeface="Arial"/>
            </a:endParaRPr>
          </a:p>
          <a:p>
            <a:pPr marL="94614" algn="l" rtl="0" eaLnBrk="0">
              <a:lnSpc>
                <a:spcPct val="87000"/>
              </a:lnSpc>
              <a:spcBef>
                <a:spcPts val="430"/>
              </a:spcBef>
              <a:tabLst/>
            </a:pPr>
            <a:r>
              <a:rPr sz="1400" kern="0" spc="-10" dirty="0">
                <a:solidFill>
                  <a:srgbClr val="000000">
                    <a:alpha val="100000"/>
                  </a:srgbClr>
                </a:solidFill>
                <a:latin typeface="Microsoft YaHei"/>
                <a:ea typeface="Microsoft YaHei"/>
                <a:cs typeface="Microsoft YaHei"/>
              </a:rPr>
              <a:t>完成与新平台的南北向对接</a:t>
            </a:r>
            <a:endParaRPr sz="1400" dirty="0">
              <a:latin typeface="Microsoft YaHei"/>
              <a:ea typeface="Microsoft YaHei"/>
              <a:cs typeface="Microsoft YaHei"/>
            </a:endParaRPr>
          </a:p>
          <a:p>
            <a:pPr marL="94614" algn="l" rtl="0" eaLnBrk="0">
              <a:lnSpc>
                <a:spcPct val="88000"/>
              </a:lnSpc>
              <a:spcBef>
                <a:spcPts val="379"/>
              </a:spcBef>
              <a:tabLst/>
            </a:pPr>
            <a:r>
              <a:rPr sz="1400" kern="0" spc="-20" dirty="0">
                <a:solidFill>
                  <a:srgbClr val="000000">
                    <a:alpha val="100000"/>
                  </a:srgbClr>
                </a:solidFill>
                <a:latin typeface="Microsoft YaHei"/>
                <a:ea typeface="Microsoft YaHei"/>
                <a:cs typeface="Microsoft YaHei"/>
              </a:rPr>
              <a:t>完成测试</a:t>
            </a:r>
            <a:r>
              <a:rPr sz="1400" kern="0" spc="-18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，确保端到端流程畅通</a:t>
            </a:r>
            <a:endParaRPr sz="1400" dirty="0">
              <a:latin typeface="Microsoft YaHei"/>
              <a:ea typeface="Microsoft YaHei"/>
              <a:cs typeface="Microsoft YaHei"/>
            </a:endParaRPr>
          </a:p>
        </p:txBody>
      </p:sp>
      <p:sp>
        <p:nvSpPr>
          <p:cNvPr id="270" name="textbox 270"/>
          <p:cNvSpPr/>
          <p:nvPr/>
        </p:nvSpPr>
        <p:spPr>
          <a:xfrm>
            <a:off x="417576" y="2071116"/>
            <a:ext cx="2917189" cy="1999614"/>
          </a:xfrm>
          <a:prstGeom prst="rect">
            <a:avLst/>
          </a:prstGeom>
          <a:solidFill>
            <a:srgbClr val="778495">
              <a:alpha val="14509"/>
            </a:srgbClr>
          </a:solidFill>
          <a:ln w="0" cap="flat">
            <a:noFill/>
            <a:prstDash val="solid"/>
            <a:miter lim="0"/>
          </a:ln>
        </p:spPr>
        <p:txBody>
          <a:bodyPr vert="horz" wrap="square" lIns="0" tIns="0" rIns="0" bIns="0"/>
          <a:lstStyle/>
          <a:p>
            <a:pPr algn="l" rtl="0" eaLnBrk="0">
              <a:lnSpc>
                <a:spcPct val="103000"/>
              </a:lnSpc>
              <a:tabLst/>
            </a:pPr>
            <a:endParaRPr sz="900" dirty="0">
              <a:latin typeface="Arial"/>
              <a:ea typeface="Arial"/>
              <a:cs typeface="Arial"/>
            </a:endParaRPr>
          </a:p>
          <a:p>
            <a:pPr algn="l" rtl="0" eaLnBrk="0">
              <a:lnSpc>
                <a:spcPct val="6313"/>
              </a:lnSpc>
              <a:tabLst/>
            </a:pPr>
            <a:endParaRPr sz="100" dirty="0">
              <a:latin typeface="Arial"/>
              <a:ea typeface="Arial"/>
              <a:cs typeface="Arial"/>
            </a:endParaRPr>
          </a:p>
          <a:p>
            <a:pPr marL="95885" indent="-3175" algn="l" rtl="0" eaLnBrk="0">
              <a:lnSpc>
                <a:spcPct val="110000"/>
              </a:lnSpc>
              <a:tabLst/>
            </a:pPr>
            <a:r>
              <a:rPr sz="2300" b="1" kern="0" spc="90" dirty="0">
                <a:solidFill>
                  <a:srgbClr val="E66D57">
                    <a:alpha val="100000"/>
                  </a:srgbClr>
                </a:solidFill>
                <a:latin typeface="Microsoft YaHei"/>
                <a:ea typeface="Microsoft YaHei"/>
                <a:cs typeface="Microsoft YaHei"/>
              </a:rPr>
              <a:t>第一阶段</a:t>
            </a:r>
            <a:r>
              <a:rPr sz="2300" b="1" kern="0" spc="0" dirty="0">
                <a:solidFill>
                  <a:srgbClr val="E66D57">
                    <a:alpha val="100000"/>
                  </a:srgbClr>
                </a:solidFill>
                <a:latin typeface="Microsoft YaHei"/>
                <a:ea typeface="Microsoft YaHei"/>
                <a:cs typeface="Microsoft YaHei"/>
              </a:rPr>
              <a:t>                </a:t>
            </a:r>
            <a:r>
              <a:rPr sz="2300" b="1" kern="0" spc="80" dirty="0">
                <a:solidFill>
                  <a:srgbClr val="E66D57">
                    <a:alpha val="100000"/>
                  </a:srgbClr>
                </a:solidFill>
                <a:latin typeface="Microsoft YaHei"/>
                <a:ea typeface="Microsoft YaHei"/>
                <a:cs typeface="Microsoft YaHei"/>
              </a:rPr>
              <a:t>前置工作</a:t>
            </a:r>
            <a:endParaRPr sz="2300" dirty="0">
              <a:latin typeface="Microsoft YaHei"/>
              <a:ea typeface="Microsoft YaHei"/>
              <a:cs typeface="Microsoft YaHei"/>
            </a:endParaRPr>
          </a:p>
          <a:p>
            <a:pPr algn="l" rtl="0" eaLnBrk="0">
              <a:lnSpc>
                <a:spcPct val="114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marL="92710" algn="l" rtl="0" eaLnBrk="0">
              <a:lnSpc>
                <a:spcPct val="83000"/>
              </a:lnSpc>
              <a:spcBef>
                <a:spcPts val="428"/>
              </a:spcBef>
              <a:tabLst/>
            </a:pPr>
            <a:r>
              <a:rPr sz="1400" kern="0" spc="-20" dirty="0">
                <a:solidFill>
                  <a:srgbClr val="000000">
                    <a:alpha val="100000"/>
                  </a:srgbClr>
                </a:solidFill>
                <a:latin typeface="Microsoft YaHei"/>
                <a:ea typeface="Microsoft YaHei"/>
                <a:cs typeface="Microsoft YaHei"/>
              </a:rPr>
              <a:t>梳理客户清单</a:t>
            </a:r>
            <a:r>
              <a:rPr sz="1400" kern="0" spc="-21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，方案沟</a:t>
            </a:r>
            <a:r>
              <a:rPr sz="1400" kern="0" spc="-30" dirty="0">
                <a:solidFill>
                  <a:srgbClr val="000000">
                    <a:alpha val="100000"/>
                  </a:srgbClr>
                </a:solidFill>
                <a:latin typeface="Microsoft YaHei"/>
                <a:ea typeface="Microsoft YaHei"/>
                <a:cs typeface="Microsoft YaHei"/>
              </a:rPr>
              <a:t>通</a:t>
            </a:r>
            <a:endParaRPr sz="1400" dirty="0">
              <a:latin typeface="Microsoft YaHei"/>
              <a:ea typeface="Microsoft YaHei"/>
              <a:cs typeface="Microsoft YaHei"/>
            </a:endParaRPr>
          </a:p>
          <a:p>
            <a:pPr marL="94614" algn="l" rtl="0" eaLnBrk="0">
              <a:lnSpc>
                <a:spcPts val="2019"/>
              </a:lnSpc>
              <a:tabLst/>
            </a:pPr>
            <a:r>
              <a:rPr sz="1400" kern="0" spc="-10" dirty="0">
                <a:solidFill>
                  <a:srgbClr val="000000">
                    <a:alpha val="100000"/>
                  </a:srgbClr>
                </a:solidFill>
                <a:latin typeface="Microsoft YaHei"/>
                <a:ea typeface="Microsoft YaHei"/>
                <a:cs typeface="Microsoft YaHei"/>
              </a:rPr>
              <a:t>迁移信息梳理</a:t>
            </a:r>
            <a:endParaRPr sz="1400" dirty="0">
              <a:latin typeface="Microsoft YaHei"/>
              <a:ea typeface="Microsoft YaHei"/>
              <a:cs typeface="Microsoft YaHei"/>
            </a:endParaRPr>
          </a:p>
        </p:txBody>
      </p:sp>
      <p:sp>
        <p:nvSpPr>
          <p:cNvPr id="272" name="textbox 272"/>
          <p:cNvSpPr/>
          <p:nvPr/>
        </p:nvSpPr>
        <p:spPr>
          <a:xfrm>
            <a:off x="8528304" y="2081783"/>
            <a:ext cx="2905125" cy="1923414"/>
          </a:xfrm>
          <a:prstGeom prst="rect">
            <a:avLst/>
          </a:prstGeom>
          <a:solidFill>
            <a:srgbClr val="778495">
              <a:alpha val="14509"/>
            </a:srgbClr>
          </a:solidFill>
          <a:ln w="0" cap="flat">
            <a:noFill/>
            <a:prstDash val="solid"/>
            <a:miter lim="0"/>
          </a:ln>
        </p:spPr>
        <p:txBody>
          <a:bodyPr vert="horz" wrap="square" lIns="0" tIns="0" rIns="0" bIns="0"/>
          <a:lstStyle/>
          <a:p>
            <a:pPr algn="l" rtl="0" eaLnBrk="0">
              <a:lnSpc>
                <a:spcPct val="119000"/>
              </a:lnSpc>
              <a:tabLst/>
            </a:pPr>
            <a:endParaRPr sz="1000" dirty="0">
              <a:latin typeface="Arial"/>
              <a:ea typeface="Arial"/>
              <a:cs typeface="Arial"/>
            </a:endParaRPr>
          </a:p>
          <a:p>
            <a:pPr algn="l" rtl="0" eaLnBrk="0">
              <a:lnSpc>
                <a:spcPct val="6435"/>
              </a:lnSpc>
              <a:tabLst/>
            </a:pPr>
            <a:endParaRPr sz="100" dirty="0">
              <a:latin typeface="Arial"/>
              <a:ea typeface="Arial"/>
              <a:cs typeface="Arial"/>
            </a:endParaRPr>
          </a:p>
          <a:p>
            <a:pPr marL="92710" algn="l" rtl="0" eaLnBrk="0">
              <a:lnSpc>
                <a:spcPct val="88000"/>
              </a:lnSpc>
              <a:tabLst/>
            </a:pPr>
            <a:r>
              <a:rPr sz="2300" b="1" kern="0" spc="90" dirty="0">
                <a:solidFill>
                  <a:srgbClr val="E66D57">
                    <a:alpha val="100000"/>
                  </a:srgbClr>
                </a:solidFill>
                <a:latin typeface="Microsoft YaHei"/>
                <a:ea typeface="Microsoft YaHei"/>
                <a:cs typeface="Microsoft YaHei"/>
              </a:rPr>
              <a:t>第三阶段</a:t>
            </a:r>
            <a:endParaRPr sz="2300" dirty="0">
              <a:latin typeface="Microsoft YaHei"/>
              <a:ea typeface="Microsoft YaHei"/>
              <a:cs typeface="Microsoft YaHei"/>
            </a:endParaRPr>
          </a:p>
          <a:p>
            <a:pPr marL="95885" algn="l" rtl="0" eaLnBrk="0">
              <a:lnSpc>
                <a:spcPct val="86000"/>
              </a:lnSpc>
              <a:spcBef>
                <a:spcPts val="1066"/>
              </a:spcBef>
              <a:tabLst/>
            </a:pPr>
            <a:r>
              <a:rPr sz="2300" b="1" kern="0" spc="90" dirty="0">
                <a:solidFill>
                  <a:srgbClr val="E66D57">
                    <a:alpha val="100000"/>
                  </a:srgbClr>
                </a:solidFill>
                <a:latin typeface="Microsoft YaHei"/>
                <a:ea typeface="Microsoft YaHei"/>
                <a:cs typeface="Microsoft YaHei"/>
              </a:rPr>
              <a:t>批量迁移阶段</a:t>
            </a:r>
            <a:endParaRPr sz="2300" dirty="0">
              <a:latin typeface="Microsoft YaHei"/>
              <a:ea typeface="Microsoft YaHei"/>
              <a:cs typeface="Microsoft YaHei"/>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17000"/>
              </a:lnSpc>
              <a:tabLst/>
            </a:pPr>
            <a:endParaRPr sz="300" dirty="0">
              <a:latin typeface="Arial"/>
              <a:ea typeface="Arial"/>
              <a:cs typeface="Arial"/>
            </a:endParaRPr>
          </a:p>
          <a:p>
            <a:pPr marL="95250" algn="l" rtl="0" eaLnBrk="0">
              <a:lnSpc>
                <a:spcPct val="87000"/>
              </a:lnSpc>
              <a:spcBef>
                <a:spcPts val="3"/>
              </a:spcBef>
              <a:tabLst/>
            </a:pPr>
            <a:r>
              <a:rPr sz="1400" kern="0" spc="-10" dirty="0">
                <a:solidFill>
                  <a:srgbClr val="000000">
                    <a:alpha val="100000"/>
                  </a:srgbClr>
                </a:solidFill>
                <a:latin typeface="Microsoft YaHei"/>
                <a:ea typeface="Microsoft YaHei"/>
                <a:cs typeface="Microsoft YaHei"/>
              </a:rPr>
              <a:t>完成批量终端迁移</a:t>
            </a:r>
            <a:endParaRPr sz="1400" dirty="0">
              <a:latin typeface="Microsoft YaHei"/>
              <a:ea typeface="Microsoft YaHei"/>
              <a:cs typeface="Microsoft YaHei"/>
            </a:endParaRPr>
          </a:p>
        </p:txBody>
      </p:sp>
      <p:sp>
        <p:nvSpPr>
          <p:cNvPr id="274" name="textbox 274"/>
          <p:cNvSpPr/>
          <p:nvPr/>
        </p:nvSpPr>
        <p:spPr>
          <a:xfrm>
            <a:off x="435485" y="4839577"/>
            <a:ext cx="5353684" cy="713740"/>
          </a:xfrm>
          <a:prstGeom prst="rect">
            <a:avLst/>
          </a:prstGeom>
          <a:noFill/>
          <a:ln w="0" cap="flat">
            <a:noFill/>
            <a:prstDash val="solid"/>
            <a:miter lim="0"/>
          </a:ln>
        </p:spPr>
        <p:txBody>
          <a:bodyPr vert="horz" wrap="square" lIns="0" tIns="0" rIns="0" bIns="0"/>
          <a:lstStyle/>
          <a:p>
            <a:pPr algn="l" rtl="0" eaLnBrk="0">
              <a:lnSpc>
                <a:spcPct val="74800"/>
              </a:lnSpc>
              <a:tabLst/>
            </a:pPr>
            <a:endParaRPr sz="100" dirty="0">
              <a:latin typeface="Arial"/>
              <a:ea typeface="Arial"/>
              <a:cs typeface="Arial"/>
            </a:endParaRPr>
          </a:p>
          <a:p>
            <a:pPr marL="12700" algn="l" rtl="0" eaLnBrk="0">
              <a:lnSpc>
                <a:spcPct val="93000"/>
              </a:lnSpc>
              <a:tabLst/>
            </a:pPr>
            <a:r>
              <a:rPr sz="2000" kern="0" spc="90" dirty="0">
                <a:solidFill>
                  <a:srgbClr val="000000">
                    <a:alpha val="100000"/>
                  </a:srgbClr>
                </a:solidFill>
                <a:latin typeface="Wingdings"/>
                <a:ea typeface="Wingdings"/>
                <a:cs typeface="Wingdings"/>
              </a:rPr>
              <a:t>n</a:t>
            </a:r>
            <a:r>
              <a:rPr sz="2000" b="1" kern="0" spc="90" dirty="0">
                <a:solidFill>
                  <a:srgbClr val="000000">
                    <a:alpha val="100000"/>
                  </a:srgbClr>
                </a:solidFill>
                <a:latin typeface="Microsoft YaHei"/>
                <a:ea typeface="Microsoft YaHei"/>
                <a:cs typeface="Microsoft YaHei"/>
              </a:rPr>
              <a:t>注意事项</a:t>
            </a:r>
            <a:r>
              <a:rPr sz="2000" kern="0" spc="90" dirty="0">
                <a:solidFill>
                  <a:srgbClr val="000000">
                    <a:alpha val="100000"/>
                  </a:srgbClr>
                </a:solidFill>
                <a:latin typeface="Microsoft YaHei"/>
                <a:ea typeface="Microsoft YaHei"/>
                <a:cs typeface="Microsoft YaHei"/>
              </a:rPr>
              <a:t>：</a:t>
            </a:r>
            <a:endParaRPr sz="2000" dirty="0">
              <a:latin typeface="Microsoft YaHei"/>
              <a:ea typeface="Microsoft YaHei"/>
              <a:cs typeface="Microsoft YaHei"/>
            </a:endParaRPr>
          </a:p>
          <a:p>
            <a:pPr algn="l" rtl="0" eaLnBrk="0">
              <a:lnSpc>
                <a:spcPct val="108000"/>
              </a:lnSpc>
              <a:tabLst/>
            </a:pPr>
            <a:endParaRPr sz="1100" dirty="0">
              <a:latin typeface="Arial"/>
              <a:ea typeface="Arial"/>
              <a:cs typeface="Arial"/>
            </a:endParaRPr>
          </a:p>
          <a:p>
            <a:pPr algn="l" rtl="0" eaLnBrk="0">
              <a:lnSpc>
                <a:spcPct val="7086"/>
              </a:lnSpc>
              <a:tabLst/>
            </a:pPr>
            <a:endParaRPr sz="100" dirty="0">
              <a:latin typeface="Arial"/>
              <a:ea typeface="Arial"/>
              <a:cs typeface="Arial"/>
            </a:endParaRPr>
          </a:p>
          <a:p>
            <a:pPr marL="90805" algn="l" rtl="0" eaLnBrk="0">
              <a:lnSpc>
                <a:spcPct val="98000"/>
              </a:lnSpc>
              <a:tabLst>
                <a:tab pos="234315" algn="l"/>
              </a:tabLst>
            </a:pPr>
            <a:r>
              <a:rPr sz="1500" kern="0" spc="0" dirty="0">
                <a:solidFill>
                  <a:srgbClr val="000000">
                    <a:alpha val="100000"/>
                  </a:srgbClr>
                </a:solidFill>
                <a:latin typeface="Microsoft YaHei"/>
                <a:ea typeface="Microsoft YaHei"/>
                <a:cs typeface="Microsoft YaHei"/>
              </a:rPr>
              <a:t>	</a:t>
            </a:r>
            <a:r>
              <a:rPr sz="1500" kern="0" spc="30" dirty="0">
                <a:solidFill>
                  <a:srgbClr val="000000">
                    <a:alpha val="100000"/>
                  </a:srgbClr>
                </a:solidFill>
                <a:latin typeface="Microsoft YaHei"/>
                <a:ea typeface="Microsoft YaHei"/>
                <a:cs typeface="Microsoft YaHei"/>
              </a:rPr>
              <a:t>   </a:t>
            </a:r>
            <a:r>
              <a:rPr sz="1500" kern="0" spc="50" dirty="0">
                <a:solidFill>
                  <a:srgbClr val="000000">
                    <a:alpha val="100000"/>
                  </a:srgbClr>
                </a:solidFill>
                <a:latin typeface="Microsoft YaHei"/>
                <a:ea typeface="Microsoft YaHei"/>
                <a:cs typeface="Microsoft YaHei"/>
              </a:rPr>
              <a:t>仅电信</a:t>
            </a:r>
            <a:r>
              <a:rPr sz="1500" kern="0" spc="0" dirty="0">
                <a:solidFill>
                  <a:srgbClr val="000000">
                    <a:alpha val="100000"/>
                  </a:srgbClr>
                </a:solidFill>
                <a:latin typeface="Microsoft YaHei"/>
                <a:ea typeface="Microsoft YaHei"/>
                <a:cs typeface="Microsoft YaHei"/>
              </a:rPr>
              <a:t>NB</a:t>
            </a:r>
            <a:r>
              <a:rPr sz="1500" kern="0" spc="50" dirty="0">
                <a:solidFill>
                  <a:srgbClr val="000000">
                    <a:alpha val="100000"/>
                  </a:srgbClr>
                </a:solidFill>
                <a:latin typeface="Microsoft YaHei"/>
                <a:ea typeface="Microsoft YaHei"/>
                <a:cs typeface="Microsoft YaHei"/>
              </a:rPr>
              <a:t>卡设备可进行迁移</a:t>
            </a:r>
            <a:r>
              <a:rPr sz="1500" kern="0" spc="-200" dirty="0">
                <a:solidFill>
                  <a:srgbClr val="000000">
                    <a:alpha val="100000"/>
                  </a:srgbClr>
                </a:solidFill>
                <a:latin typeface="Microsoft YaHei"/>
                <a:ea typeface="Microsoft YaHei"/>
                <a:cs typeface="Microsoft YaHei"/>
              </a:rPr>
              <a:t> </a:t>
            </a:r>
            <a:r>
              <a:rPr sz="1500" kern="0" spc="50" dirty="0">
                <a:solidFill>
                  <a:srgbClr val="000000">
                    <a:alpha val="100000"/>
                  </a:srgbClr>
                </a:solidFill>
                <a:latin typeface="Microsoft YaHei"/>
                <a:ea typeface="Microsoft YaHei"/>
                <a:cs typeface="Microsoft YaHei"/>
              </a:rPr>
              <a:t>，其他</a:t>
            </a:r>
            <a:r>
              <a:rPr sz="1500" kern="0" spc="40" dirty="0">
                <a:solidFill>
                  <a:srgbClr val="000000">
                    <a:alpha val="100000"/>
                  </a:srgbClr>
                </a:solidFill>
                <a:latin typeface="Microsoft YaHei"/>
                <a:ea typeface="Microsoft YaHei"/>
                <a:cs typeface="Microsoft YaHei"/>
              </a:rPr>
              <a:t>异网设备无法迁移。</a:t>
            </a:r>
            <a:endParaRPr sz="1500" dirty="0">
              <a:latin typeface="Microsoft YaHei"/>
              <a:ea typeface="Microsoft YaHei"/>
              <a:cs typeface="Microsoft YaHei"/>
            </a:endParaRPr>
          </a:p>
        </p:txBody>
      </p:sp>
      <p:pic>
        <p:nvPicPr>
          <p:cNvPr id="276" name="picture 276"/>
          <p:cNvPicPr>
            <a:picLocks noChangeAspect="1"/>
          </p:cNvPicPr>
          <p:nvPr/>
        </p:nvPicPr>
        <p:blipFill>
          <a:blip r:embed="rId2"/>
          <a:stretch>
            <a:fillRect/>
          </a:stretch>
        </p:blipFill>
        <p:spPr>
          <a:xfrm rot="21600000">
            <a:off x="526425" y="5316091"/>
            <a:ext cx="143821" cy="224442"/>
          </a:xfrm>
          <a:prstGeom prst="rect">
            <a:avLst/>
          </a:prstGeom>
        </p:spPr>
      </p:pic>
      <p:sp>
        <p:nvSpPr>
          <p:cNvPr id="278" name="textbox 278"/>
          <p:cNvSpPr/>
          <p:nvPr/>
        </p:nvSpPr>
        <p:spPr>
          <a:xfrm>
            <a:off x="435485" y="1395147"/>
            <a:ext cx="3448050" cy="36131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2644"/>
              </a:lnSpc>
              <a:tabLst/>
            </a:pPr>
            <a:r>
              <a:rPr sz="2000" kern="0" spc="-60" dirty="0">
                <a:solidFill>
                  <a:srgbClr val="000000">
                    <a:alpha val="100000"/>
                  </a:srgbClr>
                </a:solidFill>
                <a:latin typeface="Wingdings"/>
                <a:ea typeface="Wingdings"/>
                <a:cs typeface="Wingdings"/>
              </a:rPr>
              <a:t>n</a:t>
            </a:r>
            <a:r>
              <a:rPr sz="2000" b="1" kern="0" spc="-60" dirty="0">
                <a:solidFill>
                  <a:srgbClr val="000000">
                    <a:alpha val="100000"/>
                  </a:srgbClr>
                </a:solidFill>
                <a:latin typeface="Microsoft YaHei"/>
                <a:ea typeface="Microsoft YaHei"/>
                <a:cs typeface="Microsoft YaHei"/>
              </a:rPr>
              <a:t>迁移工作分为3个阶段进行</a:t>
            </a:r>
            <a:r>
              <a:rPr sz="2000" kern="0" spc="-60" dirty="0">
                <a:solidFill>
                  <a:srgbClr val="000000">
                    <a:alpha val="100000"/>
                  </a:srgbClr>
                </a:solidFill>
                <a:latin typeface="Microsoft YaHei"/>
                <a:ea typeface="Microsoft YaHei"/>
                <a:cs typeface="Microsoft YaHei"/>
              </a:rPr>
              <a:t>：</a:t>
            </a:r>
            <a:endParaRPr sz="2000" dirty="0">
              <a:latin typeface="Microsoft YaHei"/>
              <a:ea typeface="Microsoft YaHei"/>
              <a:cs typeface="Microsoft YaHei"/>
            </a:endParaRPr>
          </a:p>
        </p:txBody>
      </p:sp>
      <p:pic>
        <p:nvPicPr>
          <p:cNvPr id="280" name="picture 280"/>
          <p:cNvPicPr>
            <a:picLocks noChangeAspect="1"/>
          </p:cNvPicPr>
          <p:nvPr/>
        </p:nvPicPr>
        <p:blipFill>
          <a:blip r:embed="rId3"/>
          <a:stretch>
            <a:fillRect/>
          </a:stretch>
        </p:blipFill>
        <p:spPr>
          <a:xfrm rot="21600000">
            <a:off x="335279" y="807720"/>
            <a:ext cx="11519916" cy="67055"/>
          </a:xfrm>
          <a:prstGeom prst="rect">
            <a:avLst/>
          </a:prstGeom>
        </p:spPr>
      </p:pic>
      <p:sp>
        <p:nvSpPr>
          <p:cNvPr id="282" name="textbox 282"/>
          <p:cNvSpPr/>
          <p:nvPr/>
        </p:nvSpPr>
        <p:spPr>
          <a:xfrm>
            <a:off x="418668" y="253936"/>
            <a:ext cx="1849754" cy="332740"/>
          </a:xfrm>
          <a:prstGeom prst="rect">
            <a:avLst/>
          </a:prstGeom>
          <a:noFill/>
          <a:ln w="0" cap="flat">
            <a:noFill/>
            <a:prstDash val="solid"/>
            <a:miter lim="0"/>
          </a:ln>
        </p:spPr>
        <p:txBody>
          <a:bodyPr vert="horz" wrap="square" lIns="0" tIns="0" rIns="0" bIns="0"/>
          <a:lstStyle/>
          <a:p>
            <a:pPr algn="l" rtl="0" eaLnBrk="0">
              <a:lnSpc>
                <a:spcPct val="73290"/>
              </a:lnSpc>
              <a:tabLst/>
            </a:pPr>
            <a:endParaRPr sz="100" dirty="0">
              <a:latin typeface="Arial"/>
              <a:ea typeface="Arial"/>
              <a:cs typeface="Arial"/>
            </a:endParaRPr>
          </a:p>
          <a:p>
            <a:pPr marL="12700" algn="l" rtl="0" eaLnBrk="0">
              <a:lnSpc>
                <a:spcPct val="88000"/>
              </a:lnSpc>
              <a:tabLst/>
            </a:pPr>
            <a:r>
              <a:rPr sz="2300" b="1" kern="0" spc="90" dirty="0">
                <a:solidFill>
                  <a:srgbClr val="C00000">
                    <a:alpha val="100000"/>
                  </a:srgbClr>
                </a:solidFill>
                <a:latin typeface="Microsoft YaHei"/>
                <a:ea typeface="Microsoft YaHei"/>
                <a:cs typeface="Microsoft YaHei"/>
              </a:rPr>
              <a:t>迁移流程概览</a:t>
            </a:r>
            <a:endParaRPr sz="2300" dirty="0">
              <a:latin typeface="Microsoft YaHei"/>
              <a:ea typeface="Microsoft YaHei"/>
              <a:cs typeface="Microsoft YaHei"/>
            </a:endParaRPr>
          </a:p>
        </p:txBody>
      </p:sp>
      <p:pic>
        <p:nvPicPr>
          <p:cNvPr id="284" name="picture 284"/>
          <p:cNvPicPr>
            <a:picLocks noChangeAspect="1"/>
          </p:cNvPicPr>
          <p:nvPr/>
        </p:nvPicPr>
        <p:blipFill>
          <a:blip r:embed="rId4"/>
          <a:stretch>
            <a:fillRect/>
          </a:stretch>
        </p:blipFill>
        <p:spPr>
          <a:xfrm rot="21600000">
            <a:off x="11126046" y="215885"/>
            <a:ext cx="721486" cy="526694"/>
          </a:xfrm>
          <a:prstGeom prst="rect">
            <a:avLst/>
          </a:prstGeom>
        </p:spPr>
      </p:pic>
      <p:sp>
        <p:nvSpPr>
          <p:cNvPr id="286" name="textbox 286"/>
          <p:cNvSpPr/>
          <p:nvPr/>
        </p:nvSpPr>
        <p:spPr>
          <a:xfrm>
            <a:off x="7794752" y="2858516"/>
            <a:ext cx="687069" cy="497840"/>
          </a:xfrm>
          <a:prstGeom prst="rect">
            <a:avLst/>
          </a:prstGeom>
          <a:noFill/>
          <a:ln w="0" cap="flat">
            <a:noFill/>
            <a:prstDash val="solid"/>
            <a:miter lim="0"/>
          </a:ln>
        </p:spPr>
        <p:txBody>
          <a:bodyPr vert="horz" wrap="square" lIns="0" tIns="0" rIns="0" bIns="0"/>
          <a:lstStyle/>
          <a:p>
            <a:pPr algn="l" rtl="0" eaLnBrk="0">
              <a:lnSpc>
                <a:spcPct val="75634"/>
              </a:lnSpc>
              <a:tabLst/>
            </a:pPr>
            <a:endParaRPr sz="100" dirty="0">
              <a:latin typeface="Arial"/>
              <a:ea typeface="Arial"/>
              <a:cs typeface="Arial"/>
            </a:endParaRPr>
          </a:p>
          <a:p>
            <a:pPr marL="12700" algn="l" rtl="0" eaLnBrk="0">
              <a:lnSpc>
                <a:spcPct val="84000"/>
              </a:lnSpc>
              <a:tabLst/>
            </a:pPr>
            <a:r>
              <a:rPr sz="3700" kern="0" spc="-10" dirty="0">
                <a:solidFill>
                  <a:srgbClr val="4472C4">
                    <a:alpha val="100000"/>
                  </a:srgbClr>
                </a:solidFill>
                <a:latin typeface="Microsoft YaHei"/>
                <a:ea typeface="Microsoft YaHei"/>
                <a:cs typeface="Microsoft YaHei"/>
              </a:rPr>
              <a:t>》</a:t>
            </a:r>
            <a:endParaRPr sz="3700" dirty="0">
              <a:latin typeface="Microsoft YaHei"/>
              <a:ea typeface="Microsoft YaHei"/>
              <a:cs typeface="Microsoft YaHei"/>
            </a:endParaRPr>
          </a:p>
        </p:txBody>
      </p:sp>
      <p:sp>
        <p:nvSpPr>
          <p:cNvPr id="288" name="path 288"/>
          <p:cNvSpPr/>
          <p:nvPr/>
        </p:nvSpPr>
        <p:spPr>
          <a:xfrm>
            <a:off x="3628644" y="2871216"/>
            <a:ext cx="428244" cy="472439"/>
          </a:xfrm>
          <a:custGeom>
            <a:avLst/>
            <a:gdLst/>
            <a:ahLst/>
            <a:cxnLst/>
            <a:rect l="0" t="0" r="0" b="0"/>
            <a:pathLst>
              <a:path w="674" h="743">
                <a:moveTo>
                  <a:pt x="0" y="0"/>
                </a:moveTo>
                <a:lnTo>
                  <a:pt x="338" y="0"/>
                </a:lnTo>
                <a:lnTo>
                  <a:pt x="674" y="371"/>
                </a:lnTo>
                <a:lnTo>
                  <a:pt x="338" y="743"/>
                </a:lnTo>
                <a:lnTo>
                  <a:pt x="0" y="743"/>
                </a:lnTo>
                <a:lnTo>
                  <a:pt x="338" y="371"/>
                </a:lnTo>
                <a:lnTo>
                  <a:pt x="0" y="0"/>
                </a:lnTo>
              </a:path>
            </a:pathLst>
          </a:custGeom>
          <a:solidFill>
            <a:srgbClr val="4472C4">
              <a:alpha val="100000"/>
            </a:srgbClr>
          </a:solidFill>
          <a:ln w="0" cap="flat">
            <a:noFill/>
            <a:prstDash val="solid"/>
            <a:miter lim="0"/>
          </a:ln>
        </p:spPr>
        <p:txBody>
          <a:bodyPr rtlCol="0"/>
          <a:lstStyle/>
          <a:p>
            <a:pPr algn="ctr"/>
            <a:endParaRPr lang="zh-CN" altLang="en-US"/>
          </a:p>
        </p:txBody>
      </p:sp>
      <p:sp>
        <p:nvSpPr>
          <p:cNvPr id="290" name="textbox 290"/>
          <p:cNvSpPr/>
          <p:nvPr/>
        </p:nvSpPr>
        <p:spPr>
          <a:xfrm>
            <a:off x="11662743" y="6462377"/>
            <a:ext cx="224154"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20" dirty="0">
                <a:solidFill>
                  <a:srgbClr val="B1B1B1">
                    <a:alpha val="100000"/>
                  </a:srgbClr>
                </a:solidFill>
                <a:latin typeface="DengXian"/>
                <a:ea typeface="DengXian"/>
                <a:cs typeface="DengXian"/>
              </a:rPr>
              <a:t>10</a:t>
            </a:r>
            <a:endParaRPr sz="1500" dirty="0">
              <a:latin typeface="DengXian"/>
              <a:ea typeface="DengXian"/>
              <a:cs typeface="DengXi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picture 292"/>
          <p:cNvPicPr>
            <a:picLocks noChangeAspect="1"/>
          </p:cNvPicPr>
          <p:nvPr/>
        </p:nvPicPr>
        <p:blipFill>
          <a:blip r:embed="rId2"/>
          <a:stretch>
            <a:fillRect/>
          </a:stretch>
        </p:blipFill>
        <p:spPr>
          <a:xfrm rot="21600000">
            <a:off x="335279" y="1073810"/>
            <a:ext cx="11453596" cy="5451805"/>
          </a:xfrm>
          <a:prstGeom prst="rect">
            <a:avLst/>
          </a:prstGeom>
        </p:spPr>
      </p:pic>
      <p:sp>
        <p:nvSpPr>
          <p:cNvPr id="294" name="textbox 294"/>
          <p:cNvSpPr/>
          <p:nvPr/>
        </p:nvSpPr>
        <p:spPr>
          <a:xfrm>
            <a:off x="5403319" y="1221651"/>
            <a:ext cx="2409189" cy="4109084"/>
          </a:xfrm>
          <a:prstGeom prst="rect">
            <a:avLst/>
          </a:prstGeom>
          <a:noFill/>
          <a:ln w="0" cap="flat">
            <a:noFill/>
            <a:prstDash val="solid"/>
            <a:miter lim="0"/>
          </a:ln>
        </p:spPr>
        <p:txBody>
          <a:bodyPr vert="horz" wrap="square" lIns="0" tIns="0" rIns="0" bIns="0"/>
          <a:lstStyle/>
          <a:p>
            <a:pPr algn="l" rtl="0" eaLnBrk="0">
              <a:lnSpc>
                <a:spcPct val="88530"/>
              </a:lnSpc>
              <a:tabLst/>
            </a:pPr>
            <a:endParaRPr sz="100" dirty="0">
              <a:latin typeface="Arial"/>
              <a:ea typeface="Arial"/>
              <a:cs typeface="Arial"/>
            </a:endParaRPr>
          </a:p>
          <a:p>
            <a:pPr marL="756919" algn="l" rtl="0" eaLnBrk="0">
              <a:lnSpc>
                <a:spcPct val="87000"/>
              </a:lnSpc>
              <a:tabLst/>
            </a:pPr>
            <a:r>
              <a:rPr sz="1700" b="1" kern="0" spc="90" dirty="0">
                <a:solidFill>
                  <a:srgbClr val="000000">
                    <a:alpha val="100000"/>
                  </a:srgbClr>
                </a:solidFill>
                <a:latin typeface="Microsoft YaHei"/>
                <a:ea typeface="Microsoft YaHei"/>
                <a:cs typeface="Microsoft YaHei"/>
              </a:rPr>
              <a:t>省市电信</a:t>
            </a:r>
            <a:endParaRPr sz="1700" dirty="0">
              <a:latin typeface="Microsoft YaHei"/>
              <a:ea typeface="Microsoft YaHei"/>
              <a:cs typeface="Microsoft YaHei"/>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marL="158750" indent="-146050" algn="l" rtl="0" eaLnBrk="0">
              <a:lnSpc>
                <a:spcPct val="99000"/>
              </a:lnSpc>
              <a:spcBef>
                <a:spcPts val="423"/>
              </a:spcBef>
              <a:tabLst/>
            </a:pPr>
            <a:r>
              <a:rPr sz="1400" kern="0" spc="-20" dirty="0">
                <a:solidFill>
                  <a:srgbClr val="000000">
                    <a:alpha val="100000"/>
                  </a:srgbClr>
                </a:solidFill>
                <a:latin typeface="Microsoft YaHei"/>
                <a:ea typeface="Microsoft YaHei"/>
                <a:cs typeface="Microsoft YaHei"/>
              </a:rPr>
              <a:t>1.2 客户邀约：迁移方案</a:t>
            </a:r>
            <a:r>
              <a:rPr sz="1400" kern="0" spc="-30" dirty="0">
                <a:solidFill>
                  <a:srgbClr val="000000">
                    <a:alpha val="100000"/>
                  </a:srgbClr>
                </a:solidFill>
                <a:latin typeface="Microsoft YaHei"/>
                <a:ea typeface="Microsoft YaHei"/>
                <a:cs typeface="Microsoft YaHei"/>
              </a:rPr>
              <a:t>沟通，</a:t>
            </a:r>
            <a:r>
              <a:rPr sz="1400" kern="0" spc="-30" dirty="0">
                <a:solidFill>
                  <a:srgbClr val="000000">
                    <a:alpha val="100000"/>
                  </a:srgbClr>
                </a:solidFill>
                <a:latin typeface="Microsoft YaHei"/>
                <a:ea typeface="Microsoft YaHei"/>
                <a:cs typeface="Microsoft YaHei"/>
              </a:rPr>
              <a:t>明确客户迁移意愿</a:t>
            </a:r>
            <a:r>
              <a:rPr sz="1400" kern="0" spc="-170" dirty="0">
                <a:solidFill>
                  <a:srgbClr val="000000">
                    <a:alpha val="100000"/>
                  </a:srgbClr>
                </a:solidFill>
                <a:latin typeface="Microsoft YaHei"/>
                <a:ea typeface="Microsoft YaHei"/>
                <a:cs typeface="Microsoft YaHei"/>
              </a:rPr>
              <a:t> </a:t>
            </a:r>
            <a:r>
              <a:rPr sz="1400" kern="0" spc="-30" dirty="0">
                <a:solidFill>
                  <a:srgbClr val="000000">
                    <a:alpha val="100000"/>
                  </a:srgbClr>
                </a:solidFill>
                <a:latin typeface="Microsoft YaHei"/>
                <a:ea typeface="Microsoft YaHei"/>
                <a:cs typeface="Microsoft YaHei"/>
              </a:rPr>
              <a:t>，收集客</a:t>
            </a:r>
            <a:endParaRPr sz="1400" dirty="0">
              <a:latin typeface="Microsoft YaHei"/>
              <a:ea typeface="Microsoft YaHei"/>
              <a:cs typeface="Microsoft YaHei"/>
            </a:endParaRPr>
          </a:p>
          <a:p>
            <a:pPr marL="325120" algn="l" rtl="0" eaLnBrk="0">
              <a:lnSpc>
                <a:spcPct val="88000"/>
              </a:lnSpc>
              <a:spcBef>
                <a:spcPts val="274"/>
              </a:spcBef>
              <a:tabLst/>
            </a:pPr>
            <a:r>
              <a:rPr sz="1400" kern="0" spc="-30" dirty="0">
                <a:solidFill>
                  <a:srgbClr val="000000">
                    <a:alpha val="100000"/>
                  </a:srgbClr>
                </a:solidFill>
                <a:latin typeface="Microsoft YaHei"/>
                <a:ea typeface="Microsoft YaHei"/>
                <a:cs typeface="Microsoft YaHei"/>
              </a:rPr>
              <a:t>户信息</a:t>
            </a:r>
            <a:r>
              <a:rPr sz="1400" kern="0" spc="-140" dirty="0">
                <a:solidFill>
                  <a:srgbClr val="000000">
                    <a:alpha val="100000"/>
                  </a:srgbClr>
                </a:solidFill>
                <a:latin typeface="Microsoft YaHei"/>
                <a:ea typeface="Microsoft YaHei"/>
                <a:cs typeface="Microsoft YaHei"/>
              </a:rPr>
              <a:t> </a:t>
            </a:r>
            <a:r>
              <a:rPr sz="1400" kern="0" spc="-30" dirty="0">
                <a:solidFill>
                  <a:srgbClr val="000000">
                    <a:alpha val="100000"/>
                  </a:srgbClr>
                </a:solidFill>
                <a:latin typeface="Microsoft YaHei"/>
                <a:ea typeface="Microsoft YaHei"/>
                <a:cs typeface="Microsoft YaHei"/>
              </a:rPr>
              <a:t>，确认迁移方案</a:t>
            </a:r>
            <a:endParaRPr sz="1400" dirty="0">
              <a:latin typeface="Microsoft YaHei"/>
              <a:ea typeface="Microsoft YaHei"/>
              <a:cs typeface="Microsoft YaHei"/>
            </a:endParaRPr>
          </a:p>
          <a:p>
            <a:pPr algn="l" rtl="0" eaLnBrk="0">
              <a:lnSpc>
                <a:spcPct val="122000"/>
              </a:lnSpc>
              <a:tabLst/>
            </a:pPr>
            <a:endParaRPr sz="1000" dirty="0">
              <a:latin typeface="Arial"/>
              <a:ea typeface="Arial"/>
              <a:cs typeface="Arial"/>
            </a:endParaRPr>
          </a:p>
          <a:p>
            <a:pPr algn="l" rtl="0" eaLnBrk="0">
              <a:lnSpc>
                <a:spcPct val="123000"/>
              </a:lnSpc>
              <a:tabLst/>
            </a:pPr>
            <a:endParaRPr sz="1000" dirty="0">
              <a:latin typeface="Arial"/>
              <a:ea typeface="Arial"/>
              <a:cs typeface="Arial"/>
            </a:endParaRPr>
          </a:p>
          <a:p>
            <a:pPr algn="l" rtl="0" eaLnBrk="0">
              <a:lnSpc>
                <a:spcPct val="123000"/>
              </a:lnSpc>
              <a:tabLst/>
            </a:pPr>
            <a:endParaRPr sz="1000" dirty="0">
              <a:latin typeface="Arial"/>
              <a:ea typeface="Arial"/>
              <a:cs typeface="Arial"/>
            </a:endParaRPr>
          </a:p>
          <a:p>
            <a:pPr marL="114300" algn="l" rtl="0" eaLnBrk="0">
              <a:lnSpc>
                <a:spcPts val="1813"/>
              </a:lnSpc>
              <a:spcBef>
                <a:spcPts val="430"/>
              </a:spcBef>
              <a:tabLst/>
            </a:pPr>
            <a:r>
              <a:rPr sz="1400" kern="0" spc="-10" dirty="0">
                <a:solidFill>
                  <a:srgbClr val="000000">
                    <a:alpha val="100000"/>
                  </a:srgbClr>
                </a:solidFill>
                <a:latin typeface="Microsoft YaHei"/>
                <a:ea typeface="Microsoft YaHei"/>
                <a:cs typeface="Microsoft YaHei"/>
              </a:rPr>
              <a:t>2.2 受理POC设备卡自主定</a:t>
            </a:r>
            <a:endParaRPr sz="1400" dirty="0">
              <a:latin typeface="Microsoft YaHei"/>
              <a:ea typeface="Microsoft YaHei"/>
              <a:cs typeface="Microsoft YaHei"/>
            </a:endParaRPr>
          </a:p>
          <a:p>
            <a:pPr marL="1078864" algn="l" rtl="0" eaLnBrk="0">
              <a:lnSpc>
                <a:spcPct val="86000"/>
              </a:lnSpc>
              <a:spcBef>
                <a:spcPts val="134"/>
              </a:spcBef>
              <a:tabLst/>
            </a:pPr>
            <a:r>
              <a:rPr sz="1400" kern="0" spc="-10" dirty="0">
                <a:solidFill>
                  <a:srgbClr val="000000">
                    <a:alpha val="100000"/>
                  </a:srgbClr>
                </a:solidFill>
                <a:latin typeface="Microsoft YaHei"/>
                <a:ea typeface="Microsoft YaHei"/>
                <a:cs typeface="Microsoft YaHei"/>
              </a:rPr>
              <a:t>向</a:t>
            </a:r>
            <a:endParaRPr sz="14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9000"/>
              </a:lnSpc>
              <a:tabLst/>
            </a:pPr>
            <a:endParaRPr sz="300" dirty="0">
              <a:latin typeface="Arial"/>
              <a:ea typeface="Arial"/>
              <a:cs typeface="Arial"/>
            </a:endParaRPr>
          </a:p>
          <a:p>
            <a:pPr marL="167004" algn="l" rtl="0" eaLnBrk="0">
              <a:lnSpc>
                <a:spcPts val="1813"/>
              </a:lnSpc>
              <a:spcBef>
                <a:spcPts val="3"/>
              </a:spcBef>
              <a:tabLst/>
            </a:pPr>
            <a:r>
              <a:rPr sz="1400" kern="0" spc="-10" dirty="0">
                <a:solidFill>
                  <a:srgbClr val="000000">
                    <a:alpha val="100000"/>
                  </a:srgbClr>
                </a:solidFill>
                <a:latin typeface="Microsoft YaHei"/>
                <a:ea typeface="Microsoft YaHei"/>
                <a:cs typeface="Microsoft YaHei"/>
              </a:rPr>
              <a:t>3.1 批量受理卡自主定向</a:t>
            </a:r>
            <a:endParaRPr sz="1400" dirty="0">
              <a:latin typeface="Microsoft YaHei"/>
              <a:ea typeface="Microsoft YaHei"/>
              <a:cs typeface="Microsoft YaHei"/>
            </a:endParaRPr>
          </a:p>
        </p:txBody>
      </p:sp>
      <p:sp>
        <p:nvSpPr>
          <p:cNvPr id="296" name="textbox 296"/>
          <p:cNvSpPr/>
          <p:nvPr/>
        </p:nvSpPr>
        <p:spPr>
          <a:xfrm>
            <a:off x="8904733" y="1221879"/>
            <a:ext cx="2344420" cy="4213859"/>
          </a:xfrm>
          <a:prstGeom prst="rect">
            <a:avLst/>
          </a:prstGeom>
          <a:noFill/>
          <a:ln w="0" cap="flat">
            <a:noFill/>
            <a:prstDash val="solid"/>
            <a:miter lim="0"/>
          </a:ln>
        </p:spPr>
        <p:txBody>
          <a:bodyPr vert="horz" wrap="square" lIns="0" tIns="0" rIns="0" bIns="0"/>
          <a:lstStyle/>
          <a:p>
            <a:pPr algn="l" rtl="0" eaLnBrk="0">
              <a:lnSpc>
                <a:spcPct val="88647"/>
              </a:lnSpc>
              <a:tabLst/>
            </a:pPr>
            <a:endParaRPr sz="100" dirty="0">
              <a:latin typeface="Arial"/>
              <a:ea typeface="Arial"/>
              <a:cs typeface="Arial"/>
            </a:endParaRPr>
          </a:p>
          <a:p>
            <a:pPr marL="800100" algn="l" rtl="0" eaLnBrk="0">
              <a:lnSpc>
                <a:spcPct val="87000"/>
              </a:lnSpc>
              <a:tabLst/>
            </a:pPr>
            <a:r>
              <a:rPr sz="1700" b="1" kern="0" spc="80" dirty="0">
                <a:solidFill>
                  <a:srgbClr val="000000">
                    <a:alpha val="100000"/>
                  </a:srgbClr>
                </a:solidFill>
                <a:latin typeface="Microsoft YaHei"/>
                <a:ea typeface="Microsoft YaHei"/>
                <a:cs typeface="Microsoft YaHei"/>
              </a:rPr>
              <a:t>客户</a:t>
            </a:r>
            <a:endParaRPr sz="1700" dirty="0">
              <a:latin typeface="Microsoft YaHei"/>
              <a:ea typeface="Microsoft YaHei"/>
              <a:cs typeface="Microsoft YaHei"/>
            </a:endParaRPr>
          </a:p>
          <a:p>
            <a:pPr algn="l" rtl="0" eaLnBrk="0">
              <a:lnSpc>
                <a:spcPct val="108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marL="12700" algn="l" rtl="0" eaLnBrk="0">
              <a:lnSpc>
                <a:spcPts val="1746"/>
              </a:lnSpc>
              <a:spcBef>
                <a:spcPts val="430"/>
              </a:spcBef>
              <a:tabLst/>
            </a:pPr>
            <a:r>
              <a:rPr sz="1400" kern="0" spc="-10" dirty="0">
                <a:solidFill>
                  <a:srgbClr val="000000">
                    <a:alpha val="100000"/>
                  </a:srgbClr>
                </a:solidFill>
                <a:latin typeface="Microsoft YaHei"/>
                <a:ea typeface="Microsoft YaHei"/>
                <a:cs typeface="Microsoft YaHei"/>
              </a:rPr>
              <a:t>1.3 客户反馈使用直连方</a:t>
            </a:r>
            <a:r>
              <a:rPr sz="1400" kern="0" spc="-20" dirty="0">
                <a:solidFill>
                  <a:srgbClr val="000000">
                    <a:alpha val="100000"/>
                  </a:srgbClr>
                </a:solidFill>
                <a:latin typeface="Microsoft YaHei"/>
                <a:ea typeface="Microsoft YaHei"/>
                <a:cs typeface="Microsoft YaHei"/>
              </a:rPr>
              <a:t>案，</a:t>
            </a:r>
            <a:endParaRPr sz="1400" dirty="0">
              <a:latin typeface="Microsoft YaHei"/>
              <a:ea typeface="Microsoft YaHei"/>
              <a:cs typeface="Microsoft YaHei"/>
            </a:endParaRPr>
          </a:p>
          <a:p>
            <a:pPr marL="59689" algn="l" rtl="0" eaLnBrk="0">
              <a:lnSpc>
                <a:spcPct val="100000"/>
              </a:lnSpc>
              <a:tabLst/>
            </a:pPr>
            <a:r>
              <a:rPr sz="1400" kern="0" spc="-20" dirty="0">
                <a:solidFill>
                  <a:srgbClr val="000000">
                    <a:alpha val="100000"/>
                  </a:srgbClr>
                </a:solidFill>
                <a:latin typeface="Microsoft YaHei"/>
                <a:ea typeface="Microsoft YaHei"/>
                <a:cs typeface="Microsoft YaHei"/>
              </a:rPr>
              <a:t>提供用户平台IP</a:t>
            </a:r>
            <a:r>
              <a:rPr sz="1400" kern="0" spc="-19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，提供POC</a:t>
            </a:r>
            <a:endParaRPr sz="1400" dirty="0">
              <a:latin typeface="Microsoft YaHei"/>
              <a:ea typeface="Microsoft YaHei"/>
              <a:cs typeface="Microsoft YaHei"/>
            </a:endParaRPr>
          </a:p>
          <a:p>
            <a:pPr marL="466090" algn="l" rtl="0" eaLnBrk="0">
              <a:lnSpc>
                <a:spcPts val="1746"/>
              </a:lnSpc>
              <a:tabLst/>
            </a:pPr>
            <a:r>
              <a:rPr sz="1400" kern="0" spc="-10" dirty="0">
                <a:solidFill>
                  <a:srgbClr val="000000">
                    <a:alpha val="100000"/>
                  </a:srgbClr>
                </a:solidFill>
                <a:latin typeface="Microsoft YaHei"/>
                <a:ea typeface="Microsoft YaHei"/>
                <a:cs typeface="Microsoft YaHei"/>
              </a:rPr>
              <a:t>迁移设备/卡信息</a:t>
            </a:r>
            <a:endParaRPr sz="1400" dirty="0">
              <a:latin typeface="Microsoft YaHei"/>
              <a:ea typeface="Microsoft YaHei"/>
              <a:cs typeface="Microsoft YaHei"/>
            </a:endParaRPr>
          </a:p>
          <a:p>
            <a:pPr algn="l" rtl="0" eaLnBrk="0">
              <a:lnSpc>
                <a:spcPct val="144000"/>
              </a:lnSpc>
              <a:tabLst/>
            </a:pPr>
            <a:endParaRPr sz="1000" dirty="0">
              <a:latin typeface="Arial"/>
              <a:ea typeface="Arial"/>
              <a:cs typeface="Arial"/>
            </a:endParaRPr>
          </a:p>
          <a:p>
            <a:pPr algn="l" rtl="0" eaLnBrk="0">
              <a:lnSpc>
                <a:spcPct val="144000"/>
              </a:lnSpc>
              <a:tabLst/>
            </a:pPr>
            <a:endParaRPr sz="1000" dirty="0">
              <a:latin typeface="Arial"/>
              <a:ea typeface="Arial"/>
              <a:cs typeface="Arial"/>
            </a:endParaRPr>
          </a:p>
          <a:p>
            <a:pPr marL="676909" indent="-594994" algn="l" rtl="0" eaLnBrk="0">
              <a:lnSpc>
                <a:spcPct val="99000"/>
              </a:lnSpc>
              <a:spcBef>
                <a:spcPts val="430"/>
              </a:spcBef>
              <a:tabLst/>
            </a:pPr>
            <a:r>
              <a:rPr sz="1400" kern="0" spc="-20" dirty="0">
                <a:solidFill>
                  <a:srgbClr val="000000">
                    <a:alpha val="100000"/>
                  </a:srgbClr>
                </a:solidFill>
                <a:latin typeface="Microsoft YaHei"/>
                <a:ea typeface="Microsoft YaHei"/>
                <a:cs typeface="Microsoft YaHei"/>
              </a:rPr>
              <a:t>2.3 北向应用适配改造</a:t>
            </a:r>
            <a:r>
              <a:rPr sz="1400" kern="0" spc="-21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，修</a:t>
            </a:r>
            <a:r>
              <a:rPr sz="1400" kern="0" spc="-30" dirty="0">
                <a:solidFill>
                  <a:srgbClr val="000000">
                    <a:alpha val="100000"/>
                  </a:srgbClr>
                </a:solidFill>
                <a:latin typeface="Microsoft YaHei"/>
                <a:ea typeface="Microsoft YaHei"/>
                <a:cs typeface="Microsoft YaHei"/>
              </a:rPr>
              <a:t>改</a:t>
            </a:r>
            <a:r>
              <a:rPr sz="1400" kern="0" spc="-30" dirty="0">
                <a:solidFill>
                  <a:srgbClr val="000000">
                    <a:alpha val="100000"/>
                  </a:srgbClr>
                </a:solidFill>
                <a:latin typeface="Microsoft YaHei"/>
                <a:ea typeface="Microsoft YaHei"/>
                <a:cs typeface="Microsoft YaHei"/>
              </a:rPr>
              <a:t>POC设备地址</a:t>
            </a:r>
            <a:endParaRPr sz="1400" dirty="0">
              <a:latin typeface="Microsoft YaHei"/>
              <a:ea typeface="Microsoft YaHei"/>
              <a:cs typeface="Microsoft YaHei"/>
            </a:endParaRPr>
          </a:p>
          <a:p>
            <a:pPr algn="l" rtl="0" eaLnBrk="0">
              <a:lnSpc>
                <a:spcPct val="199000"/>
              </a:lnSpc>
              <a:tabLst/>
            </a:pPr>
            <a:endParaRPr sz="1000" dirty="0">
              <a:latin typeface="Arial"/>
              <a:ea typeface="Arial"/>
              <a:cs typeface="Arial"/>
            </a:endParaRPr>
          </a:p>
          <a:p>
            <a:pPr marL="935989" indent="-854710" algn="l" rtl="0" eaLnBrk="0">
              <a:lnSpc>
                <a:spcPct val="99000"/>
              </a:lnSpc>
              <a:spcBef>
                <a:spcPts val="431"/>
              </a:spcBef>
              <a:tabLst/>
            </a:pPr>
            <a:r>
              <a:rPr sz="1400" kern="0" spc="-10" dirty="0">
                <a:solidFill>
                  <a:srgbClr val="000000">
                    <a:alpha val="100000"/>
                  </a:srgbClr>
                </a:solidFill>
                <a:latin typeface="Microsoft YaHei"/>
                <a:ea typeface="Microsoft YaHei"/>
                <a:cs typeface="Microsoft YaHei"/>
              </a:rPr>
              <a:t>2.4 南北向对接联调与迁移结</a:t>
            </a:r>
            <a:r>
              <a:rPr sz="1400" kern="0" spc="-10" dirty="0">
                <a:solidFill>
                  <a:srgbClr val="000000">
                    <a:alpha val="100000"/>
                  </a:srgbClr>
                </a:solidFill>
                <a:latin typeface="Microsoft YaHei"/>
                <a:ea typeface="Microsoft YaHei"/>
                <a:cs typeface="Microsoft YaHei"/>
              </a:rPr>
              <a:t>果验证</a:t>
            </a:r>
            <a:endParaRPr sz="1400" dirty="0">
              <a:latin typeface="Microsoft YaHei"/>
              <a:ea typeface="Microsoft YaHei"/>
              <a:cs typeface="Microsoft YaHei"/>
            </a:endParaRPr>
          </a:p>
          <a:p>
            <a:pPr algn="l" rtl="0" eaLnBrk="0">
              <a:lnSpc>
                <a:spcPct val="127000"/>
              </a:lnSpc>
              <a:tabLst/>
            </a:pPr>
            <a:endParaRPr sz="1000" dirty="0">
              <a:latin typeface="Arial"/>
              <a:ea typeface="Arial"/>
              <a:cs typeface="Arial"/>
            </a:endParaRPr>
          </a:p>
          <a:p>
            <a:pPr algn="l" rtl="0" eaLnBrk="0">
              <a:lnSpc>
                <a:spcPct val="127000"/>
              </a:lnSpc>
              <a:tabLst/>
            </a:pPr>
            <a:endParaRPr sz="1000" dirty="0">
              <a:latin typeface="Arial"/>
              <a:ea typeface="Arial"/>
              <a:cs typeface="Arial"/>
            </a:endParaRPr>
          </a:p>
          <a:p>
            <a:pPr algn="l" rtl="0" eaLnBrk="0">
              <a:lnSpc>
                <a:spcPct val="127000"/>
              </a:lnSpc>
              <a:tabLst/>
            </a:pPr>
            <a:endParaRPr sz="1000" dirty="0">
              <a:latin typeface="Arial"/>
              <a:ea typeface="Arial"/>
              <a:cs typeface="Arial"/>
            </a:endParaRPr>
          </a:p>
          <a:p>
            <a:pPr algn="l" rtl="0" eaLnBrk="0">
              <a:lnSpc>
                <a:spcPct val="118000"/>
              </a:lnSpc>
              <a:tabLst/>
            </a:pPr>
            <a:endParaRPr sz="300" dirty="0">
              <a:latin typeface="Arial"/>
              <a:ea typeface="Arial"/>
              <a:cs typeface="Arial"/>
            </a:endParaRPr>
          </a:p>
          <a:p>
            <a:pPr marL="490855" indent="-407669" algn="l" rtl="0" eaLnBrk="0">
              <a:lnSpc>
                <a:spcPct val="99000"/>
              </a:lnSpc>
              <a:spcBef>
                <a:spcPts val="3"/>
              </a:spcBef>
              <a:tabLst/>
            </a:pPr>
            <a:r>
              <a:rPr sz="1400" kern="0" spc="-10" dirty="0">
                <a:solidFill>
                  <a:srgbClr val="000000">
                    <a:alpha val="100000"/>
                  </a:srgbClr>
                </a:solidFill>
                <a:latin typeface="Microsoft YaHei"/>
                <a:ea typeface="Microsoft YaHei"/>
                <a:cs typeface="Microsoft YaHei"/>
              </a:rPr>
              <a:t>3.2 选取批量迁移设备清单，</a:t>
            </a:r>
            <a:r>
              <a:rPr sz="1400" kern="0" spc="-10" dirty="0">
                <a:solidFill>
                  <a:srgbClr val="000000">
                    <a:alpha val="100000"/>
                  </a:srgbClr>
                </a:solidFill>
                <a:latin typeface="Microsoft YaHei"/>
                <a:ea typeface="Microsoft YaHei"/>
                <a:cs typeface="Microsoft YaHei"/>
              </a:rPr>
              <a:t>批量修改设备地址</a:t>
            </a:r>
            <a:endParaRPr sz="1400" dirty="0">
              <a:latin typeface="Microsoft YaHei"/>
              <a:ea typeface="Microsoft YaHei"/>
              <a:cs typeface="Microsoft YaHei"/>
            </a:endParaRPr>
          </a:p>
        </p:txBody>
      </p:sp>
      <p:sp>
        <p:nvSpPr>
          <p:cNvPr id="298" name="textbox 298"/>
          <p:cNvSpPr/>
          <p:nvPr/>
        </p:nvSpPr>
        <p:spPr>
          <a:xfrm>
            <a:off x="416594" y="5888636"/>
            <a:ext cx="10379075" cy="51943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1813"/>
              </a:lnSpc>
              <a:tabLst/>
            </a:pPr>
            <a:r>
              <a:rPr sz="1400" kern="0" spc="-20" dirty="0">
                <a:solidFill>
                  <a:srgbClr val="000000">
                    <a:alpha val="100000"/>
                  </a:srgbClr>
                </a:solidFill>
                <a:latin typeface="Microsoft YaHei"/>
                <a:ea typeface="Microsoft YaHei"/>
                <a:cs typeface="Microsoft YaHei"/>
              </a:rPr>
              <a:t>3.3 迁移结果验证</a:t>
            </a:r>
            <a:endParaRPr sz="1400" dirty="0">
              <a:latin typeface="Microsoft YaHei"/>
              <a:ea typeface="Microsoft YaHei"/>
              <a:cs typeface="Microsoft YaHei"/>
            </a:endParaRPr>
          </a:p>
          <a:p>
            <a:pPr algn="l" rtl="0" eaLnBrk="0">
              <a:lnSpc>
                <a:spcPct val="102000"/>
              </a:lnSpc>
              <a:tabLst/>
            </a:pPr>
            <a:endParaRPr sz="500" dirty="0">
              <a:latin typeface="Arial"/>
              <a:ea typeface="Arial"/>
              <a:cs typeface="Arial"/>
            </a:endParaRPr>
          </a:p>
          <a:p>
            <a:pPr marL="12700" algn="l" rtl="0" eaLnBrk="0">
              <a:lnSpc>
                <a:spcPct val="87000"/>
              </a:lnSpc>
              <a:tabLst/>
            </a:pPr>
            <a:r>
              <a:rPr sz="1400" b="1" kern="0" spc="-10" dirty="0">
                <a:solidFill>
                  <a:srgbClr val="C00000">
                    <a:alpha val="100000"/>
                  </a:srgbClr>
                </a:solidFill>
                <a:latin typeface="Microsoft YaHei"/>
                <a:ea typeface="Microsoft YaHei"/>
                <a:cs typeface="Microsoft YaHei"/>
              </a:rPr>
              <a:t>注</a:t>
            </a:r>
            <a:r>
              <a:rPr sz="1400" b="1" kern="0" spc="-200" dirty="0">
                <a:solidFill>
                  <a:srgbClr val="C00000">
                    <a:alpha val="100000"/>
                  </a:srgbClr>
                </a:solidFill>
                <a:latin typeface="Microsoft YaHei"/>
                <a:ea typeface="Microsoft YaHei"/>
                <a:cs typeface="Microsoft YaHei"/>
              </a:rPr>
              <a:t> </a:t>
            </a:r>
            <a:r>
              <a:rPr sz="1400" b="1" kern="0" spc="-10" dirty="0">
                <a:solidFill>
                  <a:srgbClr val="C00000">
                    <a:alpha val="100000"/>
                  </a:srgbClr>
                </a:solidFill>
                <a:latin typeface="Microsoft YaHei"/>
                <a:ea typeface="Microsoft YaHei"/>
                <a:cs typeface="Microsoft YaHei"/>
              </a:rPr>
              <a:t>：流程中每一步工作完成才能进入下</a:t>
            </a:r>
            <a:r>
              <a:rPr sz="1400" b="1" kern="0" spc="-20" dirty="0">
                <a:solidFill>
                  <a:srgbClr val="C00000">
                    <a:alpha val="100000"/>
                  </a:srgbClr>
                </a:solidFill>
                <a:latin typeface="Microsoft YaHei"/>
                <a:ea typeface="Microsoft YaHei"/>
                <a:cs typeface="Microsoft YaHei"/>
              </a:rPr>
              <a:t>一步工作</a:t>
            </a:r>
            <a:endParaRPr sz="1400" dirty="0">
              <a:latin typeface="Microsoft YaHei"/>
              <a:ea typeface="Microsoft YaHei"/>
              <a:cs typeface="Microsoft YaHei"/>
            </a:endParaRPr>
          </a:p>
        </p:txBody>
      </p:sp>
      <p:sp>
        <p:nvSpPr>
          <p:cNvPr id="300" name="textbox 300"/>
          <p:cNvSpPr/>
          <p:nvPr/>
        </p:nvSpPr>
        <p:spPr>
          <a:xfrm>
            <a:off x="2160091" y="1221422"/>
            <a:ext cx="2097404" cy="2391410"/>
          </a:xfrm>
          <a:prstGeom prst="rect">
            <a:avLst/>
          </a:prstGeom>
          <a:noFill/>
          <a:ln w="0" cap="flat">
            <a:noFill/>
            <a:prstDash val="solid"/>
            <a:miter lim="0"/>
          </a:ln>
        </p:spPr>
        <p:txBody>
          <a:bodyPr vert="horz" wrap="square" lIns="0" tIns="0" rIns="0" bIns="0"/>
          <a:lstStyle/>
          <a:p>
            <a:pPr algn="l" rtl="0" eaLnBrk="0">
              <a:lnSpc>
                <a:spcPct val="84916"/>
              </a:lnSpc>
              <a:tabLst/>
            </a:pPr>
            <a:endParaRPr sz="100" dirty="0">
              <a:latin typeface="Arial"/>
              <a:ea typeface="Arial"/>
              <a:cs typeface="Arial"/>
            </a:endParaRPr>
          </a:p>
          <a:p>
            <a:pPr marL="589915" algn="l" rtl="0" eaLnBrk="0">
              <a:lnSpc>
                <a:spcPct val="88000"/>
              </a:lnSpc>
              <a:tabLst/>
            </a:pPr>
            <a:r>
              <a:rPr sz="1700" b="1" kern="0" spc="90" dirty="0">
                <a:solidFill>
                  <a:srgbClr val="000000">
                    <a:alpha val="100000"/>
                  </a:srgbClr>
                </a:solidFill>
                <a:latin typeface="Microsoft YaHei"/>
                <a:ea typeface="Microsoft YaHei"/>
                <a:cs typeface="Microsoft YaHei"/>
              </a:rPr>
              <a:t>天翼物联</a:t>
            </a:r>
            <a:endParaRPr sz="1700" dirty="0">
              <a:latin typeface="Microsoft YaHei"/>
              <a:ea typeface="Microsoft YaHei"/>
              <a:cs typeface="Microsoft YaHei"/>
            </a:endParaRPr>
          </a:p>
          <a:p>
            <a:pPr algn="l" rtl="0" eaLnBrk="0">
              <a:lnSpc>
                <a:spcPct val="124000"/>
              </a:lnSpc>
              <a:tabLst/>
            </a:pPr>
            <a:endParaRPr sz="1000" dirty="0">
              <a:latin typeface="Arial"/>
              <a:ea typeface="Arial"/>
              <a:cs typeface="Arial"/>
            </a:endParaRPr>
          </a:p>
          <a:p>
            <a:pPr algn="l" rtl="0" eaLnBrk="0">
              <a:lnSpc>
                <a:spcPct val="125000"/>
              </a:lnSpc>
              <a:tabLst/>
            </a:pPr>
            <a:endParaRPr sz="1000" dirty="0">
              <a:latin typeface="Arial"/>
              <a:ea typeface="Arial"/>
              <a:cs typeface="Arial"/>
            </a:endParaRPr>
          </a:p>
          <a:p>
            <a:pPr algn="l" rtl="0" eaLnBrk="0">
              <a:lnSpc>
                <a:spcPct val="125000"/>
              </a:lnSpc>
              <a:tabLst/>
            </a:pPr>
            <a:endParaRPr sz="1000" dirty="0">
              <a:latin typeface="Arial"/>
              <a:ea typeface="Arial"/>
              <a:cs typeface="Arial"/>
            </a:endParaRPr>
          </a:p>
          <a:p>
            <a:pPr marL="20320" algn="l" rtl="0" eaLnBrk="0">
              <a:lnSpc>
                <a:spcPts val="1813"/>
              </a:lnSpc>
              <a:spcBef>
                <a:spcPts val="428"/>
              </a:spcBef>
              <a:tabLst/>
            </a:pPr>
            <a:r>
              <a:rPr sz="1400" kern="0" spc="-10" dirty="0">
                <a:solidFill>
                  <a:srgbClr val="000000">
                    <a:alpha val="100000"/>
                  </a:srgbClr>
                </a:solidFill>
                <a:latin typeface="Microsoft YaHei"/>
                <a:ea typeface="Microsoft YaHei"/>
                <a:cs typeface="Microsoft YaHei"/>
              </a:rPr>
              <a:t>1.1 渠道团队目标迁</a:t>
            </a:r>
            <a:r>
              <a:rPr sz="1400" kern="0" spc="-20" dirty="0">
                <a:solidFill>
                  <a:srgbClr val="000000">
                    <a:alpha val="100000"/>
                  </a:srgbClr>
                </a:solidFill>
                <a:latin typeface="Microsoft YaHei"/>
                <a:ea typeface="Microsoft YaHei"/>
                <a:cs typeface="Microsoft YaHei"/>
              </a:rPr>
              <a:t>移客户</a:t>
            </a:r>
            <a:endParaRPr sz="1400" dirty="0">
              <a:latin typeface="Microsoft YaHei"/>
              <a:ea typeface="Microsoft YaHei"/>
              <a:cs typeface="Microsoft YaHei"/>
            </a:endParaRPr>
          </a:p>
          <a:p>
            <a:pPr marL="867410" algn="l" rtl="0" eaLnBrk="0">
              <a:lnSpc>
                <a:spcPct val="85000"/>
              </a:lnSpc>
              <a:spcBef>
                <a:spcPts val="155"/>
              </a:spcBef>
              <a:tabLst/>
            </a:pPr>
            <a:r>
              <a:rPr sz="1400" kern="0" spc="-20" dirty="0">
                <a:solidFill>
                  <a:srgbClr val="000000">
                    <a:alpha val="100000"/>
                  </a:srgbClr>
                </a:solidFill>
                <a:latin typeface="Microsoft YaHei"/>
                <a:ea typeface="Microsoft YaHei"/>
                <a:cs typeface="Microsoft YaHei"/>
              </a:rPr>
              <a:t>认领</a:t>
            </a:r>
            <a:endParaRPr sz="1400" dirty="0">
              <a:latin typeface="Microsoft YaHei"/>
              <a:ea typeface="Microsoft YaHei"/>
              <a:cs typeface="Microsoft YaHei"/>
            </a:endParaRPr>
          </a:p>
          <a:p>
            <a:pPr algn="l" rtl="0" eaLnBrk="0">
              <a:lnSpc>
                <a:spcPct val="130000"/>
              </a:lnSpc>
              <a:tabLst/>
            </a:pPr>
            <a:endParaRPr sz="1000" dirty="0">
              <a:latin typeface="Arial"/>
              <a:ea typeface="Arial"/>
              <a:cs typeface="Arial"/>
            </a:endParaRPr>
          </a:p>
          <a:p>
            <a:pPr algn="l" rtl="0" eaLnBrk="0">
              <a:lnSpc>
                <a:spcPct val="130000"/>
              </a:lnSpc>
              <a:tabLst/>
            </a:pPr>
            <a:endParaRPr sz="1000" dirty="0">
              <a:latin typeface="Arial"/>
              <a:ea typeface="Arial"/>
              <a:cs typeface="Arial"/>
            </a:endParaRPr>
          </a:p>
          <a:p>
            <a:pPr algn="l" rtl="0" eaLnBrk="0">
              <a:lnSpc>
                <a:spcPct val="131000"/>
              </a:lnSpc>
              <a:tabLst/>
            </a:pPr>
            <a:endParaRPr sz="1000" dirty="0">
              <a:latin typeface="Arial"/>
              <a:ea typeface="Arial"/>
              <a:cs typeface="Arial"/>
            </a:endParaRPr>
          </a:p>
          <a:p>
            <a:pPr marL="12700" algn="l" rtl="0" eaLnBrk="0">
              <a:lnSpc>
                <a:spcPts val="1813"/>
              </a:lnSpc>
              <a:spcBef>
                <a:spcPts val="422"/>
              </a:spcBef>
              <a:tabLst/>
            </a:pPr>
            <a:r>
              <a:rPr sz="1400" kern="0" spc="-10" dirty="0">
                <a:solidFill>
                  <a:srgbClr val="000000">
                    <a:alpha val="100000"/>
                  </a:srgbClr>
                </a:solidFill>
                <a:latin typeface="Microsoft YaHei"/>
                <a:ea typeface="Microsoft YaHei"/>
                <a:cs typeface="Microsoft YaHei"/>
              </a:rPr>
              <a:t>2.1 天翼物联提供设备和开</a:t>
            </a:r>
            <a:endParaRPr sz="1400" dirty="0">
              <a:latin typeface="Microsoft YaHei"/>
              <a:ea typeface="Microsoft YaHei"/>
              <a:cs typeface="Microsoft YaHei"/>
            </a:endParaRPr>
          </a:p>
          <a:p>
            <a:pPr marL="781684" algn="l" rtl="0" eaLnBrk="0">
              <a:lnSpc>
                <a:spcPct val="87000"/>
              </a:lnSpc>
              <a:spcBef>
                <a:spcPts val="130"/>
              </a:spcBef>
              <a:tabLst/>
            </a:pPr>
            <a:r>
              <a:rPr sz="1400" kern="0" spc="-20" dirty="0">
                <a:solidFill>
                  <a:srgbClr val="000000">
                    <a:alpha val="100000"/>
                  </a:srgbClr>
                </a:solidFill>
                <a:latin typeface="Microsoft YaHei"/>
                <a:ea typeface="Microsoft YaHei"/>
                <a:cs typeface="Microsoft YaHei"/>
              </a:rPr>
              <a:t>卡清单</a:t>
            </a:r>
            <a:endParaRPr sz="1400" dirty="0">
              <a:latin typeface="Microsoft YaHei"/>
              <a:ea typeface="Microsoft YaHei"/>
              <a:cs typeface="Microsoft YaHei"/>
            </a:endParaRPr>
          </a:p>
        </p:txBody>
      </p:sp>
      <p:sp>
        <p:nvSpPr>
          <p:cNvPr id="302" name="textbox 302"/>
          <p:cNvSpPr/>
          <p:nvPr/>
        </p:nvSpPr>
        <p:spPr>
          <a:xfrm>
            <a:off x="425264" y="2166631"/>
            <a:ext cx="1040130" cy="344233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39369" algn="l" rtl="0" eaLnBrk="0">
              <a:lnSpc>
                <a:spcPts val="2103"/>
              </a:lnSpc>
              <a:tabLst/>
            </a:pPr>
            <a:r>
              <a:rPr sz="1500" b="1" kern="0" spc="50" dirty="0">
                <a:solidFill>
                  <a:srgbClr val="000000">
                    <a:alpha val="100000"/>
                  </a:srgbClr>
                </a:solidFill>
                <a:latin typeface="Microsoft YaHei"/>
                <a:ea typeface="Microsoft YaHei"/>
                <a:cs typeface="Microsoft YaHei"/>
              </a:rPr>
              <a:t>1.前置工作</a:t>
            </a:r>
            <a:endParaRPr sz="1500" dirty="0">
              <a:latin typeface="Microsoft YaHei"/>
              <a:ea typeface="Microsoft YaHei"/>
              <a:cs typeface="Microsoft YaHei"/>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marL="111125" indent="-98425" algn="l" rtl="0" eaLnBrk="0">
              <a:lnSpc>
                <a:spcPct val="111000"/>
              </a:lnSpc>
              <a:spcBef>
                <a:spcPts val="458"/>
              </a:spcBef>
              <a:tabLst/>
            </a:pPr>
            <a:r>
              <a:rPr sz="1500" b="1" kern="0" spc="90" dirty="0">
                <a:solidFill>
                  <a:srgbClr val="000000">
                    <a:alpha val="100000"/>
                  </a:srgbClr>
                </a:solidFill>
                <a:latin typeface="Microsoft YaHei"/>
                <a:ea typeface="Microsoft YaHei"/>
                <a:cs typeface="Microsoft YaHei"/>
              </a:rPr>
              <a:t>2.</a:t>
            </a:r>
            <a:r>
              <a:rPr sz="1500" b="1" kern="0" spc="0" dirty="0">
                <a:solidFill>
                  <a:srgbClr val="000000">
                    <a:alpha val="100000"/>
                  </a:srgbClr>
                </a:solidFill>
                <a:latin typeface="Microsoft YaHei"/>
                <a:ea typeface="Microsoft YaHei"/>
                <a:cs typeface="Microsoft YaHei"/>
              </a:rPr>
              <a:t>POC</a:t>
            </a:r>
            <a:r>
              <a:rPr sz="1500" b="1" kern="0" spc="90" dirty="0">
                <a:solidFill>
                  <a:srgbClr val="000000">
                    <a:alpha val="100000"/>
                  </a:srgbClr>
                </a:solidFill>
                <a:latin typeface="Microsoft YaHei"/>
                <a:ea typeface="Microsoft YaHei"/>
                <a:cs typeface="Microsoft YaHei"/>
              </a:rPr>
              <a:t>测试</a:t>
            </a:r>
            <a:r>
              <a:rPr sz="1500" b="1" kern="0" spc="90" dirty="0">
                <a:solidFill>
                  <a:srgbClr val="000000">
                    <a:alpha val="100000"/>
                  </a:srgbClr>
                </a:solidFill>
                <a:latin typeface="Microsoft YaHei"/>
                <a:ea typeface="Microsoft YaHei"/>
                <a:cs typeface="Microsoft YaHei"/>
              </a:rPr>
              <a:t>验证阶段</a:t>
            </a:r>
            <a:endParaRPr sz="15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25000"/>
              </a:lnSpc>
              <a:tabLst/>
            </a:pPr>
            <a:endParaRPr sz="300" dirty="0">
              <a:latin typeface="Arial"/>
              <a:ea typeface="Arial"/>
              <a:cs typeface="Arial"/>
            </a:endParaRPr>
          </a:p>
          <a:p>
            <a:pPr marL="285750" indent="-78739" algn="l" rtl="0" eaLnBrk="0">
              <a:lnSpc>
                <a:spcPct val="111000"/>
              </a:lnSpc>
              <a:spcBef>
                <a:spcPts val="3"/>
              </a:spcBef>
              <a:tabLst/>
            </a:pPr>
            <a:r>
              <a:rPr sz="1500" b="1" kern="0" spc="40" dirty="0">
                <a:solidFill>
                  <a:srgbClr val="000000">
                    <a:alpha val="100000"/>
                  </a:srgbClr>
                </a:solidFill>
                <a:latin typeface="Microsoft YaHei"/>
                <a:ea typeface="Microsoft YaHei"/>
                <a:cs typeface="Microsoft YaHei"/>
              </a:rPr>
              <a:t>3.批量迁</a:t>
            </a:r>
            <a:r>
              <a:rPr sz="1500" b="1" kern="0" spc="80" dirty="0">
                <a:solidFill>
                  <a:srgbClr val="000000">
                    <a:alpha val="100000"/>
                  </a:srgbClr>
                </a:solidFill>
                <a:latin typeface="Microsoft YaHei"/>
                <a:ea typeface="Microsoft YaHei"/>
                <a:cs typeface="Microsoft YaHei"/>
              </a:rPr>
              <a:t>移阶段</a:t>
            </a:r>
            <a:endParaRPr sz="1500" dirty="0">
              <a:latin typeface="Microsoft YaHei"/>
              <a:ea typeface="Microsoft YaHei"/>
              <a:cs typeface="Microsoft YaHei"/>
            </a:endParaRPr>
          </a:p>
        </p:txBody>
      </p:sp>
      <p:pic>
        <p:nvPicPr>
          <p:cNvPr id="304" name="picture 304"/>
          <p:cNvPicPr>
            <a:picLocks noChangeAspect="1"/>
          </p:cNvPicPr>
          <p:nvPr/>
        </p:nvPicPr>
        <p:blipFill>
          <a:blip r:embed="rId3"/>
          <a:stretch>
            <a:fillRect/>
          </a:stretch>
        </p:blipFill>
        <p:spPr>
          <a:xfrm rot="21600000">
            <a:off x="335279" y="807720"/>
            <a:ext cx="11519916" cy="67055"/>
          </a:xfrm>
          <a:prstGeom prst="rect">
            <a:avLst/>
          </a:prstGeom>
        </p:spPr>
      </p:pic>
      <p:sp>
        <p:nvSpPr>
          <p:cNvPr id="306" name="textbox 306"/>
          <p:cNvSpPr/>
          <p:nvPr/>
        </p:nvSpPr>
        <p:spPr>
          <a:xfrm>
            <a:off x="419582" y="280149"/>
            <a:ext cx="2153920" cy="330834"/>
          </a:xfrm>
          <a:prstGeom prst="rect">
            <a:avLst/>
          </a:prstGeom>
          <a:noFill/>
          <a:ln w="0" cap="flat">
            <a:noFill/>
            <a:prstDash val="solid"/>
            <a:miter lim="0"/>
          </a:ln>
        </p:spPr>
        <p:txBody>
          <a:bodyPr vert="horz" wrap="square" lIns="0" tIns="0" rIns="0" bIns="0"/>
          <a:lstStyle/>
          <a:p>
            <a:pPr algn="l" rtl="0" eaLnBrk="0">
              <a:lnSpc>
                <a:spcPct val="84818"/>
              </a:lnSpc>
              <a:tabLst/>
            </a:pPr>
            <a:endParaRPr sz="100" dirty="0">
              <a:latin typeface="Arial"/>
              <a:ea typeface="Arial"/>
              <a:cs typeface="Arial"/>
            </a:endParaRPr>
          </a:p>
          <a:p>
            <a:pPr marL="12700" algn="l" rtl="0" eaLnBrk="0">
              <a:lnSpc>
                <a:spcPct val="87000"/>
              </a:lnSpc>
              <a:tabLst/>
            </a:pPr>
            <a:r>
              <a:rPr sz="2300" b="1" kern="0" spc="90" dirty="0">
                <a:solidFill>
                  <a:srgbClr val="C00000">
                    <a:alpha val="100000"/>
                  </a:srgbClr>
                </a:solidFill>
                <a:latin typeface="Microsoft YaHei"/>
                <a:ea typeface="Microsoft YaHei"/>
                <a:cs typeface="Microsoft YaHei"/>
              </a:rPr>
              <a:t>直连方案流程图</a:t>
            </a:r>
            <a:endParaRPr sz="2300" dirty="0">
              <a:latin typeface="Microsoft YaHei"/>
              <a:ea typeface="Microsoft YaHei"/>
              <a:cs typeface="Microsoft YaHei"/>
            </a:endParaRPr>
          </a:p>
        </p:txBody>
      </p:sp>
      <p:pic>
        <p:nvPicPr>
          <p:cNvPr id="308" name="picture 308"/>
          <p:cNvPicPr>
            <a:picLocks noChangeAspect="1"/>
          </p:cNvPicPr>
          <p:nvPr/>
        </p:nvPicPr>
        <p:blipFill>
          <a:blip r:embed="rId4"/>
          <a:stretch>
            <a:fillRect/>
          </a:stretch>
        </p:blipFill>
        <p:spPr>
          <a:xfrm rot="21600000">
            <a:off x="11126046" y="215885"/>
            <a:ext cx="721486" cy="526694"/>
          </a:xfrm>
          <a:prstGeom prst="rect">
            <a:avLst/>
          </a:prstGeom>
        </p:spPr>
      </p:pic>
      <p:sp>
        <p:nvSpPr>
          <p:cNvPr id="310" name="textbox 310"/>
          <p:cNvSpPr/>
          <p:nvPr/>
        </p:nvSpPr>
        <p:spPr>
          <a:xfrm>
            <a:off x="11901293" y="5395682"/>
            <a:ext cx="379729" cy="848994"/>
          </a:xfrm>
          <a:prstGeom prst="rect">
            <a:avLst/>
          </a:prstGeom>
          <a:noFill/>
          <a:ln w="0" cap="flat">
            <a:noFill/>
            <a:prstDash val="solid"/>
            <a:miter lim="0"/>
          </a:ln>
        </p:spPr>
        <p:txBody>
          <a:bodyPr vert="horz" wrap="square" lIns="0" tIns="0" rIns="0" bIns="0"/>
          <a:lstStyle/>
          <a:p>
            <a:pPr algn="l" rtl="0" eaLnBrk="0">
              <a:lnSpc>
                <a:spcPct val="87637"/>
              </a:lnSpc>
              <a:tabLst/>
            </a:pPr>
            <a:endParaRPr sz="100" dirty="0">
              <a:latin typeface="Arial"/>
              <a:ea typeface="Arial"/>
              <a:cs typeface="Arial"/>
            </a:endParaRPr>
          </a:p>
          <a:p>
            <a:pPr marL="15240" algn="l" rtl="0" eaLnBrk="0">
              <a:lnSpc>
                <a:spcPct val="86000"/>
              </a:lnSpc>
              <a:tabLst/>
            </a:pPr>
            <a:r>
              <a:rPr sz="1400" kern="0" spc="-30" dirty="0">
                <a:solidFill>
                  <a:srgbClr val="FF0000">
                    <a:alpha val="100000"/>
                  </a:srgbClr>
                </a:solidFill>
                <a:latin typeface="Microsoft YaHei"/>
                <a:ea typeface="Microsoft YaHei"/>
                <a:cs typeface="Microsoft YaHei"/>
              </a:rPr>
              <a:t>多次</a:t>
            </a:r>
            <a:endParaRPr sz="1400" dirty="0">
              <a:latin typeface="Microsoft YaHei"/>
              <a:ea typeface="Microsoft YaHei"/>
              <a:cs typeface="Microsoft YaHei"/>
            </a:endParaRPr>
          </a:p>
          <a:p>
            <a:pPr marL="12700" algn="l" rtl="0" eaLnBrk="0">
              <a:lnSpc>
                <a:spcPct val="87000"/>
              </a:lnSpc>
              <a:spcBef>
                <a:spcPts val="220"/>
              </a:spcBef>
              <a:tabLst/>
            </a:pPr>
            <a:r>
              <a:rPr sz="1400" kern="0" spc="-20" dirty="0">
                <a:solidFill>
                  <a:srgbClr val="FF0000">
                    <a:alpha val="100000"/>
                  </a:srgbClr>
                </a:solidFill>
                <a:latin typeface="Microsoft YaHei"/>
                <a:ea typeface="Microsoft YaHei"/>
                <a:cs typeface="Microsoft YaHei"/>
              </a:rPr>
              <a:t>迁移</a:t>
            </a:r>
            <a:endParaRPr sz="1400" dirty="0">
              <a:latin typeface="Microsoft YaHei"/>
              <a:ea typeface="Microsoft YaHei"/>
              <a:cs typeface="Microsoft YaHei"/>
            </a:endParaRPr>
          </a:p>
          <a:p>
            <a:pPr marL="13334" algn="l" rtl="0" eaLnBrk="0">
              <a:lnSpc>
                <a:spcPct val="85000"/>
              </a:lnSpc>
              <a:spcBef>
                <a:spcPts val="243"/>
              </a:spcBef>
              <a:tabLst/>
            </a:pPr>
            <a:r>
              <a:rPr sz="1400" kern="0" spc="-20" dirty="0">
                <a:solidFill>
                  <a:srgbClr val="FF0000">
                    <a:alpha val="100000"/>
                  </a:srgbClr>
                </a:solidFill>
                <a:latin typeface="Microsoft YaHei"/>
                <a:ea typeface="Microsoft YaHei"/>
                <a:cs typeface="Microsoft YaHei"/>
              </a:rPr>
              <a:t>量迁</a:t>
            </a:r>
            <a:endParaRPr sz="1400" dirty="0">
              <a:latin typeface="Microsoft YaHei"/>
              <a:ea typeface="Microsoft YaHei"/>
              <a:cs typeface="Microsoft YaHei"/>
            </a:endParaRPr>
          </a:p>
          <a:p>
            <a:pPr marL="12700" algn="l" rtl="0" eaLnBrk="0">
              <a:lnSpc>
                <a:spcPct val="86000"/>
              </a:lnSpc>
              <a:spcBef>
                <a:spcPts val="238"/>
              </a:spcBef>
              <a:tabLst/>
            </a:pPr>
            <a:r>
              <a:rPr sz="1400" kern="0" spc="-10" dirty="0">
                <a:solidFill>
                  <a:srgbClr val="FF0000">
                    <a:alpha val="100000"/>
                  </a:srgbClr>
                </a:solidFill>
                <a:latin typeface="Microsoft YaHei"/>
                <a:ea typeface="Microsoft YaHei"/>
                <a:cs typeface="Microsoft YaHei"/>
              </a:rPr>
              <a:t>束</a:t>
            </a:r>
            <a:endParaRPr sz="1400" dirty="0">
              <a:latin typeface="Microsoft YaHei"/>
              <a:ea typeface="Microsoft YaHei"/>
              <a:cs typeface="Microsoft YaHei"/>
            </a:endParaRPr>
          </a:p>
        </p:txBody>
      </p:sp>
      <p:sp>
        <p:nvSpPr>
          <p:cNvPr id="312" name="textbox 312"/>
          <p:cNvSpPr/>
          <p:nvPr/>
        </p:nvSpPr>
        <p:spPr>
          <a:xfrm>
            <a:off x="11662743" y="6462377"/>
            <a:ext cx="224154"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20" dirty="0">
                <a:solidFill>
                  <a:srgbClr val="B1B1B1">
                    <a:alpha val="100000"/>
                  </a:srgbClr>
                </a:solidFill>
                <a:latin typeface="DengXian"/>
                <a:ea typeface="DengXian"/>
                <a:cs typeface="DengXian"/>
              </a:rPr>
              <a:t>11</a:t>
            </a:r>
            <a:endParaRPr sz="1500" dirty="0">
              <a:latin typeface="DengXian"/>
              <a:ea typeface="DengXian"/>
              <a:cs typeface="DengXi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rect 314"/>
          <p:cNvSpPr/>
          <p:nvPr/>
        </p:nvSpPr>
        <p:spPr>
          <a:xfrm>
            <a:off x="335279" y="2651759"/>
            <a:ext cx="11245596" cy="1644396"/>
          </a:xfrm>
          <a:prstGeom prst="rect">
            <a:avLst/>
          </a:prstGeom>
          <a:solidFill>
            <a:srgbClr val="F4B183">
              <a:alpha val="43529"/>
            </a:srgbClr>
          </a:solidFill>
          <a:ln w="0" cap="flat">
            <a:noFill/>
            <a:prstDash val="solid"/>
            <a:miter lim="0"/>
          </a:ln>
        </p:spPr>
        <p:txBody>
          <a:bodyPr rtlCol="0"/>
          <a:lstStyle/>
          <a:p>
            <a:pPr algn="ctr"/>
            <a:endParaRPr lang="zh-CN" altLang="en-US"/>
          </a:p>
        </p:txBody>
      </p:sp>
      <p:sp>
        <p:nvSpPr>
          <p:cNvPr id="316" name="rect 316"/>
          <p:cNvSpPr/>
          <p:nvPr/>
        </p:nvSpPr>
        <p:spPr>
          <a:xfrm>
            <a:off x="335279" y="1615440"/>
            <a:ext cx="11245596" cy="964691"/>
          </a:xfrm>
          <a:prstGeom prst="rect">
            <a:avLst/>
          </a:prstGeom>
          <a:solidFill>
            <a:srgbClr val="D0CECE">
              <a:alpha val="43529"/>
            </a:srgbClr>
          </a:solidFill>
          <a:ln w="0" cap="flat">
            <a:noFill/>
            <a:prstDash val="solid"/>
            <a:miter lim="0"/>
          </a:ln>
        </p:spPr>
        <p:txBody>
          <a:bodyPr rtlCol="0"/>
          <a:lstStyle/>
          <a:p>
            <a:pPr algn="ctr"/>
            <a:endParaRPr lang="zh-CN" altLang="en-US"/>
          </a:p>
        </p:txBody>
      </p:sp>
      <p:sp>
        <p:nvSpPr>
          <p:cNvPr id="318" name="rect 318"/>
          <p:cNvSpPr/>
          <p:nvPr/>
        </p:nvSpPr>
        <p:spPr>
          <a:xfrm>
            <a:off x="335279" y="4521708"/>
            <a:ext cx="11245596" cy="1720596"/>
          </a:xfrm>
          <a:prstGeom prst="rect">
            <a:avLst/>
          </a:prstGeom>
          <a:solidFill>
            <a:srgbClr val="B4C7E7">
              <a:alpha val="43529"/>
            </a:srgbClr>
          </a:solidFill>
          <a:ln w="0" cap="flat">
            <a:noFill/>
            <a:prstDash val="solid"/>
            <a:miter lim="0"/>
          </a:ln>
        </p:spPr>
        <p:txBody>
          <a:bodyPr rtlCol="0"/>
          <a:lstStyle/>
          <a:p>
            <a:pPr algn="ctr"/>
            <a:endParaRPr lang="zh-CN" altLang="en-US"/>
          </a:p>
        </p:txBody>
      </p:sp>
      <p:pic>
        <p:nvPicPr>
          <p:cNvPr id="320" name="picture 320"/>
          <p:cNvPicPr>
            <a:picLocks noChangeAspect="1"/>
          </p:cNvPicPr>
          <p:nvPr/>
        </p:nvPicPr>
        <p:blipFill>
          <a:blip r:embed="rId2"/>
          <a:stretch>
            <a:fillRect/>
          </a:stretch>
        </p:blipFill>
        <p:spPr>
          <a:xfrm rot="21600000">
            <a:off x="1902002" y="968832"/>
            <a:ext cx="9303639" cy="5534214"/>
          </a:xfrm>
          <a:prstGeom prst="rect">
            <a:avLst/>
          </a:prstGeom>
        </p:spPr>
      </p:pic>
      <p:sp>
        <p:nvSpPr>
          <p:cNvPr id="322" name="textbox 322"/>
          <p:cNvSpPr/>
          <p:nvPr/>
        </p:nvSpPr>
        <p:spPr>
          <a:xfrm>
            <a:off x="3851573" y="4614458"/>
            <a:ext cx="6900544" cy="176022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913254" algn="l" rtl="0" eaLnBrk="0">
              <a:lnSpc>
                <a:spcPts val="1813"/>
              </a:lnSpc>
              <a:tabLst/>
            </a:pPr>
            <a:r>
              <a:rPr sz="1400" kern="0" spc="-10" dirty="0">
                <a:solidFill>
                  <a:srgbClr val="000000">
                    <a:alpha val="100000"/>
                  </a:srgbClr>
                </a:solidFill>
                <a:latin typeface="Microsoft YaHei"/>
                <a:ea typeface="Microsoft YaHei"/>
                <a:cs typeface="Microsoft YaHei"/>
              </a:rPr>
              <a:t>3.1 制定批量迁移计划</a:t>
            </a:r>
            <a:endParaRPr sz="1400" dirty="0">
              <a:latin typeface="Microsoft YaHei"/>
              <a:ea typeface="Microsoft YaHei"/>
              <a:cs typeface="Microsoft YaHei"/>
            </a:endParaRPr>
          </a:p>
          <a:p>
            <a:pPr marL="2231389" algn="l" rtl="0" eaLnBrk="0">
              <a:lnSpc>
                <a:spcPct val="87000"/>
              </a:lnSpc>
              <a:spcBef>
                <a:spcPts val="128"/>
              </a:spcBef>
              <a:tabLst/>
            </a:pPr>
            <a:r>
              <a:rPr sz="1400" kern="0" spc="-10" dirty="0">
                <a:solidFill>
                  <a:srgbClr val="000000">
                    <a:alpha val="100000"/>
                  </a:srgbClr>
                </a:solidFill>
                <a:latin typeface="Microsoft YaHei"/>
                <a:ea typeface="Microsoft YaHei"/>
                <a:cs typeface="Microsoft YaHei"/>
              </a:rPr>
              <a:t>确定迁移时间</a:t>
            </a:r>
            <a:endParaRPr sz="1400" dirty="0">
              <a:latin typeface="Microsoft YaHei"/>
              <a:ea typeface="Microsoft YaHei"/>
              <a:cs typeface="Microsoft YaHei"/>
            </a:endParaRPr>
          </a:p>
          <a:p>
            <a:pPr algn="l" rtl="0" eaLnBrk="0">
              <a:lnSpc>
                <a:spcPct val="182000"/>
              </a:lnSpc>
              <a:tabLst/>
            </a:pPr>
            <a:endParaRPr sz="1000" dirty="0">
              <a:latin typeface="Arial"/>
              <a:ea typeface="Arial"/>
              <a:cs typeface="Arial"/>
            </a:endParaRPr>
          </a:p>
          <a:p>
            <a:pPr marL="1735454" algn="l" rtl="0" eaLnBrk="0">
              <a:lnSpc>
                <a:spcPts val="1813"/>
              </a:lnSpc>
              <a:spcBef>
                <a:spcPts val="429"/>
              </a:spcBef>
              <a:tabLst/>
            </a:pPr>
            <a:r>
              <a:rPr sz="1400" kern="0" spc="-10" dirty="0">
                <a:solidFill>
                  <a:srgbClr val="000000">
                    <a:alpha val="100000"/>
                  </a:srgbClr>
                </a:solidFill>
                <a:latin typeface="Microsoft YaHei"/>
                <a:ea typeface="Microsoft YaHei"/>
                <a:cs typeface="Microsoft YaHei"/>
              </a:rPr>
              <a:t>3.2 选取批量迁移设备清单</a:t>
            </a:r>
            <a:endParaRPr sz="1400" dirty="0">
              <a:latin typeface="Microsoft YaHei"/>
              <a:ea typeface="Microsoft YaHei"/>
              <a:cs typeface="Microsoft YaHei"/>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30000"/>
              </a:lnSpc>
              <a:tabLst/>
            </a:pPr>
            <a:endParaRPr sz="300" dirty="0">
              <a:latin typeface="Arial"/>
              <a:ea typeface="Arial"/>
              <a:cs typeface="Arial"/>
            </a:endParaRPr>
          </a:p>
          <a:p>
            <a:pPr marL="12700" algn="l" rtl="0" eaLnBrk="0">
              <a:lnSpc>
                <a:spcPct val="87000"/>
              </a:lnSpc>
              <a:spcBef>
                <a:spcPts val="1"/>
              </a:spcBef>
              <a:tabLst/>
            </a:pPr>
            <a:r>
              <a:rPr sz="2100" kern="0" spc="20" baseline="2480" dirty="0">
                <a:solidFill>
                  <a:srgbClr val="FF0000">
                    <a:alpha val="100000"/>
                  </a:srgbClr>
                </a:solidFill>
                <a:latin typeface="Microsoft YaHei"/>
                <a:ea typeface="Microsoft YaHei"/>
                <a:cs typeface="Microsoft YaHei"/>
              </a:rPr>
              <a:t>多次批量迁移至全量迁移结束</a:t>
            </a:r>
            <a:r>
              <a:rPr sz="1300" kern="0" spc="20" dirty="0">
                <a:solidFill>
                  <a:srgbClr val="FF0000">
                    <a:alpha val="100000"/>
                  </a:srgbClr>
                </a:solidFill>
                <a:latin typeface="Microsoft YaHei"/>
                <a:ea typeface="Microsoft YaHei"/>
                <a:cs typeface="Microsoft YaHei"/>
              </a:rPr>
              <a:t>                                              </a:t>
            </a:r>
            <a:r>
              <a:rPr sz="1300" kern="0" spc="10" dirty="0">
                <a:solidFill>
                  <a:srgbClr val="FF0000">
                    <a:alpha val="100000"/>
                  </a:srgbClr>
                </a:solidFill>
                <a:latin typeface="Microsoft YaHei"/>
                <a:ea typeface="Microsoft YaHei"/>
                <a:cs typeface="Microsoft YaHei"/>
              </a:rPr>
              <a:t>                </a:t>
            </a:r>
            <a:r>
              <a:rPr sz="2400" b="1" kern="0" spc="10" baseline="-4340" dirty="0">
                <a:solidFill>
                  <a:srgbClr val="FFFFFF">
                    <a:alpha val="100000"/>
                  </a:srgbClr>
                </a:solidFill>
                <a:latin typeface="Microsoft YaHei"/>
                <a:ea typeface="Microsoft YaHei"/>
                <a:cs typeface="Microsoft YaHei"/>
              </a:rPr>
              <a:t>正式使用新平台</a:t>
            </a:r>
            <a:endParaRPr sz="2400" baseline="-4340" dirty="0">
              <a:latin typeface="Microsoft YaHei"/>
              <a:ea typeface="Microsoft YaHei"/>
              <a:cs typeface="Microsoft YaHei"/>
            </a:endParaRPr>
          </a:p>
        </p:txBody>
      </p:sp>
      <p:sp>
        <p:nvSpPr>
          <p:cNvPr id="324" name="textbox 324"/>
          <p:cNvSpPr/>
          <p:nvPr/>
        </p:nvSpPr>
        <p:spPr>
          <a:xfrm>
            <a:off x="2168286" y="1740766"/>
            <a:ext cx="8923019" cy="66230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3523"/>
              </a:lnSpc>
              <a:tabLst/>
            </a:pPr>
            <a:r>
              <a:rPr sz="2100" kern="0" spc="0" baseline="29905" dirty="0">
                <a:solidFill>
                  <a:srgbClr val="000000">
                    <a:alpha val="100000"/>
                  </a:srgbClr>
                </a:solidFill>
                <a:latin typeface="Microsoft YaHei"/>
                <a:ea typeface="Microsoft YaHei"/>
                <a:cs typeface="Microsoft YaHei"/>
              </a:rPr>
              <a:t>1.1</a:t>
            </a:r>
            <a:r>
              <a:rPr sz="1300" kern="0" spc="0" dirty="0">
                <a:solidFill>
                  <a:srgbClr val="000000">
                    <a:alpha val="100000"/>
                  </a:srgbClr>
                </a:solidFill>
                <a:latin typeface="Microsoft YaHei"/>
                <a:ea typeface="Microsoft YaHei"/>
                <a:cs typeface="Microsoft YaHei"/>
              </a:rPr>
              <a:t> </a:t>
            </a:r>
            <a:r>
              <a:rPr sz="2100" kern="0" spc="0" baseline="29905" dirty="0">
                <a:solidFill>
                  <a:srgbClr val="000000">
                    <a:alpha val="100000"/>
                  </a:srgbClr>
                </a:solidFill>
                <a:latin typeface="Microsoft YaHei"/>
                <a:ea typeface="Microsoft YaHei"/>
                <a:cs typeface="Microsoft YaHei"/>
              </a:rPr>
              <a:t>渠道团</a:t>
            </a:r>
            <a:r>
              <a:rPr sz="1300" kern="0" spc="40" dirty="0">
                <a:solidFill>
                  <a:srgbClr val="000000">
                    <a:alpha val="100000"/>
                  </a:srgbClr>
                </a:solidFill>
                <a:latin typeface="Microsoft YaHei"/>
                <a:ea typeface="Microsoft YaHei"/>
                <a:cs typeface="Microsoft YaHei"/>
              </a:rPr>
              <a:t>       </a:t>
            </a:r>
            <a:r>
              <a:rPr sz="2100" kern="0" spc="0" baseline="29905" dirty="0">
                <a:solidFill>
                  <a:srgbClr val="000000">
                    <a:alpha val="100000"/>
                  </a:srgbClr>
                </a:solidFill>
                <a:latin typeface="Microsoft YaHei"/>
                <a:ea typeface="Microsoft YaHei"/>
                <a:cs typeface="Microsoft YaHei"/>
              </a:rPr>
              <a:t>标迁移客户</a:t>
            </a:r>
            <a:r>
              <a:rPr sz="1300" kern="0" spc="0" dirty="0">
                <a:solidFill>
                  <a:srgbClr val="000000">
                    <a:alpha val="100000"/>
                  </a:srgbClr>
                </a:solidFill>
                <a:latin typeface="Microsoft YaHei"/>
                <a:ea typeface="Microsoft YaHei"/>
                <a:cs typeface="Microsoft YaHei"/>
              </a:rPr>
              <a:t>                        </a:t>
            </a:r>
            <a:r>
              <a:rPr sz="2100" kern="0" spc="0" baseline="72072" dirty="0">
                <a:solidFill>
                  <a:srgbClr val="000000">
                    <a:alpha val="100000"/>
                  </a:srgbClr>
                </a:solidFill>
                <a:latin typeface="Microsoft YaHei"/>
                <a:ea typeface="Microsoft YaHei"/>
                <a:cs typeface="Microsoft YaHei"/>
              </a:rPr>
              <a:t>1.</a:t>
            </a:r>
            <a:r>
              <a:rPr sz="1300" kern="0" spc="0" dirty="0">
                <a:solidFill>
                  <a:srgbClr val="000000">
                    <a:alpha val="100000"/>
                  </a:srgbClr>
                </a:solidFill>
                <a:latin typeface="Microsoft YaHei"/>
                <a:ea typeface="Microsoft YaHei"/>
                <a:cs typeface="Microsoft YaHei"/>
              </a:rPr>
              <a:t>                                           </a:t>
            </a:r>
            <a:r>
              <a:rPr sz="2100" kern="0" spc="0" baseline="72072" dirty="0">
                <a:solidFill>
                  <a:srgbClr val="000000">
                    <a:alpha val="100000"/>
                  </a:srgbClr>
                </a:solidFill>
                <a:latin typeface="Microsoft YaHei"/>
                <a:ea typeface="Microsoft YaHei"/>
                <a:cs typeface="Microsoft YaHei"/>
              </a:rPr>
              <a:t>，</a:t>
            </a:r>
            <a:r>
              <a:rPr sz="1300" kern="0" spc="0" dirty="0">
                <a:solidFill>
                  <a:srgbClr val="000000">
                    <a:alpha val="100000"/>
                  </a:srgbClr>
                </a:solidFill>
                <a:latin typeface="Microsoft YaHei"/>
                <a:ea typeface="Microsoft YaHei"/>
                <a:cs typeface="Microsoft YaHei"/>
              </a:rPr>
              <a:t>                        </a:t>
            </a:r>
            <a:r>
              <a:rPr sz="2100" kern="0" spc="0" baseline="-9780" dirty="0">
                <a:solidFill>
                  <a:srgbClr val="000000">
                    <a:alpha val="100000"/>
                  </a:srgbClr>
                </a:solidFill>
                <a:latin typeface="Microsoft YaHei"/>
                <a:ea typeface="Microsoft YaHei"/>
                <a:cs typeface="Microsoft YaHei"/>
              </a:rPr>
              <a:t>1.3</a:t>
            </a:r>
            <a:r>
              <a:rPr sz="1300" kern="0" spc="0" dirty="0">
                <a:solidFill>
                  <a:srgbClr val="000000">
                    <a:alpha val="100000"/>
                  </a:srgbClr>
                </a:solidFill>
                <a:latin typeface="Microsoft YaHei"/>
                <a:ea typeface="Microsoft YaHei"/>
                <a:cs typeface="Microsoft YaHei"/>
              </a:rPr>
              <a:t> </a:t>
            </a:r>
            <a:r>
              <a:rPr sz="2100" kern="0" spc="0" baseline="-9780" dirty="0">
                <a:solidFill>
                  <a:srgbClr val="000000">
                    <a:alpha val="100000"/>
                  </a:srgbClr>
                </a:solidFill>
                <a:latin typeface="Microsoft YaHei"/>
                <a:ea typeface="Microsoft YaHei"/>
                <a:cs typeface="Microsoft YaHei"/>
              </a:rPr>
              <a:t>提供POC</a:t>
            </a:r>
            <a:r>
              <a:rPr sz="2100" kern="0" spc="-10" baseline="-9780" dirty="0">
                <a:solidFill>
                  <a:srgbClr val="000000">
                    <a:alpha val="100000"/>
                  </a:srgbClr>
                </a:solidFill>
                <a:latin typeface="Microsoft YaHei"/>
                <a:ea typeface="Microsoft YaHei"/>
                <a:cs typeface="Microsoft YaHei"/>
              </a:rPr>
              <a:t>迁移设备信息</a:t>
            </a:r>
            <a:endParaRPr sz="2100" baseline="-9780" dirty="0">
              <a:latin typeface="Microsoft YaHei"/>
              <a:ea typeface="Microsoft YaHei"/>
              <a:cs typeface="Microsoft YaHei"/>
            </a:endParaRPr>
          </a:p>
        </p:txBody>
      </p:sp>
      <p:sp>
        <p:nvSpPr>
          <p:cNvPr id="326" name="textbox 326"/>
          <p:cNvSpPr/>
          <p:nvPr/>
        </p:nvSpPr>
        <p:spPr>
          <a:xfrm>
            <a:off x="7049967" y="2201924"/>
            <a:ext cx="557530" cy="200660"/>
          </a:xfrm>
          <a:prstGeom prst="rect">
            <a:avLst/>
          </a:prstGeom>
          <a:noFill/>
          <a:ln w="0" cap="flat">
            <a:noFill/>
            <a:prstDash val="solid"/>
            <a:miter lim="0"/>
          </a:ln>
        </p:spPr>
        <p:txBody>
          <a:bodyPr vert="horz" wrap="square" lIns="0" tIns="0" rIns="0" bIns="0"/>
          <a:lstStyle/>
          <a:p>
            <a:pPr algn="l" rtl="0" eaLnBrk="0">
              <a:lnSpc>
                <a:spcPct val="81695"/>
              </a:lnSpc>
              <a:tabLst/>
            </a:pPr>
            <a:endParaRPr sz="100" dirty="0">
              <a:latin typeface="Arial"/>
              <a:ea typeface="Arial"/>
              <a:cs typeface="Arial"/>
            </a:endParaRPr>
          </a:p>
          <a:p>
            <a:pPr marL="12700" algn="l" rtl="0" eaLnBrk="0">
              <a:lnSpc>
                <a:spcPct val="82000"/>
              </a:lnSpc>
              <a:tabLst/>
            </a:pPr>
            <a:r>
              <a:rPr sz="1400" kern="0" spc="-10" dirty="0">
                <a:solidFill>
                  <a:srgbClr val="000000">
                    <a:alpha val="100000"/>
                  </a:srgbClr>
                </a:solidFill>
                <a:latin typeface="Microsoft YaHei"/>
                <a:ea typeface="Microsoft YaHei"/>
                <a:cs typeface="Microsoft YaHei"/>
              </a:rPr>
              <a:t>授权函</a:t>
            </a:r>
            <a:endParaRPr sz="1400" dirty="0">
              <a:latin typeface="Microsoft YaHei"/>
              <a:ea typeface="Microsoft YaHei"/>
              <a:cs typeface="Microsoft YaHei"/>
            </a:endParaRPr>
          </a:p>
        </p:txBody>
      </p:sp>
      <p:sp>
        <p:nvSpPr>
          <p:cNvPr id="328" name="textbox 328"/>
          <p:cNvSpPr/>
          <p:nvPr/>
        </p:nvSpPr>
        <p:spPr>
          <a:xfrm>
            <a:off x="7143150" y="1986244"/>
            <a:ext cx="553084" cy="201929"/>
          </a:xfrm>
          <a:prstGeom prst="rect">
            <a:avLst/>
          </a:prstGeom>
          <a:noFill/>
          <a:ln w="0" cap="flat">
            <a:noFill/>
            <a:prstDash val="solid"/>
            <a:miter lim="0"/>
          </a:ln>
        </p:spPr>
        <p:txBody>
          <a:bodyPr vert="horz" wrap="square" lIns="0" tIns="0" rIns="0" bIns="0"/>
          <a:lstStyle/>
          <a:p>
            <a:pPr algn="l" rtl="0" eaLnBrk="0">
              <a:lnSpc>
                <a:spcPct val="78235"/>
              </a:lnSpc>
              <a:tabLst/>
            </a:pPr>
            <a:endParaRPr sz="100" dirty="0">
              <a:latin typeface="Arial"/>
              <a:ea typeface="Arial"/>
              <a:cs typeface="Arial"/>
            </a:endParaRPr>
          </a:p>
          <a:p>
            <a:pPr marL="12700" algn="l" rtl="0" eaLnBrk="0">
              <a:lnSpc>
                <a:spcPct val="83000"/>
              </a:lnSpc>
              <a:tabLst/>
            </a:pPr>
            <a:r>
              <a:rPr sz="1400" kern="0" spc="-20" dirty="0">
                <a:solidFill>
                  <a:srgbClr val="000000">
                    <a:alpha val="100000"/>
                  </a:srgbClr>
                </a:solidFill>
                <a:latin typeface="Microsoft YaHei"/>
                <a:ea typeface="Microsoft YaHei"/>
                <a:cs typeface="Microsoft YaHei"/>
              </a:rPr>
              <a:t>收集客</a:t>
            </a:r>
            <a:endParaRPr sz="1400" dirty="0">
              <a:latin typeface="Microsoft YaHei"/>
              <a:ea typeface="Microsoft YaHei"/>
              <a:cs typeface="Microsoft YaHei"/>
            </a:endParaRPr>
          </a:p>
        </p:txBody>
      </p:sp>
      <p:sp>
        <p:nvSpPr>
          <p:cNvPr id="330" name="textbox 330"/>
          <p:cNvSpPr/>
          <p:nvPr/>
        </p:nvSpPr>
        <p:spPr>
          <a:xfrm>
            <a:off x="7085046" y="1773420"/>
            <a:ext cx="556894" cy="201929"/>
          </a:xfrm>
          <a:prstGeom prst="rect">
            <a:avLst/>
          </a:prstGeom>
          <a:noFill/>
          <a:ln w="0" cap="flat">
            <a:noFill/>
            <a:prstDash val="solid"/>
            <a:miter lim="0"/>
          </a:ln>
        </p:spPr>
        <p:txBody>
          <a:bodyPr vert="horz" wrap="square" lIns="0" tIns="0" rIns="0" bIns="0"/>
          <a:lstStyle/>
          <a:p>
            <a:pPr algn="l" rtl="0" eaLnBrk="0">
              <a:lnSpc>
                <a:spcPct val="77063"/>
              </a:lnSpc>
              <a:tabLst/>
            </a:pPr>
            <a:endParaRPr sz="100" dirty="0">
              <a:latin typeface="Arial"/>
              <a:ea typeface="Arial"/>
              <a:cs typeface="Arial"/>
            </a:endParaRPr>
          </a:p>
          <a:p>
            <a:pPr marL="12700" algn="l" rtl="0" eaLnBrk="0">
              <a:lnSpc>
                <a:spcPct val="83000"/>
              </a:lnSpc>
              <a:tabLst/>
            </a:pPr>
            <a:r>
              <a:rPr sz="1400" kern="0" spc="-10" dirty="0">
                <a:solidFill>
                  <a:srgbClr val="000000">
                    <a:alpha val="100000"/>
                  </a:srgbClr>
                </a:solidFill>
                <a:latin typeface="Microsoft YaHei"/>
                <a:ea typeface="Microsoft YaHei"/>
                <a:cs typeface="Microsoft YaHei"/>
              </a:rPr>
              <a:t>案沟通</a:t>
            </a:r>
            <a:endParaRPr sz="1400" dirty="0">
              <a:latin typeface="Microsoft YaHei"/>
              <a:ea typeface="Microsoft YaHei"/>
              <a:cs typeface="Microsoft YaHei"/>
            </a:endParaRPr>
          </a:p>
        </p:txBody>
      </p:sp>
      <p:pic>
        <p:nvPicPr>
          <p:cNvPr id="332" name="picture 332"/>
          <p:cNvPicPr>
            <a:picLocks noChangeAspect="1"/>
          </p:cNvPicPr>
          <p:nvPr/>
        </p:nvPicPr>
        <p:blipFill>
          <a:blip r:embed="rId3"/>
          <a:stretch>
            <a:fillRect/>
          </a:stretch>
        </p:blipFill>
        <p:spPr>
          <a:xfrm rot="21600000">
            <a:off x="6552003" y="1786833"/>
            <a:ext cx="594401" cy="603191"/>
          </a:xfrm>
          <a:prstGeom prst="rect">
            <a:avLst/>
          </a:prstGeom>
        </p:spPr>
      </p:pic>
      <p:pic>
        <p:nvPicPr>
          <p:cNvPr id="334" name="picture 334"/>
          <p:cNvPicPr>
            <a:picLocks noChangeAspect="1"/>
          </p:cNvPicPr>
          <p:nvPr/>
        </p:nvPicPr>
        <p:blipFill>
          <a:blip r:embed="rId4"/>
          <a:stretch>
            <a:fillRect/>
          </a:stretch>
        </p:blipFill>
        <p:spPr>
          <a:xfrm rot="21600000">
            <a:off x="6259982" y="1787012"/>
            <a:ext cx="379058" cy="602299"/>
          </a:xfrm>
          <a:prstGeom prst="rect">
            <a:avLst/>
          </a:prstGeom>
        </p:spPr>
      </p:pic>
      <p:pic>
        <p:nvPicPr>
          <p:cNvPr id="336" name="picture 336"/>
          <p:cNvPicPr>
            <a:picLocks noChangeAspect="1"/>
          </p:cNvPicPr>
          <p:nvPr/>
        </p:nvPicPr>
        <p:blipFill>
          <a:blip r:embed="rId5"/>
          <a:stretch>
            <a:fillRect/>
          </a:stretch>
        </p:blipFill>
        <p:spPr>
          <a:xfrm rot="21600000">
            <a:off x="5576874" y="1753466"/>
            <a:ext cx="706565" cy="636559"/>
          </a:xfrm>
          <a:prstGeom prst="rect">
            <a:avLst/>
          </a:prstGeom>
        </p:spPr>
      </p:pic>
      <p:sp>
        <p:nvSpPr>
          <p:cNvPr id="338" name="textbox 338"/>
          <p:cNvSpPr/>
          <p:nvPr/>
        </p:nvSpPr>
        <p:spPr>
          <a:xfrm>
            <a:off x="3015192" y="2100800"/>
            <a:ext cx="379729" cy="198754"/>
          </a:xfrm>
          <a:prstGeom prst="rect">
            <a:avLst/>
          </a:prstGeom>
          <a:noFill/>
          <a:ln w="0" cap="flat">
            <a:noFill/>
            <a:prstDash val="solid"/>
            <a:miter lim="0"/>
          </a:ln>
        </p:spPr>
        <p:txBody>
          <a:bodyPr vert="horz" wrap="square" lIns="0" tIns="0" rIns="0" bIns="0"/>
          <a:lstStyle/>
          <a:p>
            <a:pPr algn="l" rtl="0" eaLnBrk="0">
              <a:lnSpc>
                <a:spcPct val="82816"/>
              </a:lnSpc>
              <a:tabLst/>
            </a:pPr>
            <a:endParaRPr sz="100" dirty="0">
              <a:latin typeface="Arial"/>
              <a:ea typeface="Arial"/>
              <a:cs typeface="Arial"/>
            </a:endParaRPr>
          </a:p>
          <a:p>
            <a:pPr marL="12700" algn="l" rtl="0" eaLnBrk="0">
              <a:lnSpc>
                <a:spcPct val="81000"/>
              </a:lnSpc>
              <a:tabLst/>
            </a:pPr>
            <a:r>
              <a:rPr sz="1400" kern="0" spc="-20" dirty="0">
                <a:solidFill>
                  <a:srgbClr val="000000">
                    <a:alpha val="100000"/>
                  </a:srgbClr>
                </a:solidFill>
                <a:latin typeface="Microsoft YaHei"/>
                <a:ea typeface="Microsoft YaHei"/>
                <a:cs typeface="Microsoft YaHei"/>
              </a:rPr>
              <a:t>认领</a:t>
            </a:r>
            <a:endParaRPr sz="1400" dirty="0">
              <a:latin typeface="Microsoft YaHei"/>
              <a:ea typeface="Microsoft YaHei"/>
              <a:cs typeface="Microsoft YaHei"/>
            </a:endParaRPr>
          </a:p>
        </p:txBody>
      </p:sp>
      <p:sp>
        <p:nvSpPr>
          <p:cNvPr id="340" name="textbox 340"/>
          <p:cNvSpPr/>
          <p:nvPr/>
        </p:nvSpPr>
        <p:spPr>
          <a:xfrm>
            <a:off x="3006336" y="1887440"/>
            <a:ext cx="370204" cy="197485"/>
          </a:xfrm>
          <a:prstGeom prst="rect">
            <a:avLst/>
          </a:prstGeom>
          <a:noFill/>
          <a:ln w="0" cap="flat">
            <a:noFill/>
            <a:prstDash val="solid"/>
            <a:miter lim="0"/>
          </a:ln>
        </p:spPr>
        <p:txBody>
          <a:bodyPr vert="horz" wrap="square" lIns="0" tIns="0" rIns="0" bIns="0"/>
          <a:lstStyle/>
          <a:p>
            <a:pPr algn="l" rtl="0" eaLnBrk="0">
              <a:lnSpc>
                <a:spcPct val="76961"/>
              </a:lnSpc>
              <a:tabLst/>
            </a:pPr>
            <a:endParaRPr sz="100" dirty="0">
              <a:latin typeface="Arial"/>
              <a:ea typeface="Arial"/>
              <a:cs typeface="Arial"/>
            </a:endParaRPr>
          </a:p>
          <a:p>
            <a:pPr marL="12700" algn="l" rtl="0" eaLnBrk="0">
              <a:lnSpc>
                <a:spcPct val="81000"/>
              </a:lnSpc>
              <a:tabLst/>
            </a:pPr>
            <a:r>
              <a:rPr sz="1400" kern="0" spc="-50" dirty="0">
                <a:solidFill>
                  <a:srgbClr val="000000">
                    <a:alpha val="100000"/>
                  </a:srgbClr>
                </a:solidFill>
                <a:latin typeface="Microsoft YaHei"/>
                <a:ea typeface="Microsoft YaHei"/>
                <a:cs typeface="Microsoft YaHei"/>
              </a:rPr>
              <a:t>队目</a:t>
            </a:r>
            <a:endParaRPr sz="1400" dirty="0">
              <a:latin typeface="Microsoft YaHei"/>
              <a:ea typeface="Microsoft YaHei"/>
              <a:cs typeface="Microsoft YaHei"/>
            </a:endParaRPr>
          </a:p>
        </p:txBody>
      </p:sp>
      <p:sp>
        <p:nvSpPr>
          <p:cNvPr id="342" name="textbox 342"/>
          <p:cNvSpPr/>
          <p:nvPr/>
        </p:nvSpPr>
        <p:spPr>
          <a:xfrm>
            <a:off x="451972" y="1943962"/>
            <a:ext cx="1002030" cy="372681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103"/>
              </a:lnSpc>
              <a:tabLst/>
            </a:pPr>
            <a:r>
              <a:rPr sz="1500" b="1" kern="0" spc="50" dirty="0">
                <a:solidFill>
                  <a:srgbClr val="000000">
                    <a:alpha val="100000"/>
                  </a:srgbClr>
                </a:solidFill>
                <a:latin typeface="Microsoft YaHei"/>
                <a:ea typeface="Microsoft YaHei"/>
                <a:cs typeface="Microsoft YaHei"/>
              </a:rPr>
              <a:t>1.前置工作</a:t>
            </a:r>
            <a:endParaRPr sz="1500" dirty="0">
              <a:latin typeface="Microsoft YaHei"/>
              <a:ea typeface="Microsoft YaHei"/>
              <a:cs typeface="Microsoft YaHei"/>
            </a:endParaRPr>
          </a:p>
          <a:p>
            <a:pPr algn="l" rtl="0" eaLnBrk="0">
              <a:lnSpc>
                <a:spcPct val="113000"/>
              </a:lnSpc>
              <a:tabLst/>
            </a:pPr>
            <a:endParaRPr sz="1000" dirty="0">
              <a:latin typeface="Arial"/>
              <a:ea typeface="Arial"/>
              <a:cs typeface="Arial"/>
            </a:endParaRPr>
          </a:p>
          <a:p>
            <a:pPr algn="l" rtl="0" eaLnBrk="0">
              <a:lnSpc>
                <a:spcPct val="113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marL="217804" indent="-99694" algn="l" rtl="0" eaLnBrk="0">
              <a:lnSpc>
                <a:spcPct val="111000"/>
              </a:lnSpc>
              <a:spcBef>
                <a:spcPts val="456"/>
              </a:spcBef>
              <a:tabLst/>
            </a:pPr>
            <a:r>
              <a:rPr sz="1500" b="1" kern="0" spc="90" dirty="0">
                <a:solidFill>
                  <a:srgbClr val="000000">
                    <a:alpha val="100000"/>
                  </a:srgbClr>
                </a:solidFill>
                <a:latin typeface="Microsoft YaHei"/>
                <a:ea typeface="Microsoft YaHei"/>
                <a:cs typeface="Microsoft YaHei"/>
              </a:rPr>
              <a:t>2.</a:t>
            </a:r>
            <a:r>
              <a:rPr sz="1500" b="1" kern="0" spc="0" dirty="0">
                <a:solidFill>
                  <a:srgbClr val="000000">
                    <a:alpha val="100000"/>
                  </a:srgbClr>
                </a:solidFill>
                <a:latin typeface="Microsoft YaHei"/>
                <a:ea typeface="Microsoft YaHei"/>
                <a:cs typeface="Microsoft YaHei"/>
              </a:rPr>
              <a:t>POC</a:t>
            </a:r>
            <a:r>
              <a:rPr sz="1500" b="1" kern="0" spc="90" dirty="0">
                <a:solidFill>
                  <a:srgbClr val="000000">
                    <a:alpha val="100000"/>
                  </a:srgbClr>
                </a:solidFill>
                <a:latin typeface="Microsoft YaHei"/>
                <a:ea typeface="Microsoft YaHei"/>
                <a:cs typeface="Microsoft YaHei"/>
              </a:rPr>
              <a:t>验</a:t>
            </a:r>
            <a:r>
              <a:rPr sz="1500" b="1" kern="0" spc="80" dirty="0">
                <a:solidFill>
                  <a:srgbClr val="000000">
                    <a:alpha val="100000"/>
                  </a:srgbClr>
                </a:solidFill>
                <a:latin typeface="Microsoft YaHei"/>
                <a:ea typeface="Microsoft YaHei"/>
                <a:cs typeface="Microsoft YaHei"/>
              </a:rPr>
              <a:t>证阶段</a:t>
            </a:r>
            <a:endParaRPr sz="1500" dirty="0">
              <a:latin typeface="Microsoft YaHei"/>
              <a:ea typeface="Microsoft YaHei"/>
              <a:cs typeface="Microsoft YaHei"/>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28000"/>
              </a:lnSpc>
              <a:tabLst/>
            </a:pPr>
            <a:endParaRPr sz="300" dirty="0">
              <a:latin typeface="Arial"/>
              <a:ea typeface="Arial"/>
              <a:cs typeface="Arial"/>
            </a:endParaRPr>
          </a:p>
          <a:p>
            <a:pPr marL="217170" indent="-78739" algn="l" rtl="0" eaLnBrk="0">
              <a:lnSpc>
                <a:spcPct val="111000"/>
              </a:lnSpc>
              <a:spcBef>
                <a:spcPts val="1"/>
              </a:spcBef>
              <a:tabLst/>
            </a:pPr>
            <a:r>
              <a:rPr sz="1500" b="1" kern="0" spc="40" dirty="0">
                <a:solidFill>
                  <a:srgbClr val="000000">
                    <a:alpha val="100000"/>
                  </a:srgbClr>
                </a:solidFill>
                <a:latin typeface="Microsoft YaHei"/>
                <a:ea typeface="Microsoft YaHei"/>
                <a:cs typeface="Microsoft YaHei"/>
              </a:rPr>
              <a:t>3.批量迁</a:t>
            </a:r>
            <a:r>
              <a:rPr sz="1500" b="1" kern="0" spc="80" dirty="0">
                <a:solidFill>
                  <a:srgbClr val="000000">
                    <a:alpha val="100000"/>
                  </a:srgbClr>
                </a:solidFill>
                <a:latin typeface="Microsoft YaHei"/>
                <a:ea typeface="Microsoft YaHei"/>
                <a:cs typeface="Microsoft YaHei"/>
              </a:rPr>
              <a:t>移阶段</a:t>
            </a:r>
            <a:endParaRPr sz="1500" dirty="0">
              <a:latin typeface="Microsoft YaHei"/>
              <a:ea typeface="Microsoft YaHei"/>
              <a:cs typeface="Microsoft YaHei"/>
            </a:endParaRPr>
          </a:p>
        </p:txBody>
      </p:sp>
      <p:sp>
        <p:nvSpPr>
          <p:cNvPr id="344" name="textbox 344"/>
          <p:cNvSpPr/>
          <p:nvPr/>
        </p:nvSpPr>
        <p:spPr>
          <a:xfrm>
            <a:off x="8985425" y="2987411"/>
            <a:ext cx="2097404" cy="120713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368300" algn="l" rtl="0" eaLnBrk="0">
              <a:lnSpc>
                <a:spcPts val="1813"/>
              </a:lnSpc>
              <a:tabLst/>
            </a:pPr>
            <a:r>
              <a:rPr sz="1400" kern="0" spc="-10" dirty="0">
                <a:solidFill>
                  <a:srgbClr val="000000">
                    <a:alpha val="100000"/>
                  </a:srgbClr>
                </a:solidFill>
                <a:latin typeface="Microsoft YaHei"/>
                <a:ea typeface="Microsoft YaHei"/>
                <a:cs typeface="Microsoft YaHei"/>
              </a:rPr>
              <a:t>2.2 北向应用改造</a:t>
            </a:r>
            <a:endParaRPr sz="1400" dirty="0">
              <a:latin typeface="Microsoft YaHei"/>
              <a:ea typeface="Microsoft YaHei"/>
              <a:cs typeface="Microsoft YaHei"/>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19000"/>
              </a:lnSpc>
              <a:tabLst/>
            </a:pPr>
            <a:endParaRPr sz="300" dirty="0">
              <a:latin typeface="Arial"/>
              <a:ea typeface="Arial"/>
              <a:cs typeface="Arial"/>
            </a:endParaRPr>
          </a:p>
          <a:p>
            <a:pPr marL="688975" indent="-676909" algn="l" rtl="0" eaLnBrk="0">
              <a:lnSpc>
                <a:spcPct val="99000"/>
              </a:lnSpc>
              <a:tabLst/>
            </a:pPr>
            <a:r>
              <a:rPr sz="1400" kern="0" spc="-10" dirty="0">
                <a:solidFill>
                  <a:srgbClr val="000000">
                    <a:alpha val="100000"/>
                  </a:srgbClr>
                </a:solidFill>
                <a:latin typeface="Microsoft YaHei"/>
                <a:ea typeface="Microsoft YaHei"/>
                <a:cs typeface="Microsoft YaHei"/>
              </a:rPr>
              <a:t>2.4 南北向对接联调与迁移</a:t>
            </a:r>
            <a:r>
              <a:rPr sz="1400" kern="0" spc="-10" dirty="0">
                <a:solidFill>
                  <a:srgbClr val="000000">
                    <a:alpha val="100000"/>
                  </a:srgbClr>
                </a:solidFill>
                <a:latin typeface="Microsoft YaHei"/>
                <a:ea typeface="Microsoft YaHei"/>
                <a:cs typeface="Microsoft YaHei"/>
              </a:rPr>
              <a:t>结果验证</a:t>
            </a:r>
            <a:endParaRPr sz="1400" dirty="0">
              <a:latin typeface="Microsoft YaHei"/>
              <a:ea typeface="Microsoft YaHei"/>
              <a:cs typeface="Microsoft YaHei"/>
            </a:endParaRPr>
          </a:p>
        </p:txBody>
      </p:sp>
      <p:sp>
        <p:nvSpPr>
          <p:cNvPr id="346" name="textbox 346"/>
          <p:cNvSpPr/>
          <p:nvPr/>
        </p:nvSpPr>
        <p:spPr>
          <a:xfrm>
            <a:off x="2177036" y="2816684"/>
            <a:ext cx="1803400" cy="1353185"/>
          </a:xfrm>
          <a:prstGeom prst="rect">
            <a:avLst/>
          </a:prstGeom>
          <a:noFill/>
          <a:ln w="0" cap="flat">
            <a:noFill/>
            <a:prstDash val="solid"/>
            <a:miter lim="0"/>
          </a:ln>
        </p:spPr>
        <p:txBody>
          <a:bodyPr vert="horz" wrap="square" lIns="0" tIns="0" rIns="0" bIns="0"/>
          <a:lstStyle/>
          <a:p>
            <a:pPr algn="l" rtl="0" eaLnBrk="0">
              <a:lnSpc>
                <a:spcPct val="88506"/>
              </a:lnSpc>
              <a:tabLst/>
            </a:pPr>
            <a:endParaRPr sz="100" dirty="0">
              <a:latin typeface="Arial"/>
              <a:ea typeface="Arial"/>
              <a:cs typeface="Arial"/>
            </a:endParaRPr>
          </a:p>
          <a:p>
            <a:pPr marL="12700" indent="124460" algn="l" rtl="0" eaLnBrk="0">
              <a:lnSpc>
                <a:spcPct val="99000"/>
              </a:lnSpc>
              <a:tabLst/>
            </a:pPr>
            <a:r>
              <a:rPr sz="1400" kern="0" spc="-10" dirty="0">
                <a:solidFill>
                  <a:srgbClr val="000000">
                    <a:alpha val="100000"/>
                  </a:srgbClr>
                </a:solidFill>
                <a:latin typeface="Microsoft YaHei"/>
                <a:ea typeface="Microsoft YaHei"/>
                <a:cs typeface="Microsoft YaHei"/>
              </a:rPr>
              <a:t>2.1 分平台账号注册</a:t>
            </a:r>
            <a:r>
              <a:rPr sz="1400" kern="0" spc="-10" dirty="0">
                <a:solidFill>
                  <a:srgbClr val="000000">
                    <a:alpha val="100000"/>
                  </a:srgbClr>
                </a:solidFill>
                <a:latin typeface="Microsoft YaHei"/>
                <a:ea typeface="Microsoft YaHei"/>
                <a:cs typeface="Microsoft YaHei"/>
              </a:rPr>
              <a:t>应用、产品、设备创建</a:t>
            </a:r>
            <a:endParaRPr sz="1400" dirty="0">
              <a:latin typeface="Microsoft YaHei"/>
              <a:ea typeface="Microsoft YaHei"/>
              <a:cs typeface="Microsoft YaHei"/>
            </a:endParaRPr>
          </a:p>
          <a:p>
            <a:pPr algn="l" rtl="0" eaLnBrk="0">
              <a:lnSpc>
                <a:spcPct val="140000"/>
              </a:lnSpc>
              <a:tabLst/>
            </a:pPr>
            <a:endParaRPr sz="1000" dirty="0">
              <a:latin typeface="Arial"/>
              <a:ea typeface="Arial"/>
              <a:cs typeface="Arial"/>
            </a:endParaRPr>
          </a:p>
          <a:p>
            <a:pPr algn="l" rtl="0" eaLnBrk="0">
              <a:lnSpc>
                <a:spcPct val="141000"/>
              </a:lnSpc>
              <a:tabLst/>
            </a:pPr>
            <a:endParaRPr sz="1000" dirty="0">
              <a:latin typeface="Arial"/>
              <a:ea typeface="Arial"/>
              <a:cs typeface="Arial"/>
            </a:endParaRPr>
          </a:p>
          <a:p>
            <a:pPr algn="l" rtl="0" eaLnBrk="0">
              <a:lnSpc>
                <a:spcPct val="116000"/>
              </a:lnSpc>
              <a:tabLst/>
            </a:pPr>
            <a:endParaRPr sz="300" dirty="0">
              <a:latin typeface="Arial"/>
              <a:ea typeface="Arial"/>
              <a:cs typeface="Arial"/>
            </a:endParaRPr>
          </a:p>
          <a:p>
            <a:pPr marL="281304" indent="121920" algn="l" rtl="0" eaLnBrk="0">
              <a:lnSpc>
                <a:spcPct val="99000"/>
              </a:lnSpc>
              <a:spcBef>
                <a:spcPts val="3"/>
              </a:spcBef>
              <a:tabLst/>
            </a:pPr>
            <a:r>
              <a:rPr sz="1400" kern="0" spc="-20" dirty="0">
                <a:solidFill>
                  <a:srgbClr val="000000">
                    <a:alpha val="100000"/>
                  </a:srgbClr>
                </a:solidFill>
                <a:latin typeface="Microsoft YaHei"/>
                <a:ea typeface="Microsoft YaHei"/>
                <a:cs typeface="Microsoft YaHei"/>
              </a:rPr>
              <a:t>2.3 执行迁移</a:t>
            </a:r>
            <a:r>
              <a:rPr sz="1400" kern="0" spc="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与回退测试受理</a:t>
            </a:r>
            <a:endParaRPr sz="1400" dirty="0">
              <a:latin typeface="Microsoft YaHei"/>
              <a:ea typeface="Microsoft YaHei"/>
              <a:cs typeface="Microsoft YaHei"/>
            </a:endParaRPr>
          </a:p>
        </p:txBody>
      </p:sp>
      <p:sp>
        <p:nvSpPr>
          <p:cNvPr id="348" name="textbox 348"/>
          <p:cNvSpPr/>
          <p:nvPr/>
        </p:nvSpPr>
        <p:spPr>
          <a:xfrm>
            <a:off x="2737472" y="1116444"/>
            <a:ext cx="7435215" cy="254000"/>
          </a:xfrm>
          <a:prstGeom prst="rect">
            <a:avLst/>
          </a:prstGeom>
          <a:noFill/>
          <a:ln w="0" cap="flat">
            <a:noFill/>
            <a:prstDash val="solid"/>
            <a:miter lim="0"/>
          </a:ln>
        </p:spPr>
        <p:txBody>
          <a:bodyPr vert="horz" wrap="square" lIns="0" tIns="0" rIns="0" bIns="0"/>
          <a:lstStyle/>
          <a:p>
            <a:pPr algn="l" rtl="0" eaLnBrk="0">
              <a:lnSpc>
                <a:spcPct val="84916"/>
              </a:lnSpc>
              <a:tabLst/>
            </a:pPr>
            <a:endParaRPr sz="100" dirty="0">
              <a:latin typeface="Arial"/>
              <a:ea typeface="Arial"/>
              <a:cs typeface="Arial"/>
            </a:endParaRPr>
          </a:p>
          <a:p>
            <a:pPr marL="12700" algn="l" rtl="0" eaLnBrk="0">
              <a:lnSpc>
                <a:spcPct val="88000"/>
              </a:lnSpc>
              <a:tabLst/>
            </a:pPr>
            <a:r>
              <a:rPr sz="1700" b="1" kern="0" spc="40" dirty="0">
                <a:solidFill>
                  <a:srgbClr val="000000">
                    <a:alpha val="100000"/>
                  </a:srgbClr>
                </a:solidFill>
                <a:latin typeface="Microsoft YaHei"/>
                <a:ea typeface="Microsoft YaHei"/>
                <a:cs typeface="Microsoft YaHei"/>
              </a:rPr>
              <a:t>天翼物联                                    省市电信                                      客户</a:t>
            </a:r>
            <a:endParaRPr sz="1700" dirty="0">
              <a:latin typeface="Microsoft YaHei"/>
              <a:ea typeface="Microsoft YaHei"/>
              <a:cs typeface="Microsoft YaHei"/>
            </a:endParaRPr>
          </a:p>
        </p:txBody>
      </p:sp>
      <p:pic>
        <p:nvPicPr>
          <p:cNvPr id="350" name="picture 350"/>
          <p:cNvPicPr>
            <a:picLocks noChangeAspect="1"/>
          </p:cNvPicPr>
          <p:nvPr/>
        </p:nvPicPr>
        <p:blipFill>
          <a:blip r:embed="rId6"/>
          <a:stretch>
            <a:fillRect/>
          </a:stretch>
        </p:blipFill>
        <p:spPr>
          <a:xfrm rot="21600000">
            <a:off x="335279" y="807720"/>
            <a:ext cx="11519916" cy="67055"/>
          </a:xfrm>
          <a:prstGeom prst="rect">
            <a:avLst/>
          </a:prstGeom>
        </p:spPr>
      </p:pic>
      <p:sp>
        <p:nvSpPr>
          <p:cNvPr id="352" name="textbox 352"/>
          <p:cNvSpPr/>
          <p:nvPr/>
        </p:nvSpPr>
        <p:spPr>
          <a:xfrm>
            <a:off x="580144" y="6537865"/>
            <a:ext cx="3757929" cy="210184"/>
          </a:xfrm>
          <a:prstGeom prst="rect">
            <a:avLst/>
          </a:prstGeom>
          <a:noFill/>
          <a:ln w="0" cap="flat">
            <a:noFill/>
            <a:prstDash val="solid"/>
            <a:miter lim="0"/>
          </a:ln>
        </p:spPr>
        <p:txBody>
          <a:bodyPr vert="horz" wrap="square" lIns="0" tIns="0" rIns="0" bIns="0"/>
          <a:lstStyle/>
          <a:p>
            <a:pPr algn="l" rtl="0" eaLnBrk="0">
              <a:lnSpc>
                <a:spcPct val="76944"/>
              </a:lnSpc>
              <a:tabLst/>
            </a:pPr>
            <a:endParaRPr sz="100" dirty="0">
              <a:latin typeface="Arial"/>
              <a:ea typeface="Arial"/>
              <a:cs typeface="Arial"/>
            </a:endParaRPr>
          </a:p>
          <a:p>
            <a:pPr marL="12700" algn="l" rtl="0" eaLnBrk="0">
              <a:lnSpc>
                <a:spcPct val="87000"/>
              </a:lnSpc>
              <a:tabLst/>
            </a:pPr>
            <a:r>
              <a:rPr sz="1400" b="1" kern="0" spc="-10" dirty="0">
                <a:solidFill>
                  <a:srgbClr val="C00000">
                    <a:alpha val="100000"/>
                  </a:srgbClr>
                </a:solidFill>
                <a:latin typeface="Microsoft YaHei"/>
                <a:ea typeface="Microsoft YaHei"/>
                <a:cs typeface="Microsoft YaHei"/>
              </a:rPr>
              <a:t>注</a:t>
            </a:r>
            <a:r>
              <a:rPr sz="1400" b="1" kern="0" spc="-200" dirty="0">
                <a:solidFill>
                  <a:srgbClr val="C00000">
                    <a:alpha val="100000"/>
                  </a:srgbClr>
                </a:solidFill>
                <a:latin typeface="Microsoft YaHei"/>
                <a:ea typeface="Microsoft YaHei"/>
                <a:cs typeface="Microsoft YaHei"/>
              </a:rPr>
              <a:t> </a:t>
            </a:r>
            <a:r>
              <a:rPr sz="1400" b="1" kern="0" spc="-10" dirty="0">
                <a:solidFill>
                  <a:srgbClr val="C00000">
                    <a:alpha val="100000"/>
                  </a:srgbClr>
                </a:solidFill>
                <a:latin typeface="Microsoft YaHei"/>
                <a:ea typeface="Microsoft YaHei"/>
                <a:cs typeface="Microsoft YaHei"/>
              </a:rPr>
              <a:t>：流程中每一步工作完成才能进入下</a:t>
            </a:r>
            <a:r>
              <a:rPr sz="1400" b="1" kern="0" spc="-20" dirty="0">
                <a:solidFill>
                  <a:srgbClr val="C00000">
                    <a:alpha val="100000"/>
                  </a:srgbClr>
                </a:solidFill>
                <a:latin typeface="Microsoft YaHei"/>
                <a:ea typeface="Microsoft YaHei"/>
                <a:cs typeface="Microsoft YaHei"/>
              </a:rPr>
              <a:t>一步工作</a:t>
            </a:r>
            <a:endParaRPr sz="1400" dirty="0">
              <a:latin typeface="Microsoft YaHei"/>
              <a:ea typeface="Microsoft YaHei"/>
              <a:cs typeface="Microsoft YaHei"/>
            </a:endParaRPr>
          </a:p>
        </p:txBody>
      </p:sp>
      <p:sp>
        <p:nvSpPr>
          <p:cNvPr id="354" name="textbox 354"/>
          <p:cNvSpPr/>
          <p:nvPr/>
        </p:nvSpPr>
        <p:spPr>
          <a:xfrm>
            <a:off x="418668" y="253327"/>
            <a:ext cx="2154554" cy="330834"/>
          </a:xfrm>
          <a:prstGeom prst="rect">
            <a:avLst/>
          </a:prstGeom>
          <a:noFill/>
          <a:ln w="0" cap="flat">
            <a:noFill/>
            <a:prstDash val="solid"/>
            <a:miter lim="0"/>
          </a:ln>
        </p:spPr>
        <p:txBody>
          <a:bodyPr vert="horz" wrap="square" lIns="0" tIns="0" rIns="0" bIns="0"/>
          <a:lstStyle/>
          <a:p>
            <a:pPr algn="l" rtl="0" eaLnBrk="0">
              <a:lnSpc>
                <a:spcPct val="84818"/>
              </a:lnSpc>
              <a:tabLst/>
            </a:pPr>
            <a:endParaRPr sz="100" dirty="0">
              <a:latin typeface="Arial"/>
              <a:ea typeface="Arial"/>
              <a:cs typeface="Arial"/>
            </a:endParaRPr>
          </a:p>
          <a:p>
            <a:pPr marL="12700" algn="l" rtl="0" eaLnBrk="0">
              <a:lnSpc>
                <a:spcPct val="87000"/>
              </a:lnSpc>
              <a:tabLst/>
            </a:pPr>
            <a:r>
              <a:rPr sz="2300" b="1" kern="0" spc="90" dirty="0">
                <a:solidFill>
                  <a:srgbClr val="C00000">
                    <a:alpha val="100000"/>
                  </a:srgbClr>
                </a:solidFill>
                <a:latin typeface="Microsoft YaHei"/>
                <a:ea typeface="Microsoft YaHei"/>
                <a:cs typeface="Microsoft YaHei"/>
              </a:rPr>
              <a:t>迁移方案流程图</a:t>
            </a:r>
            <a:endParaRPr sz="2300" dirty="0">
              <a:latin typeface="Microsoft YaHei"/>
              <a:ea typeface="Microsoft YaHei"/>
              <a:cs typeface="Microsoft YaHei"/>
            </a:endParaRPr>
          </a:p>
        </p:txBody>
      </p:sp>
      <p:sp>
        <p:nvSpPr>
          <p:cNvPr id="356" name="textbox 356"/>
          <p:cNvSpPr/>
          <p:nvPr/>
        </p:nvSpPr>
        <p:spPr>
          <a:xfrm>
            <a:off x="2454230" y="5266159"/>
            <a:ext cx="1384300" cy="449580"/>
          </a:xfrm>
          <a:prstGeom prst="rect">
            <a:avLst/>
          </a:prstGeom>
          <a:noFill/>
          <a:ln w="0" cap="flat">
            <a:noFill/>
            <a:prstDash val="solid"/>
            <a:miter lim="0"/>
          </a:ln>
        </p:spPr>
        <p:txBody>
          <a:bodyPr vert="horz" wrap="square" lIns="0" tIns="0" rIns="0" bIns="0"/>
          <a:lstStyle/>
          <a:p>
            <a:pPr algn="l" rtl="0" eaLnBrk="0">
              <a:lnSpc>
                <a:spcPct val="92016"/>
              </a:lnSpc>
              <a:tabLst/>
            </a:pPr>
            <a:endParaRPr sz="100" dirty="0">
              <a:latin typeface="Arial"/>
              <a:ea typeface="Arial"/>
              <a:cs typeface="Arial"/>
            </a:endParaRPr>
          </a:p>
          <a:p>
            <a:pPr marL="153670" indent="-140970" algn="l" rtl="0" eaLnBrk="0">
              <a:lnSpc>
                <a:spcPct val="99000"/>
              </a:lnSpc>
              <a:tabLst/>
            </a:pPr>
            <a:r>
              <a:rPr sz="1400" kern="0" spc="-20" dirty="0">
                <a:solidFill>
                  <a:srgbClr val="000000">
                    <a:alpha val="100000"/>
                  </a:srgbClr>
                </a:solidFill>
                <a:latin typeface="Microsoft YaHei"/>
                <a:ea typeface="Microsoft YaHei"/>
                <a:cs typeface="Microsoft YaHei"/>
              </a:rPr>
              <a:t>3.3 执行批量迁移</a:t>
            </a:r>
            <a:r>
              <a:rPr sz="1400" kern="0" spc="-10" dirty="0">
                <a:solidFill>
                  <a:srgbClr val="000000">
                    <a:alpha val="100000"/>
                  </a:srgbClr>
                </a:solidFill>
                <a:latin typeface="Microsoft YaHei"/>
                <a:ea typeface="Microsoft YaHei"/>
                <a:cs typeface="Microsoft YaHei"/>
              </a:rPr>
              <a:t>反馈迁移结果</a:t>
            </a:r>
            <a:endParaRPr sz="1400" dirty="0">
              <a:latin typeface="Microsoft YaHei"/>
              <a:ea typeface="Microsoft YaHei"/>
              <a:cs typeface="Microsoft YaHei"/>
            </a:endParaRPr>
          </a:p>
        </p:txBody>
      </p:sp>
      <p:pic>
        <p:nvPicPr>
          <p:cNvPr id="358" name="picture 358"/>
          <p:cNvPicPr>
            <a:picLocks noChangeAspect="1"/>
          </p:cNvPicPr>
          <p:nvPr/>
        </p:nvPicPr>
        <p:blipFill>
          <a:blip r:embed="rId7"/>
          <a:stretch>
            <a:fillRect/>
          </a:stretch>
        </p:blipFill>
        <p:spPr>
          <a:xfrm rot="21600000">
            <a:off x="11126046" y="215885"/>
            <a:ext cx="721486" cy="526694"/>
          </a:xfrm>
          <a:prstGeom prst="rect">
            <a:avLst/>
          </a:prstGeom>
        </p:spPr>
      </p:pic>
      <p:sp>
        <p:nvSpPr>
          <p:cNvPr id="360" name="textbox 360"/>
          <p:cNvSpPr/>
          <p:nvPr/>
        </p:nvSpPr>
        <p:spPr>
          <a:xfrm>
            <a:off x="11662743" y="6462377"/>
            <a:ext cx="224154"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20" dirty="0">
                <a:solidFill>
                  <a:srgbClr val="B1B1B1">
                    <a:alpha val="100000"/>
                  </a:srgbClr>
                </a:solidFill>
                <a:latin typeface="DengXian"/>
                <a:ea typeface="DengXian"/>
                <a:cs typeface="DengXian"/>
              </a:rPr>
              <a:t>12</a:t>
            </a:r>
            <a:endParaRPr sz="1500" dirty="0">
              <a:latin typeface="DengXian"/>
              <a:ea typeface="DengXian"/>
              <a:cs typeface="DengXian"/>
            </a:endParaRPr>
          </a:p>
        </p:txBody>
      </p:sp>
      <p:pic>
        <p:nvPicPr>
          <p:cNvPr id="362" name="picture 362"/>
          <p:cNvPicPr>
            <a:picLocks noChangeAspect="1"/>
          </p:cNvPicPr>
          <p:nvPr/>
        </p:nvPicPr>
        <p:blipFill>
          <a:blip r:embed="rId8"/>
          <a:stretch>
            <a:fillRect/>
          </a:stretch>
        </p:blipFill>
        <p:spPr>
          <a:xfrm rot="21600000">
            <a:off x="1594294" y="1240967"/>
            <a:ext cx="7619" cy="49679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textbox 364"/>
          <p:cNvSpPr/>
          <p:nvPr/>
        </p:nvSpPr>
        <p:spPr>
          <a:xfrm>
            <a:off x="11662743" y="6462377"/>
            <a:ext cx="224154"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20" dirty="0">
                <a:solidFill>
                  <a:srgbClr val="B1B1B1">
                    <a:alpha val="100000"/>
                  </a:srgbClr>
                </a:solidFill>
                <a:latin typeface="DengXian"/>
                <a:ea typeface="DengXian"/>
                <a:cs typeface="DengXian"/>
              </a:rPr>
              <a:t>13</a:t>
            </a:r>
            <a:endParaRPr sz="1500" dirty="0">
              <a:latin typeface="DengXian"/>
              <a:ea typeface="DengXian"/>
              <a:cs typeface="DengXian"/>
            </a:endParaRPr>
          </a:p>
        </p:txBody>
      </p:sp>
      <p:pic>
        <p:nvPicPr>
          <p:cNvPr id="366" name="picture 366"/>
          <p:cNvPicPr>
            <a:picLocks noChangeAspect="1"/>
          </p:cNvPicPr>
          <p:nvPr/>
        </p:nvPicPr>
        <p:blipFill>
          <a:blip r:embed="rId2"/>
          <a:stretch>
            <a:fillRect/>
          </a:stretch>
        </p:blipFill>
        <p:spPr>
          <a:xfrm rot="21600000">
            <a:off x="6637565" y="5185689"/>
            <a:ext cx="5421084" cy="1672310"/>
          </a:xfrm>
          <a:prstGeom prst="rect">
            <a:avLst/>
          </a:prstGeom>
        </p:spPr>
      </p:pic>
      <p:sp>
        <p:nvSpPr>
          <p:cNvPr id="368" name="rect 368"/>
          <p:cNvSpPr/>
          <p:nvPr/>
        </p:nvSpPr>
        <p:spPr>
          <a:xfrm>
            <a:off x="6683361" y="3212541"/>
            <a:ext cx="5105400" cy="1654619"/>
          </a:xfrm>
          <a:prstGeom prst="rect">
            <a:avLst/>
          </a:prstGeom>
          <a:solidFill>
            <a:srgbClr val="F0F0F0">
              <a:alpha val="100000"/>
            </a:srgbClr>
          </a:solidFill>
          <a:ln w="0" cap="flat">
            <a:noFill/>
            <a:prstDash val="solid"/>
            <a:miter lim="0"/>
          </a:ln>
        </p:spPr>
        <p:txBody>
          <a:bodyPr rtlCol="0"/>
          <a:lstStyle/>
          <a:p>
            <a:pPr algn="ctr"/>
            <a:endParaRPr lang="zh-CN" altLang="en-US"/>
          </a:p>
        </p:txBody>
      </p:sp>
      <p:sp>
        <p:nvSpPr>
          <p:cNvPr id="370" name="textbox 370"/>
          <p:cNvSpPr/>
          <p:nvPr/>
        </p:nvSpPr>
        <p:spPr>
          <a:xfrm>
            <a:off x="758952" y="1545335"/>
            <a:ext cx="4776470" cy="1282064"/>
          </a:xfrm>
          <a:prstGeom prst="rect">
            <a:avLst/>
          </a:prstGeom>
          <a:solidFill>
            <a:srgbClr val="778495">
              <a:alpha val="14509"/>
            </a:srgbClr>
          </a:solidFill>
          <a:ln w="0" cap="flat">
            <a:noFill/>
            <a:prstDash val="solid"/>
            <a:miter lim="0"/>
          </a:ln>
        </p:spPr>
        <p:txBody>
          <a:bodyPr vert="horz" wrap="square" lIns="0" tIns="0" rIns="0" bIns="0"/>
          <a:lstStyle/>
          <a:p>
            <a:pPr algn="l" rtl="0" eaLnBrk="0">
              <a:lnSpc>
                <a:spcPct val="136000"/>
              </a:lnSpc>
              <a:tabLst/>
            </a:pPr>
            <a:endParaRPr sz="1000" dirty="0">
              <a:latin typeface="Arial"/>
              <a:ea typeface="Arial"/>
              <a:cs typeface="Arial"/>
            </a:endParaRPr>
          </a:p>
          <a:p>
            <a:pPr algn="l" rtl="0" eaLnBrk="0">
              <a:lnSpc>
                <a:spcPct val="137000"/>
              </a:lnSpc>
              <a:tabLst/>
            </a:pPr>
            <a:endParaRPr sz="1000" dirty="0">
              <a:latin typeface="Arial"/>
              <a:ea typeface="Arial"/>
              <a:cs typeface="Arial"/>
            </a:endParaRPr>
          </a:p>
          <a:p>
            <a:pPr algn="l" rtl="0" eaLnBrk="0">
              <a:lnSpc>
                <a:spcPct val="7236"/>
              </a:lnSpc>
              <a:tabLst/>
            </a:pPr>
            <a:endParaRPr sz="100" dirty="0">
              <a:latin typeface="Arial"/>
              <a:ea typeface="Arial"/>
              <a:cs typeface="Arial"/>
            </a:endParaRPr>
          </a:p>
          <a:p>
            <a:pPr marL="92075" algn="l" rtl="0" eaLnBrk="0">
              <a:lnSpc>
                <a:spcPct val="88000"/>
              </a:lnSpc>
              <a:tabLst/>
            </a:pPr>
            <a:r>
              <a:rPr sz="1800" b="1" kern="0" spc="80" dirty="0">
                <a:solidFill>
                  <a:srgbClr val="E66D57">
                    <a:alpha val="100000"/>
                  </a:srgbClr>
                </a:solidFill>
                <a:latin typeface="Microsoft YaHei"/>
                <a:ea typeface="Microsoft YaHei"/>
                <a:cs typeface="Microsoft YaHei"/>
              </a:rPr>
              <a:t>第一阶段：</a:t>
            </a:r>
            <a:r>
              <a:rPr sz="1800" b="1" kern="0" spc="-220" dirty="0">
                <a:solidFill>
                  <a:srgbClr val="E66D57">
                    <a:alpha val="100000"/>
                  </a:srgbClr>
                </a:solidFill>
                <a:latin typeface="Microsoft YaHei"/>
                <a:ea typeface="Microsoft YaHei"/>
                <a:cs typeface="Microsoft YaHei"/>
              </a:rPr>
              <a:t> </a:t>
            </a:r>
            <a:r>
              <a:rPr sz="1800" b="1" kern="0" spc="0" dirty="0">
                <a:solidFill>
                  <a:srgbClr val="E66D57">
                    <a:alpha val="100000"/>
                  </a:srgbClr>
                </a:solidFill>
                <a:latin typeface="Microsoft YaHei"/>
                <a:ea typeface="Microsoft YaHei"/>
                <a:cs typeface="Microsoft YaHei"/>
              </a:rPr>
              <a:t>POC</a:t>
            </a:r>
            <a:r>
              <a:rPr sz="1800" b="1" kern="0" spc="80" dirty="0">
                <a:solidFill>
                  <a:srgbClr val="E66D57">
                    <a:alpha val="100000"/>
                  </a:srgbClr>
                </a:solidFill>
                <a:latin typeface="Microsoft YaHei"/>
                <a:ea typeface="Microsoft YaHei"/>
                <a:cs typeface="Microsoft YaHei"/>
              </a:rPr>
              <a:t>阶段</a:t>
            </a:r>
            <a:endParaRPr sz="1800" dirty="0">
              <a:latin typeface="Microsoft YaHei"/>
              <a:ea typeface="Microsoft YaHei"/>
              <a:cs typeface="Microsoft YaHei"/>
            </a:endParaRPr>
          </a:p>
          <a:p>
            <a:pPr algn="l" rtl="0" eaLnBrk="0">
              <a:lnSpc>
                <a:spcPct val="111000"/>
              </a:lnSpc>
              <a:tabLst/>
            </a:pPr>
            <a:endParaRPr sz="500" dirty="0">
              <a:latin typeface="Arial"/>
              <a:ea typeface="Arial"/>
              <a:cs typeface="Arial"/>
            </a:endParaRPr>
          </a:p>
          <a:p>
            <a:pPr marL="92075" algn="l" rtl="0" eaLnBrk="0">
              <a:lnSpc>
                <a:spcPct val="87000"/>
              </a:lnSpc>
              <a:spcBef>
                <a:spcPts val="2"/>
              </a:spcBef>
              <a:tabLst/>
            </a:pPr>
            <a:r>
              <a:rPr sz="1400" kern="0" spc="-10" dirty="0">
                <a:solidFill>
                  <a:srgbClr val="000000">
                    <a:alpha val="100000"/>
                  </a:srgbClr>
                </a:solidFill>
                <a:latin typeface="Microsoft YaHei"/>
                <a:ea typeface="Microsoft YaHei"/>
                <a:cs typeface="Microsoft YaHei"/>
              </a:rPr>
              <a:t>梳理待迁移设备清单</a:t>
            </a:r>
            <a:r>
              <a:rPr sz="1400" kern="0" spc="-21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，基于专属云完成POC</a:t>
            </a:r>
            <a:r>
              <a:rPr sz="1400" kern="0" spc="-20" dirty="0">
                <a:solidFill>
                  <a:srgbClr val="000000">
                    <a:alpha val="100000"/>
                  </a:srgbClr>
                </a:solidFill>
                <a:latin typeface="Microsoft YaHei"/>
                <a:ea typeface="Microsoft YaHei"/>
                <a:cs typeface="Microsoft YaHei"/>
              </a:rPr>
              <a:t>测试</a:t>
            </a:r>
            <a:endParaRPr sz="1400" dirty="0">
              <a:latin typeface="Microsoft YaHei"/>
              <a:ea typeface="Microsoft YaHei"/>
              <a:cs typeface="Microsoft YaHei"/>
            </a:endParaRPr>
          </a:p>
        </p:txBody>
      </p:sp>
      <p:sp>
        <p:nvSpPr>
          <p:cNvPr id="372" name="textbox 372"/>
          <p:cNvSpPr/>
          <p:nvPr/>
        </p:nvSpPr>
        <p:spPr>
          <a:xfrm>
            <a:off x="758952" y="3208020"/>
            <a:ext cx="4776470" cy="1282064"/>
          </a:xfrm>
          <a:prstGeom prst="rect">
            <a:avLst/>
          </a:prstGeom>
          <a:solidFill>
            <a:srgbClr val="778495">
              <a:alpha val="14509"/>
            </a:srgbClr>
          </a:solidFill>
          <a:ln w="0" cap="flat">
            <a:noFill/>
            <a:prstDash val="solid"/>
            <a:miter lim="0"/>
          </a:ln>
        </p:spPr>
        <p:txBody>
          <a:bodyPr vert="horz" wrap="square" lIns="0" tIns="0" rIns="0" bIns="0"/>
          <a:lstStyle/>
          <a:p>
            <a:pPr algn="l" rtl="0" eaLnBrk="0">
              <a:lnSpc>
                <a:spcPct val="135000"/>
              </a:lnSpc>
              <a:tabLst/>
            </a:pPr>
            <a:endParaRPr sz="1000" dirty="0">
              <a:latin typeface="Arial"/>
              <a:ea typeface="Arial"/>
              <a:cs typeface="Arial"/>
            </a:endParaRPr>
          </a:p>
          <a:p>
            <a:pPr algn="l" rtl="0" eaLnBrk="0">
              <a:lnSpc>
                <a:spcPct val="135000"/>
              </a:lnSpc>
              <a:tabLst/>
            </a:pPr>
            <a:endParaRPr sz="1000" dirty="0">
              <a:latin typeface="Arial"/>
              <a:ea typeface="Arial"/>
              <a:cs typeface="Arial"/>
            </a:endParaRPr>
          </a:p>
          <a:p>
            <a:pPr marL="92075" algn="l" rtl="0" eaLnBrk="0">
              <a:lnSpc>
                <a:spcPct val="87000"/>
              </a:lnSpc>
              <a:spcBef>
                <a:spcPts val="3"/>
              </a:spcBef>
              <a:tabLst/>
            </a:pPr>
            <a:r>
              <a:rPr sz="2000" b="1" kern="0" spc="0" dirty="0">
                <a:solidFill>
                  <a:srgbClr val="E66D57">
                    <a:alpha val="100000"/>
                  </a:srgbClr>
                </a:solidFill>
                <a:latin typeface="Microsoft YaHei"/>
                <a:ea typeface="Microsoft YaHei"/>
                <a:cs typeface="Microsoft YaHei"/>
              </a:rPr>
              <a:t>第二阶段：存量终端接入</a:t>
            </a:r>
            <a:r>
              <a:rPr sz="2000" b="1" kern="0" spc="-10" dirty="0">
                <a:solidFill>
                  <a:srgbClr val="E66D57">
                    <a:alpha val="100000"/>
                  </a:srgbClr>
                </a:solidFill>
                <a:latin typeface="Microsoft YaHei"/>
                <a:ea typeface="Microsoft YaHei"/>
                <a:cs typeface="Microsoft YaHei"/>
              </a:rPr>
              <a:t>阶段</a:t>
            </a:r>
            <a:endParaRPr sz="2000" dirty="0">
              <a:latin typeface="Microsoft YaHei"/>
              <a:ea typeface="Microsoft YaHei"/>
              <a:cs typeface="Microsoft YaHei"/>
            </a:endParaRPr>
          </a:p>
          <a:p>
            <a:pPr algn="l" rtl="0" eaLnBrk="0">
              <a:lnSpc>
                <a:spcPct val="123000"/>
              </a:lnSpc>
              <a:tabLst/>
            </a:pPr>
            <a:endParaRPr sz="400" dirty="0">
              <a:latin typeface="Arial"/>
              <a:ea typeface="Arial"/>
              <a:cs typeface="Arial"/>
            </a:endParaRPr>
          </a:p>
          <a:p>
            <a:pPr marL="93980" algn="l" rtl="0" eaLnBrk="0">
              <a:lnSpc>
                <a:spcPct val="87000"/>
              </a:lnSpc>
              <a:spcBef>
                <a:spcPts val="4"/>
              </a:spcBef>
              <a:tabLst/>
            </a:pPr>
            <a:r>
              <a:rPr sz="1400" kern="0" spc="0" dirty="0">
                <a:solidFill>
                  <a:srgbClr val="000000">
                    <a:alpha val="100000"/>
                  </a:srgbClr>
                </a:solidFill>
                <a:latin typeface="Microsoft YaHei"/>
                <a:ea typeface="Microsoft YaHei"/>
                <a:cs typeface="Microsoft YaHei"/>
              </a:rPr>
              <a:t>基于专属云完成写入OC以及AEP地</a:t>
            </a:r>
            <a:r>
              <a:rPr sz="1400" kern="0" spc="-10" dirty="0">
                <a:solidFill>
                  <a:srgbClr val="000000">
                    <a:alpha val="100000"/>
                  </a:srgbClr>
                </a:solidFill>
                <a:latin typeface="Microsoft YaHei"/>
                <a:ea typeface="Microsoft YaHei"/>
                <a:cs typeface="Microsoft YaHei"/>
              </a:rPr>
              <a:t>址终端接入</a:t>
            </a:r>
            <a:endParaRPr sz="1400" dirty="0">
              <a:latin typeface="Microsoft YaHei"/>
              <a:ea typeface="Microsoft YaHei"/>
              <a:cs typeface="Microsoft YaHei"/>
            </a:endParaRPr>
          </a:p>
        </p:txBody>
      </p:sp>
      <p:sp>
        <p:nvSpPr>
          <p:cNvPr id="374" name="textbox 374"/>
          <p:cNvSpPr/>
          <p:nvPr/>
        </p:nvSpPr>
        <p:spPr>
          <a:xfrm>
            <a:off x="758952" y="4890515"/>
            <a:ext cx="4776470" cy="1282064"/>
          </a:xfrm>
          <a:prstGeom prst="rect">
            <a:avLst/>
          </a:prstGeom>
          <a:solidFill>
            <a:srgbClr val="778495">
              <a:alpha val="14509"/>
            </a:srgbClr>
          </a:solidFill>
          <a:ln w="0" cap="flat">
            <a:noFill/>
            <a:prstDash val="solid"/>
            <a:miter lim="0"/>
          </a:ln>
        </p:spPr>
        <p:txBody>
          <a:bodyPr vert="horz" wrap="square" lIns="0" tIns="0" rIns="0" bIns="0"/>
          <a:lstStyle/>
          <a:p>
            <a:pPr algn="l" rtl="0" eaLnBrk="0">
              <a:lnSpc>
                <a:spcPct val="137000"/>
              </a:lnSpc>
              <a:tabLst/>
            </a:pPr>
            <a:endParaRPr sz="1000" dirty="0">
              <a:latin typeface="Arial"/>
              <a:ea typeface="Arial"/>
              <a:cs typeface="Arial"/>
            </a:endParaRPr>
          </a:p>
          <a:p>
            <a:pPr algn="l" rtl="0" eaLnBrk="0">
              <a:lnSpc>
                <a:spcPct val="137000"/>
              </a:lnSpc>
              <a:tabLst/>
            </a:pPr>
            <a:endParaRPr sz="1000" dirty="0">
              <a:latin typeface="Arial"/>
              <a:ea typeface="Arial"/>
              <a:cs typeface="Arial"/>
            </a:endParaRPr>
          </a:p>
          <a:p>
            <a:pPr algn="l" rtl="0" eaLnBrk="0">
              <a:lnSpc>
                <a:spcPct val="6293"/>
              </a:lnSpc>
              <a:tabLst/>
            </a:pPr>
            <a:endParaRPr sz="100" dirty="0">
              <a:latin typeface="Arial"/>
              <a:ea typeface="Arial"/>
              <a:cs typeface="Arial"/>
            </a:endParaRPr>
          </a:p>
          <a:p>
            <a:pPr marL="92075" algn="l" rtl="0" eaLnBrk="0">
              <a:lnSpc>
                <a:spcPct val="87000"/>
              </a:lnSpc>
              <a:tabLst/>
            </a:pPr>
            <a:r>
              <a:rPr sz="1800" b="1" kern="0" spc="90" dirty="0">
                <a:solidFill>
                  <a:srgbClr val="F16B11">
                    <a:alpha val="100000"/>
                  </a:srgbClr>
                </a:solidFill>
                <a:latin typeface="Microsoft YaHei"/>
                <a:ea typeface="Microsoft YaHei"/>
                <a:cs typeface="Microsoft YaHei"/>
              </a:rPr>
              <a:t>第三阶段：</a:t>
            </a:r>
            <a:r>
              <a:rPr sz="1800" b="1" kern="0" spc="-410" dirty="0">
                <a:solidFill>
                  <a:srgbClr val="F16B11">
                    <a:alpha val="100000"/>
                  </a:srgbClr>
                </a:solidFill>
                <a:latin typeface="Microsoft YaHei"/>
                <a:ea typeface="Microsoft YaHei"/>
                <a:cs typeface="Microsoft YaHei"/>
              </a:rPr>
              <a:t> </a:t>
            </a:r>
            <a:r>
              <a:rPr sz="1800" b="1" kern="0" spc="90" dirty="0">
                <a:solidFill>
                  <a:srgbClr val="F16B11">
                    <a:alpha val="100000"/>
                  </a:srgbClr>
                </a:solidFill>
                <a:latin typeface="Microsoft YaHei"/>
                <a:ea typeface="Microsoft YaHei"/>
                <a:cs typeface="Microsoft YaHei"/>
              </a:rPr>
              <a:t>全量终端迁</a:t>
            </a:r>
            <a:r>
              <a:rPr sz="1800" b="1" kern="0" spc="80" dirty="0">
                <a:solidFill>
                  <a:srgbClr val="F16B11">
                    <a:alpha val="100000"/>
                  </a:srgbClr>
                </a:solidFill>
                <a:latin typeface="Microsoft YaHei"/>
                <a:ea typeface="Microsoft YaHei"/>
                <a:cs typeface="Microsoft YaHei"/>
              </a:rPr>
              <a:t>转阶段</a:t>
            </a:r>
            <a:endParaRPr sz="1800" dirty="0">
              <a:latin typeface="Microsoft YaHei"/>
              <a:ea typeface="Microsoft YaHei"/>
              <a:cs typeface="Microsoft YaHei"/>
            </a:endParaRPr>
          </a:p>
          <a:p>
            <a:pPr algn="l" rtl="0" eaLnBrk="0">
              <a:lnSpc>
                <a:spcPct val="113000"/>
              </a:lnSpc>
              <a:tabLst/>
            </a:pPr>
            <a:endParaRPr sz="500" dirty="0">
              <a:latin typeface="Arial"/>
              <a:ea typeface="Arial"/>
              <a:cs typeface="Arial"/>
            </a:endParaRPr>
          </a:p>
          <a:p>
            <a:pPr marL="93980" algn="l" rtl="0" eaLnBrk="0">
              <a:lnSpc>
                <a:spcPct val="87000"/>
              </a:lnSpc>
              <a:spcBef>
                <a:spcPts val="5"/>
              </a:spcBef>
              <a:tabLst/>
            </a:pPr>
            <a:r>
              <a:rPr sz="1400" kern="0" spc="-10" dirty="0">
                <a:solidFill>
                  <a:srgbClr val="000000">
                    <a:alpha val="100000"/>
                  </a:srgbClr>
                </a:solidFill>
                <a:latin typeface="Microsoft YaHei"/>
                <a:ea typeface="Microsoft YaHei"/>
                <a:cs typeface="Microsoft YaHei"/>
              </a:rPr>
              <a:t>基于专属云完成所有存量终端迁转</a:t>
            </a:r>
            <a:r>
              <a:rPr sz="1400" kern="0" spc="-20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，实现全终端统一接入</a:t>
            </a:r>
            <a:endParaRPr sz="1400" dirty="0">
              <a:latin typeface="Microsoft YaHei"/>
              <a:ea typeface="Microsoft YaHei"/>
              <a:cs typeface="Microsoft YaHei"/>
            </a:endParaRPr>
          </a:p>
        </p:txBody>
      </p:sp>
      <p:sp>
        <p:nvSpPr>
          <p:cNvPr id="376" name="rect 376"/>
          <p:cNvSpPr/>
          <p:nvPr/>
        </p:nvSpPr>
        <p:spPr>
          <a:xfrm>
            <a:off x="6756578" y="5482653"/>
            <a:ext cx="2795498" cy="1213472"/>
          </a:xfrm>
          <a:prstGeom prst="rect">
            <a:avLst/>
          </a:prstGeom>
          <a:solidFill>
            <a:srgbClr val="F0F0F0">
              <a:alpha val="100000"/>
            </a:srgbClr>
          </a:solidFill>
          <a:ln w="0" cap="flat">
            <a:noFill/>
            <a:prstDash val="solid"/>
            <a:miter lim="0"/>
          </a:ln>
        </p:spPr>
        <p:txBody>
          <a:bodyPr rtlCol="0"/>
          <a:lstStyle/>
          <a:p>
            <a:pPr algn="ctr"/>
            <a:endParaRPr lang="zh-CN" altLang="en-US"/>
          </a:p>
        </p:txBody>
      </p:sp>
      <p:sp>
        <p:nvSpPr>
          <p:cNvPr id="378" name="textbox 378"/>
          <p:cNvSpPr/>
          <p:nvPr/>
        </p:nvSpPr>
        <p:spPr>
          <a:xfrm>
            <a:off x="6592823" y="912876"/>
            <a:ext cx="5191759" cy="652780"/>
          </a:xfrm>
          <a:prstGeom prst="rect">
            <a:avLst/>
          </a:prstGeom>
          <a:solidFill>
            <a:srgbClr val="002060">
              <a:alpha val="100000"/>
            </a:srgbClr>
          </a:solidFill>
          <a:ln w="0" cap="flat">
            <a:noFill/>
            <a:prstDash val="solid"/>
            <a:miter lim="0"/>
          </a:ln>
        </p:spPr>
        <p:txBody>
          <a:bodyPr vert="horz" wrap="square" lIns="0" tIns="0" rIns="0" bIns="0"/>
          <a:lstStyle/>
          <a:p>
            <a:pPr algn="l" rtl="0" eaLnBrk="0">
              <a:lnSpc>
                <a:spcPct val="136000"/>
              </a:lnSpc>
              <a:tabLst/>
            </a:pPr>
            <a:endParaRPr sz="1000" dirty="0">
              <a:latin typeface="Arial"/>
              <a:ea typeface="Arial"/>
              <a:cs typeface="Arial"/>
            </a:endParaRPr>
          </a:p>
          <a:p>
            <a:pPr marL="1912620" algn="l" rtl="0" eaLnBrk="0">
              <a:lnSpc>
                <a:spcPct val="88000"/>
              </a:lnSpc>
              <a:spcBef>
                <a:spcPts val="3"/>
              </a:spcBef>
              <a:tabLst/>
            </a:pPr>
            <a:r>
              <a:rPr sz="1700" b="1" kern="0" spc="90" dirty="0">
                <a:solidFill>
                  <a:srgbClr val="FFFFFF">
                    <a:alpha val="100000"/>
                  </a:srgbClr>
                </a:solidFill>
                <a:latin typeface="Microsoft YaHei"/>
                <a:ea typeface="Microsoft YaHei"/>
                <a:cs typeface="Microsoft YaHei"/>
              </a:rPr>
              <a:t>客户业务系统</a:t>
            </a:r>
            <a:endParaRPr sz="1700" dirty="0">
              <a:latin typeface="Microsoft YaHei"/>
              <a:ea typeface="Microsoft YaHei"/>
              <a:cs typeface="Microsoft YaHei"/>
            </a:endParaRPr>
          </a:p>
        </p:txBody>
      </p:sp>
      <p:pic>
        <p:nvPicPr>
          <p:cNvPr id="380" name="picture 380"/>
          <p:cNvPicPr>
            <a:picLocks noChangeAspect="1"/>
          </p:cNvPicPr>
          <p:nvPr/>
        </p:nvPicPr>
        <p:blipFill>
          <a:blip r:embed="rId3"/>
          <a:stretch>
            <a:fillRect/>
          </a:stretch>
        </p:blipFill>
        <p:spPr>
          <a:xfrm rot="21600000">
            <a:off x="8231898" y="5596483"/>
            <a:ext cx="1145527" cy="442900"/>
          </a:xfrm>
          <a:prstGeom prst="rect">
            <a:avLst/>
          </a:prstGeom>
        </p:spPr>
      </p:pic>
      <p:pic>
        <p:nvPicPr>
          <p:cNvPr id="382" name="picture 382"/>
          <p:cNvPicPr>
            <a:picLocks noChangeAspect="1"/>
          </p:cNvPicPr>
          <p:nvPr/>
        </p:nvPicPr>
        <p:blipFill>
          <a:blip r:embed="rId4"/>
          <a:stretch>
            <a:fillRect/>
          </a:stretch>
        </p:blipFill>
        <p:spPr>
          <a:xfrm rot="21600000">
            <a:off x="10731500" y="5850254"/>
            <a:ext cx="1037590" cy="565785"/>
          </a:xfrm>
          <a:prstGeom prst="rect">
            <a:avLst/>
          </a:prstGeom>
        </p:spPr>
      </p:pic>
      <p:sp>
        <p:nvSpPr>
          <p:cNvPr id="384" name="textbox 384"/>
          <p:cNvSpPr/>
          <p:nvPr/>
        </p:nvSpPr>
        <p:spPr>
          <a:xfrm>
            <a:off x="8489213" y="5252796"/>
            <a:ext cx="3040379" cy="1056639"/>
          </a:xfrm>
          <a:prstGeom prst="rect">
            <a:avLst/>
          </a:prstGeom>
          <a:noFill/>
          <a:ln w="0" cap="flat">
            <a:noFill/>
            <a:prstDash val="solid"/>
            <a:miter lim="0"/>
          </a:ln>
        </p:spPr>
        <p:txBody>
          <a:bodyPr vert="horz" wrap="square" lIns="0" tIns="0" rIns="0" bIns="0"/>
          <a:lstStyle/>
          <a:p>
            <a:pPr algn="l" rtl="0" eaLnBrk="0">
              <a:lnSpc>
                <a:spcPct val="85695"/>
              </a:lnSpc>
              <a:tabLst/>
            </a:pPr>
            <a:endParaRPr sz="100" dirty="0">
              <a:latin typeface="Arial"/>
              <a:ea typeface="Arial"/>
              <a:cs typeface="Arial"/>
            </a:endParaRPr>
          </a:p>
          <a:p>
            <a:pPr marL="2300604" algn="l" rtl="0" eaLnBrk="0">
              <a:lnSpc>
                <a:spcPct val="87000"/>
              </a:lnSpc>
              <a:tabLst/>
            </a:pPr>
            <a:r>
              <a:rPr sz="1500" b="1" kern="0" spc="80" dirty="0">
                <a:solidFill>
                  <a:srgbClr val="C00000">
                    <a:alpha val="100000"/>
                  </a:srgbClr>
                </a:solidFill>
                <a:latin typeface="Microsoft YaHei"/>
                <a:ea typeface="Microsoft YaHei"/>
                <a:cs typeface="Microsoft YaHei"/>
              </a:rPr>
              <a:t>需迁移</a:t>
            </a:r>
            <a:endParaRPr sz="1500" dirty="0">
              <a:latin typeface="Microsoft YaHei"/>
              <a:ea typeface="Microsoft YaHei"/>
              <a:cs typeface="Microsoft YaHei"/>
            </a:endParaRPr>
          </a:p>
          <a:p>
            <a:pPr marL="12700" algn="l" rtl="0" eaLnBrk="0">
              <a:lnSpc>
                <a:spcPct val="80000"/>
              </a:lnSpc>
              <a:spcBef>
                <a:spcPts val="1442"/>
              </a:spcBef>
              <a:tabLst/>
            </a:pPr>
            <a:r>
              <a:rPr sz="1200" b="1" kern="0" spc="-10" dirty="0">
                <a:solidFill>
                  <a:srgbClr val="FFFFFF">
                    <a:alpha val="100000"/>
                  </a:srgbClr>
                </a:solidFill>
                <a:latin typeface="Microsoft YaHei"/>
                <a:ea typeface="Microsoft YaHei"/>
                <a:cs typeface="Microsoft YaHei"/>
              </a:rPr>
              <a:t>AEP存量</a:t>
            </a:r>
            <a:endParaRPr sz="1200" dirty="0">
              <a:latin typeface="Microsoft YaHei"/>
              <a:ea typeface="Microsoft YaHei"/>
              <a:cs typeface="Microsoft YaHei"/>
            </a:endParaRPr>
          </a:p>
          <a:p>
            <a:pPr marL="165100" algn="l" rtl="0" eaLnBrk="0">
              <a:lnSpc>
                <a:spcPct val="97000"/>
              </a:lnSpc>
              <a:spcBef>
                <a:spcPts val="9"/>
              </a:spcBef>
              <a:tabLst/>
            </a:pPr>
            <a:r>
              <a:rPr sz="1200" b="1" kern="0" spc="-20" dirty="0">
                <a:solidFill>
                  <a:srgbClr val="FFFFFF">
                    <a:alpha val="100000"/>
                  </a:srgbClr>
                </a:solidFill>
                <a:latin typeface="Microsoft YaHei"/>
                <a:ea typeface="Microsoft YaHei"/>
                <a:cs typeface="Microsoft YaHei"/>
              </a:rPr>
              <a:t>设备</a:t>
            </a:r>
            <a:endParaRPr sz="1200" dirty="0">
              <a:latin typeface="Microsoft YaHei"/>
              <a:ea typeface="Microsoft YaHei"/>
              <a:cs typeface="Microsoft YaHei"/>
            </a:endParaRPr>
          </a:p>
          <a:p>
            <a:pPr marL="2609850" indent="-109220" algn="l" rtl="0" eaLnBrk="0">
              <a:lnSpc>
                <a:spcPct val="88000"/>
              </a:lnSpc>
              <a:spcBef>
                <a:spcPts val="17"/>
              </a:spcBef>
              <a:tabLst/>
            </a:pPr>
            <a:r>
              <a:rPr sz="1200" b="1" kern="0" spc="-20" dirty="0">
                <a:solidFill>
                  <a:srgbClr val="FFFFFF">
                    <a:alpha val="100000"/>
                  </a:srgbClr>
                </a:solidFill>
                <a:latin typeface="Microsoft YaHei"/>
                <a:ea typeface="Microsoft YaHei"/>
                <a:cs typeface="Microsoft YaHei"/>
              </a:rPr>
              <a:t>OC存量</a:t>
            </a:r>
            <a:r>
              <a:rPr sz="1200" b="1" kern="0" spc="-20" dirty="0">
                <a:solidFill>
                  <a:srgbClr val="FFFFFF">
                    <a:alpha val="100000"/>
                  </a:srgbClr>
                </a:solidFill>
                <a:latin typeface="Microsoft YaHei"/>
                <a:ea typeface="Microsoft YaHei"/>
                <a:cs typeface="Microsoft YaHei"/>
              </a:rPr>
              <a:t>设备</a:t>
            </a:r>
            <a:endParaRPr sz="1200" dirty="0">
              <a:latin typeface="Microsoft YaHei"/>
              <a:ea typeface="Microsoft YaHei"/>
              <a:cs typeface="Microsoft YaHei"/>
            </a:endParaRPr>
          </a:p>
        </p:txBody>
      </p:sp>
      <p:sp>
        <p:nvSpPr>
          <p:cNvPr id="386" name="textbox 386"/>
          <p:cNvSpPr/>
          <p:nvPr/>
        </p:nvSpPr>
        <p:spPr>
          <a:xfrm>
            <a:off x="6592823" y="1938528"/>
            <a:ext cx="5191759" cy="568959"/>
          </a:xfrm>
          <a:prstGeom prst="rect">
            <a:avLst/>
          </a:prstGeom>
          <a:solidFill>
            <a:srgbClr val="002060">
              <a:alpha val="100000"/>
            </a:srgbClr>
          </a:solidFill>
          <a:ln w="0" cap="flat">
            <a:noFill/>
            <a:prstDash val="solid"/>
            <a:miter lim="0"/>
          </a:ln>
        </p:spPr>
        <p:txBody>
          <a:bodyPr vert="horz" wrap="square" lIns="0" tIns="0" rIns="0" bIns="0"/>
          <a:lstStyle/>
          <a:p>
            <a:pPr algn="l" rtl="0" eaLnBrk="0">
              <a:lnSpc>
                <a:spcPct val="109000"/>
              </a:lnSpc>
              <a:tabLst/>
            </a:pPr>
            <a:endParaRPr sz="1000" dirty="0">
              <a:latin typeface="Arial"/>
              <a:ea typeface="Arial"/>
              <a:cs typeface="Arial"/>
            </a:endParaRPr>
          </a:p>
          <a:p>
            <a:pPr marL="1797685" algn="l" rtl="0" eaLnBrk="0">
              <a:lnSpc>
                <a:spcPct val="88000"/>
              </a:lnSpc>
              <a:spcBef>
                <a:spcPts val="1"/>
              </a:spcBef>
              <a:tabLst/>
            </a:pPr>
            <a:r>
              <a:rPr sz="1700" b="1" kern="0" spc="90" dirty="0">
                <a:solidFill>
                  <a:srgbClr val="FFFFFF">
                    <a:alpha val="100000"/>
                  </a:srgbClr>
                </a:solidFill>
                <a:latin typeface="Microsoft YaHei"/>
                <a:ea typeface="Microsoft YaHei"/>
                <a:cs typeface="Microsoft YaHei"/>
              </a:rPr>
              <a:t>表厂前置机系统</a:t>
            </a:r>
            <a:endParaRPr sz="1700" dirty="0">
              <a:latin typeface="Microsoft YaHei"/>
              <a:ea typeface="Microsoft YaHei"/>
              <a:cs typeface="Microsoft YaHei"/>
            </a:endParaRPr>
          </a:p>
        </p:txBody>
      </p:sp>
      <p:sp>
        <p:nvSpPr>
          <p:cNvPr id="388" name="rect 388"/>
          <p:cNvSpPr/>
          <p:nvPr/>
        </p:nvSpPr>
        <p:spPr>
          <a:xfrm>
            <a:off x="9328404" y="3515867"/>
            <a:ext cx="2235707" cy="1053084"/>
          </a:xfrm>
          <a:prstGeom prst="rect">
            <a:avLst/>
          </a:prstGeom>
          <a:solidFill>
            <a:srgbClr val="C00000">
              <a:alpha val="100000"/>
            </a:srgbClr>
          </a:solidFill>
          <a:ln w="0" cap="flat">
            <a:noFill/>
            <a:prstDash val="solid"/>
            <a:miter lim="0"/>
          </a:ln>
        </p:spPr>
        <p:txBody>
          <a:bodyPr rtlCol="0"/>
          <a:lstStyle/>
          <a:p>
            <a:pPr algn="ctr"/>
            <a:endParaRPr lang="zh-CN" altLang="en-US"/>
          </a:p>
        </p:txBody>
      </p:sp>
      <p:graphicFrame>
        <p:nvGraphicFramePr>
          <p:cNvPr id="390" name="table 390"/>
          <p:cNvGraphicFramePr>
            <a:graphicFrameLocks noGrp="1"/>
          </p:cNvGraphicFramePr>
          <p:nvPr/>
        </p:nvGraphicFramePr>
        <p:xfrm>
          <a:off x="7384367" y="2540952"/>
          <a:ext cx="4098289" cy="560704"/>
        </p:xfrm>
        <a:graphic>
          <a:graphicData uri="http://schemas.openxmlformats.org/drawingml/2006/table">
            <a:tbl>
              <a:tblPr/>
              <a:tblGrid>
                <a:gridCol w="749300"/>
                <a:gridCol w="390525"/>
                <a:gridCol w="2958464"/>
              </a:tblGrid>
              <a:tr h="560705">
                <a:tc>
                  <a:txBody>
                    <a:bodyPr/>
                    <a:lstStyle/>
                    <a:p>
                      <a:pPr algn="l" rtl="0" eaLnBrk="0">
                        <a:lnSpc>
                          <a:spcPct val="104000"/>
                        </a:lnSpc>
                        <a:tabLst/>
                      </a:pPr>
                      <a:endParaRPr sz="1000" dirty="0">
                        <a:latin typeface="Arial"/>
                        <a:ea typeface="Arial"/>
                        <a:cs typeface="Arial"/>
                      </a:endParaRPr>
                    </a:p>
                    <a:p>
                      <a:pPr algn="l" rtl="0" eaLnBrk="0">
                        <a:lnSpc>
                          <a:spcPct val="9459"/>
                        </a:lnSpc>
                        <a:tabLst/>
                      </a:pPr>
                      <a:endParaRPr sz="100" dirty="0">
                        <a:latin typeface="Arial"/>
                        <a:ea typeface="Arial"/>
                        <a:cs typeface="Arial"/>
                      </a:endParaRPr>
                    </a:p>
                    <a:p>
                      <a:pPr algn="l" rtl="0" eaLnBrk="0">
                        <a:lnSpc>
                          <a:spcPts val="1837"/>
                        </a:lnSpc>
                        <a:tabLst/>
                      </a:pPr>
                      <a:r>
                        <a:rPr sz="1400" b="1" kern="0" spc="-10" dirty="0">
                          <a:solidFill>
                            <a:srgbClr val="000000">
                              <a:alpha val="100000"/>
                            </a:srgbClr>
                          </a:solidFill>
                          <a:latin typeface="Microsoft YaHei"/>
                          <a:ea typeface="Microsoft YaHei"/>
                          <a:cs typeface="Microsoft YaHei"/>
                        </a:rPr>
                        <a:t>API   </a:t>
                      </a:r>
                      <a:endParaRPr sz="14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a:noFill/>
                    </a:lnB>
                  </a:tcPr>
                </a:tc>
                <a:tc>
                  <a:txBody>
                    <a:bodyPr/>
                    <a:lstStyle/>
                    <a:p>
                      <a:pPr algn="l" rtl="0" eaLnBrk="0">
                        <a:lnSpc>
                          <a:spcPct val="87090"/>
                        </a:lnSpc>
                        <a:tabLst/>
                      </a:pPr>
                      <a:endParaRPr sz="100" dirty="0">
                        <a:latin typeface="Arial"/>
                        <a:ea typeface="Arial"/>
                        <a:cs typeface="Arial"/>
                      </a:endParaRPr>
                    </a:p>
                    <a:p>
                      <a:pPr algn="r" rtl="0" eaLnBrk="0">
                        <a:lnSpc>
                          <a:spcPts val="4260"/>
                        </a:lnSpc>
                        <a:tabLst/>
                      </a:pPr>
                      <a:r>
                        <a:rPr sz="2100" b="1" kern="0" spc="310" baseline="31529" dirty="0">
                          <a:solidFill>
                            <a:srgbClr val="000000">
                              <a:alpha val="100000"/>
                            </a:srgbClr>
                          </a:solidFill>
                          <a:latin typeface="Microsoft YaHei"/>
                          <a:ea typeface="Microsoft YaHei"/>
                          <a:cs typeface="Microsoft YaHei"/>
                        </a:rPr>
                        <a:t>推送</a:t>
                      </a:r>
                      <a:r>
                        <a:rPr sz="1300" b="1" kern="0" spc="0" dirty="0">
                          <a:solidFill>
                            <a:srgbClr val="000000">
                              <a:alpha val="100000"/>
                            </a:srgbClr>
                          </a:solidFill>
                          <a:latin typeface="Microsoft YaHei"/>
                          <a:ea typeface="Microsoft YaHei"/>
                          <a:cs typeface="Microsoft YaHei"/>
                        </a:rPr>
                        <a:t>                          </a:t>
                      </a:r>
                      <a:r>
                        <a:rPr sz="2100" b="1" kern="0" spc="0" baseline="38970" dirty="0">
                          <a:solidFill>
                            <a:srgbClr val="000000">
                              <a:alpha val="100000"/>
                            </a:srgbClr>
                          </a:solidFill>
                          <a:latin typeface="Microsoft YaHei"/>
                          <a:ea typeface="Microsoft YaHei"/>
                          <a:cs typeface="Microsoft YaHei"/>
                        </a:rPr>
                        <a:t>API</a:t>
                      </a:r>
                      <a:r>
                        <a:rPr sz="2800" kern="0" spc="310" dirty="0">
                          <a:solidFill>
                            <a:srgbClr val="C00000">
                              <a:alpha val="100000"/>
                            </a:srgbClr>
                          </a:solidFill>
                          <a:latin typeface="Arial"/>
                          <a:ea typeface="Arial"/>
                          <a:cs typeface="Arial"/>
                        </a:rPr>
                        <a:t>!</a:t>
                      </a:r>
                      <a:r>
                        <a:rPr sz="2800" kern="0" spc="340" dirty="0">
                          <a:solidFill>
                            <a:srgbClr val="C00000">
                              <a:alpha val="100000"/>
                            </a:srgbClr>
                          </a:solidFill>
                          <a:latin typeface="Arial"/>
                          <a:ea typeface="Arial"/>
                          <a:cs typeface="Arial"/>
                        </a:rPr>
                        <a:t> </a:t>
                      </a:r>
                      <a:r>
                        <a:rPr sz="2800" kern="0" spc="310" dirty="0">
                          <a:solidFill>
                            <a:srgbClr val="C00000">
                              <a:alpha val="100000"/>
                            </a:srgbClr>
                          </a:solidFill>
                          <a:latin typeface="Arial"/>
                          <a:ea typeface="Arial"/>
                          <a:cs typeface="Arial"/>
                        </a:rPr>
                        <a:t>t</a:t>
                      </a:r>
                      <a:r>
                        <a:rPr sz="2800" kern="0" spc="-340" dirty="0">
                          <a:solidFill>
                            <a:srgbClr val="C00000">
                              <a:alpha val="100000"/>
                            </a:srgbClr>
                          </a:solidFill>
                          <a:latin typeface="Arial"/>
                          <a:ea typeface="Arial"/>
                          <a:cs typeface="Arial"/>
                        </a:rPr>
                        <a:t> </a:t>
                      </a:r>
                      <a:r>
                        <a:rPr sz="2100" b="1" kern="0" spc="310" baseline="38970" dirty="0">
                          <a:solidFill>
                            <a:srgbClr val="000000">
                              <a:alpha val="100000"/>
                            </a:srgbClr>
                          </a:solidFill>
                          <a:latin typeface="Microsoft YaHei"/>
                          <a:ea typeface="Microsoft YaHei"/>
                          <a:cs typeface="Microsoft YaHei"/>
                        </a:rPr>
                        <a:t>推送</a:t>
                      </a:r>
                      <a:endParaRPr sz="2100" baseline="38970" dirty="0">
                        <a:latin typeface="Microsoft YaHei"/>
                        <a:ea typeface="Microsoft YaHei"/>
                        <a:cs typeface="Microsoft YaHei"/>
                      </a:endParaRPr>
                    </a:p>
                  </a:txBody>
                  <a:tcPr marL="0" marR="0" marT="0" marB="0" vert="horz">
                    <a:lnL>
                      <a:noFill/>
                    </a:lnL>
                    <a:lnR>
                      <a:noFill/>
                    </a:lnR>
                    <a:lnT>
                      <a:noFill/>
                    </a:lnT>
                    <a:lnB>
                      <a:noFill/>
                    </a:lnB>
                  </a:tcPr>
                </a:tc>
              </a:tr>
            </a:tbl>
          </a:graphicData>
        </a:graphic>
      </p:graphicFrame>
      <p:sp>
        <p:nvSpPr>
          <p:cNvPr id="392" name="path 392"/>
          <p:cNvSpPr/>
          <p:nvPr/>
        </p:nvSpPr>
        <p:spPr>
          <a:xfrm>
            <a:off x="7819613" y="2554197"/>
            <a:ext cx="185928" cy="541110"/>
          </a:xfrm>
          <a:custGeom>
            <a:avLst/>
            <a:gdLst/>
            <a:ahLst/>
            <a:cxnLst/>
            <a:rect l="0" t="0" r="0" b="0"/>
            <a:pathLst>
              <a:path w="292" h="852">
                <a:moveTo>
                  <a:pt x="0" y="706"/>
                </a:moveTo>
                <a:lnTo>
                  <a:pt x="72" y="706"/>
                </a:lnTo>
                <a:lnTo>
                  <a:pt x="72" y="0"/>
                </a:lnTo>
                <a:lnTo>
                  <a:pt x="218" y="0"/>
                </a:lnTo>
                <a:lnTo>
                  <a:pt x="218" y="706"/>
                </a:lnTo>
                <a:lnTo>
                  <a:pt x="292" y="706"/>
                </a:lnTo>
                <a:lnTo>
                  <a:pt x="146" y="852"/>
                </a:lnTo>
                <a:lnTo>
                  <a:pt x="0" y="706"/>
                </a:lnTo>
              </a:path>
            </a:pathLst>
          </a:custGeom>
          <a:solidFill>
            <a:srgbClr val="A6A6A6">
              <a:alpha val="100000"/>
            </a:srgbClr>
          </a:solidFill>
          <a:ln w="0" cap="flat">
            <a:noFill/>
            <a:prstDash val="solid"/>
            <a:miter lim="0"/>
          </a:ln>
        </p:spPr>
        <p:txBody>
          <a:bodyPr rtlCol="0"/>
          <a:lstStyle/>
          <a:p>
            <a:pPr algn="ctr"/>
            <a:endParaRPr lang="zh-CN" altLang="en-US"/>
          </a:p>
        </p:txBody>
      </p:sp>
      <p:pic>
        <p:nvPicPr>
          <p:cNvPr id="394" name="picture 394"/>
          <p:cNvPicPr>
            <a:picLocks noChangeAspect="1"/>
          </p:cNvPicPr>
          <p:nvPr/>
        </p:nvPicPr>
        <p:blipFill>
          <a:blip r:embed="rId5"/>
          <a:stretch>
            <a:fillRect/>
          </a:stretch>
        </p:blipFill>
        <p:spPr>
          <a:xfrm rot="21600000">
            <a:off x="7810406" y="2550947"/>
            <a:ext cx="192151" cy="518236"/>
          </a:xfrm>
          <a:prstGeom prst="rect">
            <a:avLst/>
          </a:prstGeom>
        </p:spPr>
      </p:pic>
      <p:sp>
        <p:nvSpPr>
          <p:cNvPr id="396" name="textbox 396"/>
          <p:cNvSpPr/>
          <p:nvPr/>
        </p:nvSpPr>
        <p:spPr>
          <a:xfrm>
            <a:off x="8994232" y="3194089"/>
            <a:ext cx="2035810" cy="110934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853"/>
              </a:lnSpc>
              <a:tabLst/>
            </a:pPr>
            <a:r>
              <a:rPr sz="1400" b="1" kern="0" spc="-10" dirty="0">
                <a:solidFill>
                  <a:srgbClr val="000000">
                    <a:alpha val="100000"/>
                  </a:srgbClr>
                </a:solidFill>
                <a:latin typeface="Microsoft YaHei"/>
                <a:ea typeface="Microsoft YaHei"/>
                <a:cs typeface="Microsoft YaHei"/>
              </a:rPr>
              <a:t>AIoT平台</a:t>
            </a:r>
            <a:endParaRPr sz="1400" dirty="0">
              <a:latin typeface="Microsoft YaHei"/>
              <a:ea typeface="Microsoft YaHei"/>
              <a:cs typeface="Microsoft YaHei"/>
            </a:endParaRPr>
          </a:p>
          <a:p>
            <a:pPr algn="l" rtl="0" eaLnBrk="0">
              <a:lnSpc>
                <a:spcPct val="152000"/>
              </a:lnSpc>
              <a:tabLst/>
            </a:pPr>
            <a:endParaRPr sz="1000" dirty="0">
              <a:latin typeface="Arial"/>
              <a:ea typeface="Arial"/>
              <a:cs typeface="Arial"/>
            </a:endParaRPr>
          </a:p>
          <a:p>
            <a:pPr marL="1181100" algn="l" rtl="0" eaLnBrk="0">
              <a:lnSpc>
                <a:spcPts val="2374"/>
              </a:lnSpc>
              <a:spcBef>
                <a:spcPts val="521"/>
              </a:spcBef>
              <a:tabLst/>
            </a:pPr>
            <a:r>
              <a:rPr sz="1700" b="1" kern="0" spc="50" dirty="0">
                <a:solidFill>
                  <a:srgbClr val="FFFFFF">
                    <a:alpha val="100000"/>
                  </a:srgbClr>
                </a:solidFill>
                <a:latin typeface="Microsoft YaHei"/>
                <a:ea typeface="Microsoft YaHei"/>
                <a:cs typeface="Microsoft YaHei"/>
              </a:rPr>
              <a:t>AIoT</a:t>
            </a:r>
            <a:endParaRPr sz="1700" dirty="0">
              <a:latin typeface="Microsoft YaHei"/>
              <a:ea typeface="Microsoft YaHei"/>
              <a:cs typeface="Microsoft YaHei"/>
            </a:endParaRPr>
          </a:p>
          <a:p>
            <a:pPr algn="r" rtl="0" eaLnBrk="0">
              <a:lnSpc>
                <a:spcPct val="89000"/>
              </a:lnSpc>
              <a:spcBef>
                <a:spcPts val="144"/>
              </a:spcBef>
              <a:tabLst/>
            </a:pPr>
            <a:r>
              <a:rPr sz="1700" b="1" kern="0" spc="80" dirty="0">
                <a:solidFill>
                  <a:srgbClr val="FFFFFF">
                    <a:alpha val="100000"/>
                  </a:srgbClr>
                </a:solidFill>
                <a:latin typeface="Microsoft YaHei"/>
                <a:ea typeface="Microsoft YaHei"/>
                <a:cs typeface="Microsoft YaHei"/>
              </a:rPr>
              <a:t>专属云平台</a:t>
            </a:r>
            <a:endParaRPr sz="1700" dirty="0">
              <a:latin typeface="Microsoft YaHei"/>
              <a:ea typeface="Microsoft YaHei"/>
              <a:cs typeface="Microsoft YaHei"/>
            </a:endParaRPr>
          </a:p>
        </p:txBody>
      </p:sp>
      <p:sp>
        <p:nvSpPr>
          <p:cNvPr id="398" name="textbox 398"/>
          <p:cNvSpPr/>
          <p:nvPr/>
        </p:nvSpPr>
        <p:spPr>
          <a:xfrm>
            <a:off x="359526" y="862039"/>
            <a:ext cx="5480050" cy="36131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2644"/>
              </a:lnSpc>
              <a:tabLst/>
            </a:pPr>
            <a:r>
              <a:rPr sz="2000" kern="0" spc="-50" dirty="0">
                <a:solidFill>
                  <a:srgbClr val="000000">
                    <a:alpha val="100000"/>
                  </a:srgbClr>
                </a:solidFill>
                <a:latin typeface="Wingdings"/>
                <a:ea typeface="Wingdings"/>
                <a:cs typeface="Wingdings"/>
              </a:rPr>
              <a:t>n</a:t>
            </a:r>
            <a:r>
              <a:rPr sz="2000" kern="0" spc="-50" dirty="0">
                <a:solidFill>
                  <a:srgbClr val="000000">
                    <a:alpha val="100000"/>
                  </a:srgbClr>
                </a:solidFill>
                <a:latin typeface="Microsoft YaHei"/>
                <a:ea typeface="Microsoft YaHei"/>
                <a:cs typeface="Microsoft YaHei"/>
              </a:rPr>
              <a:t>接入到专属云平台</a:t>
            </a:r>
            <a:r>
              <a:rPr sz="2000" kern="0" spc="-300" dirty="0">
                <a:solidFill>
                  <a:srgbClr val="000000">
                    <a:alpha val="100000"/>
                  </a:srgbClr>
                </a:solidFill>
                <a:latin typeface="Microsoft YaHei"/>
                <a:ea typeface="Microsoft YaHei"/>
                <a:cs typeface="Microsoft YaHei"/>
              </a:rPr>
              <a:t> </a:t>
            </a:r>
            <a:r>
              <a:rPr sz="2000" kern="0" spc="-50" dirty="0">
                <a:solidFill>
                  <a:srgbClr val="000000">
                    <a:alpha val="100000"/>
                  </a:srgbClr>
                </a:solidFill>
                <a:latin typeface="Microsoft YaHei"/>
                <a:ea typeface="Microsoft YaHei"/>
                <a:cs typeface="Microsoft YaHei"/>
              </a:rPr>
              <a:t>，可按照下列</a:t>
            </a:r>
            <a:r>
              <a:rPr sz="2000" b="1" kern="0" spc="-50" dirty="0">
                <a:solidFill>
                  <a:srgbClr val="FF0000">
                    <a:alpha val="100000"/>
                  </a:srgbClr>
                </a:solidFill>
                <a:latin typeface="Microsoft YaHei"/>
                <a:ea typeface="Microsoft YaHei"/>
                <a:cs typeface="Microsoft YaHei"/>
              </a:rPr>
              <a:t>3</a:t>
            </a:r>
            <a:r>
              <a:rPr sz="2000" kern="0" spc="-50" dirty="0">
                <a:solidFill>
                  <a:srgbClr val="000000">
                    <a:alpha val="100000"/>
                  </a:srgbClr>
                </a:solidFill>
                <a:latin typeface="Microsoft YaHei"/>
                <a:ea typeface="Microsoft YaHei"/>
                <a:cs typeface="Microsoft YaHei"/>
              </a:rPr>
              <a:t>个阶段进行：</a:t>
            </a:r>
            <a:endParaRPr sz="2000" dirty="0">
              <a:latin typeface="Microsoft YaHei"/>
              <a:ea typeface="Microsoft YaHei"/>
              <a:cs typeface="Microsoft YaHei"/>
            </a:endParaRPr>
          </a:p>
        </p:txBody>
      </p:sp>
      <p:sp>
        <p:nvSpPr>
          <p:cNvPr id="400" name="textbox 400"/>
          <p:cNvSpPr/>
          <p:nvPr/>
        </p:nvSpPr>
        <p:spPr>
          <a:xfrm>
            <a:off x="418668" y="252717"/>
            <a:ext cx="2764154" cy="332104"/>
          </a:xfrm>
          <a:prstGeom prst="rect">
            <a:avLst/>
          </a:prstGeom>
          <a:noFill/>
          <a:ln w="0" cap="flat">
            <a:noFill/>
            <a:prstDash val="solid"/>
            <a:miter lim="0"/>
          </a:ln>
        </p:spPr>
        <p:txBody>
          <a:bodyPr vert="horz" wrap="square" lIns="0" tIns="0" rIns="0" bIns="0"/>
          <a:lstStyle/>
          <a:p>
            <a:pPr algn="l" rtl="0" eaLnBrk="0">
              <a:lnSpc>
                <a:spcPct val="91354"/>
              </a:lnSpc>
              <a:tabLst/>
            </a:pPr>
            <a:endParaRPr sz="100" dirty="0">
              <a:latin typeface="Arial"/>
              <a:ea typeface="Arial"/>
              <a:cs typeface="Arial"/>
            </a:endParaRPr>
          </a:p>
          <a:p>
            <a:pPr marL="12700" algn="l" rtl="0" eaLnBrk="0">
              <a:lnSpc>
                <a:spcPct val="87000"/>
              </a:lnSpc>
              <a:tabLst/>
            </a:pPr>
            <a:r>
              <a:rPr sz="2300" b="1" kern="0" spc="90" dirty="0">
                <a:solidFill>
                  <a:srgbClr val="C00000">
                    <a:alpha val="100000"/>
                  </a:srgbClr>
                </a:solidFill>
                <a:latin typeface="Microsoft YaHei"/>
                <a:ea typeface="Microsoft YaHei"/>
                <a:cs typeface="Microsoft YaHei"/>
              </a:rPr>
              <a:t>接入专属云总体方案</a:t>
            </a:r>
            <a:endParaRPr sz="2300" dirty="0">
              <a:latin typeface="Microsoft YaHei"/>
              <a:ea typeface="Microsoft YaHei"/>
              <a:cs typeface="Microsoft YaHei"/>
            </a:endParaRPr>
          </a:p>
        </p:txBody>
      </p:sp>
      <p:pic>
        <p:nvPicPr>
          <p:cNvPr id="402" name="picture 402"/>
          <p:cNvPicPr>
            <a:picLocks noChangeAspect="1"/>
          </p:cNvPicPr>
          <p:nvPr/>
        </p:nvPicPr>
        <p:blipFill>
          <a:blip r:embed="rId6"/>
          <a:stretch>
            <a:fillRect/>
          </a:stretch>
        </p:blipFill>
        <p:spPr>
          <a:xfrm rot="21600000">
            <a:off x="335279" y="807720"/>
            <a:ext cx="11519916" cy="67055"/>
          </a:xfrm>
          <a:prstGeom prst="rect">
            <a:avLst/>
          </a:prstGeom>
        </p:spPr>
      </p:pic>
      <p:grpSp>
        <p:nvGrpSpPr>
          <p:cNvPr id="10" name="group 10"/>
          <p:cNvGrpSpPr/>
          <p:nvPr/>
        </p:nvGrpSpPr>
        <p:grpSpPr>
          <a:xfrm rot="21600000">
            <a:off x="7647431" y="4494275"/>
            <a:ext cx="516635" cy="993648"/>
            <a:chOff x="0" y="0"/>
            <a:chExt cx="516635" cy="993648"/>
          </a:xfrm>
        </p:grpSpPr>
        <p:sp>
          <p:nvSpPr>
            <p:cNvPr id="404" name="path 404"/>
            <p:cNvSpPr/>
            <p:nvPr/>
          </p:nvSpPr>
          <p:spPr>
            <a:xfrm>
              <a:off x="0" y="0"/>
              <a:ext cx="516635" cy="993648"/>
            </a:xfrm>
            <a:custGeom>
              <a:avLst/>
              <a:gdLst/>
              <a:ahLst/>
              <a:cxnLst/>
              <a:rect l="0" t="0" r="0" b="0"/>
              <a:pathLst>
                <a:path w="813" h="1564">
                  <a:moveTo>
                    <a:pt x="0" y="405"/>
                  </a:moveTo>
                  <a:lnTo>
                    <a:pt x="408" y="0"/>
                  </a:lnTo>
                  <a:lnTo>
                    <a:pt x="813" y="405"/>
                  </a:lnTo>
                  <a:lnTo>
                    <a:pt x="609" y="405"/>
                  </a:lnTo>
                  <a:lnTo>
                    <a:pt x="609" y="1159"/>
                  </a:lnTo>
                  <a:lnTo>
                    <a:pt x="813" y="1159"/>
                  </a:lnTo>
                  <a:lnTo>
                    <a:pt x="408" y="1564"/>
                  </a:lnTo>
                  <a:lnTo>
                    <a:pt x="0" y="1159"/>
                  </a:lnTo>
                  <a:lnTo>
                    <a:pt x="204" y="1159"/>
                  </a:lnTo>
                  <a:lnTo>
                    <a:pt x="204" y="405"/>
                  </a:lnTo>
                  <a:lnTo>
                    <a:pt x="0" y="405"/>
                  </a:lnTo>
                </a:path>
              </a:pathLst>
            </a:custGeom>
            <a:solidFill>
              <a:srgbClr val="A6A6A6">
                <a:alpha val="100000"/>
              </a:srgbClr>
            </a:solidFill>
            <a:ln w="0" cap="flat">
              <a:noFill/>
              <a:prstDash val="solid"/>
              <a:miter lim="0"/>
            </a:ln>
          </p:spPr>
          <p:txBody>
            <a:bodyPr rtlCol="0"/>
            <a:lstStyle/>
            <a:p>
              <a:pPr algn="ctr"/>
              <a:endParaRPr lang="zh-CN" altLang="en-US"/>
            </a:p>
          </p:txBody>
        </p:sp>
        <p:sp>
          <p:nvSpPr>
            <p:cNvPr id="406" name="textbox 406"/>
            <p:cNvSpPr/>
            <p:nvPr/>
          </p:nvSpPr>
          <p:spPr>
            <a:xfrm>
              <a:off x="-12700" y="-12700"/>
              <a:ext cx="542290" cy="1019175"/>
            </a:xfrm>
            <a:prstGeom prst="rect">
              <a:avLst/>
            </a:prstGeom>
            <a:noFill/>
            <a:ln w="0" cap="flat">
              <a:noFill/>
              <a:prstDash val="solid"/>
              <a:miter lim="0"/>
            </a:ln>
          </p:spPr>
          <p:txBody>
            <a:bodyPr vert="eaVert" wrap="square" lIns="0" tIns="0" rIns="0" bIns="0"/>
            <a:lstStyle/>
            <a:p>
              <a:pPr algn="l" rtl="0" eaLnBrk="0">
                <a:lnSpc>
                  <a:spcPct val="134000"/>
                </a:lnSpc>
                <a:tabLst/>
              </a:pPr>
              <a:endParaRPr sz="1000" dirty="0">
                <a:latin typeface="Arial"/>
                <a:ea typeface="Arial"/>
                <a:cs typeface="Arial"/>
              </a:endParaRPr>
            </a:p>
            <a:p>
              <a:pPr marL="141604" algn="l" rtl="0" eaLnBrk="0">
                <a:lnSpc>
                  <a:spcPct val="89000"/>
                </a:lnSpc>
                <a:spcBef>
                  <a:spcPts val="5"/>
                </a:spcBef>
                <a:tabLst/>
              </a:pPr>
              <a:r>
                <a:rPr sz="900" b="1" kern="0" spc="60" dirty="0">
                  <a:solidFill>
                    <a:srgbClr val="000000">
                      <a:alpha val="100000"/>
                    </a:srgbClr>
                  </a:solidFill>
                  <a:latin typeface="Microsoft YaHei"/>
                  <a:ea typeface="Microsoft YaHei"/>
                  <a:cs typeface="Microsoft YaHei"/>
                </a:rPr>
                <a:t>迁</a:t>
              </a:r>
              <a:r>
                <a:rPr sz="900" b="1" kern="0" spc="0" dirty="0">
                  <a:solidFill>
                    <a:srgbClr val="000000">
                      <a:alpha val="100000"/>
                    </a:srgbClr>
                  </a:solidFill>
                  <a:latin typeface="Microsoft YaHei"/>
                  <a:ea typeface="Microsoft YaHei"/>
                  <a:cs typeface="Microsoft YaHei"/>
                </a:rPr>
                <a:t> </a:t>
              </a:r>
              <a:r>
                <a:rPr sz="900" b="1" kern="0" spc="60" dirty="0">
                  <a:solidFill>
                    <a:srgbClr val="000000">
                      <a:alpha val="100000"/>
                    </a:srgbClr>
                  </a:solidFill>
                  <a:latin typeface="Microsoft YaHei"/>
                  <a:ea typeface="Microsoft YaHei"/>
                  <a:cs typeface="Microsoft YaHei"/>
                </a:rPr>
                <a:t>移</a:t>
              </a:r>
              <a:r>
                <a:rPr sz="900" b="1" kern="0" spc="-50" dirty="0">
                  <a:solidFill>
                    <a:srgbClr val="000000">
                      <a:alpha val="100000"/>
                    </a:srgbClr>
                  </a:solidFill>
                  <a:latin typeface="Microsoft YaHei"/>
                  <a:ea typeface="Microsoft YaHei"/>
                  <a:cs typeface="Microsoft YaHei"/>
                </a:rPr>
                <a:t> </a:t>
              </a:r>
              <a:r>
                <a:rPr sz="900" b="1" kern="0" spc="60" dirty="0">
                  <a:solidFill>
                    <a:srgbClr val="000000">
                      <a:alpha val="100000"/>
                    </a:srgbClr>
                  </a:solidFill>
                  <a:latin typeface="Microsoft YaHei"/>
                  <a:ea typeface="Microsoft YaHei"/>
                  <a:cs typeface="Microsoft YaHei"/>
                </a:rPr>
                <a:t>前</a:t>
              </a:r>
              <a:r>
                <a:rPr sz="900" b="1" kern="0" spc="-30" dirty="0">
                  <a:solidFill>
                    <a:srgbClr val="000000">
                      <a:alpha val="100000"/>
                    </a:srgbClr>
                  </a:solidFill>
                  <a:latin typeface="Microsoft YaHei"/>
                  <a:ea typeface="Microsoft YaHei"/>
                  <a:cs typeface="Microsoft YaHei"/>
                </a:rPr>
                <a:t> </a:t>
              </a:r>
              <a:r>
                <a:rPr sz="900" b="1" kern="0" spc="60" dirty="0">
                  <a:solidFill>
                    <a:srgbClr val="000000">
                      <a:alpha val="100000"/>
                    </a:srgbClr>
                  </a:solidFill>
                  <a:latin typeface="Microsoft YaHei"/>
                  <a:ea typeface="Microsoft YaHei"/>
                  <a:cs typeface="Microsoft YaHei"/>
                </a:rPr>
                <a:t>方</a:t>
              </a:r>
              <a:r>
                <a:rPr sz="900" b="1" kern="0" spc="-50" dirty="0">
                  <a:solidFill>
                    <a:srgbClr val="000000">
                      <a:alpha val="100000"/>
                    </a:srgbClr>
                  </a:solidFill>
                  <a:latin typeface="Microsoft YaHei"/>
                  <a:ea typeface="Microsoft YaHei"/>
                  <a:cs typeface="Microsoft YaHei"/>
                </a:rPr>
                <a:t> </a:t>
              </a:r>
              <a:r>
                <a:rPr sz="900" b="1" kern="0" spc="60" dirty="0">
                  <a:solidFill>
                    <a:srgbClr val="000000">
                      <a:alpha val="100000"/>
                    </a:srgbClr>
                  </a:solidFill>
                  <a:latin typeface="Microsoft YaHei"/>
                  <a:ea typeface="Microsoft YaHei"/>
                  <a:cs typeface="Microsoft YaHei"/>
                </a:rPr>
                <a:t>案</a:t>
              </a:r>
              <a:endParaRPr sz="900" dirty="0">
                <a:latin typeface="Microsoft YaHei"/>
                <a:ea typeface="Microsoft YaHei"/>
                <a:cs typeface="Microsoft YaHei"/>
              </a:endParaRPr>
            </a:p>
          </p:txBody>
        </p:sp>
      </p:grpSp>
      <p:pic>
        <p:nvPicPr>
          <p:cNvPr id="408" name="picture 408"/>
          <p:cNvPicPr>
            <a:picLocks noChangeAspect="1"/>
          </p:cNvPicPr>
          <p:nvPr/>
        </p:nvPicPr>
        <p:blipFill>
          <a:blip r:embed="rId7"/>
          <a:stretch>
            <a:fillRect/>
          </a:stretch>
        </p:blipFill>
        <p:spPr>
          <a:xfrm rot="21600000">
            <a:off x="6764515" y="4488052"/>
            <a:ext cx="2317368" cy="268097"/>
          </a:xfrm>
          <a:prstGeom prst="rect">
            <a:avLst/>
          </a:prstGeom>
        </p:spPr>
      </p:pic>
      <p:pic>
        <p:nvPicPr>
          <p:cNvPr id="410" name="picture 410"/>
          <p:cNvPicPr>
            <a:picLocks noChangeAspect="1"/>
          </p:cNvPicPr>
          <p:nvPr/>
        </p:nvPicPr>
        <p:blipFill>
          <a:blip r:embed="rId8"/>
          <a:stretch>
            <a:fillRect/>
          </a:stretch>
        </p:blipFill>
        <p:spPr>
          <a:xfrm rot="21600000">
            <a:off x="9620884" y="5839459"/>
            <a:ext cx="1037590" cy="565784"/>
          </a:xfrm>
          <a:prstGeom prst="rect">
            <a:avLst/>
          </a:prstGeom>
        </p:spPr>
      </p:pic>
      <p:grpSp>
        <p:nvGrpSpPr>
          <p:cNvPr id="12" name="group 12"/>
          <p:cNvGrpSpPr/>
          <p:nvPr/>
        </p:nvGrpSpPr>
        <p:grpSpPr>
          <a:xfrm rot="21600000">
            <a:off x="9998964" y="4568952"/>
            <a:ext cx="595883" cy="960119"/>
            <a:chOff x="0" y="0"/>
            <a:chExt cx="595883" cy="960119"/>
          </a:xfrm>
        </p:grpSpPr>
        <p:sp>
          <p:nvSpPr>
            <p:cNvPr id="412" name="path 412"/>
            <p:cNvSpPr/>
            <p:nvPr/>
          </p:nvSpPr>
          <p:spPr>
            <a:xfrm>
              <a:off x="0" y="0"/>
              <a:ext cx="595883" cy="960119"/>
            </a:xfrm>
            <a:custGeom>
              <a:avLst/>
              <a:gdLst/>
              <a:ahLst/>
              <a:cxnLst/>
              <a:rect l="0" t="0" r="0" b="0"/>
              <a:pathLst>
                <a:path w="938" h="1511">
                  <a:moveTo>
                    <a:pt x="0" y="467"/>
                  </a:moveTo>
                  <a:lnTo>
                    <a:pt x="468" y="0"/>
                  </a:lnTo>
                  <a:lnTo>
                    <a:pt x="938" y="467"/>
                  </a:lnTo>
                  <a:lnTo>
                    <a:pt x="703" y="467"/>
                  </a:lnTo>
                  <a:lnTo>
                    <a:pt x="703" y="1041"/>
                  </a:lnTo>
                  <a:lnTo>
                    <a:pt x="938" y="1041"/>
                  </a:lnTo>
                  <a:lnTo>
                    <a:pt x="468" y="1511"/>
                  </a:lnTo>
                  <a:lnTo>
                    <a:pt x="0" y="1041"/>
                  </a:lnTo>
                  <a:lnTo>
                    <a:pt x="235" y="1041"/>
                  </a:lnTo>
                  <a:lnTo>
                    <a:pt x="235" y="467"/>
                  </a:lnTo>
                  <a:lnTo>
                    <a:pt x="0" y="467"/>
                  </a:lnTo>
                </a:path>
              </a:pathLst>
            </a:custGeom>
            <a:solidFill>
              <a:srgbClr val="C00000">
                <a:alpha val="100000"/>
              </a:srgbClr>
            </a:solidFill>
            <a:ln w="0" cap="flat">
              <a:noFill/>
              <a:prstDash val="solid"/>
              <a:miter lim="0"/>
            </a:ln>
          </p:spPr>
          <p:txBody>
            <a:bodyPr rtlCol="0"/>
            <a:lstStyle/>
            <a:p>
              <a:pPr algn="ctr"/>
              <a:endParaRPr lang="zh-CN" altLang="en-US"/>
            </a:p>
          </p:txBody>
        </p:sp>
        <p:sp>
          <p:nvSpPr>
            <p:cNvPr id="414" name="textbox 414"/>
            <p:cNvSpPr/>
            <p:nvPr/>
          </p:nvSpPr>
          <p:spPr>
            <a:xfrm>
              <a:off x="-18799" y="-12700"/>
              <a:ext cx="628015" cy="985519"/>
            </a:xfrm>
            <a:prstGeom prst="rect">
              <a:avLst/>
            </a:prstGeom>
            <a:noFill/>
            <a:ln w="0" cap="flat">
              <a:noFill/>
              <a:prstDash val="solid"/>
              <a:miter lim="0"/>
            </a:ln>
          </p:spPr>
          <p:txBody>
            <a:bodyPr vert="eaVert" wrap="square" lIns="0" tIns="0" rIns="0" bIns="0"/>
            <a:lstStyle/>
            <a:p>
              <a:pPr algn="l" rtl="0" eaLnBrk="0">
                <a:lnSpc>
                  <a:spcPct val="163000"/>
                </a:lnSpc>
                <a:tabLst/>
              </a:pPr>
              <a:endParaRPr sz="1000" dirty="0">
                <a:latin typeface="Arial"/>
                <a:ea typeface="Arial"/>
                <a:cs typeface="Arial"/>
              </a:endParaRPr>
            </a:p>
            <a:p>
              <a:pPr algn="l" rtl="0" eaLnBrk="0">
                <a:lnSpc>
                  <a:spcPct val="8617"/>
                </a:lnSpc>
                <a:tabLst/>
              </a:pPr>
              <a:endParaRPr sz="100" dirty="0">
                <a:latin typeface="Arial"/>
                <a:ea typeface="Arial"/>
                <a:cs typeface="Arial"/>
              </a:endParaRPr>
            </a:p>
            <a:p>
              <a:pPr marL="160654" algn="l" rtl="0" eaLnBrk="0">
                <a:lnSpc>
                  <a:spcPct val="85000"/>
                </a:lnSpc>
                <a:tabLst/>
              </a:pPr>
              <a:r>
                <a:rPr sz="900" b="1" kern="0" spc="140" dirty="0">
                  <a:solidFill>
                    <a:srgbClr val="000000">
                      <a:alpha val="100000"/>
                    </a:srgbClr>
                  </a:solidFill>
                  <a:latin typeface="Microsoft YaHei"/>
                  <a:ea typeface="Microsoft YaHei"/>
                  <a:cs typeface="Microsoft YaHei"/>
                </a:rPr>
                <a:t>迁移后方案</a:t>
              </a:r>
              <a:endParaRPr sz="900" dirty="0">
                <a:latin typeface="Microsoft YaHei"/>
                <a:ea typeface="Microsoft YaHei"/>
                <a:cs typeface="Microsoft YaHei"/>
              </a:endParaRPr>
            </a:p>
          </p:txBody>
        </p:sp>
      </p:grpSp>
      <p:pic>
        <p:nvPicPr>
          <p:cNvPr id="416" name="picture 416"/>
          <p:cNvPicPr>
            <a:picLocks noChangeAspect="1"/>
          </p:cNvPicPr>
          <p:nvPr/>
        </p:nvPicPr>
        <p:blipFill>
          <a:blip r:embed="rId9"/>
          <a:stretch>
            <a:fillRect/>
          </a:stretch>
        </p:blipFill>
        <p:spPr>
          <a:xfrm rot="21600000">
            <a:off x="6914501" y="5850166"/>
            <a:ext cx="1232878" cy="442899"/>
          </a:xfrm>
          <a:prstGeom prst="rect">
            <a:avLst/>
          </a:prstGeom>
        </p:spPr>
      </p:pic>
      <p:pic>
        <p:nvPicPr>
          <p:cNvPr id="418" name="picture 418"/>
          <p:cNvPicPr>
            <a:picLocks noChangeAspect="1"/>
          </p:cNvPicPr>
          <p:nvPr/>
        </p:nvPicPr>
        <p:blipFill>
          <a:blip r:embed="rId10"/>
          <a:stretch>
            <a:fillRect/>
          </a:stretch>
        </p:blipFill>
        <p:spPr>
          <a:xfrm rot="21600000">
            <a:off x="8231898" y="6162725"/>
            <a:ext cx="1145527" cy="442899"/>
          </a:xfrm>
          <a:prstGeom prst="rect">
            <a:avLst/>
          </a:prstGeom>
        </p:spPr>
      </p:pic>
      <p:sp>
        <p:nvSpPr>
          <p:cNvPr id="420" name="rect 420"/>
          <p:cNvSpPr/>
          <p:nvPr/>
        </p:nvSpPr>
        <p:spPr>
          <a:xfrm>
            <a:off x="6902196" y="3934967"/>
            <a:ext cx="986028" cy="469391"/>
          </a:xfrm>
          <a:prstGeom prst="rect">
            <a:avLst/>
          </a:prstGeom>
          <a:solidFill>
            <a:srgbClr val="FFFFFF">
              <a:alpha val="100000"/>
            </a:srgbClr>
          </a:solidFill>
          <a:ln w="0" cap="flat">
            <a:noFill/>
            <a:prstDash val="solid"/>
            <a:miter lim="0"/>
          </a:ln>
        </p:spPr>
        <p:txBody>
          <a:bodyPr rtlCol="0"/>
          <a:lstStyle/>
          <a:p>
            <a:pPr algn="ctr"/>
            <a:endParaRPr lang="zh-CN" altLang="en-US"/>
          </a:p>
        </p:txBody>
      </p:sp>
      <p:sp>
        <p:nvSpPr>
          <p:cNvPr id="422" name="textbox 422"/>
          <p:cNvSpPr/>
          <p:nvPr/>
        </p:nvSpPr>
        <p:spPr>
          <a:xfrm>
            <a:off x="7978140" y="3934967"/>
            <a:ext cx="988060" cy="462280"/>
          </a:xfrm>
          <a:prstGeom prst="rect">
            <a:avLst/>
          </a:prstGeom>
          <a:solidFill>
            <a:srgbClr val="FFFFFF">
              <a:alpha val="100000"/>
            </a:srgbClr>
          </a:solidFill>
          <a:ln w="0" cap="flat">
            <a:noFill/>
            <a:prstDash val="solid"/>
            <a:miter lim="0"/>
          </a:ln>
        </p:spPr>
        <p:txBody>
          <a:bodyPr vert="horz" wrap="square" lIns="0" tIns="0" rIns="0" bIns="0"/>
          <a:lstStyle/>
          <a:p>
            <a:pPr algn="l" rtl="0" eaLnBrk="0">
              <a:lnSpc>
                <a:spcPct val="105000"/>
              </a:lnSpc>
              <a:tabLst/>
            </a:pPr>
            <a:endParaRPr sz="1000" dirty="0">
              <a:latin typeface="Arial"/>
              <a:ea typeface="Arial"/>
              <a:cs typeface="Arial"/>
            </a:endParaRPr>
          </a:p>
          <a:p>
            <a:pPr marL="229870" algn="l" rtl="0" eaLnBrk="0">
              <a:lnSpc>
                <a:spcPct val="88000"/>
              </a:lnSpc>
              <a:spcBef>
                <a:spcPts val="7"/>
              </a:spcBef>
              <a:tabLst/>
            </a:pPr>
            <a:r>
              <a:rPr sz="1000" b="1" kern="0" spc="80" dirty="0">
                <a:solidFill>
                  <a:srgbClr val="262626">
                    <a:alpha val="100000"/>
                  </a:srgbClr>
                </a:solidFill>
                <a:latin typeface="Microsoft YaHei"/>
                <a:ea typeface="Microsoft YaHei"/>
                <a:cs typeface="Microsoft YaHei"/>
              </a:rPr>
              <a:t>集约</a:t>
            </a:r>
            <a:r>
              <a:rPr sz="1000" b="1" kern="0" spc="0" dirty="0">
                <a:solidFill>
                  <a:srgbClr val="262626">
                    <a:alpha val="100000"/>
                  </a:srgbClr>
                </a:solidFill>
                <a:latin typeface="Microsoft YaHei"/>
                <a:ea typeface="Microsoft YaHei"/>
                <a:cs typeface="Microsoft YaHei"/>
              </a:rPr>
              <a:t>AEP</a:t>
            </a:r>
            <a:endParaRPr sz="1000" dirty="0">
              <a:latin typeface="Microsoft YaHei"/>
              <a:ea typeface="Microsoft YaHei"/>
              <a:cs typeface="Microsoft YaHei"/>
            </a:endParaRPr>
          </a:p>
        </p:txBody>
      </p:sp>
      <p:pic>
        <p:nvPicPr>
          <p:cNvPr id="424" name="picture 424"/>
          <p:cNvPicPr>
            <a:picLocks noChangeAspect="1"/>
          </p:cNvPicPr>
          <p:nvPr/>
        </p:nvPicPr>
        <p:blipFill>
          <a:blip r:embed="rId11"/>
          <a:stretch>
            <a:fillRect/>
          </a:stretch>
        </p:blipFill>
        <p:spPr>
          <a:xfrm rot="21600000">
            <a:off x="11126046" y="215885"/>
            <a:ext cx="721486" cy="526694"/>
          </a:xfrm>
          <a:prstGeom prst="rect">
            <a:avLst/>
          </a:prstGeom>
        </p:spPr>
      </p:pic>
      <p:pic>
        <p:nvPicPr>
          <p:cNvPr id="426" name="picture 426"/>
          <p:cNvPicPr>
            <a:picLocks noChangeAspect="1"/>
          </p:cNvPicPr>
          <p:nvPr/>
        </p:nvPicPr>
        <p:blipFill>
          <a:blip r:embed="rId12"/>
          <a:stretch>
            <a:fillRect/>
          </a:stretch>
        </p:blipFill>
        <p:spPr>
          <a:xfrm rot="21600000">
            <a:off x="7638745" y="4877231"/>
            <a:ext cx="522719" cy="607961"/>
          </a:xfrm>
          <a:prstGeom prst="rect">
            <a:avLst/>
          </a:prstGeom>
        </p:spPr>
      </p:pic>
      <p:sp>
        <p:nvSpPr>
          <p:cNvPr id="428" name="textbox 428"/>
          <p:cNvSpPr/>
          <p:nvPr/>
        </p:nvSpPr>
        <p:spPr>
          <a:xfrm>
            <a:off x="7257745" y="5889523"/>
            <a:ext cx="551815" cy="358140"/>
          </a:xfrm>
          <a:prstGeom prst="rect">
            <a:avLst/>
          </a:prstGeom>
          <a:noFill/>
          <a:ln w="0" cap="flat">
            <a:noFill/>
            <a:prstDash val="solid"/>
            <a:miter lim="0"/>
          </a:ln>
        </p:spPr>
        <p:txBody>
          <a:bodyPr vert="horz" wrap="square" lIns="0" tIns="0" rIns="0" bIns="0"/>
          <a:lstStyle/>
          <a:p>
            <a:pPr algn="l" rtl="0" eaLnBrk="0">
              <a:lnSpc>
                <a:spcPct val="33547"/>
              </a:lnSpc>
              <a:tabLst/>
            </a:pPr>
            <a:endParaRPr sz="100" dirty="0">
              <a:latin typeface="Arial"/>
              <a:ea typeface="Arial"/>
              <a:cs typeface="Arial"/>
            </a:endParaRPr>
          </a:p>
          <a:p>
            <a:pPr marL="121920" indent="-109220" algn="l" rtl="0" eaLnBrk="0">
              <a:lnSpc>
                <a:spcPct val="93000"/>
              </a:lnSpc>
              <a:tabLst/>
            </a:pPr>
            <a:r>
              <a:rPr sz="1200" b="1" kern="0" spc="-20" dirty="0">
                <a:solidFill>
                  <a:srgbClr val="FFFFFF">
                    <a:alpha val="100000"/>
                  </a:srgbClr>
                </a:solidFill>
                <a:latin typeface="Microsoft YaHei"/>
                <a:ea typeface="Microsoft YaHei"/>
                <a:cs typeface="Microsoft YaHei"/>
              </a:rPr>
              <a:t>OC存量</a:t>
            </a:r>
            <a:r>
              <a:rPr sz="1200" b="1" kern="0" spc="-20" dirty="0">
                <a:solidFill>
                  <a:srgbClr val="FFFFFF">
                    <a:alpha val="100000"/>
                  </a:srgbClr>
                </a:solidFill>
                <a:latin typeface="Microsoft YaHei"/>
                <a:ea typeface="Microsoft YaHei"/>
                <a:cs typeface="Microsoft YaHei"/>
              </a:rPr>
              <a:t>设备</a:t>
            </a:r>
            <a:endParaRPr sz="1200" dirty="0">
              <a:latin typeface="Microsoft YaHei"/>
              <a:ea typeface="Microsoft YaHei"/>
              <a:cs typeface="Microsoft YaHei"/>
            </a:endParaRPr>
          </a:p>
        </p:txBody>
      </p:sp>
      <p:sp>
        <p:nvSpPr>
          <p:cNvPr id="430" name="textbox 430"/>
          <p:cNvSpPr/>
          <p:nvPr/>
        </p:nvSpPr>
        <p:spPr>
          <a:xfrm>
            <a:off x="9900501" y="5940628"/>
            <a:ext cx="480694" cy="367029"/>
          </a:xfrm>
          <a:prstGeom prst="rect">
            <a:avLst/>
          </a:prstGeom>
          <a:noFill/>
          <a:ln w="0" cap="flat">
            <a:noFill/>
            <a:prstDash val="solid"/>
            <a:miter lim="0"/>
          </a:ln>
        </p:spPr>
        <p:txBody>
          <a:bodyPr vert="horz" wrap="square" lIns="0" tIns="0" rIns="0" bIns="0"/>
          <a:lstStyle/>
          <a:p>
            <a:pPr algn="l" rtl="0" eaLnBrk="0">
              <a:lnSpc>
                <a:spcPct val="88380"/>
              </a:lnSpc>
              <a:tabLst/>
            </a:pPr>
            <a:endParaRPr sz="100" dirty="0">
              <a:latin typeface="Arial"/>
              <a:ea typeface="Arial"/>
              <a:cs typeface="Arial"/>
            </a:endParaRPr>
          </a:p>
          <a:p>
            <a:pPr marL="12700" algn="l" rtl="0" eaLnBrk="0">
              <a:lnSpc>
                <a:spcPct val="86000"/>
              </a:lnSpc>
              <a:tabLst/>
            </a:pPr>
            <a:r>
              <a:rPr sz="1200" b="1" kern="0" spc="-10" dirty="0">
                <a:solidFill>
                  <a:srgbClr val="FFFFFF">
                    <a:alpha val="100000"/>
                  </a:srgbClr>
                </a:solidFill>
                <a:latin typeface="Microsoft YaHei"/>
                <a:ea typeface="Microsoft YaHei"/>
                <a:cs typeface="Microsoft YaHei"/>
              </a:rPr>
              <a:t>AEP存</a:t>
            </a:r>
            <a:endParaRPr sz="1200" dirty="0">
              <a:latin typeface="Microsoft YaHei"/>
              <a:ea typeface="Microsoft YaHei"/>
              <a:cs typeface="Microsoft YaHei"/>
            </a:endParaRPr>
          </a:p>
          <a:p>
            <a:pPr marL="12700" algn="l" rtl="0" eaLnBrk="0">
              <a:lnSpc>
                <a:spcPct val="86000"/>
              </a:lnSpc>
              <a:spcBef>
                <a:spcPts val="203"/>
              </a:spcBef>
              <a:tabLst/>
            </a:pPr>
            <a:r>
              <a:rPr sz="1200" b="1" kern="0" spc="-20" dirty="0">
                <a:solidFill>
                  <a:srgbClr val="FFFFFF">
                    <a:alpha val="100000"/>
                  </a:srgbClr>
                </a:solidFill>
                <a:latin typeface="Microsoft YaHei"/>
                <a:ea typeface="Microsoft YaHei"/>
                <a:cs typeface="Microsoft YaHei"/>
              </a:rPr>
              <a:t>量设备</a:t>
            </a:r>
            <a:endParaRPr sz="1200" dirty="0">
              <a:latin typeface="Microsoft YaHei"/>
              <a:ea typeface="Microsoft YaHei"/>
              <a:cs typeface="Microsoft YaHei"/>
            </a:endParaRPr>
          </a:p>
        </p:txBody>
      </p:sp>
      <p:sp>
        <p:nvSpPr>
          <p:cNvPr id="432" name="textbox 432"/>
          <p:cNvSpPr/>
          <p:nvPr/>
        </p:nvSpPr>
        <p:spPr>
          <a:xfrm>
            <a:off x="7117946" y="5567212"/>
            <a:ext cx="631825" cy="223520"/>
          </a:xfrm>
          <a:prstGeom prst="rect">
            <a:avLst/>
          </a:prstGeom>
          <a:noFill/>
          <a:ln w="0" cap="flat">
            <a:noFill/>
            <a:prstDash val="solid"/>
            <a:miter lim="0"/>
          </a:ln>
        </p:spPr>
        <p:txBody>
          <a:bodyPr vert="horz" wrap="square" lIns="0" tIns="0" rIns="0" bIns="0"/>
          <a:lstStyle/>
          <a:p>
            <a:pPr algn="l" rtl="0" eaLnBrk="0">
              <a:lnSpc>
                <a:spcPct val="78264"/>
              </a:lnSpc>
              <a:tabLst/>
            </a:pPr>
            <a:endParaRPr sz="100" dirty="0">
              <a:latin typeface="Arial"/>
              <a:ea typeface="Arial"/>
              <a:cs typeface="Arial"/>
            </a:endParaRPr>
          </a:p>
          <a:p>
            <a:pPr marL="12700" algn="l" rtl="0" eaLnBrk="0">
              <a:lnSpc>
                <a:spcPct val="87000"/>
              </a:lnSpc>
              <a:tabLst/>
            </a:pPr>
            <a:r>
              <a:rPr sz="1500" b="1" kern="0" spc="80" dirty="0">
                <a:solidFill>
                  <a:srgbClr val="C00000">
                    <a:alpha val="100000"/>
                  </a:srgbClr>
                </a:solidFill>
                <a:latin typeface="Microsoft YaHei"/>
                <a:ea typeface="Microsoft YaHei"/>
                <a:cs typeface="Microsoft YaHei"/>
              </a:rPr>
              <a:t>未迁移</a:t>
            </a:r>
            <a:endParaRPr sz="1500" dirty="0">
              <a:latin typeface="Microsoft YaHei"/>
              <a:ea typeface="Microsoft YaHei"/>
              <a:cs typeface="Microsoft YaHei"/>
            </a:endParaRPr>
          </a:p>
        </p:txBody>
      </p:sp>
      <p:pic>
        <p:nvPicPr>
          <p:cNvPr id="434" name="picture 434"/>
          <p:cNvPicPr>
            <a:picLocks noChangeAspect="1"/>
          </p:cNvPicPr>
          <p:nvPr/>
        </p:nvPicPr>
        <p:blipFill>
          <a:blip r:embed="rId13"/>
          <a:stretch>
            <a:fillRect/>
          </a:stretch>
        </p:blipFill>
        <p:spPr>
          <a:xfrm rot="21600000">
            <a:off x="8260092" y="2540952"/>
            <a:ext cx="217919" cy="527202"/>
          </a:xfrm>
          <a:prstGeom prst="rect">
            <a:avLst/>
          </a:prstGeom>
        </p:spPr>
      </p:pic>
      <p:sp>
        <p:nvSpPr>
          <p:cNvPr id="436" name="textbox 436"/>
          <p:cNvSpPr/>
          <p:nvPr/>
        </p:nvSpPr>
        <p:spPr>
          <a:xfrm>
            <a:off x="8489213" y="6201029"/>
            <a:ext cx="631190" cy="185420"/>
          </a:xfrm>
          <a:prstGeom prst="rect">
            <a:avLst/>
          </a:prstGeom>
          <a:noFill/>
          <a:ln w="0" cap="flat">
            <a:noFill/>
            <a:prstDash val="solid"/>
            <a:miter lim="0"/>
          </a:ln>
        </p:spPr>
        <p:txBody>
          <a:bodyPr vert="horz" wrap="square" lIns="0" tIns="0" rIns="0" bIns="0"/>
          <a:lstStyle/>
          <a:p>
            <a:pPr algn="l" rtl="0" eaLnBrk="0">
              <a:lnSpc>
                <a:spcPct val="87193"/>
              </a:lnSpc>
              <a:tabLst/>
            </a:pPr>
            <a:endParaRPr sz="100" dirty="0">
              <a:latin typeface="Arial"/>
              <a:ea typeface="Arial"/>
              <a:cs typeface="Arial"/>
            </a:endParaRPr>
          </a:p>
          <a:p>
            <a:pPr marL="12700" algn="l" rtl="0" eaLnBrk="0">
              <a:lnSpc>
                <a:spcPct val="87000"/>
              </a:lnSpc>
              <a:tabLst/>
            </a:pPr>
            <a:r>
              <a:rPr sz="1200" b="1" kern="0" spc="-10" dirty="0">
                <a:solidFill>
                  <a:srgbClr val="FFFFFF">
                    <a:alpha val="100000"/>
                  </a:srgbClr>
                </a:solidFill>
                <a:latin typeface="Microsoft YaHei"/>
                <a:ea typeface="Microsoft YaHei"/>
                <a:cs typeface="Microsoft YaHei"/>
              </a:rPr>
              <a:t>AEP待新</a:t>
            </a:r>
            <a:endParaRPr sz="1200" dirty="0">
              <a:latin typeface="Microsoft YaHei"/>
              <a:ea typeface="Microsoft YaHei"/>
              <a:cs typeface="Microsoft YaHei"/>
            </a:endParaRPr>
          </a:p>
        </p:txBody>
      </p:sp>
      <p:sp>
        <p:nvSpPr>
          <p:cNvPr id="438" name="path 438"/>
          <p:cNvSpPr/>
          <p:nvPr/>
        </p:nvSpPr>
        <p:spPr>
          <a:xfrm>
            <a:off x="9151619" y="1568196"/>
            <a:ext cx="216407" cy="335279"/>
          </a:xfrm>
          <a:custGeom>
            <a:avLst/>
            <a:gdLst/>
            <a:ahLst/>
            <a:cxnLst/>
            <a:rect l="0" t="0" r="0" b="0"/>
            <a:pathLst>
              <a:path w="340" h="527">
                <a:moveTo>
                  <a:pt x="0" y="170"/>
                </a:moveTo>
                <a:lnTo>
                  <a:pt x="170" y="0"/>
                </a:lnTo>
                <a:lnTo>
                  <a:pt x="340" y="170"/>
                </a:lnTo>
                <a:lnTo>
                  <a:pt x="254" y="170"/>
                </a:lnTo>
                <a:lnTo>
                  <a:pt x="254" y="357"/>
                </a:lnTo>
                <a:lnTo>
                  <a:pt x="340" y="357"/>
                </a:lnTo>
                <a:lnTo>
                  <a:pt x="170" y="527"/>
                </a:lnTo>
                <a:lnTo>
                  <a:pt x="0" y="357"/>
                </a:lnTo>
                <a:lnTo>
                  <a:pt x="84" y="357"/>
                </a:lnTo>
                <a:lnTo>
                  <a:pt x="84" y="170"/>
                </a:lnTo>
                <a:lnTo>
                  <a:pt x="0" y="170"/>
                </a:lnTo>
              </a:path>
            </a:pathLst>
          </a:custGeom>
          <a:solidFill>
            <a:srgbClr val="002060">
              <a:alpha val="100000"/>
            </a:srgbClr>
          </a:solidFill>
          <a:ln w="0" cap="flat">
            <a:noFill/>
            <a:prstDash val="solid"/>
            <a:miter lim="0"/>
          </a:ln>
        </p:spPr>
        <p:txBody>
          <a:bodyPr rtlCol="0"/>
          <a:lstStyle/>
          <a:p>
            <a:pPr algn="ctr"/>
            <a:endParaRPr lang="zh-CN" altLang="en-US"/>
          </a:p>
        </p:txBody>
      </p:sp>
      <p:sp>
        <p:nvSpPr>
          <p:cNvPr id="440" name="textbox 440"/>
          <p:cNvSpPr/>
          <p:nvPr/>
        </p:nvSpPr>
        <p:spPr>
          <a:xfrm>
            <a:off x="8565667" y="6385128"/>
            <a:ext cx="480694" cy="183514"/>
          </a:xfrm>
          <a:prstGeom prst="rect">
            <a:avLst/>
          </a:prstGeom>
          <a:noFill/>
          <a:ln w="0" cap="flat">
            <a:noFill/>
            <a:prstDash val="solid"/>
            <a:miter lim="0"/>
          </a:ln>
        </p:spPr>
        <p:txBody>
          <a:bodyPr vert="horz" wrap="square" lIns="0" tIns="0" rIns="0" bIns="0"/>
          <a:lstStyle/>
          <a:p>
            <a:pPr algn="l" rtl="0" eaLnBrk="0">
              <a:lnSpc>
                <a:spcPct val="88403"/>
              </a:lnSpc>
              <a:tabLst/>
            </a:pPr>
            <a:endParaRPr sz="100" dirty="0">
              <a:latin typeface="Arial"/>
              <a:ea typeface="Arial"/>
              <a:cs typeface="Arial"/>
            </a:endParaRPr>
          </a:p>
          <a:p>
            <a:pPr marL="12700" algn="l" rtl="0" eaLnBrk="0">
              <a:lnSpc>
                <a:spcPct val="86000"/>
              </a:lnSpc>
              <a:tabLst/>
            </a:pPr>
            <a:r>
              <a:rPr sz="1200" b="1" kern="0" spc="-10" dirty="0">
                <a:solidFill>
                  <a:srgbClr val="FFFFFF">
                    <a:alpha val="100000"/>
                  </a:srgbClr>
                </a:solidFill>
                <a:latin typeface="Microsoft YaHei"/>
                <a:ea typeface="Microsoft YaHei"/>
                <a:cs typeface="Microsoft YaHei"/>
              </a:rPr>
              <a:t>增设备</a:t>
            </a:r>
            <a:endParaRPr sz="1200" dirty="0">
              <a:latin typeface="Microsoft YaHei"/>
              <a:ea typeface="Microsoft YaHei"/>
              <a:cs typeface="Microsoft YaHei"/>
            </a:endParaRPr>
          </a:p>
        </p:txBody>
      </p:sp>
      <p:pic>
        <p:nvPicPr>
          <p:cNvPr id="442" name="picture 442"/>
          <p:cNvPicPr>
            <a:picLocks noChangeAspect="1"/>
          </p:cNvPicPr>
          <p:nvPr/>
        </p:nvPicPr>
        <p:blipFill>
          <a:blip r:embed="rId14"/>
          <a:stretch>
            <a:fillRect/>
          </a:stretch>
        </p:blipFill>
        <p:spPr>
          <a:xfrm rot="21600000">
            <a:off x="6764515" y="3733304"/>
            <a:ext cx="2317368" cy="26708"/>
          </a:xfrm>
          <a:prstGeom prst="rect">
            <a:avLst/>
          </a:prstGeom>
        </p:spPr>
      </p:pic>
      <p:sp>
        <p:nvSpPr>
          <p:cNvPr id="444" name="textbox 444"/>
          <p:cNvSpPr/>
          <p:nvPr/>
        </p:nvSpPr>
        <p:spPr>
          <a:xfrm>
            <a:off x="7155167" y="4086512"/>
            <a:ext cx="486409" cy="159385"/>
          </a:xfrm>
          <a:prstGeom prst="rect">
            <a:avLst/>
          </a:prstGeom>
          <a:noFill/>
          <a:ln w="0" cap="flat">
            <a:noFill/>
            <a:prstDash val="solid"/>
            <a:miter lim="0"/>
          </a:ln>
        </p:spPr>
        <p:txBody>
          <a:bodyPr vert="horz" wrap="square" lIns="0" tIns="0" rIns="0" bIns="0"/>
          <a:lstStyle/>
          <a:p>
            <a:pPr algn="l" rtl="0" eaLnBrk="0">
              <a:lnSpc>
                <a:spcPct val="81600"/>
              </a:lnSpc>
              <a:tabLst/>
            </a:pPr>
            <a:endParaRPr sz="100" dirty="0">
              <a:latin typeface="Arial"/>
              <a:ea typeface="Arial"/>
              <a:cs typeface="Arial"/>
            </a:endParaRPr>
          </a:p>
          <a:p>
            <a:pPr marL="12700" algn="l" rtl="0" eaLnBrk="0">
              <a:lnSpc>
                <a:spcPct val="88000"/>
              </a:lnSpc>
              <a:tabLst/>
            </a:pPr>
            <a:r>
              <a:rPr sz="1000" b="1" kern="0" spc="0" dirty="0">
                <a:solidFill>
                  <a:srgbClr val="262626">
                    <a:alpha val="100000"/>
                  </a:srgbClr>
                </a:solidFill>
                <a:latin typeface="Microsoft YaHei"/>
                <a:ea typeface="Microsoft YaHei"/>
                <a:cs typeface="Microsoft YaHei"/>
              </a:rPr>
              <a:t>OC</a:t>
            </a:r>
            <a:r>
              <a:rPr sz="1000" b="1" kern="0" spc="60" dirty="0">
                <a:solidFill>
                  <a:srgbClr val="262626">
                    <a:alpha val="100000"/>
                  </a:srgbClr>
                </a:solidFill>
                <a:latin typeface="Microsoft YaHei"/>
                <a:ea typeface="Microsoft YaHei"/>
                <a:cs typeface="Microsoft YaHei"/>
              </a:rPr>
              <a:t>平台</a:t>
            </a:r>
            <a:endParaRPr sz="1000" dirty="0">
              <a:latin typeface="Microsoft YaHei"/>
              <a:ea typeface="Microsoft YaHei"/>
              <a:cs typeface="Microsoft YaHei"/>
            </a:endParaRPr>
          </a:p>
        </p:txBody>
      </p:sp>
      <p:pic>
        <p:nvPicPr>
          <p:cNvPr id="446" name="picture 446"/>
          <p:cNvPicPr>
            <a:picLocks noChangeAspect="1"/>
          </p:cNvPicPr>
          <p:nvPr/>
        </p:nvPicPr>
        <p:blipFill>
          <a:blip r:embed="rId15"/>
          <a:stretch>
            <a:fillRect/>
          </a:stretch>
        </p:blipFill>
        <p:spPr>
          <a:xfrm rot="21600000">
            <a:off x="7773034" y="4770551"/>
            <a:ext cx="265430" cy="92061"/>
          </a:xfrm>
          <a:prstGeom prst="rect">
            <a:avLst/>
          </a:prstGeom>
        </p:spPr>
      </p:pic>
      <p:pic>
        <p:nvPicPr>
          <p:cNvPr id="448" name="picture 448"/>
          <p:cNvPicPr>
            <a:picLocks noChangeAspect="1"/>
          </p:cNvPicPr>
          <p:nvPr/>
        </p:nvPicPr>
        <p:blipFill>
          <a:blip r:embed="rId16"/>
          <a:stretch>
            <a:fillRect/>
          </a:stretch>
        </p:blipFill>
        <p:spPr>
          <a:xfrm rot="21600000">
            <a:off x="6764515" y="3789552"/>
            <a:ext cx="12700" cy="660400"/>
          </a:xfrm>
          <a:prstGeom prst="rect">
            <a:avLst/>
          </a:prstGeom>
        </p:spPr>
      </p:pic>
      <p:pic>
        <p:nvPicPr>
          <p:cNvPr id="450" name="picture 450"/>
          <p:cNvPicPr>
            <a:picLocks noChangeAspect="1"/>
          </p:cNvPicPr>
          <p:nvPr/>
        </p:nvPicPr>
        <p:blipFill>
          <a:blip r:embed="rId17"/>
          <a:stretch>
            <a:fillRect/>
          </a:stretch>
        </p:blipFill>
        <p:spPr>
          <a:xfrm rot="21600000">
            <a:off x="9069183" y="3798112"/>
            <a:ext cx="12700" cy="660400"/>
          </a:xfrm>
          <a:prstGeom prst="rect">
            <a:avLst/>
          </a:prstGeom>
        </p:spPr>
      </p:pic>
      <p:pic>
        <p:nvPicPr>
          <p:cNvPr id="452" name="picture 452"/>
          <p:cNvPicPr>
            <a:picLocks noChangeAspect="1"/>
          </p:cNvPicPr>
          <p:nvPr/>
        </p:nvPicPr>
        <p:blipFill>
          <a:blip r:embed="rId18"/>
          <a:stretch>
            <a:fillRect/>
          </a:stretch>
        </p:blipFill>
        <p:spPr>
          <a:xfrm rot="21600000">
            <a:off x="7889519" y="3074923"/>
            <a:ext cx="39165" cy="269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4" name="table 454"/>
          <p:cNvGraphicFramePr>
            <a:graphicFrameLocks noGrp="1"/>
          </p:cNvGraphicFramePr>
          <p:nvPr/>
        </p:nvGraphicFramePr>
        <p:xfrm>
          <a:off x="494779" y="2354313"/>
          <a:ext cx="11097895" cy="2148840"/>
        </p:xfrm>
        <a:graphic>
          <a:graphicData uri="http://schemas.openxmlformats.org/drawingml/2006/table">
            <a:tbl>
              <a:tblPr/>
              <a:tblGrid>
                <a:gridCol w="960755"/>
                <a:gridCol w="1500505"/>
                <a:gridCol w="1383030"/>
                <a:gridCol w="1251585"/>
                <a:gridCol w="1252220"/>
                <a:gridCol w="1275714"/>
                <a:gridCol w="1734820"/>
                <a:gridCol w="1739264"/>
              </a:tblGrid>
              <a:tr h="479425">
                <a:tc gridSpan="4">
                  <a:txBody>
                    <a:bodyPr/>
                    <a:lstStyle/>
                    <a:p>
                      <a:pPr algn="l" rtl="0" eaLnBrk="0">
                        <a:lnSpc>
                          <a:spcPct val="107000"/>
                        </a:lnSpc>
                        <a:tabLst/>
                      </a:pPr>
                      <a:endParaRPr sz="800" dirty="0">
                        <a:latin typeface="Arial"/>
                        <a:ea typeface="Arial"/>
                        <a:cs typeface="Arial"/>
                      </a:endParaRPr>
                    </a:p>
                    <a:p>
                      <a:pPr marL="2202179" algn="l" rtl="0" eaLnBrk="0">
                        <a:lnSpc>
                          <a:spcPct val="82000"/>
                        </a:lnSpc>
                        <a:spcBef>
                          <a:spcPts val="5"/>
                        </a:spcBef>
                        <a:tabLst/>
                      </a:pPr>
                      <a:r>
                        <a:rPr sz="1400" b="1" kern="0" spc="-20" dirty="0">
                          <a:solidFill>
                            <a:srgbClr val="000000">
                              <a:alpha val="100000"/>
                            </a:srgbClr>
                          </a:solidFill>
                          <a:latin typeface="DengXian"/>
                          <a:ea typeface="DengXian"/>
                          <a:cs typeface="DengXian"/>
                        </a:rPr>
                        <a:t>设备信息</a:t>
                      </a:r>
                      <a:endParaRPr sz="14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l" rtl="0" eaLnBrk="0">
                        <a:lnSpc>
                          <a:spcPct val="107000"/>
                        </a:lnSpc>
                        <a:tabLst/>
                      </a:pPr>
                      <a:endParaRPr sz="800" dirty="0">
                        <a:latin typeface="Arial"/>
                        <a:ea typeface="Arial"/>
                        <a:cs typeface="Arial"/>
                      </a:endParaRPr>
                    </a:p>
                    <a:p>
                      <a:pPr algn="l" rtl="0" eaLnBrk="0">
                        <a:lnSpc>
                          <a:spcPct val="6356"/>
                        </a:lnSpc>
                        <a:tabLst/>
                      </a:pPr>
                      <a:endParaRPr sz="100" dirty="0">
                        <a:latin typeface="Arial"/>
                        <a:ea typeface="Arial"/>
                        <a:cs typeface="Arial"/>
                      </a:endParaRPr>
                    </a:p>
                    <a:p>
                      <a:pPr marL="1786254" algn="l" rtl="0" eaLnBrk="0">
                        <a:lnSpc>
                          <a:spcPct val="82000"/>
                        </a:lnSpc>
                        <a:tabLst/>
                      </a:pPr>
                      <a:r>
                        <a:rPr sz="1400" b="1" kern="0" spc="-30" dirty="0">
                          <a:solidFill>
                            <a:srgbClr val="000000">
                              <a:alpha val="100000"/>
                            </a:srgbClr>
                          </a:solidFill>
                          <a:latin typeface="DengXian"/>
                          <a:ea typeface="DengXian"/>
                          <a:cs typeface="DengXian"/>
                        </a:rPr>
                        <a:t>号卡信息</a:t>
                      </a:r>
                      <a:endParaRPr sz="14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06425">
                <a:tc>
                  <a:txBody>
                    <a:bodyPr/>
                    <a:lstStyle/>
                    <a:p>
                      <a:pPr algn="l" rtl="0" eaLnBrk="0">
                        <a:lnSpc>
                          <a:spcPct val="127000"/>
                        </a:lnSpc>
                        <a:tabLst/>
                      </a:pPr>
                      <a:endParaRPr sz="1000" dirty="0">
                        <a:latin typeface="Arial"/>
                        <a:ea typeface="Arial"/>
                        <a:cs typeface="Arial"/>
                      </a:endParaRPr>
                    </a:p>
                    <a:p>
                      <a:pPr marL="68580" algn="l" rtl="0" eaLnBrk="0">
                        <a:lnSpc>
                          <a:spcPts val="1343"/>
                        </a:lnSpc>
                        <a:spcBef>
                          <a:spcPts val="2"/>
                        </a:spcBef>
                        <a:tabLst/>
                      </a:pPr>
                      <a:r>
                        <a:rPr sz="1100" b="1" kern="0" spc="-20" dirty="0">
                          <a:solidFill>
                            <a:srgbClr val="000000">
                              <a:alpha val="100000"/>
                            </a:srgbClr>
                          </a:solidFill>
                          <a:latin typeface="Arial"/>
                          <a:ea typeface="Arial"/>
                          <a:cs typeface="Arial"/>
                        </a:rPr>
                        <a:t>IMEI</a:t>
                      </a:r>
                      <a:r>
                        <a:rPr sz="1100" b="1" kern="0" spc="-20" dirty="0">
                          <a:solidFill>
                            <a:srgbClr val="FF0000">
                              <a:alpha val="100000"/>
                            </a:srgbClr>
                          </a:solidFill>
                          <a:latin typeface="DengXian"/>
                          <a:ea typeface="DengXian"/>
                          <a:cs typeface="DengXian"/>
                        </a:rPr>
                        <a:t>（必填）</a:t>
                      </a:r>
                      <a:endParaRPr sz="11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3000"/>
                        </a:lnSpc>
                        <a:tabLst/>
                      </a:pPr>
                      <a:endParaRPr sz="1000" dirty="0">
                        <a:latin typeface="Arial"/>
                        <a:ea typeface="Arial"/>
                        <a:cs typeface="Arial"/>
                      </a:endParaRPr>
                    </a:p>
                    <a:p>
                      <a:pPr marL="36194" algn="l" rtl="0" eaLnBrk="0">
                        <a:lnSpc>
                          <a:spcPts val="1343"/>
                        </a:lnSpc>
                        <a:tabLst/>
                      </a:pPr>
                      <a:r>
                        <a:rPr sz="1100" b="1" kern="0" spc="-10" dirty="0">
                          <a:solidFill>
                            <a:srgbClr val="000000">
                              <a:alpha val="100000"/>
                            </a:srgbClr>
                          </a:solidFill>
                          <a:latin typeface="DengXian"/>
                          <a:ea typeface="DengXian"/>
                          <a:cs typeface="DengXian"/>
                        </a:rPr>
                        <a:t>NB网关设备ID（选填）</a:t>
                      </a:r>
                      <a:endParaRPr sz="11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40000"/>
                        </a:lnSpc>
                        <a:tabLst/>
                      </a:pPr>
                      <a:endParaRPr sz="1000" dirty="0">
                        <a:latin typeface="Arial"/>
                        <a:ea typeface="Arial"/>
                        <a:cs typeface="Arial"/>
                      </a:endParaRPr>
                    </a:p>
                    <a:p>
                      <a:pPr marL="418465" algn="l" rtl="0" eaLnBrk="0">
                        <a:lnSpc>
                          <a:spcPct val="82000"/>
                        </a:lnSpc>
                        <a:spcBef>
                          <a:spcPts val="4"/>
                        </a:spcBef>
                        <a:tabLst/>
                      </a:pPr>
                      <a:r>
                        <a:rPr sz="1100" b="1" kern="0" spc="-20" dirty="0">
                          <a:solidFill>
                            <a:srgbClr val="000000">
                              <a:alpha val="100000"/>
                            </a:srgbClr>
                          </a:solidFill>
                          <a:latin typeface="DengXian"/>
                          <a:ea typeface="DengXian"/>
                          <a:cs typeface="DengXian"/>
                        </a:rPr>
                        <a:t>设备名称</a:t>
                      </a:r>
                      <a:endParaRPr sz="11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800" dirty="0">
                        <a:latin typeface="Arial"/>
                        <a:ea typeface="Arial"/>
                        <a:cs typeface="Arial"/>
                      </a:endParaRPr>
                    </a:p>
                    <a:p>
                      <a:pPr algn="l" rtl="0" eaLnBrk="0">
                        <a:lnSpc>
                          <a:spcPct val="6002"/>
                        </a:lnSpc>
                        <a:tabLst/>
                      </a:pPr>
                      <a:endParaRPr sz="100" dirty="0">
                        <a:latin typeface="Arial"/>
                        <a:ea typeface="Arial"/>
                        <a:cs typeface="Arial"/>
                      </a:endParaRPr>
                    </a:p>
                    <a:p>
                      <a:pPr marL="174625" indent="87630" algn="l" rtl="0" eaLnBrk="0">
                        <a:lnSpc>
                          <a:spcPct val="93000"/>
                        </a:lnSpc>
                        <a:tabLst/>
                      </a:pPr>
                      <a:r>
                        <a:rPr sz="1100" b="1" kern="0" spc="-20" dirty="0">
                          <a:solidFill>
                            <a:srgbClr val="000000">
                              <a:alpha val="100000"/>
                            </a:srgbClr>
                          </a:solidFill>
                          <a:latin typeface="DengXian"/>
                          <a:ea typeface="DengXian"/>
                          <a:cs typeface="DengXian"/>
                        </a:rPr>
                        <a:t>NB网关设备</a:t>
                      </a:r>
                      <a:r>
                        <a:rPr sz="1100" b="1" kern="0" spc="0" dirty="0">
                          <a:solidFill>
                            <a:srgbClr val="000000">
                              <a:alpha val="100000"/>
                            </a:srgbClr>
                          </a:solidFill>
                          <a:latin typeface="DengXian"/>
                          <a:ea typeface="DengXian"/>
                          <a:cs typeface="DengXian"/>
                        </a:rPr>
                        <a:t>      </a:t>
                      </a:r>
                      <a:r>
                        <a:rPr sz="1100" b="1" kern="0" spc="-10" dirty="0">
                          <a:solidFill>
                            <a:srgbClr val="000000">
                              <a:alpha val="100000"/>
                            </a:srgbClr>
                          </a:solidFill>
                          <a:latin typeface="DengXian"/>
                          <a:ea typeface="DengXian"/>
                          <a:cs typeface="DengXian"/>
                        </a:rPr>
                        <a:t>lastonlineTime</a:t>
                      </a:r>
                      <a:endParaRPr sz="11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53000"/>
                        </a:lnSpc>
                        <a:tabLst/>
                      </a:pPr>
                      <a:endParaRPr sz="1000" dirty="0">
                        <a:latin typeface="Arial"/>
                        <a:ea typeface="Arial"/>
                        <a:cs typeface="Arial"/>
                      </a:endParaRPr>
                    </a:p>
                    <a:p>
                      <a:pPr marL="476884" algn="l" rtl="0" eaLnBrk="0">
                        <a:lnSpc>
                          <a:spcPct val="73000"/>
                        </a:lnSpc>
                        <a:spcBef>
                          <a:spcPts val="2"/>
                        </a:spcBef>
                        <a:tabLst/>
                      </a:pPr>
                      <a:r>
                        <a:rPr sz="1100" b="1" kern="0" spc="-40" dirty="0">
                          <a:solidFill>
                            <a:srgbClr val="000000">
                              <a:alpha val="100000"/>
                            </a:srgbClr>
                          </a:solidFill>
                          <a:latin typeface="Arial"/>
                          <a:ea typeface="Arial"/>
                          <a:cs typeface="Arial"/>
                        </a:rPr>
                        <a:t>MDN</a:t>
                      </a:r>
                      <a:endParaRPr sz="1100" dirty="0">
                        <a:latin typeface="Arial"/>
                        <a:ea typeface="Arial"/>
                        <a:cs typeface="Arial"/>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3000"/>
                        </a:lnSpc>
                        <a:tabLst/>
                      </a:pPr>
                      <a:endParaRPr sz="1000" dirty="0">
                        <a:latin typeface="Arial"/>
                        <a:ea typeface="Arial"/>
                        <a:cs typeface="Arial"/>
                      </a:endParaRPr>
                    </a:p>
                    <a:p>
                      <a:pPr marL="472440" algn="l" rtl="0" eaLnBrk="0">
                        <a:lnSpc>
                          <a:spcPts val="1343"/>
                        </a:lnSpc>
                        <a:tabLst/>
                      </a:pPr>
                      <a:r>
                        <a:rPr sz="1100" b="1" kern="0" spc="-30" dirty="0">
                          <a:solidFill>
                            <a:srgbClr val="000000">
                              <a:alpha val="100000"/>
                            </a:srgbClr>
                          </a:solidFill>
                          <a:latin typeface="DengXian"/>
                          <a:ea typeface="DengXian"/>
                          <a:cs typeface="DengXian"/>
                        </a:rPr>
                        <a:t>ICCID</a:t>
                      </a:r>
                      <a:endParaRPr sz="11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3000"/>
                        </a:lnSpc>
                        <a:tabLst/>
                      </a:pPr>
                      <a:endParaRPr sz="1000" dirty="0">
                        <a:latin typeface="Arial"/>
                        <a:ea typeface="Arial"/>
                        <a:cs typeface="Arial"/>
                      </a:endParaRPr>
                    </a:p>
                    <a:p>
                      <a:pPr marL="736600" algn="l" rtl="0" eaLnBrk="0">
                        <a:lnSpc>
                          <a:spcPts val="1343"/>
                        </a:lnSpc>
                        <a:tabLst/>
                      </a:pPr>
                      <a:r>
                        <a:rPr sz="1100" b="1" kern="0" spc="-30" dirty="0">
                          <a:solidFill>
                            <a:srgbClr val="000000">
                              <a:alpha val="100000"/>
                            </a:srgbClr>
                          </a:solidFill>
                          <a:latin typeface="DengXian"/>
                          <a:ea typeface="DengXian"/>
                          <a:cs typeface="DengXian"/>
                        </a:rPr>
                        <a:t>IMSI</a:t>
                      </a:r>
                      <a:endParaRPr sz="11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4000"/>
                        </a:lnSpc>
                        <a:tabLst/>
                      </a:pPr>
                      <a:endParaRPr sz="800" dirty="0">
                        <a:latin typeface="Arial"/>
                        <a:ea typeface="Arial"/>
                        <a:cs typeface="Arial"/>
                      </a:endParaRPr>
                    </a:p>
                    <a:p>
                      <a:pPr algn="l" rtl="0" eaLnBrk="0">
                        <a:lnSpc>
                          <a:spcPct val="6911"/>
                        </a:lnSpc>
                        <a:tabLst/>
                      </a:pPr>
                      <a:endParaRPr sz="100" dirty="0">
                        <a:latin typeface="Arial"/>
                        <a:ea typeface="Arial"/>
                        <a:cs typeface="Arial"/>
                      </a:endParaRPr>
                    </a:p>
                    <a:p>
                      <a:pPr marL="382270" algn="l" rtl="0" eaLnBrk="0">
                        <a:lnSpc>
                          <a:spcPct val="81000"/>
                        </a:lnSpc>
                        <a:tabLst/>
                      </a:pPr>
                      <a:r>
                        <a:rPr sz="1100" b="1" kern="0" spc="-10" dirty="0">
                          <a:solidFill>
                            <a:srgbClr val="000000">
                              <a:alpha val="100000"/>
                            </a:srgbClr>
                          </a:solidFill>
                          <a:latin typeface="DengXian"/>
                          <a:ea typeface="DengXian"/>
                          <a:cs typeface="DengXian"/>
                        </a:rPr>
                        <a:t>本批次是否迁移</a:t>
                      </a:r>
                      <a:endParaRPr sz="1100" dirty="0">
                        <a:latin typeface="DengXian"/>
                        <a:ea typeface="DengXian"/>
                        <a:cs typeface="DengXian"/>
                      </a:endParaRPr>
                    </a:p>
                    <a:p>
                      <a:pPr marL="544830" algn="l" rtl="0" eaLnBrk="0">
                        <a:lnSpc>
                          <a:spcPts val="1403"/>
                        </a:lnSpc>
                        <a:tabLst/>
                      </a:pPr>
                      <a:r>
                        <a:rPr sz="1000" b="1" kern="0" spc="-30" dirty="0">
                          <a:solidFill>
                            <a:srgbClr val="000000">
                              <a:alpha val="100000"/>
                            </a:srgbClr>
                          </a:solidFill>
                          <a:latin typeface="DengXian"/>
                          <a:ea typeface="DengXian"/>
                          <a:cs typeface="DengXian"/>
                        </a:rPr>
                        <a:t>（</a:t>
                      </a:r>
                      <a:r>
                        <a:rPr sz="1000" b="1" kern="0" spc="-30" dirty="0">
                          <a:solidFill>
                            <a:srgbClr val="FF0000">
                              <a:alpha val="100000"/>
                            </a:srgbClr>
                          </a:solidFill>
                          <a:latin typeface="DengXian"/>
                          <a:ea typeface="DengXian"/>
                          <a:cs typeface="DengXian"/>
                        </a:rPr>
                        <a:t>客户选择</a:t>
                      </a:r>
                      <a:r>
                        <a:rPr sz="1000" b="1" kern="0" spc="-30" dirty="0">
                          <a:solidFill>
                            <a:srgbClr val="000000">
                              <a:alpha val="100000"/>
                            </a:srgbClr>
                          </a:solidFill>
                          <a:latin typeface="DengXian"/>
                          <a:ea typeface="DengXian"/>
                          <a:cs typeface="DengXian"/>
                        </a:rPr>
                        <a:t>）</a:t>
                      </a:r>
                      <a:endParaRPr sz="10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2425">
                <a:tc gridSpan="4">
                  <a:txBody>
                    <a:bodyPr/>
                    <a:lstStyle/>
                    <a:p>
                      <a:pPr algn="l" rtl="0" eaLnBrk="0">
                        <a:lnSpc>
                          <a:spcPct val="108000"/>
                        </a:lnSpc>
                        <a:tabLst/>
                      </a:pPr>
                      <a:endParaRPr sz="900" dirty="0">
                        <a:latin typeface="Arial"/>
                        <a:ea typeface="Arial"/>
                        <a:cs typeface="Arial"/>
                      </a:endParaRPr>
                    </a:p>
                    <a:p>
                      <a:pPr marL="20320" algn="l" rtl="0" eaLnBrk="0">
                        <a:lnSpc>
                          <a:spcPct val="83000"/>
                        </a:lnSpc>
                        <a:spcBef>
                          <a:spcPts val="7"/>
                        </a:spcBef>
                        <a:tabLst/>
                      </a:pPr>
                      <a:r>
                        <a:rPr sz="1100" kern="0" spc="-10" dirty="0">
                          <a:solidFill>
                            <a:srgbClr val="000000">
                              <a:alpha val="100000"/>
                            </a:srgbClr>
                          </a:solidFill>
                          <a:latin typeface="DengXian"/>
                          <a:ea typeface="DengXian"/>
                          <a:cs typeface="DengXian"/>
                        </a:rPr>
                        <a:t>本批次迁移设备总数</a:t>
                      </a:r>
                      <a:endParaRPr sz="11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l" rtl="0" eaLnBrk="0">
                        <a:lnSpc>
                          <a:spcPct val="111000"/>
                        </a:lnSpc>
                        <a:tabLst/>
                      </a:pPr>
                      <a:endParaRPr sz="1000" dirty="0">
                        <a:latin typeface="Arial"/>
                        <a:ea typeface="Arial"/>
                        <a:cs typeface="Arial"/>
                      </a:endParaRPr>
                    </a:p>
                    <a:p>
                      <a:pPr algn="l" rtl="0" eaLnBrk="0">
                        <a:lnSpc>
                          <a:spcPct val="9272"/>
                        </a:lnSpc>
                        <a:tabLst/>
                      </a:pPr>
                      <a:endParaRPr sz="100" dirty="0">
                        <a:latin typeface="Arial"/>
                        <a:ea typeface="Arial"/>
                        <a:cs typeface="Arial"/>
                      </a:endParaRPr>
                    </a:p>
                    <a:p>
                      <a:pPr marL="13334" algn="l" rtl="0" eaLnBrk="0">
                        <a:lnSpc>
                          <a:spcPct val="73000"/>
                        </a:lnSpc>
                        <a:tabLst/>
                      </a:pPr>
                      <a:r>
                        <a:rPr sz="1100" kern="0" spc="-10" dirty="0">
                          <a:solidFill>
                            <a:srgbClr val="000000">
                              <a:alpha val="100000"/>
                            </a:srgbClr>
                          </a:solidFill>
                          <a:latin typeface="Arial"/>
                          <a:ea typeface="Arial"/>
                          <a:cs typeface="Arial"/>
                        </a:rPr>
                        <a:t>A</a:t>
                      </a:r>
                      <a:endParaRPr sz="1100" dirty="0">
                        <a:latin typeface="Arial"/>
                        <a:ea typeface="Arial"/>
                        <a:cs typeface="Arial"/>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3695">
                <a:tc gridSpan="4">
                  <a:txBody>
                    <a:bodyPr/>
                    <a:lstStyle/>
                    <a:p>
                      <a:pPr algn="l" rtl="0" eaLnBrk="0">
                        <a:lnSpc>
                          <a:spcPct val="109000"/>
                        </a:lnSpc>
                        <a:tabLst/>
                      </a:pPr>
                      <a:endParaRPr sz="900" dirty="0">
                        <a:latin typeface="Arial"/>
                        <a:ea typeface="Arial"/>
                        <a:cs typeface="Arial"/>
                      </a:endParaRPr>
                    </a:p>
                    <a:p>
                      <a:pPr algn="l" rtl="0" eaLnBrk="0">
                        <a:lnSpc>
                          <a:spcPct val="7986"/>
                        </a:lnSpc>
                        <a:tabLst/>
                      </a:pPr>
                      <a:endParaRPr sz="100" dirty="0">
                        <a:latin typeface="Arial"/>
                        <a:ea typeface="Arial"/>
                        <a:cs typeface="Arial"/>
                      </a:endParaRPr>
                    </a:p>
                    <a:p>
                      <a:pPr marL="20320" algn="l" rtl="0" eaLnBrk="0">
                        <a:lnSpc>
                          <a:spcPct val="83000"/>
                        </a:lnSpc>
                        <a:tabLst/>
                      </a:pPr>
                      <a:r>
                        <a:rPr sz="1100" kern="0" spc="-10" dirty="0">
                          <a:solidFill>
                            <a:srgbClr val="000000">
                              <a:alpha val="100000"/>
                            </a:srgbClr>
                          </a:solidFill>
                          <a:latin typeface="DengXian"/>
                          <a:ea typeface="DengXian"/>
                          <a:cs typeface="DengXian"/>
                        </a:rPr>
                        <a:t>本批次迁移前设备在线总数</a:t>
                      </a:r>
                      <a:endParaRPr sz="11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l" rtl="0" eaLnBrk="0">
                        <a:lnSpc>
                          <a:spcPct val="112000"/>
                        </a:lnSpc>
                        <a:tabLst/>
                      </a:pPr>
                      <a:endParaRPr sz="1000" dirty="0">
                        <a:latin typeface="Arial"/>
                        <a:ea typeface="Arial"/>
                        <a:cs typeface="Arial"/>
                      </a:endParaRPr>
                    </a:p>
                    <a:p>
                      <a:pPr algn="l" rtl="0" eaLnBrk="0">
                        <a:lnSpc>
                          <a:spcPct val="7609"/>
                        </a:lnSpc>
                        <a:tabLst/>
                      </a:pPr>
                      <a:endParaRPr sz="100" dirty="0">
                        <a:latin typeface="Arial"/>
                        <a:ea typeface="Arial"/>
                        <a:cs typeface="Arial"/>
                      </a:endParaRPr>
                    </a:p>
                    <a:p>
                      <a:pPr marL="23495" algn="l" rtl="0" eaLnBrk="0">
                        <a:lnSpc>
                          <a:spcPct val="73000"/>
                        </a:lnSpc>
                        <a:tabLst/>
                      </a:pPr>
                      <a:r>
                        <a:rPr sz="1100" kern="0" spc="-20" dirty="0">
                          <a:solidFill>
                            <a:srgbClr val="000000">
                              <a:alpha val="100000"/>
                            </a:srgbClr>
                          </a:solidFill>
                          <a:latin typeface="Arial"/>
                          <a:ea typeface="Arial"/>
                          <a:cs typeface="Arial"/>
                        </a:rPr>
                        <a:t>B</a:t>
                      </a:r>
                      <a:endParaRPr sz="1100" dirty="0">
                        <a:latin typeface="Arial"/>
                        <a:ea typeface="Arial"/>
                        <a:cs typeface="Arial"/>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6869">
                <a:tc gridSpan="4">
                  <a:txBody>
                    <a:bodyPr/>
                    <a:lstStyle/>
                    <a:p>
                      <a:pPr algn="l" rtl="0" eaLnBrk="0">
                        <a:lnSpc>
                          <a:spcPct val="105000"/>
                        </a:lnSpc>
                        <a:tabLst/>
                      </a:pPr>
                      <a:endParaRPr sz="800" dirty="0">
                        <a:latin typeface="Arial"/>
                        <a:ea typeface="Arial"/>
                        <a:cs typeface="Arial"/>
                      </a:endParaRPr>
                    </a:p>
                    <a:p>
                      <a:pPr algn="l" rtl="0" eaLnBrk="0">
                        <a:lnSpc>
                          <a:spcPct val="7524"/>
                        </a:lnSpc>
                        <a:tabLst/>
                      </a:pPr>
                      <a:endParaRPr sz="100" dirty="0">
                        <a:latin typeface="Arial"/>
                        <a:ea typeface="Arial"/>
                        <a:cs typeface="Arial"/>
                      </a:endParaRPr>
                    </a:p>
                    <a:p>
                      <a:pPr marL="20320" algn="l" rtl="0" eaLnBrk="0">
                        <a:lnSpc>
                          <a:spcPts val="1332"/>
                        </a:lnSpc>
                        <a:tabLst/>
                      </a:pPr>
                      <a:r>
                        <a:rPr sz="1100" kern="0" spc="-10" dirty="0">
                          <a:solidFill>
                            <a:srgbClr val="000000">
                              <a:alpha val="100000"/>
                            </a:srgbClr>
                          </a:solidFill>
                          <a:latin typeface="DengXian"/>
                          <a:ea typeface="DengXian"/>
                          <a:cs typeface="DengXian"/>
                        </a:rPr>
                        <a:t>本批次迁移前设备在线率</a:t>
                      </a:r>
                      <a:endParaRPr sz="1100" dirty="0">
                        <a:latin typeface="DengXian"/>
                        <a:ea typeface="DengXian"/>
                        <a:cs typeface="DengXian"/>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l" rtl="0" eaLnBrk="0">
                        <a:lnSpc>
                          <a:spcPct val="104000"/>
                        </a:lnSpc>
                        <a:tabLst/>
                      </a:pPr>
                      <a:endParaRPr sz="800" dirty="0">
                        <a:latin typeface="Arial"/>
                        <a:ea typeface="Arial"/>
                        <a:cs typeface="Arial"/>
                      </a:endParaRPr>
                    </a:p>
                    <a:p>
                      <a:pPr marL="23495" algn="l" rtl="0" eaLnBrk="0">
                        <a:lnSpc>
                          <a:spcPts val="1506"/>
                        </a:lnSpc>
                        <a:spcBef>
                          <a:spcPts val="4"/>
                        </a:spcBef>
                        <a:tabLst/>
                      </a:pPr>
                      <a:r>
                        <a:rPr sz="1100" kern="0" spc="-20" dirty="0">
                          <a:solidFill>
                            <a:srgbClr val="000000">
                              <a:alpha val="100000"/>
                            </a:srgbClr>
                          </a:solidFill>
                          <a:latin typeface="Arial"/>
                          <a:ea typeface="Arial"/>
                          <a:cs typeface="Arial"/>
                        </a:rPr>
                        <a:t>B/A*100%</a:t>
                      </a:r>
                      <a:endParaRPr sz="1100" dirty="0">
                        <a:latin typeface="Arial"/>
                        <a:ea typeface="Arial"/>
                        <a:cs typeface="Arial"/>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456" name="textbox 456"/>
          <p:cNvSpPr/>
          <p:nvPr/>
        </p:nvSpPr>
        <p:spPr>
          <a:xfrm>
            <a:off x="168480" y="4904361"/>
            <a:ext cx="11922759" cy="1803400"/>
          </a:xfrm>
          <a:prstGeom prst="rect">
            <a:avLst/>
          </a:prstGeom>
          <a:noFill/>
          <a:ln w="0" cap="flat">
            <a:noFill/>
            <a:prstDash val="solid"/>
            <a:miter lim="0"/>
          </a:ln>
        </p:spPr>
        <p:txBody>
          <a:bodyPr vert="horz" wrap="square" lIns="0" tIns="0" rIns="0" bIns="0"/>
          <a:lstStyle/>
          <a:p>
            <a:pPr algn="l" rtl="0" eaLnBrk="0">
              <a:lnSpc>
                <a:spcPct val="77931"/>
              </a:lnSpc>
              <a:tabLst/>
            </a:pPr>
            <a:endParaRPr sz="100" dirty="0">
              <a:latin typeface="Arial"/>
              <a:ea typeface="Arial"/>
              <a:cs typeface="Arial"/>
            </a:endParaRPr>
          </a:p>
          <a:p>
            <a:pPr marL="12700" algn="l" rtl="0" eaLnBrk="0">
              <a:lnSpc>
                <a:spcPct val="88000"/>
              </a:lnSpc>
              <a:tabLst/>
            </a:pPr>
            <a:r>
              <a:rPr sz="1400" kern="0" spc="-10" dirty="0">
                <a:solidFill>
                  <a:srgbClr val="000000">
                    <a:alpha val="100000"/>
                  </a:srgbClr>
                </a:solidFill>
                <a:latin typeface="Microsoft YaHei"/>
                <a:ea typeface="Microsoft YaHei"/>
                <a:cs typeface="Microsoft YaHei"/>
              </a:rPr>
              <a:t>备注：</a:t>
            </a:r>
            <a:endParaRPr sz="1400" dirty="0">
              <a:latin typeface="Microsoft YaHei"/>
              <a:ea typeface="Microsoft YaHei"/>
              <a:cs typeface="Microsoft YaHei"/>
            </a:endParaRPr>
          </a:p>
          <a:p>
            <a:pPr marL="300354" indent="-278765" algn="l" rtl="0" eaLnBrk="0">
              <a:lnSpc>
                <a:spcPct val="136000"/>
              </a:lnSpc>
              <a:spcBef>
                <a:spcPts val="634"/>
              </a:spcBef>
              <a:tabLst/>
            </a:pPr>
            <a:r>
              <a:rPr sz="1400" kern="0" spc="0" dirty="0">
                <a:solidFill>
                  <a:srgbClr val="000000">
                    <a:alpha val="100000"/>
                  </a:srgbClr>
                </a:solidFill>
                <a:latin typeface="Arial"/>
                <a:ea typeface="Arial"/>
                <a:cs typeface="Arial"/>
              </a:rPr>
              <a:t>•    </a:t>
            </a:r>
            <a:r>
              <a:rPr sz="1400" kern="0" spc="0" dirty="0">
                <a:solidFill>
                  <a:srgbClr val="000000">
                    <a:alpha val="100000"/>
                  </a:srgbClr>
                </a:solidFill>
                <a:latin typeface="Microsoft YaHei"/>
                <a:ea typeface="Microsoft YaHei"/>
                <a:cs typeface="Microsoft YaHei"/>
              </a:rPr>
              <a:t>迁移前1天</a:t>
            </a:r>
            <a:r>
              <a:rPr sz="1400" kern="0" spc="-220" dirty="0">
                <a:solidFill>
                  <a:srgbClr val="000000">
                    <a:alpha val="100000"/>
                  </a:srgbClr>
                </a:solidFill>
                <a:latin typeface="Microsoft YaHei"/>
                <a:ea typeface="Microsoft YaHei"/>
                <a:cs typeface="Microsoft YaHei"/>
              </a:rPr>
              <a:t> </a:t>
            </a:r>
            <a:r>
              <a:rPr sz="1400" kern="0" spc="0" dirty="0">
                <a:solidFill>
                  <a:srgbClr val="000000">
                    <a:alpha val="100000"/>
                  </a:srgbClr>
                </a:solidFill>
                <a:latin typeface="Microsoft YaHei"/>
                <a:ea typeface="Microsoft YaHei"/>
                <a:cs typeface="Microsoft YaHei"/>
              </a:rPr>
              <a:t>，天翼物联查询更新该批次设备在NB网关的“最后上线时间”</a:t>
            </a:r>
            <a:r>
              <a:rPr sz="1400" kern="0" spc="180" dirty="0">
                <a:solidFill>
                  <a:srgbClr val="000000">
                    <a:alpha val="100000"/>
                  </a:srgbClr>
                </a:solidFill>
                <a:latin typeface="Microsoft YaHei"/>
                <a:ea typeface="Microsoft YaHei"/>
                <a:cs typeface="Microsoft YaHei"/>
              </a:rPr>
              <a:t> </a:t>
            </a:r>
            <a:r>
              <a:rPr sz="1400" kern="0" spc="0" dirty="0">
                <a:solidFill>
                  <a:srgbClr val="000000">
                    <a:alpha val="100000"/>
                  </a:srgbClr>
                </a:solidFill>
                <a:latin typeface="Microsoft YaHei"/>
                <a:ea typeface="Microsoft YaHei"/>
                <a:cs typeface="Microsoft YaHei"/>
              </a:rPr>
              <a:t>，以“</a:t>
            </a:r>
            <a:r>
              <a:rPr sz="1400" kern="0" spc="-10" dirty="0">
                <a:solidFill>
                  <a:srgbClr val="000000">
                    <a:alpha val="100000"/>
                  </a:srgbClr>
                </a:solidFill>
                <a:latin typeface="Microsoft YaHei"/>
                <a:ea typeface="Microsoft YaHei"/>
                <a:cs typeface="Microsoft YaHei"/>
              </a:rPr>
              <a:t>最后上线时间”</a:t>
            </a:r>
            <a:r>
              <a:rPr sz="1400" b="1" kern="0" spc="-10" dirty="0">
                <a:solidFill>
                  <a:srgbClr val="000000">
                    <a:alpha val="100000"/>
                  </a:srgbClr>
                </a:solidFill>
                <a:latin typeface="DengXian"/>
                <a:ea typeface="DengXian"/>
                <a:cs typeface="DengXian"/>
              </a:rPr>
              <a:t>在一个月内</a:t>
            </a:r>
            <a:r>
              <a:rPr sz="1400" kern="0" spc="-10" dirty="0">
                <a:solidFill>
                  <a:srgbClr val="000000">
                    <a:alpha val="100000"/>
                  </a:srgbClr>
                </a:solidFill>
                <a:latin typeface="Microsoft YaHei"/>
                <a:ea typeface="Microsoft YaHei"/>
                <a:cs typeface="Microsoft YaHei"/>
              </a:rPr>
              <a:t>的数量该批次迁移设备总数的比例为迁移</a:t>
            </a:r>
            <a:r>
              <a:rPr sz="1400" kern="0" spc="-10" dirty="0">
                <a:solidFill>
                  <a:srgbClr val="000000">
                    <a:alpha val="100000"/>
                  </a:srgbClr>
                </a:solidFill>
                <a:latin typeface="Microsoft YaHei"/>
                <a:ea typeface="Microsoft YaHei"/>
                <a:cs typeface="Microsoft YaHei"/>
              </a:rPr>
              <a:t>前在线率。迁移后</a:t>
            </a:r>
            <a:r>
              <a:rPr sz="1400" kern="0" spc="-21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，查询统计该批次设备在AEP的设备状态</a:t>
            </a:r>
            <a:r>
              <a:rPr sz="1400" kern="0" spc="-21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，以设备“激活”作为迁移成功的标准</a:t>
            </a:r>
            <a:r>
              <a:rPr sz="1400" kern="0" spc="-20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，统计激活设备的数量占该批次迁移设备总数的</a:t>
            </a:r>
            <a:r>
              <a:rPr sz="1400" kern="0" spc="-20" dirty="0">
                <a:solidFill>
                  <a:srgbClr val="000000">
                    <a:alpha val="100000"/>
                  </a:srgbClr>
                </a:solidFill>
                <a:latin typeface="Microsoft YaHei"/>
                <a:ea typeface="Microsoft YaHei"/>
                <a:cs typeface="Microsoft YaHei"/>
              </a:rPr>
              <a:t>比</a:t>
            </a:r>
            <a:r>
              <a:rPr sz="1400" kern="0" spc="-10" dirty="0">
                <a:solidFill>
                  <a:srgbClr val="000000">
                    <a:alpha val="100000"/>
                  </a:srgbClr>
                </a:solidFill>
                <a:latin typeface="Microsoft YaHei"/>
                <a:ea typeface="Microsoft YaHei"/>
                <a:cs typeface="Microsoft YaHei"/>
              </a:rPr>
              <a:t>例作为迁移后在线率。</a:t>
            </a:r>
            <a:endParaRPr sz="1400" dirty="0">
              <a:latin typeface="Microsoft YaHei"/>
              <a:ea typeface="Microsoft YaHei"/>
              <a:cs typeface="Microsoft YaHei"/>
            </a:endParaRPr>
          </a:p>
          <a:p>
            <a:pPr algn="l" rtl="0" eaLnBrk="0">
              <a:lnSpc>
                <a:spcPct val="102000"/>
              </a:lnSpc>
              <a:tabLst/>
            </a:pPr>
            <a:endParaRPr sz="600" dirty="0">
              <a:latin typeface="Arial"/>
              <a:ea typeface="Arial"/>
              <a:cs typeface="Arial"/>
            </a:endParaRPr>
          </a:p>
          <a:p>
            <a:pPr marL="300354" indent="-278765" algn="l" rtl="0" eaLnBrk="0">
              <a:lnSpc>
                <a:spcPct val="128000"/>
              </a:lnSpc>
              <a:spcBef>
                <a:spcPts val="5"/>
              </a:spcBef>
              <a:tabLst/>
            </a:pPr>
            <a:r>
              <a:rPr sz="1400" kern="0" spc="0" dirty="0">
                <a:solidFill>
                  <a:srgbClr val="000000">
                    <a:alpha val="100000"/>
                  </a:srgbClr>
                </a:solidFill>
                <a:latin typeface="Arial"/>
                <a:ea typeface="Arial"/>
                <a:cs typeface="Arial"/>
              </a:rPr>
              <a:t>•    </a:t>
            </a:r>
            <a:r>
              <a:rPr sz="1400" kern="0" spc="0" dirty="0">
                <a:solidFill>
                  <a:srgbClr val="000000">
                    <a:alpha val="100000"/>
                  </a:srgbClr>
                </a:solidFill>
                <a:latin typeface="Microsoft YaHei"/>
                <a:ea typeface="Microsoft YaHei"/>
                <a:cs typeface="Microsoft YaHei"/>
              </a:rPr>
              <a:t>迁移前1天</a:t>
            </a:r>
            <a:r>
              <a:rPr sz="1400" kern="0" spc="-210" dirty="0">
                <a:solidFill>
                  <a:srgbClr val="000000">
                    <a:alpha val="100000"/>
                  </a:srgbClr>
                </a:solidFill>
                <a:latin typeface="Microsoft YaHei"/>
                <a:ea typeface="Microsoft YaHei"/>
                <a:cs typeface="Microsoft YaHei"/>
              </a:rPr>
              <a:t> </a:t>
            </a:r>
            <a:r>
              <a:rPr sz="1400" kern="0" spc="0" dirty="0">
                <a:solidFill>
                  <a:srgbClr val="000000">
                    <a:alpha val="100000"/>
                  </a:srgbClr>
                </a:solidFill>
                <a:latin typeface="Microsoft YaHei"/>
                <a:ea typeface="Microsoft YaHei"/>
                <a:cs typeface="Microsoft YaHei"/>
              </a:rPr>
              <a:t>，客户提供1个月内</a:t>
            </a:r>
            <a:r>
              <a:rPr sz="1400" kern="0" spc="-10" dirty="0">
                <a:solidFill>
                  <a:srgbClr val="000000">
                    <a:alpha val="100000"/>
                  </a:srgbClr>
                </a:solidFill>
                <a:latin typeface="Microsoft YaHei"/>
                <a:ea typeface="Microsoft YaHei"/>
                <a:cs typeface="Microsoft YaHei"/>
              </a:rPr>
              <a:t>该批次设备与NB网关有效通信的设备数占该批次迁移设备总数的比例为迁移前在线率</a:t>
            </a:r>
            <a:r>
              <a:rPr sz="1400" kern="0" spc="-21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，迁移后</a:t>
            </a:r>
            <a:r>
              <a:rPr sz="1400" kern="0" spc="-20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，客户提供该批次设备</a:t>
            </a:r>
            <a:r>
              <a:rPr sz="1400" kern="0" spc="0" dirty="0">
                <a:solidFill>
                  <a:srgbClr val="000000">
                    <a:alpha val="100000"/>
                  </a:srgbClr>
                </a:solidFill>
                <a:latin typeface="Microsoft YaHei"/>
                <a:ea typeface="Microsoft YaHei"/>
                <a:cs typeface="Microsoft YaHei"/>
              </a:rPr>
              <a:t>与AEP有效通信的设备数占该批次迁</a:t>
            </a:r>
            <a:r>
              <a:rPr sz="1400" kern="0" spc="-10" dirty="0">
                <a:solidFill>
                  <a:srgbClr val="000000">
                    <a:alpha val="100000"/>
                  </a:srgbClr>
                </a:solidFill>
                <a:latin typeface="Microsoft YaHei"/>
                <a:ea typeface="Microsoft YaHei"/>
                <a:cs typeface="Microsoft YaHei"/>
              </a:rPr>
              <a:t>移设备总数的比例为迁移后在线率；如客户不提供</a:t>
            </a:r>
            <a:r>
              <a:rPr sz="1400" kern="0" spc="-220" dirty="0">
                <a:solidFill>
                  <a:srgbClr val="000000">
                    <a:alpha val="100000"/>
                  </a:srgbClr>
                </a:solidFill>
                <a:latin typeface="Microsoft YaHei"/>
                <a:ea typeface="Microsoft YaHei"/>
                <a:cs typeface="Microsoft YaHei"/>
              </a:rPr>
              <a:t> </a:t>
            </a:r>
            <a:r>
              <a:rPr sz="1400" kern="0" spc="-10" dirty="0">
                <a:solidFill>
                  <a:srgbClr val="000000">
                    <a:alpha val="100000"/>
                  </a:srgbClr>
                </a:solidFill>
                <a:latin typeface="Microsoft YaHei"/>
                <a:ea typeface="Microsoft YaHei"/>
                <a:cs typeface="Microsoft YaHei"/>
              </a:rPr>
              <a:t>，以AEP</a:t>
            </a:r>
            <a:endParaRPr sz="1400" dirty="0">
              <a:latin typeface="Microsoft YaHei"/>
              <a:ea typeface="Microsoft YaHei"/>
              <a:cs typeface="Microsoft YaHei"/>
            </a:endParaRPr>
          </a:p>
        </p:txBody>
      </p:sp>
      <p:sp>
        <p:nvSpPr>
          <p:cNvPr id="458" name="textbox 458"/>
          <p:cNvSpPr/>
          <p:nvPr/>
        </p:nvSpPr>
        <p:spPr>
          <a:xfrm>
            <a:off x="420497" y="1211796"/>
            <a:ext cx="9163050" cy="939800"/>
          </a:xfrm>
          <a:prstGeom prst="rect">
            <a:avLst/>
          </a:prstGeom>
          <a:noFill/>
          <a:ln w="0" cap="flat">
            <a:noFill/>
            <a:prstDash val="solid"/>
            <a:miter lim="0"/>
          </a:ln>
        </p:spPr>
        <p:txBody>
          <a:bodyPr vert="horz" wrap="square" lIns="0" tIns="0" rIns="0" bIns="0"/>
          <a:lstStyle/>
          <a:p>
            <a:pPr algn="l" rtl="0" eaLnBrk="0">
              <a:lnSpc>
                <a:spcPct val="77017"/>
              </a:lnSpc>
              <a:tabLst/>
            </a:pPr>
            <a:endParaRPr sz="100" dirty="0">
              <a:latin typeface="Arial"/>
              <a:ea typeface="Arial"/>
              <a:cs typeface="Arial"/>
            </a:endParaRPr>
          </a:p>
          <a:p>
            <a:pPr marL="12700" algn="l" rtl="0" eaLnBrk="0">
              <a:lnSpc>
                <a:spcPct val="89000"/>
              </a:lnSpc>
              <a:tabLst/>
            </a:pPr>
            <a:r>
              <a:rPr sz="1700" kern="0" spc="80" dirty="0">
                <a:solidFill>
                  <a:srgbClr val="000000">
                    <a:alpha val="100000"/>
                  </a:srgbClr>
                </a:solidFill>
                <a:latin typeface="Microsoft YaHei"/>
                <a:ea typeface="Microsoft YaHei"/>
                <a:cs typeface="Microsoft YaHei"/>
              </a:rPr>
              <a:t>工作目标</a:t>
            </a:r>
            <a:r>
              <a:rPr sz="1700" kern="0" spc="-17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：从天翼物联导出提供的</a:t>
            </a:r>
            <a:r>
              <a:rPr sz="1700" kern="0" spc="70" dirty="0">
                <a:solidFill>
                  <a:srgbClr val="000000">
                    <a:alpha val="100000"/>
                  </a:srgbClr>
                </a:solidFill>
                <a:latin typeface="Microsoft YaHei"/>
                <a:ea typeface="Microsoft YaHei"/>
                <a:cs typeface="Microsoft YaHei"/>
              </a:rPr>
              <a:t>设备清单里</a:t>
            </a:r>
            <a:r>
              <a:rPr sz="1700" kern="0" spc="-230" dirty="0">
                <a:solidFill>
                  <a:srgbClr val="000000">
                    <a:alpha val="100000"/>
                  </a:srgbClr>
                </a:solidFill>
                <a:latin typeface="Microsoft YaHei"/>
                <a:ea typeface="Microsoft YaHei"/>
                <a:cs typeface="Microsoft YaHei"/>
              </a:rPr>
              <a:t> </a:t>
            </a:r>
            <a:r>
              <a:rPr sz="1700" kern="0" spc="70" dirty="0">
                <a:solidFill>
                  <a:srgbClr val="000000">
                    <a:alpha val="100000"/>
                  </a:srgbClr>
                </a:solidFill>
                <a:latin typeface="Microsoft YaHei"/>
                <a:ea typeface="Microsoft YaHei"/>
                <a:cs typeface="Microsoft YaHei"/>
              </a:rPr>
              <a:t>，选取本批次迁移的设备清单</a:t>
            </a:r>
            <a:r>
              <a:rPr sz="1700" kern="0" spc="-240" dirty="0">
                <a:solidFill>
                  <a:srgbClr val="000000">
                    <a:alpha val="100000"/>
                  </a:srgbClr>
                </a:solidFill>
                <a:latin typeface="Microsoft YaHei"/>
                <a:ea typeface="Microsoft YaHei"/>
                <a:cs typeface="Microsoft YaHei"/>
              </a:rPr>
              <a:t> </a:t>
            </a:r>
            <a:r>
              <a:rPr sz="1700" kern="0" spc="70" dirty="0">
                <a:solidFill>
                  <a:srgbClr val="000000">
                    <a:alpha val="100000"/>
                  </a:srgbClr>
                </a:solidFill>
                <a:latin typeface="Microsoft YaHei"/>
                <a:ea typeface="Microsoft YaHei"/>
                <a:cs typeface="Microsoft YaHei"/>
              </a:rPr>
              <a:t>，</a:t>
            </a:r>
            <a:r>
              <a:rPr sz="1700" kern="0" spc="-400" dirty="0">
                <a:solidFill>
                  <a:srgbClr val="000000">
                    <a:alpha val="100000"/>
                  </a:srgbClr>
                </a:solidFill>
                <a:latin typeface="Microsoft YaHei"/>
                <a:ea typeface="Microsoft YaHei"/>
                <a:cs typeface="Microsoft YaHei"/>
              </a:rPr>
              <a:t> </a:t>
            </a:r>
            <a:r>
              <a:rPr sz="1700" kern="0" spc="70" dirty="0">
                <a:solidFill>
                  <a:srgbClr val="000000">
                    <a:alpha val="100000"/>
                  </a:srgbClr>
                </a:solidFill>
                <a:latin typeface="Microsoft YaHei"/>
                <a:ea typeface="Microsoft YaHei"/>
                <a:cs typeface="Microsoft YaHei"/>
              </a:rPr>
              <a:t>制定迁移计划</a:t>
            </a:r>
            <a:endParaRPr sz="1700" dirty="0">
              <a:latin typeface="Microsoft YaHei"/>
              <a:ea typeface="Microsoft YaHei"/>
              <a:cs typeface="Microsoft YaHei"/>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8000"/>
              </a:lnSpc>
              <a:tabLst/>
            </a:pPr>
            <a:endParaRPr sz="400" dirty="0">
              <a:latin typeface="Arial"/>
              <a:ea typeface="Arial"/>
              <a:cs typeface="Arial"/>
            </a:endParaRPr>
          </a:p>
          <a:p>
            <a:pPr marL="4036059" algn="l" rtl="0" eaLnBrk="0">
              <a:lnSpc>
                <a:spcPts val="2374"/>
              </a:lnSpc>
              <a:spcBef>
                <a:spcPts val="1"/>
              </a:spcBef>
              <a:tabLst/>
            </a:pPr>
            <a:r>
              <a:rPr sz="1700" b="1" kern="0" spc="80" dirty="0">
                <a:solidFill>
                  <a:srgbClr val="000000">
                    <a:alpha val="100000"/>
                  </a:srgbClr>
                </a:solidFill>
                <a:latin typeface="Microsoft YaHei"/>
                <a:ea typeface="Microsoft YaHei"/>
                <a:cs typeface="Microsoft YaHei"/>
              </a:rPr>
              <a:t>表1：</a:t>
            </a:r>
            <a:r>
              <a:rPr sz="1700" b="1" kern="0" spc="-390" dirty="0">
                <a:solidFill>
                  <a:srgbClr val="000000">
                    <a:alpha val="100000"/>
                  </a:srgbClr>
                </a:solidFill>
                <a:latin typeface="Microsoft YaHei"/>
                <a:ea typeface="Microsoft YaHei"/>
                <a:cs typeface="Microsoft YaHei"/>
              </a:rPr>
              <a:t> </a:t>
            </a:r>
            <a:r>
              <a:rPr sz="1700" b="1" kern="0" spc="80" dirty="0">
                <a:solidFill>
                  <a:srgbClr val="000000">
                    <a:alpha val="100000"/>
                  </a:srgbClr>
                </a:solidFill>
                <a:latin typeface="Microsoft YaHei"/>
                <a:ea typeface="Microsoft YaHei"/>
                <a:cs typeface="Microsoft YaHei"/>
              </a:rPr>
              <a:t>迁移设备信息表</a:t>
            </a:r>
            <a:endParaRPr sz="1700" dirty="0">
              <a:latin typeface="Microsoft YaHei"/>
              <a:ea typeface="Microsoft YaHei"/>
              <a:cs typeface="Microsoft YaHei"/>
            </a:endParaRPr>
          </a:p>
        </p:txBody>
      </p:sp>
      <p:sp>
        <p:nvSpPr>
          <p:cNvPr id="460" name="textbox 460"/>
          <p:cNvSpPr/>
          <p:nvPr/>
        </p:nvSpPr>
        <p:spPr>
          <a:xfrm>
            <a:off x="7874106" y="6462377"/>
            <a:ext cx="4012565"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400" kern="0" spc="-10" dirty="0">
                <a:solidFill>
                  <a:srgbClr val="000000">
                    <a:alpha val="100000"/>
                  </a:srgbClr>
                </a:solidFill>
                <a:latin typeface="Microsoft YaHei"/>
                <a:ea typeface="Microsoft YaHei"/>
                <a:cs typeface="Microsoft YaHei"/>
              </a:rPr>
              <a:t>激活率为准。</a:t>
            </a:r>
            <a:r>
              <a:rPr sz="1400" kern="0" spc="10" dirty="0">
                <a:solidFill>
                  <a:srgbClr val="000000">
                    <a:alpha val="100000"/>
                  </a:srgbClr>
                </a:solidFill>
                <a:latin typeface="Microsoft YaHei"/>
                <a:ea typeface="Microsoft YaHei"/>
                <a:cs typeface="Microsoft YaHei"/>
              </a:rPr>
              <a:t>                               </a:t>
            </a:r>
            <a:r>
              <a:rPr sz="1400" kern="0" spc="0" dirty="0">
                <a:solidFill>
                  <a:srgbClr val="000000">
                    <a:alpha val="100000"/>
                  </a:srgbClr>
                </a:solidFill>
                <a:latin typeface="Microsoft YaHei"/>
                <a:ea typeface="Microsoft YaHei"/>
                <a:cs typeface="Microsoft YaHei"/>
              </a:rPr>
              <a:t>                    </a:t>
            </a:r>
            <a:r>
              <a:rPr sz="1500" kern="0" spc="-10" dirty="0">
                <a:solidFill>
                  <a:srgbClr val="B1B1B1">
                    <a:alpha val="100000"/>
                  </a:srgbClr>
                </a:solidFill>
                <a:latin typeface="DengXian"/>
                <a:ea typeface="DengXian"/>
                <a:cs typeface="DengXian"/>
              </a:rPr>
              <a:t>14</a:t>
            </a:r>
            <a:endParaRPr sz="1500" dirty="0">
              <a:latin typeface="DengXian"/>
              <a:ea typeface="DengXian"/>
              <a:cs typeface="DengXian"/>
            </a:endParaRPr>
          </a:p>
        </p:txBody>
      </p:sp>
      <p:sp>
        <p:nvSpPr>
          <p:cNvPr id="462" name="textbox 462"/>
          <p:cNvSpPr/>
          <p:nvPr/>
        </p:nvSpPr>
        <p:spPr>
          <a:xfrm>
            <a:off x="421411" y="253327"/>
            <a:ext cx="3066414" cy="333375"/>
          </a:xfrm>
          <a:prstGeom prst="rect">
            <a:avLst/>
          </a:prstGeom>
          <a:noFill/>
          <a:ln w="0" cap="flat">
            <a:noFill/>
            <a:prstDash val="solid"/>
            <a:miter lim="0"/>
          </a:ln>
        </p:spPr>
        <p:txBody>
          <a:bodyPr vert="horz" wrap="square" lIns="0" tIns="0" rIns="0" bIns="0"/>
          <a:lstStyle/>
          <a:p>
            <a:pPr algn="l" rtl="0" eaLnBrk="0">
              <a:lnSpc>
                <a:spcPct val="77031"/>
              </a:lnSpc>
              <a:tabLst/>
            </a:pPr>
            <a:endParaRPr sz="100" dirty="0">
              <a:latin typeface="Arial"/>
              <a:ea typeface="Arial"/>
              <a:cs typeface="Arial"/>
            </a:endParaRPr>
          </a:p>
          <a:p>
            <a:pPr marL="12700" algn="l" rtl="0" eaLnBrk="0">
              <a:lnSpc>
                <a:spcPct val="88000"/>
              </a:lnSpc>
              <a:tabLst/>
            </a:pPr>
            <a:r>
              <a:rPr sz="2300" b="1" kern="0" spc="90" dirty="0">
                <a:solidFill>
                  <a:srgbClr val="C00000">
                    <a:alpha val="100000"/>
                  </a:srgbClr>
                </a:solidFill>
                <a:latin typeface="Microsoft YaHei"/>
                <a:ea typeface="Microsoft YaHei"/>
                <a:cs typeface="Microsoft YaHei"/>
              </a:rPr>
              <a:t>选取批量迁移设备清单</a:t>
            </a:r>
            <a:endParaRPr sz="2300" dirty="0">
              <a:latin typeface="Microsoft YaHei"/>
              <a:ea typeface="Microsoft YaHei"/>
              <a:cs typeface="Microsoft YaHei"/>
            </a:endParaRPr>
          </a:p>
        </p:txBody>
      </p:sp>
      <p:pic>
        <p:nvPicPr>
          <p:cNvPr id="464" name="picture 464"/>
          <p:cNvPicPr>
            <a:picLocks noChangeAspect="1"/>
          </p:cNvPicPr>
          <p:nvPr/>
        </p:nvPicPr>
        <p:blipFill>
          <a:blip r:embed="rId2"/>
          <a:stretch>
            <a:fillRect/>
          </a:stretch>
        </p:blipFill>
        <p:spPr>
          <a:xfrm rot="21600000">
            <a:off x="335279" y="807720"/>
            <a:ext cx="11519916" cy="67055"/>
          </a:xfrm>
          <a:prstGeom prst="rect">
            <a:avLst/>
          </a:prstGeom>
        </p:spPr>
      </p:pic>
      <p:pic>
        <p:nvPicPr>
          <p:cNvPr id="466" name="picture 466"/>
          <p:cNvPicPr>
            <a:picLocks noChangeAspect="1"/>
          </p:cNvPicPr>
          <p:nvPr/>
        </p:nvPicPr>
        <p:blipFill>
          <a:blip r:embed="rId3"/>
          <a:stretch>
            <a:fillRect/>
          </a:stretch>
        </p:blipFill>
        <p:spPr>
          <a:xfrm rot="21600000">
            <a:off x="11126046" y="215885"/>
            <a:ext cx="721486" cy="5266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8" name="table 468"/>
          <p:cNvGraphicFramePr>
            <a:graphicFrameLocks noGrp="1"/>
          </p:cNvGraphicFramePr>
          <p:nvPr/>
        </p:nvGraphicFramePr>
        <p:xfrm>
          <a:off x="406361" y="1697101"/>
          <a:ext cx="10172700" cy="2607310"/>
        </p:xfrm>
        <a:graphic>
          <a:graphicData uri="http://schemas.openxmlformats.org/drawingml/2006/table">
            <a:tbl>
              <a:tblPr/>
              <a:tblGrid>
                <a:gridCol w="889000"/>
                <a:gridCol w="2857500"/>
                <a:gridCol w="3467100"/>
                <a:gridCol w="2959100"/>
              </a:tblGrid>
              <a:tr h="485775">
                <a:tc>
                  <a:txBody>
                    <a:bodyPr/>
                    <a:lstStyle/>
                    <a:p>
                      <a:pPr algn="l" rtl="0" eaLnBrk="0">
                        <a:lnSpc>
                          <a:spcPct val="101000"/>
                        </a:lnSpc>
                        <a:tabLst/>
                      </a:pPr>
                      <a:endParaRPr sz="900" dirty="0">
                        <a:latin typeface="Arial"/>
                        <a:ea typeface="Arial"/>
                        <a:cs typeface="Arial"/>
                      </a:endParaRPr>
                    </a:p>
                    <a:p>
                      <a:pPr marL="222250" algn="l" rtl="0" eaLnBrk="0">
                        <a:lnSpc>
                          <a:spcPct val="87000"/>
                        </a:lnSpc>
                        <a:spcBef>
                          <a:spcPts val="1"/>
                        </a:spcBef>
                        <a:tabLst/>
                      </a:pPr>
                      <a:r>
                        <a:rPr sz="1700" b="1" kern="0" spc="80" dirty="0">
                          <a:solidFill>
                            <a:srgbClr val="FFFFFF">
                              <a:alpha val="100000"/>
                            </a:srgbClr>
                          </a:solidFill>
                          <a:latin typeface="Microsoft YaHei"/>
                          <a:ea typeface="Microsoft YaHei"/>
                          <a:cs typeface="Microsoft YaHei"/>
                        </a:rPr>
                        <a:t>序号</a:t>
                      </a:r>
                      <a:endParaRPr sz="17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01000"/>
                        </a:lnSpc>
                        <a:tabLst/>
                      </a:pPr>
                      <a:endParaRPr sz="900" dirty="0">
                        <a:latin typeface="Arial"/>
                        <a:ea typeface="Arial"/>
                        <a:cs typeface="Arial"/>
                      </a:endParaRPr>
                    </a:p>
                    <a:p>
                      <a:pPr marL="1090930" algn="l" rtl="0" eaLnBrk="0">
                        <a:lnSpc>
                          <a:spcPct val="87000"/>
                        </a:lnSpc>
                        <a:spcBef>
                          <a:spcPts val="1"/>
                        </a:spcBef>
                        <a:tabLst/>
                      </a:pPr>
                      <a:r>
                        <a:rPr sz="1700" b="1" kern="0" spc="80" dirty="0">
                          <a:solidFill>
                            <a:srgbClr val="FFFFFF">
                              <a:alpha val="100000"/>
                            </a:srgbClr>
                          </a:solidFill>
                          <a:latin typeface="Microsoft YaHei"/>
                          <a:ea typeface="Microsoft YaHei"/>
                          <a:cs typeface="Microsoft YaHei"/>
                        </a:rPr>
                        <a:t>工作项</a:t>
                      </a:r>
                      <a:endParaRPr sz="17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00000"/>
                        </a:lnSpc>
                        <a:tabLst/>
                      </a:pPr>
                      <a:endParaRPr sz="900" dirty="0">
                        <a:latin typeface="Arial"/>
                        <a:ea typeface="Arial"/>
                        <a:cs typeface="Arial"/>
                      </a:endParaRPr>
                    </a:p>
                    <a:p>
                      <a:pPr algn="l" rtl="0" eaLnBrk="0">
                        <a:lnSpc>
                          <a:spcPct val="8524"/>
                        </a:lnSpc>
                        <a:tabLst/>
                      </a:pPr>
                      <a:endParaRPr sz="100" dirty="0">
                        <a:latin typeface="Arial"/>
                        <a:ea typeface="Arial"/>
                        <a:cs typeface="Arial"/>
                      </a:endParaRPr>
                    </a:p>
                    <a:p>
                      <a:pPr marL="1393189" algn="l" rtl="0" eaLnBrk="0">
                        <a:lnSpc>
                          <a:spcPct val="87000"/>
                        </a:lnSpc>
                        <a:tabLst/>
                      </a:pPr>
                      <a:r>
                        <a:rPr sz="1700" b="1" kern="0" spc="80" dirty="0">
                          <a:solidFill>
                            <a:srgbClr val="FFFFFF">
                              <a:alpha val="100000"/>
                            </a:srgbClr>
                          </a:solidFill>
                          <a:latin typeface="Microsoft YaHei"/>
                          <a:ea typeface="Microsoft YaHei"/>
                          <a:cs typeface="Microsoft YaHei"/>
                        </a:rPr>
                        <a:t>操作方</a:t>
                      </a:r>
                      <a:endParaRPr sz="17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00000"/>
                        </a:lnSpc>
                        <a:tabLst/>
                      </a:pPr>
                      <a:endParaRPr sz="900" dirty="0">
                        <a:latin typeface="Arial"/>
                        <a:ea typeface="Arial"/>
                        <a:cs typeface="Arial"/>
                      </a:endParaRPr>
                    </a:p>
                    <a:p>
                      <a:pPr marL="1250950" algn="l" rtl="0" eaLnBrk="0">
                        <a:lnSpc>
                          <a:spcPct val="88000"/>
                        </a:lnSpc>
                        <a:spcBef>
                          <a:spcPts val="1"/>
                        </a:spcBef>
                        <a:tabLst/>
                      </a:pPr>
                      <a:r>
                        <a:rPr sz="1700" b="1" kern="0" spc="80" dirty="0">
                          <a:solidFill>
                            <a:srgbClr val="FFFFFF">
                              <a:alpha val="100000"/>
                            </a:srgbClr>
                          </a:solidFill>
                          <a:latin typeface="Microsoft YaHei"/>
                          <a:ea typeface="Microsoft YaHei"/>
                          <a:cs typeface="Microsoft YaHei"/>
                        </a:rPr>
                        <a:t>备注</a:t>
                      </a:r>
                      <a:endParaRPr sz="17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r>
              <a:tr h="422909">
                <a:tc>
                  <a:txBody>
                    <a:bodyPr/>
                    <a:lstStyle/>
                    <a:p>
                      <a:pPr algn="l" rtl="0" eaLnBrk="0">
                        <a:lnSpc>
                          <a:spcPct val="102000"/>
                        </a:lnSpc>
                        <a:tabLst/>
                      </a:pPr>
                      <a:endParaRPr sz="500" dirty="0">
                        <a:latin typeface="Arial"/>
                        <a:ea typeface="Arial"/>
                        <a:cs typeface="Arial"/>
                      </a:endParaRPr>
                    </a:p>
                    <a:p>
                      <a:pPr marL="408940" algn="l" rtl="0" eaLnBrk="0">
                        <a:lnSpc>
                          <a:spcPts val="2059"/>
                        </a:lnSpc>
                        <a:spcBef>
                          <a:spcPts val="6"/>
                        </a:spcBef>
                        <a:tabLst/>
                      </a:pPr>
                      <a:r>
                        <a:rPr sz="1500" kern="0" spc="-20" dirty="0">
                          <a:solidFill>
                            <a:srgbClr val="000000">
                              <a:alpha val="100000"/>
                            </a:srgbClr>
                          </a:solidFill>
                          <a:latin typeface="Microsoft YaHei"/>
                          <a:ea typeface="Microsoft YaHei"/>
                          <a:cs typeface="Microsoft YaHei"/>
                        </a:rPr>
                        <a:t>1</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6000"/>
                        </a:lnSpc>
                        <a:tabLst/>
                      </a:pPr>
                      <a:endParaRPr sz="700" dirty="0">
                        <a:latin typeface="Arial"/>
                        <a:ea typeface="Arial"/>
                        <a:cs typeface="Arial"/>
                      </a:endParaRPr>
                    </a:p>
                    <a:p>
                      <a:pPr algn="l" rtl="0" eaLnBrk="0">
                        <a:lnSpc>
                          <a:spcPct val="6713"/>
                        </a:lnSpc>
                        <a:tabLst/>
                      </a:pPr>
                      <a:endParaRPr sz="100" dirty="0">
                        <a:latin typeface="Arial"/>
                        <a:ea typeface="Arial"/>
                        <a:cs typeface="Arial"/>
                      </a:endParaRPr>
                    </a:p>
                    <a:p>
                      <a:pPr marL="92075" algn="l" rtl="0" eaLnBrk="0">
                        <a:lnSpc>
                          <a:spcPct val="89000"/>
                        </a:lnSpc>
                        <a:tabLst/>
                      </a:pPr>
                      <a:r>
                        <a:rPr sz="1500" kern="0" spc="90" dirty="0">
                          <a:solidFill>
                            <a:srgbClr val="000000">
                              <a:alpha val="100000"/>
                            </a:srgbClr>
                          </a:solidFill>
                          <a:latin typeface="Microsoft YaHei"/>
                          <a:ea typeface="Microsoft YaHei"/>
                          <a:cs typeface="Microsoft YaHei"/>
                        </a:rPr>
                        <a:t>客户设备号卡信息整理</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7000"/>
                        </a:lnSpc>
                        <a:tabLst/>
                      </a:pPr>
                      <a:endParaRPr sz="700" dirty="0">
                        <a:latin typeface="Arial"/>
                        <a:ea typeface="Arial"/>
                        <a:cs typeface="Arial"/>
                      </a:endParaRPr>
                    </a:p>
                    <a:p>
                      <a:pPr algn="l" rtl="0" eaLnBrk="0">
                        <a:lnSpc>
                          <a:spcPct val="6847"/>
                        </a:lnSpc>
                        <a:tabLst/>
                      </a:pPr>
                      <a:endParaRPr sz="100" dirty="0">
                        <a:latin typeface="Arial"/>
                        <a:ea typeface="Arial"/>
                        <a:cs typeface="Arial"/>
                      </a:endParaRPr>
                    </a:p>
                    <a:p>
                      <a:pPr marL="93980" algn="l" rtl="0" eaLnBrk="0">
                        <a:lnSpc>
                          <a:spcPct val="88000"/>
                        </a:lnSpc>
                        <a:tabLst/>
                      </a:pPr>
                      <a:r>
                        <a:rPr sz="1500" kern="0" spc="80" dirty="0">
                          <a:solidFill>
                            <a:srgbClr val="000000">
                              <a:alpha val="100000"/>
                            </a:srgbClr>
                          </a:solidFill>
                          <a:latin typeface="Microsoft YaHei"/>
                          <a:ea typeface="Microsoft YaHei"/>
                          <a:cs typeface="Microsoft YaHei"/>
                        </a:rPr>
                        <a:t>天翼物联-使能</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423544">
                <a:tc>
                  <a:txBody>
                    <a:bodyPr/>
                    <a:lstStyle/>
                    <a:p>
                      <a:pPr algn="l" rtl="0" eaLnBrk="0">
                        <a:lnSpc>
                          <a:spcPct val="102000"/>
                        </a:lnSpc>
                        <a:tabLst/>
                      </a:pPr>
                      <a:endParaRPr sz="500" dirty="0">
                        <a:latin typeface="Arial"/>
                        <a:ea typeface="Arial"/>
                        <a:cs typeface="Arial"/>
                      </a:endParaRPr>
                    </a:p>
                    <a:p>
                      <a:pPr marL="399415" algn="l" rtl="0" eaLnBrk="0">
                        <a:lnSpc>
                          <a:spcPts val="2059"/>
                        </a:lnSpc>
                        <a:spcBef>
                          <a:spcPts val="6"/>
                        </a:spcBef>
                        <a:tabLst/>
                      </a:pPr>
                      <a:r>
                        <a:rPr sz="1500" kern="0" spc="-20" dirty="0">
                          <a:solidFill>
                            <a:srgbClr val="000000">
                              <a:alpha val="100000"/>
                            </a:srgbClr>
                          </a:solidFill>
                          <a:latin typeface="Microsoft YaHei"/>
                          <a:ea typeface="Microsoft YaHei"/>
                          <a:cs typeface="Microsoft YaHei"/>
                        </a:rPr>
                        <a:t>2</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9000"/>
                        </a:lnSpc>
                        <a:tabLst/>
                      </a:pPr>
                      <a:endParaRPr sz="700" dirty="0">
                        <a:latin typeface="Arial"/>
                        <a:ea typeface="Arial"/>
                        <a:cs typeface="Arial"/>
                      </a:endParaRPr>
                    </a:p>
                    <a:p>
                      <a:pPr marL="97155" algn="l" rtl="0" eaLnBrk="0">
                        <a:lnSpc>
                          <a:spcPct val="88000"/>
                        </a:lnSpc>
                        <a:spcBef>
                          <a:spcPts val="1"/>
                        </a:spcBef>
                        <a:tabLst/>
                      </a:pPr>
                      <a:r>
                        <a:rPr sz="1500" kern="0" spc="100" dirty="0">
                          <a:solidFill>
                            <a:srgbClr val="000000">
                              <a:alpha val="100000"/>
                            </a:srgbClr>
                          </a:solidFill>
                          <a:latin typeface="Microsoft YaHei"/>
                          <a:ea typeface="Microsoft YaHei"/>
                          <a:cs typeface="Microsoft YaHei"/>
                        </a:rPr>
                        <a:t>卡</a:t>
                      </a:r>
                      <a:r>
                        <a:rPr sz="1500" kern="0" spc="0" dirty="0">
                          <a:solidFill>
                            <a:srgbClr val="000000">
                              <a:alpha val="100000"/>
                            </a:srgbClr>
                          </a:solidFill>
                          <a:latin typeface="Microsoft YaHei"/>
                          <a:ea typeface="Microsoft YaHei"/>
                          <a:cs typeface="Microsoft YaHei"/>
                        </a:rPr>
                        <a:t>CC</a:t>
                      </a:r>
                      <a:r>
                        <a:rPr sz="1500" kern="0" spc="100" dirty="0">
                          <a:solidFill>
                            <a:srgbClr val="000000">
                              <a:alpha val="100000"/>
                            </a:srgbClr>
                          </a:solidFill>
                          <a:latin typeface="Microsoft YaHei"/>
                          <a:ea typeface="Microsoft YaHei"/>
                          <a:cs typeface="Microsoft YaHei"/>
                        </a:rPr>
                        <a:t>值变更受理</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7000"/>
                        </a:lnSpc>
                        <a:tabLst/>
                      </a:pPr>
                      <a:endParaRPr sz="700" dirty="0">
                        <a:latin typeface="Arial"/>
                        <a:ea typeface="Arial"/>
                        <a:cs typeface="Arial"/>
                      </a:endParaRPr>
                    </a:p>
                    <a:p>
                      <a:pPr algn="l" rtl="0" eaLnBrk="0">
                        <a:lnSpc>
                          <a:spcPct val="6847"/>
                        </a:lnSpc>
                        <a:tabLst/>
                      </a:pPr>
                      <a:endParaRPr sz="100" dirty="0">
                        <a:latin typeface="Arial"/>
                        <a:ea typeface="Arial"/>
                        <a:cs typeface="Arial"/>
                      </a:endParaRPr>
                    </a:p>
                    <a:p>
                      <a:pPr marL="93980" algn="l" rtl="0" eaLnBrk="0">
                        <a:lnSpc>
                          <a:spcPct val="88000"/>
                        </a:lnSpc>
                        <a:tabLst/>
                      </a:pPr>
                      <a:r>
                        <a:rPr sz="1500" kern="0" spc="80" dirty="0">
                          <a:solidFill>
                            <a:srgbClr val="000000">
                              <a:alpha val="100000"/>
                            </a:srgbClr>
                          </a:solidFill>
                          <a:latin typeface="Microsoft YaHei"/>
                          <a:ea typeface="Microsoft YaHei"/>
                          <a:cs typeface="Microsoft YaHei"/>
                        </a:rPr>
                        <a:t>天翼物联-使能</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422909">
                <a:tc>
                  <a:txBody>
                    <a:bodyPr/>
                    <a:lstStyle/>
                    <a:p>
                      <a:pPr algn="l" rtl="0" eaLnBrk="0">
                        <a:lnSpc>
                          <a:spcPct val="102000"/>
                        </a:lnSpc>
                        <a:tabLst/>
                      </a:pPr>
                      <a:endParaRPr sz="500" dirty="0">
                        <a:latin typeface="Arial"/>
                        <a:ea typeface="Arial"/>
                        <a:cs typeface="Arial"/>
                      </a:endParaRPr>
                    </a:p>
                    <a:p>
                      <a:pPr marL="401954" algn="l" rtl="0" eaLnBrk="0">
                        <a:lnSpc>
                          <a:spcPts val="2059"/>
                        </a:lnSpc>
                        <a:spcBef>
                          <a:spcPts val="6"/>
                        </a:spcBef>
                        <a:tabLst/>
                      </a:pPr>
                      <a:r>
                        <a:rPr sz="1500" kern="0" spc="-20" dirty="0">
                          <a:solidFill>
                            <a:srgbClr val="000000">
                              <a:alpha val="100000"/>
                            </a:srgbClr>
                          </a:solidFill>
                          <a:latin typeface="Microsoft YaHei"/>
                          <a:ea typeface="Microsoft YaHei"/>
                          <a:cs typeface="Microsoft YaHei"/>
                        </a:rPr>
                        <a:t>3</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8000"/>
                        </a:lnSpc>
                        <a:tabLst/>
                      </a:pPr>
                      <a:endParaRPr sz="700" dirty="0">
                        <a:latin typeface="Arial"/>
                        <a:ea typeface="Arial"/>
                        <a:cs typeface="Arial"/>
                      </a:endParaRPr>
                    </a:p>
                    <a:p>
                      <a:pPr marL="95250" algn="l" rtl="0" eaLnBrk="0">
                        <a:lnSpc>
                          <a:spcPct val="88000"/>
                        </a:lnSpc>
                        <a:spcBef>
                          <a:spcPts val="5"/>
                        </a:spcBef>
                        <a:tabLst/>
                      </a:pPr>
                      <a:r>
                        <a:rPr sz="1500" kern="0" spc="90" dirty="0">
                          <a:solidFill>
                            <a:srgbClr val="000000">
                              <a:alpha val="100000"/>
                            </a:srgbClr>
                          </a:solidFill>
                          <a:latin typeface="Microsoft YaHei"/>
                          <a:ea typeface="Microsoft YaHei"/>
                          <a:cs typeface="Microsoft YaHei"/>
                        </a:rPr>
                        <a:t>业务受理稽核</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8000"/>
                        </a:lnSpc>
                        <a:tabLst/>
                      </a:pPr>
                      <a:endParaRPr sz="700" dirty="0">
                        <a:latin typeface="Arial"/>
                        <a:ea typeface="Arial"/>
                        <a:cs typeface="Arial"/>
                      </a:endParaRPr>
                    </a:p>
                    <a:p>
                      <a:pPr marL="93980" algn="l" rtl="0" eaLnBrk="0">
                        <a:lnSpc>
                          <a:spcPct val="88000"/>
                        </a:lnSpc>
                        <a:spcBef>
                          <a:spcPts val="5"/>
                        </a:spcBef>
                        <a:tabLst/>
                      </a:pPr>
                      <a:r>
                        <a:rPr sz="1500" kern="0" spc="80" dirty="0">
                          <a:solidFill>
                            <a:srgbClr val="000000">
                              <a:alpha val="100000"/>
                            </a:srgbClr>
                          </a:solidFill>
                          <a:latin typeface="Microsoft YaHei"/>
                          <a:ea typeface="Microsoft YaHei"/>
                          <a:cs typeface="Microsoft YaHei"/>
                        </a:rPr>
                        <a:t>天翼物联-业务中心</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422909">
                <a:tc>
                  <a:txBody>
                    <a:bodyPr/>
                    <a:lstStyle/>
                    <a:p>
                      <a:pPr algn="l" rtl="0" eaLnBrk="0">
                        <a:lnSpc>
                          <a:spcPct val="102000"/>
                        </a:lnSpc>
                        <a:tabLst/>
                      </a:pPr>
                      <a:endParaRPr sz="500" dirty="0">
                        <a:latin typeface="Arial"/>
                        <a:ea typeface="Arial"/>
                        <a:cs typeface="Arial"/>
                      </a:endParaRPr>
                    </a:p>
                    <a:p>
                      <a:pPr marL="389254" algn="l" rtl="0" eaLnBrk="0">
                        <a:lnSpc>
                          <a:spcPts val="2059"/>
                        </a:lnSpc>
                        <a:spcBef>
                          <a:spcPts val="6"/>
                        </a:spcBef>
                        <a:tabLst/>
                      </a:pPr>
                      <a:r>
                        <a:rPr sz="1500" kern="0" spc="30" dirty="0">
                          <a:solidFill>
                            <a:srgbClr val="000000">
                              <a:alpha val="100000"/>
                            </a:srgbClr>
                          </a:solidFill>
                          <a:latin typeface="Microsoft YaHei"/>
                          <a:ea typeface="Microsoft YaHei"/>
                          <a:cs typeface="Microsoft YaHei"/>
                        </a:rPr>
                        <a:t>4</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8000"/>
                        </a:lnSpc>
                        <a:tabLst/>
                      </a:pPr>
                      <a:endParaRPr sz="700" dirty="0">
                        <a:latin typeface="Arial"/>
                        <a:ea typeface="Arial"/>
                        <a:cs typeface="Arial"/>
                      </a:endParaRPr>
                    </a:p>
                    <a:p>
                      <a:pPr marL="97155" algn="l" rtl="0" eaLnBrk="0">
                        <a:lnSpc>
                          <a:spcPct val="88000"/>
                        </a:lnSpc>
                        <a:spcBef>
                          <a:spcPts val="1"/>
                        </a:spcBef>
                        <a:tabLst/>
                      </a:pPr>
                      <a:r>
                        <a:rPr sz="1500" kern="0" spc="80" dirty="0">
                          <a:solidFill>
                            <a:srgbClr val="000000">
                              <a:alpha val="100000"/>
                            </a:srgbClr>
                          </a:solidFill>
                          <a:latin typeface="Microsoft YaHei"/>
                          <a:ea typeface="Microsoft YaHei"/>
                          <a:cs typeface="Microsoft YaHei"/>
                        </a:rPr>
                        <a:t>卡踢下线</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8000"/>
                        </a:lnSpc>
                        <a:tabLst/>
                      </a:pPr>
                      <a:endParaRPr sz="700" dirty="0">
                        <a:latin typeface="Arial"/>
                        <a:ea typeface="Arial"/>
                        <a:cs typeface="Arial"/>
                      </a:endParaRPr>
                    </a:p>
                    <a:p>
                      <a:pPr marL="93980" algn="l" rtl="0" eaLnBrk="0">
                        <a:lnSpc>
                          <a:spcPct val="88000"/>
                        </a:lnSpc>
                        <a:spcBef>
                          <a:spcPts val="6"/>
                        </a:spcBef>
                        <a:tabLst/>
                      </a:pPr>
                      <a:r>
                        <a:rPr sz="1500" kern="0" spc="80" dirty="0">
                          <a:solidFill>
                            <a:srgbClr val="000000">
                              <a:alpha val="100000"/>
                            </a:srgbClr>
                          </a:solidFill>
                          <a:latin typeface="Microsoft YaHei"/>
                          <a:ea typeface="Microsoft YaHei"/>
                          <a:cs typeface="Microsoft YaHei"/>
                        </a:rPr>
                        <a:t>天翼物联-智连</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429259">
                <a:tc>
                  <a:txBody>
                    <a:bodyPr/>
                    <a:lstStyle/>
                    <a:p>
                      <a:pPr algn="l" rtl="0" eaLnBrk="0">
                        <a:lnSpc>
                          <a:spcPct val="102000"/>
                        </a:lnSpc>
                        <a:tabLst/>
                      </a:pPr>
                      <a:endParaRPr sz="500" dirty="0">
                        <a:latin typeface="Arial"/>
                        <a:ea typeface="Arial"/>
                        <a:cs typeface="Arial"/>
                      </a:endParaRPr>
                    </a:p>
                    <a:p>
                      <a:pPr marL="405129" algn="l" rtl="0" eaLnBrk="0">
                        <a:lnSpc>
                          <a:spcPts val="2059"/>
                        </a:lnSpc>
                        <a:spcBef>
                          <a:spcPts val="6"/>
                        </a:spcBef>
                        <a:tabLst/>
                      </a:pPr>
                      <a:r>
                        <a:rPr sz="1500" kern="0" spc="-20" dirty="0">
                          <a:solidFill>
                            <a:srgbClr val="000000">
                              <a:alpha val="100000"/>
                            </a:srgbClr>
                          </a:solidFill>
                          <a:latin typeface="Microsoft YaHei"/>
                          <a:ea typeface="Microsoft YaHei"/>
                          <a:cs typeface="Microsoft YaHei"/>
                        </a:rPr>
                        <a:t>5</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8000"/>
                        </a:lnSpc>
                        <a:tabLst/>
                      </a:pPr>
                      <a:endParaRPr sz="700" dirty="0">
                        <a:latin typeface="Arial"/>
                        <a:ea typeface="Arial"/>
                        <a:cs typeface="Arial"/>
                      </a:endParaRPr>
                    </a:p>
                    <a:p>
                      <a:pPr marL="92075" algn="l" rtl="0" eaLnBrk="0">
                        <a:lnSpc>
                          <a:spcPct val="88000"/>
                        </a:lnSpc>
                        <a:spcBef>
                          <a:spcPts val="7"/>
                        </a:spcBef>
                        <a:tabLst/>
                      </a:pPr>
                      <a:r>
                        <a:rPr sz="1500" kern="0" spc="90" dirty="0">
                          <a:solidFill>
                            <a:srgbClr val="000000">
                              <a:alpha val="100000"/>
                            </a:srgbClr>
                          </a:solidFill>
                          <a:latin typeface="Microsoft YaHei"/>
                          <a:ea typeface="Microsoft YaHei"/>
                          <a:cs typeface="Microsoft YaHei"/>
                        </a:rPr>
                        <a:t>验证迁移结果</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6000"/>
                        </a:lnSpc>
                        <a:tabLst/>
                      </a:pPr>
                      <a:endParaRPr sz="700" dirty="0">
                        <a:latin typeface="Arial"/>
                        <a:ea typeface="Arial"/>
                        <a:cs typeface="Arial"/>
                      </a:endParaRPr>
                    </a:p>
                    <a:p>
                      <a:pPr marL="92075" algn="l" rtl="0" eaLnBrk="0">
                        <a:lnSpc>
                          <a:spcPct val="89000"/>
                        </a:lnSpc>
                        <a:spcBef>
                          <a:spcPts val="7"/>
                        </a:spcBef>
                        <a:tabLst/>
                      </a:pPr>
                      <a:r>
                        <a:rPr sz="1500" kern="0" spc="80" dirty="0">
                          <a:solidFill>
                            <a:srgbClr val="000000">
                              <a:alpha val="100000"/>
                            </a:srgbClr>
                          </a:solidFill>
                          <a:latin typeface="Microsoft YaHei"/>
                          <a:ea typeface="Microsoft YaHei"/>
                          <a:cs typeface="Microsoft YaHei"/>
                        </a:rPr>
                        <a:t>客户</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bl>
          </a:graphicData>
        </a:graphic>
      </p:graphicFrame>
      <p:sp>
        <p:nvSpPr>
          <p:cNvPr id="470" name="textbox 470"/>
          <p:cNvSpPr/>
          <p:nvPr/>
        </p:nvSpPr>
        <p:spPr>
          <a:xfrm>
            <a:off x="420497" y="1079627"/>
            <a:ext cx="4133850" cy="255270"/>
          </a:xfrm>
          <a:prstGeom prst="rect">
            <a:avLst/>
          </a:prstGeom>
          <a:noFill/>
          <a:ln w="0" cap="flat">
            <a:noFill/>
            <a:prstDash val="solid"/>
            <a:miter lim="0"/>
          </a:ln>
        </p:spPr>
        <p:txBody>
          <a:bodyPr vert="horz" wrap="square" lIns="0" tIns="0" rIns="0" bIns="0"/>
          <a:lstStyle/>
          <a:p>
            <a:pPr algn="l" rtl="0" eaLnBrk="0">
              <a:lnSpc>
                <a:spcPct val="77017"/>
              </a:lnSpc>
              <a:tabLst/>
            </a:pPr>
            <a:endParaRPr sz="100" dirty="0">
              <a:latin typeface="Arial"/>
              <a:ea typeface="Arial"/>
              <a:cs typeface="Arial"/>
            </a:endParaRPr>
          </a:p>
          <a:p>
            <a:pPr marL="12700" algn="l" rtl="0" eaLnBrk="0">
              <a:lnSpc>
                <a:spcPct val="89000"/>
              </a:lnSpc>
              <a:tabLst/>
            </a:pPr>
            <a:r>
              <a:rPr sz="1700" kern="0" spc="80" dirty="0">
                <a:solidFill>
                  <a:srgbClr val="000000">
                    <a:alpha val="100000"/>
                  </a:srgbClr>
                </a:solidFill>
                <a:latin typeface="Microsoft YaHei"/>
                <a:ea typeface="Microsoft YaHei"/>
                <a:cs typeface="Microsoft YaHei"/>
              </a:rPr>
              <a:t>工作目标：</a:t>
            </a:r>
            <a:r>
              <a:rPr sz="1700" kern="0" spc="-41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完成设备迁</a:t>
            </a:r>
            <a:r>
              <a:rPr sz="1700" kern="0" spc="70" dirty="0">
                <a:solidFill>
                  <a:srgbClr val="000000">
                    <a:alpha val="100000"/>
                  </a:srgbClr>
                </a:solidFill>
                <a:latin typeface="Microsoft YaHei"/>
                <a:ea typeface="Microsoft YaHei"/>
                <a:cs typeface="Microsoft YaHei"/>
              </a:rPr>
              <a:t>移</a:t>
            </a:r>
            <a:r>
              <a:rPr sz="1700" kern="0" spc="-230" dirty="0">
                <a:solidFill>
                  <a:srgbClr val="000000">
                    <a:alpha val="100000"/>
                  </a:srgbClr>
                </a:solidFill>
                <a:latin typeface="Microsoft YaHei"/>
                <a:ea typeface="Microsoft YaHei"/>
                <a:cs typeface="Microsoft YaHei"/>
              </a:rPr>
              <a:t> </a:t>
            </a:r>
            <a:r>
              <a:rPr sz="1700" kern="0" spc="70" dirty="0">
                <a:solidFill>
                  <a:srgbClr val="000000">
                    <a:alpha val="100000"/>
                  </a:srgbClr>
                </a:solidFill>
                <a:latin typeface="Microsoft YaHei"/>
                <a:ea typeface="Microsoft YaHei"/>
                <a:cs typeface="Microsoft YaHei"/>
              </a:rPr>
              <a:t>，输出迁移结果</a:t>
            </a:r>
            <a:endParaRPr sz="1700" dirty="0">
              <a:latin typeface="Microsoft YaHei"/>
              <a:ea typeface="Microsoft YaHei"/>
              <a:cs typeface="Microsoft YaHei"/>
            </a:endParaRPr>
          </a:p>
        </p:txBody>
      </p:sp>
      <p:pic>
        <p:nvPicPr>
          <p:cNvPr id="472" name="picture 472"/>
          <p:cNvPicPr>
            <a:picLocks noChangeAspect="1"/>
          </p:cNvPicPr>
          <p:nvPr/>
        </p:nvPicPr>
        <p:blipFill>
          <a:blip r:embed="rId2"/>
          <a:stretch>
            <a:fillRect/>
          </a:stretch>
        </p:blipFill>
        <p:spPr>
          <a:xfrm rot="21600000">
            <a:off x="335279" y="807720"/>
            <a:ext cx="11519916" cy="67055"/>
          </a:xfrm>
          <a:prstGeom prst="rect">
            <a:avLst/>
          </a:prstGeom>
        </p:spPr>
      </p:pic>
      <p:sp>
        <p:nvSpPr>
          <p:cNvPr id="474" name="textbox 474"/>
          <p:cNvSpPr/>
          <p:nvPr/>
        </p:nvSpPr>
        <p:spPr>
          <a:xfrm>
            <a:off x="418058" y="255765"/>
            <a:ext cx="1850389" cy="328295"/>
          </a:xfrm>
          <a:prstGeom prst="rect">
            <a:avLst/>
          </a:prstGeom>
          <a:noFill/>
          <a:ln w="0" cap="flat">
            <a:noFill/>
            <a:prstDash val="solid"/>
            <a:miter lim="0"/>
          </a:ln>
        </p:spPr>
        <p:txBody>
          <a:bodyPr vert="horz" wrap="square" lIns="0" tIns="0" rIns="0" bIns="0"/>
          <a:lstStyle/>
          <a:p>
            <a:pPr algn="l" rtl="0" eaLnBrk="0">
              <a:lnSpc>
                <a:spcPct val="92058"/>
              </a:lnSpc>
              <a:tabLst/>
            </a:pPr>
            <a:endParaRPr sz="100" dirty="0">
              <a:latin typeface="Arial"/>
              <a:ea typeface="Arial"/>
              <a:cs typeface="Arial"/>
            </a:endParaRPr>
          </a:p>
          <a:p>
            <a:pPr marL="12700" algn="l" rtl="0" eaLnBrk="0">
              <a:lnSpc>
                <a:spcPct val="86000"/>
              </a:lnSpc>
              <a:tabLst/>
            </a:pPr>
            <a:r>
              <a:rPr sz="2300" b="1" kern="0" spc="90" dirty="0">
                <a:solidFill>
                  <a:srgbClr val="C00000">
                    <a:alpha val="100000"/>
                  </a:srgbClr>
                </a:solidFill>
                <a:latin typeface="Microsoft YaHei"/>
                <a:ea typeface="Microsoft YaHei"/>
                <a:cs typeface="Microsoft YaHei"/>
              </a:rPr>
              <a:t>批量迁移受理</a:t>
            </a:r>
            <a:endParaRPr sz="2300" dirty="0">
              <a:latin typeface="Microsoft YaHei"/>
              <a:ea typeface="Microsoft YaHei"/>
              <a:cs typeface="Microsoft YaHei"/>
            </a:endParaRPr>
          </a:p>
        </p:txBody>
      </p:sp>
      <p:pic>
        <p:nvPicPr>
          <p:cNvPr id="476" name="picture 476"/>
          <p:cNvPicPr>
            <a:picLocks noChangeAspect="1"/>
          </p:cNvPicPr>
          <p:nvPr/>
        </p:nvPicPr>
        <p:blipFill>
          <a:blip r:embed="rId3"/>
          <a:stretch>
            <a:fillRect/>
          </a:stretch>
        </p:blipFill>
        <p:spPr>
          <a:xfrm rot="21600000">
            <a:off x="11126046" y="215885"/>
            <a:ext cx="721486" cy="526694"/>
          </a:xfrm>
          <a:prstGeom prst="rect">
            <a:avLst/>
          </a:prstGeom>
        </p:spPr>
      </p:pic>
      <p:sp>
        <p:nvSpPr>
          <p:cNvPr id="478" name="textbox 478"/>
          <p:cNvSpPr/>
          <p:nvPr/>
        </p:nvSpPr>
        <p:spPr>
          <a:xfrm>
            <a:off x="11662743" y="6462377"/>
            <a:ext cx="224154"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20" dirty="0">
                <a:solidFill>
                  <a:srgbClr val="B1B1B1">
                    <a:alpha val="100000"/>
                  </a:srgbClr>
                </a:solidFill>
                <a:latin typeface="DengXian"/>
                <a:ea typeface="DengXian"/>
                <a:cs typeface="DengXian"/>
              </a:rPr>
              <a:t>15</a:t>
            </a:r>
            <a:endParaRPr sz="1500" dirty="0">
              <a:latin typeface="DengXian"/>
              <a:ea typeface="DengXian"/>
              <a:cs typeface="DengXi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0" name="table 480"/>
          <p:cNvGraphicFramePr>
            <a:graphicFrameLocks noGrp="1"/>
          </p:cNvGraphicFramePr>
          <p:nvPr/>
        </p:nvGraphicFramePr>
        <p:xfrm>
          <a:off x="701040" y="955675"/>
          <a:ext cx="10401300" cy="5813425"/>
        </p:xfrm>
        <a:graphic>
          <a:graphicData uri="http://schemas.openxmlformats.org/drawingml/2006/table">
            <a:tbl>
              <a:tblPr/>
              <a:tblGrid>
                <a:gridCol w="2182495"/>
                <a:gridCol w="2667000"/>
                <a:gridCol w="4173220"/>
                <a:gridCol w="1378585"/>
              </a:tblGrid>
              <a:tr h="414654">
                <a:tc>
                  <a:txBody>
                    <a:bodyPr/>
                    <a:lstStyle/>
                    <a:p>
                      <a:pPr algn="l" rtl="0" eaLnBrk="0">
                        <a:lnSpc>
                          <a:spcPct val="109000"/>
                        </a:lnSpc>
                        <a:tabLst/>
                      </a:pPr>
                      <a:endParaRPr sz="600" dirty="0">
                        <a:latin typeface="Arial"/>
                        <a:ea typeface="Arial"/>
                        <a:cs typeface="Arial"/>
                      </a:endParaRPr>
                    </a:p>
                    <a:p>
                      <a:pPr marL="387350" algn="l" rtl="0" eaLnBrk="0">
                        <a:lnSpc>
                          <a:spcPct val="88000"/>
                        </a:lnSpc>
                        <a:spcBef>
                          <a:spcPts val="7"/>
                        </a:spcBef>
                        <a:tabLst/>
                      </a:pPr>
                      <a:r>
                        <a:rPr sz="1500" b="1" kern="0" spc="90" dirty="0">
                          <a:solidFill>
                            <a:srgbClr val="FFFFFF">
                              <a:alpha val="100000"/>
                            </a:srgbClr>
                          </a:solidFill>
                          <a:latin typeface="Microsoft YaHei"/>
                          <a:ea typeface="Microsoft YaHei"/>
                          <a:cs typeface="Microsoft YaHei"/>
                        </a:rPr>
                        <a:t>关键功能测试项</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4472C4"/>
                    </a:solidFill>
                  </a:tcPr>
                </a:tc>
                <a:tc>
                  <a:txBody>
                    <a:bodyPr/>
                    <a:lstStyle/>
                    <a:p>
                      <a:pPr algn="l" rtl="0" eaLnBrk="0">
                        <a:lnSpc>
                          <a:spcPct val="108000"/>
                        </a:lnSpc>
                        <a:tabLst/>
                      </a:pPr>
                      <a:endParaRPr sz="600" dirty="0">
                        <a:latin typeface="Arial"/>
                        <a:ea typeface="Arial"/>
                        <a:cs typeface="Arial"/>
                      </a:endParaRPr>
                    </a:p>
                    <a:p>
                      <a:pPr marL="929005" algn="l" rtl="0" eaLnBrk="0">
                        <a:lnSpc>
                          <a:spcPct val="88000"/>
                        </a:lnSpc>
                        <a:spcBef>
                          <a:spcPts val="1"/>
                        </a:spcBef>
                        <a:tabLst/>
                      </a:pPr>
                      <a:r>
                        <a:rPr sz="1500" b="1" kern="0" spc="90" dirty="0">
                          <a:solidFill>
                            <a:srgbClr val="FFFFFF">
                              <a:alpha val="100000"/>
                            </a:srgbClr>
                          </a:solidFill>
                          <a:latin typeface="Microsoft YaHei"/>
                          <a:ea typeface="Microsoft YaHei"/>
                          <a:cs typeface="Microsoft YaHei"/>
                        </a:rPr>
                        <a:t>验收标准</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4472C4"/>
                    </a:solidFill>
                  </a:tcPr>
                </a:tc>
                <a:tc>
                  <a:txBody>
                    <a:bodyPr/>
                    <a:lstStyle/>
                    <a:p>
                      <a:pPr algn="l" rtl="0" eaLnBrk="0">
                        <a:lnSpc>
                          <a:spcPct val="111000"/>
                        </a:lnSpc>
                        <a:tabLst/>
                      </a:pPr>
                      <a:endParaRPr sz="600" dirty="0">
                        <a:latin typeface="Arial"/>
                        <a:ea typeface="Arial"/>
                        <a:cs typeface="Arial"/>
                      </a:endParaRPr>
                    </a:p>
                    <a:p>
                      <a:pPr marL="1784350" algn="l" rtl="0" eaLnBrk="0">
                        <a:lnSpc>
                          <a:spcPct val="87000"/>
                        </a:lnSpc>
                        <a:spcBef>
                          <a:spcPts val="1"/>
                        </a:spcBef>
                        <a:tabLst/>
                      </a:pPr>
                      <a:r>
                        <a:rPr sz="1500" b="1" kern="0" spc="80" dirty="0">
                          <a:solidFill>
                            <a:srgbClr val="FFFFFF">
                              <a:alpha val="100000"/>
                            </a:srgbClr>
                          </a:solidFill>
                          <a:latin typeface="Microsoft YaHei"/>
                          <a:ea typeface="Microsoft YaHei"/>
                          <a:cs typeface="Microsoft YaHei"/>
                        </a:rPr>
                        <a:t>示例图</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4472C4"/>
                    </a:solidFill>
                  </a:tcPr>
                </a:tc>
                <a:tc>
                  <a:txBody>
                    <a:bodyPr/>
                    <a:lstStyle/>
                    <a:p>
                      <a:pPr algn="l" rtl="0" eaLnBrk="0">
                        <a:lnSpc>
                          <a:spcPct val="109000"/>
                        </a:lnSpc>
                        <a:tabLst/>
                      </a:pPr>
                      <a:endParaRPr sz="600" dirty="0">
                        <a:latin typeface="Arial"/>
                        <a:ea typeface="Arial"/>
                        <a:cs typeface="Arial"/>
                      </a:endParaRPr>
                    </a:p>
                    <a:p>
                      <a:pPr marL="280670" algn="l" rtl="0" eaLnBrk="0">
                        <a:lnSpc>
                          <a:spcPct val="88000"/>
                        </a:lnSpc>
                        <a:spcBef>
                          <a:spcPts val="2"/>
                        </a:spcBef>
                        <a:tabLst/>
                      </a:pPr>
                      <a:r>
                        <a:rPr sz="1500" b="1" kern="0" spc="90" dirty="0">
                          <a:solidFill>
                            <a:srgbClr val="FFFFFF">
                              <a:alpha val="100000"/>
                            </a:srgbClr>
                          </a:solidFill>
                          <a:latin typeface="Microsoft YaHei"/>
                          <a:ea typeface="Microsoft YaHei"/>
                          <a:cs typeface="Microsoft YaHei"/>
                        </a:rPr>
                        <a:t>测试结果</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4472C4"/>
                    </a:solidFill>
                  </a:tcPr>
                </a:tc>
              </a:tr>
              <a:tr h="914400">
                <a:tc>
                  <a:txBody>
                    <a:bodyPr/>
                    <a:lstStyle/>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9011"/>
                        </a:lnSpc>
                        <a:tabLst/>
                      </a:pPr>
                      <a:endParaRPr sz="100" dirty="0">
                        <a:latin typeface="Arial"/>
                        <a:ea typeface="Arial"/>
                        <a:cs typeface="Arial"/>
                      </a:endParaRPr>
                    </a:p>
                    <a:p>
                      <a:pPr marL="627380" algn="l" rtl="0" eaLnBrk="0">
                        <a:lnSpc>
                          <a:spcPts val="2059"/>
                        </a:lnSpc>
                        <a:tabLst/>
                      </a:pPr>
                      <a:r>
                        <a:rPr sz="1500" kern="0" spc="0" dirty="0">
                          <a:solidFill>
                            <a:srgbClr val="000000">
                              <a:alpha val="100000"/>
                            </a:srgbClr>
                          </a:solidFill>
                          <a:latin typeface="Microsoft YaHei"/>
                          <a:ea typeface="Microsoft YaHei"/>
                          <a:cs typeface="Microsoft YaHei"/>
                        </a:rPr>
                        <a:t>Portal</a:t>
                      </a:r>
                      <a:r>
                        <a:rPr sz="1500" kern="0" spc="130" dirty="0">
                          <a:solidFill>
                            <a:srgbClr val="000000">
                              <a:alpha val="100000"/>
                            </a:srgbClr>
                          </a:solidFill>
                          <a:latin typeface="Microsoft YaHei"/>
                          <a:ea typeface="Microsoft YaHei"/>
                          <a:cs typeface="Microsoft YaHei"/>
                        </a:rPr>
                        <a:t>访问</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16000"/>
                        </a:lnSpc>
                        <a:tabLst/>
                      </a:pPr>
                      <a:endParaRPr sz="1000" dirty="0">
                        <a:latin typeface="Arial"/>
                        <a:ea typeface="Arial"/>
                        <a:cs typeface="Arial"/>
                      </a:endParaRPr>
                    </a:p>
                    <a:p>
                      <a:pPr algn="l" rtl="0" eaLnBrk="0">
                        <a:lnSpc>
                          <a:spcPct val="117000"/>
                        </a:lnSpc>
                        <a:tabLst/>
                      </a:pPr>
                      <a:endParaRPr sz="1000" dirty="0">
                        <a:latin typeface="Arial"/>
                        <a:ea typeface="Arial"/>
                        <a:cs typeface="Arial"/>
                      </a:endParaRPr>
                    </a:p>
                    <a:p>
                      <a:pPr marL="14604" algn="l" rtl="0" eaLnBrk="0">
                        <a:lnSpc>
                          <a:spcPct val="87000"/>
                        </a:lnSpc>
                        <a:spcBef>
                          <a:spcPts val="4"/>
                        </a:spcBef>
                        <a:tabLst/>
                      </a:pPr>
                      <a:r>
                        <a:rPr sz="1400" kern="0" spc="-10" dirty="0">
                          <a:solidFill>
                            <a:srgbClr val="000000">
                              <a:alpha val="100000"/>
                            </a:srgbClr>
                          </a:solidFill>
                          <a:latin typeface="Microsoft YaHei"/>
                          <a:ea typeface="Microsoft YaHei"/>
                          <a:cs typeface="Microsoft YaHei"/>
                        </a:rPr>
                        <a:t>正常访问登录控制台</a:t>
                      </a:r>
                      <a:endParaRPr sz="14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723900">
                <a:tc>
                  <a:txBody>
                    <a:bodyPr/>
                    <a:lstStyle/>
                    <a:p>
                      <a:pPr algn="l" rtl="0" eaLnBrk="0">
                        <a:lnSpc>
                          <a:spcPct val="163000"/>
                        </a:lnSpc>
                        <a:tabLst/>
                      </a:pPr>
                      <a:endParaRPr sz="1000" dirty="0">
                        <a:latin typeface="Arial"/>
                        <a:ea typeface="Arial"/>
                        <a:cs typeface="Arial"/>
                      </a:endParaRPr>
                    </a:p>
                    <a:p>
                      <a:pPr algn="l" rtl="0" eaLnBrk="0">
                        <a:lnSpc>
                          <a:spcPct val="6319"/>
                        </a:lnSpc>
                        <a:tabLst/>
                      </a:pPr>
                      <a:endParaRPr sz="100" dirty="0">
                        <a:latin typeface="Arial"/>
                        <a:ea typeface="Arial"/>
                        <a:cs typeface="Arial"/>
                      </a:endParaRPr>
                    </a:p>
                    <a:p>
                      <a:pPr marL="693419" algn="l" rtl="0" eaLnBrk="0">
                        <a:lnSpc>
                          <a:spcPct val="88000"/>
                        </a:lnSpc>
                        <a:tabLst/>
                      </a:pPr>
                      <a:r>
                        <a:rPr sz="1500" kern="0" spc="80" dirty="0">
                          <a:solidFill>
                            <a:srgbClr val="000000">
                              <a:alpha val="100000"/>
                            </a:srgbClr>
                          </a:solidFill>
                          <a:latin typeface="Microsoft YaHei"/>
                          <a:ea typeface="Microsoft YaHei"/>
                          <a:cs typeface="Microsoft YaHei"/>
                        </a:rPr>
                        <a:t>设备注册</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5000"/>
                        </a:lnSpc>
                        <a:tabLst/>
                      </a:pPr>
                      <a:endParaRPr sz="900" dirty="0">
                        <a:latin typeface="Arial"/>
                        <a:ea typeface="Arial"/>
                        <a:cs typeface="Arial"/>
                      </a:endParaRPr>
                    </a:p>
                    <a:p>
                      <a:pPr marL="14604" indent="1270" algn="l" rtl="0" eaLnBrk="0">
                        <a:lnSpc>
                          <a:spcPct val="93000"/>
                        </a:lnSpc>
                        <a:spcBef>
                          <a:spcPts val="4"/>
                        </a:spcBef>
                        <a:tabLst/>
                      </a:pPr>
                      <a:r>
                        <a:rPr sz="1400" kern="0" spc="-20" dirty="0">
                          <a:solidFill>
                            <a:srgbClr val="000000">
                              <a:alpha val="100000"/>
                            </a:srgbClr>
                          </a:solidFill>
                          <a:latin typeface="Microsoft YaHei"/>
                          <a:ea typeface="Microsoft YaHei"/>
                          <a:cs typeface="Microsoft YaHei"/>
                        </a:rPr>
                        <a:t>设备正常添加</a:t>
                      </a:r>
                      <a:r>
                        <a:rPr sz="1400" kern="0" spc="-18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，状态为已激活，</a:t>
                      </a:r>
                      <a:r>
                        <a:rPr sz="1400" kern="0" spc="-20" dirty="0">
                          <a:solidFill>
                            <a:srgbClr val="000000">
                              <a:alpha val="100000"/>
                            </a:srgbClr>
                          </a:solidFill>
                          <a:latin typeface="Microsoft YaHei"/>
                          <a:ea typeface="Microsoft YaHei"/>
                          <a:cs typeface="Microsoft YaHei"/>
                        </a:rPr>
                        <a:t>在线</a:t>
                      </a:r>
                      <a:endParaRPr sz="14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977900">
                <a:tc>
                  <a:txBody>
                    <a:bodyPr/>
                    <a:lstStyle/>
                    <a:p>
                      <a:pPr algn="l" rtl="0" eaLnBrk="0">
                        <a:lnSpc>
                          <a:spcPct val="124000"/>
                        </a:lnSpc>
                        <a:tabLst/>
                      </a:pPr>
                      <a:endParaRPr sz="1000" dirty="0">
                        <a:latin typeface="Arial"/>
                        <a:ea typeface="Arial"/>
                        <a:cs typeface="Arial"/>
                      </a:endParaRPr>
                    </a:p>
                    <a:p>
                      <a:pPr algn="l" rtl="0" eaLnBrk="0">
                        <a:lnSpc>
                          <a:spcPct val="125000"/>
                        </a:lnSpc>
                        <a:tabLst/>
                      </a:pPr>
                      <a:endParaRPr sz="1000" dirty="0">
                        <a:latin typeface="Arial"/>
                        <a:ea typeface="Arial"/>
                        <a:cs typeface="Arial"/>
                      </a:endParaRPr>
                    </a:p>
                    <a:p>
                      <a:pPr marL="690880" algn="l" rtl="0" eaLnBrk="0">
                        <a:lnSpc>
                          <a:spcPct val="87000"/>
                        </a:lnSpc>
                        <a:spcBef>
                          <a:spcPts val="1"/>
                        </a:spcBef>
                        <a:tabLst/>
                      </a:pPr>
                      <a:r>
                        <a:rPr sz="1500" kern="0" spc="90" dirty="0">
                          <a:solidFill>
                            <a:srgbClr val="000000">
                              <a:alpha val="100000"/>
                            </a:srgbClr>
                          </a:solidFill>
                          <a:latin typeface="Microsoft YaHei"/>
                          <a:ea typeface="Microsoft YaHei"/>
                          <a:cs typeface="Microsoft YaHei"/>
                        </a:rPr>
                        <a:t>数据上报</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27000"/>
                        </a:lnSpc>
                        <a:tabLst/>
                      </a:pPr>
                      <a:endParaRPr sz="1000" dirty="0">
                        <a:latin typeface="Arial"/>
                        <a:ea typeface="Arial"/>
                        <a:cs typeface="Arial"/>
                      </a:endParaRPr>
                    </a:p>
                    <a:p>
                      <a:pPr algn="l" rtl="0" eaLnBrk="0">
                        <a:lnSpc>
                          <a:spcPct val="127000"/>
                        </a:lnSpc>
                        <a:tabLst/>
                      </a:pPr>
                      <a:endParaRPr sz="1000" dirty="0">
                        <a:latin typeface="Arial"/>
                        <a:ea typeface="Arial"/>
                        <a:cs typeface="Arial"/>
                      </a:endParaRPr>
                    </a:p>
                    <a:p>
                      <a:pPr algn="l" rtl="0" eaLnBrk="0">
                        <a:lnSpc>
                          <a:spcPct val="9638"/>
                        </a:lnSpc>
                        <a:tabLst/>
                      </a:pPr>
                      <a:endParaRPr sz="100" dirty="0">
                        <a:latin typeface="Arial"/>
                        <a:ea typeface="Arial"/>
                        <a:cs typeface="Arial"/>
                      </a:endParaRPr>
                    </a:p>
                    <a:p>
                      <a:pPr marL="13970" algn="l" rtl="0" eaLnBrk="0">
                        <a:lnSpc>
                          <a:spcPct val="87000"/>
                        </a:lnSpc>
                        <a:tabLst/>
                      </a:pPr>
                      <a:r>
                        <a:rPr sz="1400" kern="0" spc="0" dirty="0">
                          <a:solidFill>
                            <a:srgbClr val="000000">
                              <a:alpha val="100000"/>
                            </a:srgbClr>
                          </a:solidFill>
                          <a:latin typeface="Microsoft YaHei"/>
                          <a:ea typeface="Microsoft YaHei"/>
                          <a:cs typeface="Microsoft YaHei"/>
                        </a:rPr>
                        <a:t>数据查询查看有数据</a:t>
                      </a:r>
                      <a:r>
                        <a:rPr sz="1400" kern="0" spc="-10" dirty="0">
                          <a:solidFill>
                            <a:srgbClr val="000000">
                              <a:alpha val="100000"/>
                            </a:srgbClr>
                          </a:solidFill>
                          <a:latin typeface="Microsoft YaHei"/>
                          <a:ea typeface="Microsoft YaHei"/>
                          <a:cs typeface="Microsoft YaHei"/>
                        </a:rPr>
                        <a:t>展示</a:t>
                      </a:r>
                      <a:endParaRPr sz="14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698500">
                <a:tc>
                  <a:txBody>
                    <a:bodyPr/>
                    <a:lstStyle/>
                    <a:p>
                      <a:pPr algn="l" rtl="0" eaLnBrk="0">
                        <a:lnSpc>
                          <a:spcPct val="155000"/>
                        </a:lnSpc>
                        <a:tabLst/>
                      </a:pPr>
                      <a:endParaRPr sz="1000" dirty="0">
                        <a:latin typeface="Arial"/>
                        <a:ea typeface="Arial"/>
                        <a:cs typeface="Arial"/>
                      </a:endParaRPr>
                    </a:p>
                    <a:p>
                      <a:pPr algn="l" rtl="0" eaLnBrk="0">
                        <a:lnSpc>
                          <a:spcPct val="6514"/>
                        </a:lnSpc>
                        <a:tabLst/>
                      </a:pPr>
                      <a:endParaRPr sz="100" dirty="0">
                        <a:latin typeface="Arial"/>
                        <a:ea typeface="Arial"/>
                        <a:cs typeface="Arial"/>
                      </a:endParaRPr>
                    </a:p>
                    <a:p>
                      <a:pPr marL="692150" algn="l" rtl="0" eaLnBrk="0">
                        <a:lnSpc>
                          <a:spcPct val="88000"/>
                        </a:lnSpc>
                        <a:tabLst/>
                      </a:pPr>
                      <a:r>
                        <a:rPr sz="1500" kern="0" spc="90" dirty="0">
                          <a:solidFill>
                            <a:srgbClr val="000000">
                              <a:alpha val="100000"/>
                            </a:srgbClr>
                          </a:solidFill>
                          <a:latin typeface="Microsoft YaHei"/>
                          <a:ea typeface="Microsoft YaHei"/>
                          <a:cs typeface="Microsoft YaHei"/>
                        </a:rPr>
                        <a:t>命令下发</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92000"/>
                        </a:lnSpc>
                        <a:tabLst/>
                      </a:pPr>
                      <a:endParaRPr sz="100" dirty="0">
                        <a:latin typeface="Arial"/>
                        <a:ea typeface="Arial"/>
                        <a:cs typeface="Arial"/>
                      </a:endParaRPr>
                    </a:p>
                    <a:p>
                      <a:pPr marL="14604" indent="1905" algn="l" rtl="0" eaLnBrk="0">
                        <a:lnSpc>
                          <a:spcPct val="95000"/>
                        </a:lnSpc>
                        <a:tabLst/>
                      </a:pPr>
                      <a:r>
                        <a:rPr sz="1400" kern="0" spc="0" dirty="0">
                          <a:solidFill>
                            <a:srgbClr val="000000">
                              <a:alpha val="100000"/>
                            </a:srgbClr>
                          </a:solidFill>
                          <a:latin typeface="Microsoft YaHei"/>
                          <a:ea typeface="Microsoft YaHei"/>
                          <a:cs typeface="Microsoft YaHei"/>
                        </a:rPr>
                        <a:t>平台下发或接口调用</a:t>
                      </a:r>
                      <a:r>
                        <a:rPr sz="1400" kern="0" spc="-10" dirty="0">
                          <a:solidFill>
                            <a:srgbClr val="000000">
                              <a:alpha val="100000"/>
                            </a:srgbClr>
                          </a:solidFill>
                          <a:latin typeface="Microsoft YaHei"/>
                          <a:ea typeface="Microsoft YaHei"/>
                          <a:cs typeface="Microsoft YaHei"/>
                        </a:rPr>
                        <a:t>下发指令成</a:t>
                      </a:r>
                      <a:r>
                        <a:rPr sz="1400" kern="0" spc="-20" dirty="0">
                          <a:solidFill>
                            <a:srgbClr val="000000">
                              <a:alpha val="100000"/>
                            </a:srgbClr>
                          </a:solidFill>
                          <a:latin typeface="Microsoft YaHei"/>
                          <a:ea typeface="Microsoft YaHei"/>
                          <a:cs typeface="Microsoft YaHei"/>
                        </a:rPr>
                        <a:t>功</a:t>
                      </a:r>
                      <a:r>
                        <a:rPr sz="1400" kern="0" spc="-170" dirty="0">
                          <a:solidFill>
                            <a:srgbClr val="000000">
                              <a:alpha val="100000"/>
                            </a:srgbClr>
                          </a:solidFill>
                          <a:latin typeface="Microsoft YaHei"/>
                          <a:ea typeface="Microsoft YaHei"/>
                          <a:cs typeface="Microsoft YaHei"/>
                        </a:rPr>
                        <a:t> </a:t>
                      </a:r>
                      <a:r>
                        <a:rPr sz="1400" kern="0" spc="-20" dirty="0">
                          <a:solidFill>
                            <a:srgbClr val="000000">
                              <a:alpha val="100000"/>
                            </a:srgbClr>
                          </a:solidFill>
                          <a:latin typeface="Microsoft YaHei"/>
                          <a:ea typeface="Microsoft YaHei"/>
                          <a:cs typeface="Microsoft YaHei"/>
                        </a:rPr>
                        <a:t>，指令日志可见指令状态为已</a:t>
                      </a:r>
                      <a:r>
                        <a:rPr sz="1400" kern="0" spc="-10" dirty="0">
                          <a:solidFill>
                            <a:srgbClr val="000000">
                              <a:alpha val="100000"/>
                            </a:srgbClr>
                          </a:solidFill>
                          <a:latin typeface="Microsoft YaHei"/>
                          <a:ea typeface="Microsoft YaHei"/>
                          <a:cs typeface="Microsoft YaHei"/>
                        </a:rPr>
                        <a:t>送达或已完成</a:t>
                      </a:r>
                      <a:endParaRPr sz="14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1083944">
                <a:tc>
                  <a:txBody>
                    <a:bodyPr/>
                    <a:lstStyle/>
                    <a:p>
                      <a:pPr algn="l" rtl="0" eaLnBrk="0">
                        <a:lnSpc>
                          <a:spcPct val="141000"/>
                        </a:lnSpc>
                        <a:tabLst/>
                      </a:pPr>
                      <a:endParaRPr sz="1000" dirty="0">
                        <a:latin typeface="Arial"/>
                        <a:ea typeface="Arial"/>
                        <a:cs typeface="Arial"/>
                      </a:endParaRPr>
                    </a:p>
                    <a:p>
                      <a:pPr algn="l" rtl="0" eaLnBrk="0">
                        <a:lnSpc>
                          <a:spcPct val="141000"/>
                        </a:lnSpc>
                        <a:tabLst/>
                      </a:pPr>
                      <a:endParaRPr sz="1000" dirty="0">
                        <a:latin typeface="Arial"/>
                        <a:ea typeface="Arial"/>
                        <a:cs typeface="Arial"/>
                      </a:endParaRPr>
                    </a:p>
                    <a:p>
                      <a:pPr algn="l" rtl="0" eaLnBrk="0">
                        <a:lnSpc>
                          <a:spcPct val="7037"/>
                        </a:lnSpc>
                        <a:tabLst/>
                      </a:pPr>
                      <a:endParaRPr sz="100" dirty="0">
                        <a:latin typeface="Arial"/>
                        <a:ea typeface="Arial"/>
                        <a:cs typeface="Arial"/>
                      </a:endParaRPr>
                    </a:p>
                    <a:p>
                      <a:pPr marL="692150" algn="l" rtl="0" eaLnBrk="0">
                        <a:lnSpc>
                          <a:spcPct val="87000"/>
                        </a:lnSpc>
                        <a:tabLst/>
                      </a:pPr>
                      <a:r>
                        <a:rPr sz="1500" kern="0" spc="90" dirty="0">
                          <a:solidFill>
                            <a:srgbClr val="000000">
                              <a:alpha val="100000"/>
                            </a:srgbClr>
                          </a:solidFill>
                          <a:latin typeface="Microsoft YaHei"/>
                          <a:ea typeface="Microsoft YaHei"/>
                          <a:cs typeface="Microsoft YaHei"/>
                        </a:rPr>
                        <a:t>北向推送</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marL="15875" indent="-1270" algn="l" rtl="0" eaLnBrk="0">
                        <a:lnSpc>
                          <a:spcPct val="93000"/>
                        </a:lnSpc>
                        <a:spcBef>
                          <a:spcPts val="3"/>
                        </a:spcBef>
                        <a:tabLst/>
                      </a:pPr>
                      <a:r>
                        <a:rPr sz="1400" kern="0" spc="0" dirty="0">
                          <a:solidFill>
                            <a:srgbClr val="000000">
                              <a:alpha val="100000"/>
                            </a:srgbClr>
                          </a:solidFill>
                          <a:latin typeface="Microsoft YaHei"/>
                          <a:ea typeface="Microsoft YaHei"/>
                          <a:cs typeface="Microsoft YaHei"/>
                        </a:rPr>
                        <a:t>消息跟踪可见推送成功或</a:t>
                      </a:r>
                      <a:r>
                        <a:rPr sz="1400" kern="0" spc="-10" dirty="0">
                          <a:solidFill>
                            <a:srgbClr val="000000">
                              <a:alpha val="100000"/>
                            </a:srgbClr>
                          </a:solidFill>
                          <a:latin typeface="Microsoft YaHei"/>
                          <a:ea typeface="Microsoft YaHei"/>
                          <a:cs typeface="Microsoft YaHei"/>
                        </a:rPr>
                        <a:t>客户应</a:t>
                      </a:r>
                      <a:r>
                        <a:rPr sz="1400" kern="0" spc="-10" dirty="0">
                          <a:solidFill>
                            <a:srgbClr val="000000">
                              <a:alpha val="100000"/>
                            </a:srgbClr>
                          </a:solidFill>
                          <a:latin typeface="Microsoft YaHei"/>
                          <a:ea typeface="Microsoft YaHei"/>
                          <a:cs typeface="Microsoft YaHei"/>
                        </a:rPr>
                        <a:t>用侧接收到设备推送数据</a:t>
                      </a:r>
                      <a:endParaRPr sz="14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1000125">
                <a:tc>
                  <a:txBody>
                    <a:bodyPr/>
                    <a:lstStyle/>
                    <a:p>
                      <a:pPr algn="l" rtl="0" eaLnBrk="0">
                        <a:lnSpc>
                          <a:spcPct val="113000"/>
                        </a:lnSpc>
                        <a:tabLst/>
                      </a:pPr>
                      <a:endParaRPr sz="1000" dirty="0">
                        <a:latin typeface="Arial"/>
                        <a:ea typeface="Arial"/>
                        <a:cs typeface="Arial"/>
                      </a:endParaRPr>
                    </a:p>
                    <a:p>
                      <a:pPr algn="l" rtl="0" eaLnBrk="0">
                        <a:lnSpc>
                          <a:spcPct val="113000"/>
                        </a:lnSpc>
                        <a:tabLst/>
                      </a:pPr>
                      <a:endParaRPr sz="1000" dirty="0">
                        <a:latin typeface="Arial"/>
                        <a:ea typeface="Arial"/>
                        <a:cs typeface="Arial"/>
                      </a:endParaRPr>
                    </a:p>
                    <a:p>
                      <a:pPr algn="l" rtl="0" eaLnBrk="0">
                        <a:lnSpc>
                          <a:spcPct val="9032"/>
                        </a:lnSpc>
                        <a:tabLst/>
                      </a:pPr>
                      <a:endParaRPr sz="100" dirty="0">
                        <a:latin typeface="Arial"/>
                        <a:ea typeface="Arial"/>
                        <a:cs typeface="Arial"/>
                      </a:endParaRPr>
                    </a:p>
                    <a:p>
                      <a:pPr marL="529590" algn="l" rtl="0" eaLnBrk="0">
                        <a:lnSpc>
                          <a:spcPts val="2059"/>
                        </a:lnSpc>
                        <a:tabLst/>
                      </a:pPr>
                      <a:r>
                        <a:rPr sz="1500" kern="0" spc="120" dirty="0">
                          <a:solidFill>
                            <a:srgbClr val="000000">
                              <a:alpha val="100000"/>
                            </a:srgbClr>
                          </a:solidFill>
                          <a:latin typeface="Microsoft YaHei"/>
                          <a:ea typeface="Microsoft YaHei"/>
                          <a:cs typeface="Microsoft YaHei"/>
                        </a:rPr>
                        <a:t>开放</a:t>
                      </a:r>
                      <a:r>
                        <a:rPr sz="1500" kern="0" spc="0" dirty="0">
                          <a:solidFill>
                            <a:srgbClr val="000000">
                              <a:alpha val="100000"/>
                            </a:srgbClr>
                          </a:solidFill>
                          <a:latin typeface="Microsoft YaHei"/>
                          <a:ea typeface="Microsoft YaHei"/>
                          <a:cs typeface="Microsoft YaHei"/>
                        </a:rPr>
                        <a:t>API</a:t>
                      </a:r>
                      <a:r>
                        <a:rPr sz="1500" kern="0" spc="120" dirty="0">
                          <a:solidFill>
                            <a:srgbClr val="000000">
                              <a:alpha val="100000"/>
                            </a:srgbClr>
                          </a:solidFill>
                          <a:latin typeface="Microsoft YaHei"/>
                          <a:ea typeface="Microsoft YaHei"/>
                          <a:cs typeface="Microsoft YaHei"/>
                        </a:rPr>
                        <a:t>接口</a:t>
                      </a:r>
                      <a:endParaRPr sz="15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83000"/>
                        </a:lnSpc>
                        <a:tabLst/>
                      </a:pPr>
                      <a:endParaRPr sz="1000" dirty="0">
                        <a:latin typeface="Arial"/>
                        <a:ea typeface="Arial"/>
                        <a:cs typeface="Arial"/>
                      </a:endParaRPr>
                    </a:p>
                    <a:p>
                      <a:pPr algn="l" rtl="0" eaLnBrk="0">
                        <a:lnSpc>
                          <a:spcPct val="6646"/>
                        </a:lnSpc>
                        <a:tabLst/>
                      </a:pPr>
                      <a:endParaRPr sz="100" dirty="0">
                        <a:latin typeface="Arial"/>
                        <a:ea typeface="Arial"/>
                        <a:cs typeface="Arial"/>
                      </a:endParaRPr>
                    </a:p>
                    <a:p>
                      <a:pPr marL="19684" indent="-5080" algn="l" rtl="0" eaLnBrk="0">
                        <a:lnSpc>
                          <a:spcPct val="93000"/>
                        </a:lnSpc>
                        <a:tabLst/>
                      </a:pPr>
                      <a:r>
                        <a:rPr sz="1400" kern="0" spc="0" dirty="0">
                          <a:solidFill>
                            <a:srgbClr val="000000">
                              <a:alpha val="100000"/>
                            </a:srgbClr>
                          </a:solidFill>
                          <a:latin typeface="Microsoft YaHei"/>
                          <a:ea typeface="Microsoft YaHei"/>
                          <a:cs typeface="Microsoft YaHei"/>
                        </a:rPr>
                        <a:t>在线调试或客户应用系统</a:t>
                      </a:r>
                      <a:r>
                        <a:rPr sz="1400" kern="0" spc="-10" dirty="0">
                          <a:solidFill>
                            <a:srgbClr val="000000">
                              <a:alpha val="100000"/>
                            </a:srgbClr>
                          </a:solidFill>
                          <a:latin typeface="Microsoft YaHei"/>
                          <a:ea typeface="Microsoft YaHei"/>
                          <a:cs typeface="Microsoft YaHei"/>
                        </a:rPr>
                        <a:t>调用平</a:t>
                      </a:r>
                      <a:r>
                        <a:rPr sz="1400" kern="0" spc="-10" dirty="0">
                          <a:solidFill>
                            <a:srgbClr val="000000">
                              <a:alpha val="100000"/>
                            </a:srgbClr>
                          </a:solidFill>
                          <a:latin typeface="Microsoft YaHei"/>
                          <a:ea typeface="Microsoft YaHei"/>
                          <a:cs typeface="Microsoft YaHei"/>
                        </a:rPr>
                        <a:t>台任意功能接口成功</a:t>
                      </a:r>
                      <a:endParaRPr sz="1400" dirty="0">
                        <a:latin typeface="Microsoft YaHei"/>
                        <a:ea typeface="Microsoft YaHei"/>
                        <a:cs typeface="Microsoft YaHei"/>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pic>
        <p:nvPicPr>
          <p:cNvPr id="482" name="picture 482"/>
          <p:cNvPicPr>
            <a:picLocks noChangeAspect="1"/>
          </p:cNvPicPr>
          <p:nvPr/>
        </p:nvPicPr>
        <p:blipFill>
          <a:blip r:embed="rId2"/>
          <a:stretch>
            <a:fillRect/>
          </a:stretch>
        </p:blipFill>
        <p:spPr>
          <a:xfrm rot="21600000">
            <a:off x="6019800" y="3022091"/>
            <a:ext cx="3572256" cy="934211"/>
          </a:xfrm>
          <a:prstGeom prst="rect">
            <a:avLst/>
          </a:prstGeom>
        </p:spPr>
      </p:pic>
      <p:pic>
        <p:nvPicPr>
          <p:cNvPr id="484" name="picture 484"/>
          <p:cNvPicPr>
            <a:picLocks noChangeAspect="1"/>
          </p:cNvPicPr>
          <p:nvPr/>
        </p:nvPicPr>
        <p:blipFill>
          <a:blip r:embed="rId3"/>
          <a:stretch>
            <a:fillRect/>
          </a:stretch>
        </p:blipFill>
        <p:spPr>
          <a:xfrm rot="21600000">
            <a:off x="6763511" y="4721351"/>
            <a:ext cx="2086355" cy="1010411"/>
          </a:xfrm>
          <a:prstGeom prst="rect">
            <a:avLst/>
          </a:prstGeom>
        </p:spPr>
      </p:pic>
      <p:pic>
        <p:nvPicPr>
          <p:cNvPr id="486" name="picture 486"/>
          <p:cNvPicPr>
            <a:picLocks noChangeAspect="1"/>
          </p:cNvPicPr>
          <p:nvPr/>
        </p:nvPicPr>
        <p:blipFill>
          <a:blip r:embed="rId4"/>
          <a:stretch>
            <a:fillRect/>
          </a:stretch>
        </p:blipFill>
        <p:spPr>
          <a:xfrm rot="21600000">
            <a:off x="6300215" y="2296668"/>
            <a:ext cx="3009899" cy="690371"/>
          </a:xfrm>
          <a:prstGeom prst="rect">
            <a:avLst/>
          </a:prstGeom>
        </p:spPr>
      </p:pic>
      <p:pic>
        <p:nvPicPr>
          <p:cNvPr id="488" name="picture 488"/>
          <p:cNvPicPr>
            <a:picLocks noChangeAspect="1"/>
          </p:cNvPicPr>
          <p:nvPr/>
        </p:nvPicPr>
        <p:blipFill>
          <a:blip r:embed="rId5"/>
          <a:stretch>
            <a:fillRect/>
          </a:stretch>
        </p:blipFill>
        <p:spPr>
          <a:xfrm rot="21600000">
            <a:off x="6019800" y="4058411"/>
            <a:ext cx="3572256" cy="571500"/>
          </a:xfrm>
          <a:prstGeom prst="rect">
            <a:avLst/>
          </a:prstGeom>
        </p:spPr>
      </p:pic>
      <p:pic>
        <p:nvPicPr>
          <p:cNvPr id="490" name="picture 490"/>
          <p:cNvPicPr>
            <a:picLocks noChangeAspect="1"/>
          </p:cNvPicPr>
          <p:nvPr/>
        </p:nvPicPr>
        <p:blipFill>
          <a:blip r:embed="rId6"/>
          <a:stretch>
            <a:fillRect/>
          </a:stretch>
        </p:blipFill>
        <p:spPr>
          <a:xfrm rot="21600000">
            <a:off x="6763511" y="5795772"/>
            <a:ext cx="2124455" cy="923543"/>
          </a:xfrm>
          <a:prstGeom prst="rect">
            <a:avLst/>
          </a:prstGeom>
        </p:spPr>
      </p:pic>
      <p:pic>
        <p:nvPicPr>
          <p:cNvPr id="492" name="picture 492"/>
          <p:cNvPicPr>
            <a:picLocks noChangeAspect="1"/>
          </p:cNvPicPr>
          <p:nvPr/>
        </p:nvPicPr>
        <p:blipFill>
          <a:blip r:embed="rId7"/>
          <a:stretch>
            <a:fillRect/>
          </a:stretch>
        </p:blipFill>
        <p:spPr>
          <a:xfrm rot="21600000">
            <a:off x="6763511" y="1373123"/>
            <a:ext cx="2200655" cy="882396"/>
          </a:xfrm>
          <a:prstGeom prst="rect">
            <a:avLst/>
          </a:prstGeom>
        </p:spPr>
      </p:pic>
      <p:sp>
        <p:nvSpPr>
          <p:cNvPr id="494" name="textbox 494"/>
          <p:cNvSpPr/>
          <p:nvPr/>
        </p:nvSpPr>
        <p:spPr>
          <a:xfrm>
            <a:off x="418363" y="251803"/>
            <a:ext cx="3812540" cy="332740"/>
          </a:xfrm>
          <a:prstGeom prst="rect">
            <a:avLst/>
          </a:prstGeom>
          <a:noFill/>
          <a:ln w="0" cap="flat">
            <a:noFill/>
            <a:prstDash val="solid"/>
            <a:miter lim="0"/>
          </a:ln>
        </p:spPr>
        <p:txBody>
          <a:bodyPr vert="horz" wrap="square" lIns="0" tIns="0" rIns="0" bIns="0"/>
          <a:lstStyle/>
          <a:p>
            <a:pPr algn="l" rtl="0" eaLnBrk="0">
              <a:lnSpc>
                <a:spcPct val="75966"/>
              </a:lnSpc>
              <a:tabLst/>
            </a:pPr>
            <a:endParaRPr sz="100" dirty="0">
              <a:latin typeface="Arial"/>
              <a:ea typeface="Arial"/>
              <a:cs typeface="Arial"/>
            </a:endParaRPr>
          </a:p>
          <a:p>
            <a:pPr marL="12700" algn="l" rtl="0" eaLnBrk="0">
              <a:lnSpc>
                <a:spcPct val="88000"/>
              </a:lnSpc>
              <a:tabLst/>
            </a:pPr>
            <a:r>
              <a:rPr sz="2300" b="1" kern="0" spc="90" dirty="0">
                <a:solidFill>
                  <a:srgbClr val="C00000">
                    <a:alpha val="100000"/>
                  </a:srgbClr>
                </a:solidFill>
                <a:latin typeface="Microsoft YaHei"/>
                <a:ea typeface="Microsoft YaHei"/>
                <a:cs typeface="Microsoft YaHei"/>
              </a:rPr>
              <a:t>端到端验证清单及标准-客户</a:t>
            </a:r>
            <a:endParaRPr sz="2300" dirty="0">
              <a:latin typeface="Microsoft YaHei"/>
              <a:ea typeface="Microsoft YaHei"/>
              <a:cs typeface="Microsoft YaHei"/>
            </a:endParaRPr>
          </a:p>
        </p:txBody>
      </p:sp>
      <p:pic>
        <p:nvPicPr>
          <p:cNvPr id="496" name="picture 496"/>
          <p:cNvPicPr>
            <a:picLocks noChangeAspect="1"/>
          </p:cNvPicPr>
          <p:nvPr/>
        </p:nvPicPr>
        <p:blipFill>
          <a:blip r:embed="rId8"/>
          <a:stretch>
            <a:fillRect/>
          </a:stretch>
        </p:blipFill>
        <p:spPr>
          <a:xfrm rot="21600000">
            <a:off x="335279" y="807720"/>
            <a:ext cx="11519916" cy="67055"/>
          </a:xfrm>
          <a:prstGeom prst="rect">
            <a:avLst/>
          </a:prstGeom>
        </p:spPr>
      </p:pic>
      <p:pic>
        <p:nvPicPr>
          <p:cNvPr id="498" name="picture 498"/>
          <p:cNvPicPr>
            <a:picLocks noChangeAspect="1"/>
          </p:cNvPicPr>
          <p:nvPr/>
        </p:nvPicPr>
        <p:blipFill>
          <a:blip r:embed="rId9"/>
          <a:stretch>
            <a:fillRect/>
          </a:stretch>
        </p:blipFill>
        <p:spPr>
          <a:xfrm rot="21600000">
            <a:off x="11126046" y="215885"/>
            <a:ext cx="721486" cy="526694"/>
          </a:xfrm>
          <a:prstGeom prst="rect">
            <a:avLst/>
          </a:prstGeom>
        </p:spPr>
      </p:pic>
      <p:sp>
        <p:nvSpPr>
          <p:cNvPr id="500" name="textbox 500"/>
          <p:cNvSpPr/>
          <p:nvPr/>
        </p:nvSpPr>
        <p:spPr>
          <a:xfrm>
            <a:off x="11662743" y="6462377"/>
            <a:ext cx="224154"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20" dirty="0">
                <a:solidFill>
                  <a:srgbClr val="B1B1B1">
                    <a:alpha val="100000"/>
                  </a:srgbClr>
                </a:solidFill>
                <a:latin typeface="DengXian"/>
                <a:ea typeface="DengXian"/>
                <a:cs typeface="DengXian"/>
              </a:rPr>
              <a:t>16</a:t>
            </a:r>
            <a:endParaRPr sz="1500" dirty="0">
              <a:latin typeface="DengXian"/>
              <a:ea typeface="DengXian"/>
              <a:cs typeface="DengXi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2" name="table 502"/>
          <p:cNvGraphicFramePr>
            <a:graphicFrameLocks noGrp="1"/>
          </p:cNvGraphicFramePr>
          <p:nvPr/>
        </p:nvGraphicFramePr>
        <p:xfrm>
          <a:off x="483717" y="1871281"/>
          <a:ext cx="9690734" cy="1779270"/>
        </p:xfrm>
        <a:graphic>
          <a:graphicData uri="http://schemas.openxmlformats.org/drawingml/2006/table">
            <a:tbl>
              <a:tblPr/>
              <a:tblGrid>
                <a:gridCol w="1191895"/>
                <a:gridCol w="3836669"/>
                <a:gridCol w="4662169"/>
              </a:tblGrid>
              <a:tr h="490854">
                <a:tc>
                  <a:txBody>
                    <a:bodyPr/>
                    <a:lstStyle/>
                    <a:p>
                      <a:pPr algn="l" rtl="0" eaLnBrk="0">
                        <a:lnSpc>
                          <a:spcPct val="102000"/>
                        </a:lnSpc>
                        <a:tabLst/>
                      </a:pPr>
                      <a:endParaRPr sz="900" dirty="0">
                        <a:latin typeface="Arial"/>
                        <a:ea typeface="Arial"/>
                        <a:cs typeface="Arial"/>
                      </a:endParaRPr>
                    </a:p>
                    <a:p>
                      <a:pPr algn="l" rtl="0" eaLnBrk="0">
                        <a:lnSpc>
                          <a:spcPct val="8228"/>
                        </a:lnSpc>
                        <a:tabLst/>
                      </a:pPr>
                      <a:endParaRPr sz="100" dirty="0">
                        <a:latin typeface="Arial"/>
                        <a:ea typeface="Arial"/>
                        <a:cs typeface="Arial"/>
                      </a:endParaRPr>
                    </a:p>
                    <a:p>
                      <a:pPr marL="373379" algn="l" rtl="0" eaLnBrk="0">
                        <a:lnSpc>
                          <a:spcPct val="87000"/>
                        </a:lnSpc>
                        <a:tabLst/>
                      </a:pPr>
                      <a:r>
                        <a:rPr sz="1700" b="1" kern="0" spc="80" dirty="0">
                          <a:solidFill>
                            <a:srgbClr val="FFFFFF">
                              <a:alpha val="100000"/>
                            </a:srgbClr>
                          </a:solidFill>
                          <a:latin typeface="Microsoft YaHei"/>
                          <a:ea typeface="Microsoft YaHei"/>
                          <a:cs typeface="Microsoft YaHei"/>
                        </a:rPr>
                        <a:t>序号</a:t>
                      </a:r>
                      <a:endParaRPr sz="17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02000"/>
                        </a:lnSpc>
                        <a:tabLst/>
                      </a:pPr>
                      <a:endParaRPr sz="900" dirty="0">
                        <a:latin typeface="Arial"/>
                        <a:ea typeface="Arial"/>
                        <a:cs typeface="Arial"/>
                      </a:endParaRPr>
                    </a:p>
                    <a:p>
                      <a:pPr algn="l" rtl="0" eaLnBrk="0">
                        <a:lnSpc>
                          <a:spcPct val="8694"/>
                        </a:lnSpc>
                        <a:tabLst/>
                      </a:pPr>
                      <a:endParaRPr sz="100" dirty="0">
                        <a:latin typeface="Arial"/>
                        <a:ea typeface="Arial"/>
                        <a:cs typeface="Arial"/>
                      </a:endParaRPr>
                    </a:p>
                    <a:p>
                      <a:pPr marL="1580514" algn="l" rtl="0" eaLnBrk="0">
                        <a:lnSpc>
                          <a:spcPct val="87000"/>
                        </a:lnSpc>
                        <a:tabLst/>
                      </a:pPr>
                      <a:r>
                        <a:rPr sz="1700" b="1" kern="0" spc="80" dirty="0">
                          <a:solidFill>
                            <a:srgbClr val="FFFFFF">
                              <a:alpha val="100000"/>
                            </a:srgbClr>
                          </a:solidFill>
                          <a:latin typeface="Microsoft YaHei"/>
                          <a:ea typeface="Microsoft YaHei"/>
                          <a:cs typeface="Microsoft YaHei"/>
                        </a:rPr>
                        <a:t>工作项</a:t>
                      </a:r>
                      <a:endParaRPr sz="17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02000"/>
                        </a:lnSpc>
                        <a:tabLst/>
                      </a:pPr>
                      <a:endParaRPr sz="900" dirty="0">
                        <a:latin typeface="Arial"/>
                        <a:ea typeface="Arial"/>
                        <a:cs typeface="Arial"/>
                      </a:endParaRPr>
                    </a:p>
                    <a:p>
                      <a:pPr algn="l" rtl="0" eaLnBrk="0">
                        <a:lnSpc>
                          <a:spcPct val="7193"/>
                        </a:lnSpc>
                        <a:tabLst/>
                      </a:pPr>
                      <a:endParaRPr sz="100" dirty="0">
                        <a:latin typeface="Arial"/>
                        <a:ea typeface="Arial"/>
                        <a:cs typeface="Arial"/>
                      </a:endParaRPr>
                    </a:p>
                    <a:p>
                      <a:pPr marL="1987550" algn="l" rtl="0" eaLnBrk="0">
                        <a:lnSpc>
                          <a:spcPct val="87000"/>
                        </a:lnSpc>
                        <a:tabLst/>
                      </a:pPr>
                      <a:r>
                        <a:rPr sz="1700" b="1" kern="0" spc="80" dirty="0">
                          <a:solidFill>
                            <a:srgbClr val="FFFFFF">
                              <a:alpha val="100000"/>
                            </a:srgbClr>
                          </a:solidFill>
                          <a:latin typeface="Microsoft YaHei"/>
                          <a:ea typeface="Microsoft YaHei"/>
                          <a:cs typeface="Microsoft YaHei"/>
                        </a:rPr>
                        <a:t>操作方</a:t>
                      </a:r>
                      <a:endParaRPr sz="17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r>
              <a:tr h="427355">
                <a:tc>
                  <a:txBody>
                    <a:bodyPr/>
                    <a:lstStyle/>
                    <a:p>
                      <a:pPr algn="l" rtl="0" eaLnBrk="0">
                        <a:lnSpc>
                          <a:spcPct val="105000"/>
                        </a:lnSpc>
                        <a:tabLst/>
                      </a:pPr>
                      <a:endParaRPr sz="500" dirty="0">
                        <a:latin typeface="Arial"/>
                        <a:ea typeface="Arial"/>
                        <a:cs typeface="Arial"/>
                      </a:endParaRPr>
                    </a:p>
                    <a:p>
                      <a:pPr marL="560069" algn="l" rtl="0" eaLnBrk="0">
                        <a:lnSpc>
                          <a:spcPts val="2059"/>
                        </a:lnSpc>
                        <a:spcBef>
                          <a:spcPts val="3"/>
                        </a:spcBef>
                        <a:tabLst/>
                      </a:pPr>
                      <a:r>
                        <a:rPr sz="1500" kern="0" spc="-20" dirty="0">
                          <a:solidFill>
                            <a:srgbClr val="000000">
                              <a:alpha val="100000"/>
                            </a:srgbClr>
                          </a:solidFill>
                          <a:latin typeface="Microsoft YaHei"/>
                          <a:ea typeface="Microsoft YaHei"/>
                          <a:cs typeface="Microsoft YaHei"/>
                        </a:rPr>
                        <a:t>1</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10000"/>
                        </a:lnSpc>
                        <a:tabLst/>
                      </a:pPr>
                      <a:endParaRPr sz="700" dirty="0">
                        <a:latin typeface="Arial"/>
                        <a:ea typeface="Arial"/>
                        <a:cs typeface="Arial"/>
                      </a:endParaRPr>
                    </a:p>
                    <a:p>
                      <a:pPr marL="96519" algn="l" rtl="0" eaLnBrk="0">
                        <a:lnSpc>
                          <a:spcPct val="88000"/>
                        </a:lnSpc>
                        <a:spcBef>
                          <a:spcPts val="5"/>
                        </a:spcBef>
                        <a:tabLst/>
                      </a:pPr>
                      <a:r>
                        <a:rPr sz="1500" kern="0" spc="90" dirty="0">
                          <a:solidFill>
                            <a:srgbClr val="000000">
                              <a:alpha val="100000"/>
                            </a:srgbClr>
                          </a:solidFill>
                          <a:latin typeface="Microsoft YaHei"/>
                          <a:ea typeface="Microsoft YaHei"/>
                          <a:cs typeface="Microsoft YaHei"/>
                        </a:rPr>
                        <a:t>平台侧问题处理排查</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9000"/>
                        </a:lnSpc>
                        <a:tabLst/>
                      </a:pPr>
                      <a:endParaRPr sz="700" dirty="0">
                        <a:latin typeface="Arial"/>
                        <a:ea typeface="Arial"/>
                        <a:cs typeface="Arial"/>
                      </a:endParaRPr>
                    </a:p>
                    <a:p>
                      <a:pPr marL="1677035" algn="l" rtl="0" eaLnBrk="0">
                        <a:lnSpc>
                          <a:spcPct val="88000"/>
                        </a:lnSpc>
                        <a:spcBef>
                          <a:spcPts val="6"/>
                        </a:spcBef>
                        <a:tabLst/>
                      </a:pPr>
                      <a:r>
                        <a:rPr sz="1500" kern="0" spc="80" dirty="0">
                          <a:solidFill>
                            <a:srgbClr val="000000">
                              <a:alpha val="100000"/>
                            </a:srgbClr>
                          </a:solidFill>
                          <a:latin typeface="Microsoft YaHei"/>
                          <a:ea typeface="Microsoft YaHei"/>
                          <a:cs typeface="Microsoft YaHei"/>
                        </a:rPr>
                        <a:t>天翼物联-使能</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427354">
                <a:tc>
                  <a:txBody>
                    <a:bodyPr/>
                    <a:lstStyle/>
                    <a:p>
                      <a:pPr algn="l" rtl="0" eaLnBrk="0">
                        <a:lnSpc>
                          <a:spcPct val="105000"/>
                        </a:lnSpc>
                        <a:tabLst/>
                      </a:pPr>
                      <a:endParaRPr sz="500" dirty="0">
                        <a:latin typeface="Arial"/>
                        <a:ea typeface="Arial"/>
                        <a:cs typeface="Arial"/>
                      </a:endParaRPr>
                    </a:p>
                    <a:p>
                      <a:pPr marL="550544" algn="l" rtl="0" eaLnBrk="0">
                        <a:lnSpc>
                          <a:spcPts val="2059"/>
                        </a:lnSpc>
                        <a:spcBef>
                          <a:spcPts val="3"/>
                        </a:spcBef>
                        <a:tabLst/>
                      </a:pPr>
                      <a:r>
                        <a:rPr sz="1500" kern="0" spc="-20" dirty="0">
                          <a:solidFill>
                            <a:srgbClr val="000000">
                              <a:alpha val="100000"/>
                            </a:srgbClr>
                          </a:solidFill>
                          <a:latin typeface="Microsoft YaHei"/>
                          <a:ea typeface="Microsoft YaHei"/>
                          <a:cs typeface="Microsoft YaHei"/>
                        </a:rPr>
                        <a:t>2</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10000"/>
                        </a:lnSpc>
                        <a:tabLst/>
                      </a:pPr>
                      <a:endParaRPr sz="700" dirty="0">
                        <a:latin typeface="Arial"/>
                        <a:ea typeface="Arial"/>
                        <a:cs typeface="Arial"/>
                      </a:endParaRPr>
                    </a:p>
                    <a:p>
                      <a:pPr marL="107950" algn="l" rtl="0" eaLnBrk="0">
                        <a:lnSpc>
                          <a:spcPct val="88000"/>
                        </a:lnSpc>
                        <a:spcBef>
                          <a:spcPts val="1"/>
                        </a:spcBef>
                        <a:tabLst/>
                      </a:pPr>
                      <a:r>
                        <a:rPr sz="1500" kern="0" spc="80" dirty="0">
                          <a:solidFill>
                            <a:srgbClr val="000000">
                              <a:alpha val="100000"/>
                            </a:srgbClr>
                          </a:solidFill>
                          <a:latin typeface="Microsoft YaHei"/>
                          <a:ea typeface="Microsoft YaHei"/>
                          <a:cs typeface="Microsoft YaHei"/>
                        </a:rPr>
                        <a:t>网络侧问题处理排查</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10000"/>
                        </a:lnSpc>
                        <a:tabLst/>
                      </a:pPr>
                      <a:endParaRPr sz="700" dirty="0">
                        <a:latin typeface="Arial"/>
                        <a:ea typeface="Arial"/>
                        <a:cs typeface="Arial"/>
                      </a:endParaRPr>
                    </a:p>
                    <a:p>
                      <a:pPr marL="1677035" algn="l" rtl="0" eaLnBrk="0">
                        <a:lnSpc>
                          <a:spcPct val="88000"/>
                        </a:lnSpc>
                        <a:spcBef>
                          <a:spcPts val="4"/>
                        </a:spcBef>
                        <a:tabLst/>
                      </a:pPr>
                      <a:r>
                        <a:rPr sz="1500" kern="0" spc="80" dirty="0">
                          <a:solidFill>
                            <a:srgbClr val="000000">
                              <a:alpha val="100000"/>
                            </a:srgbClr>
                          </a:solidFill>
                          <a:latin typeface="Microsoft YaHei"/>
                          <a:ea typeface="Microsoft YaHei"/>
                          <a:cs typeface="Microsoft YaHei"/>
                        </a:rPr>
                        <a:t>天翼物联-智连</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433705">
                <a:tc>
                  <a:txBody>
                    <a:bodyPr/>
                    <a:lstStyle/>
                    <a:p>
                      <a:pPr algn="l" rtl="0" eaLnBrk="0">
                        <a:lnSpc>
                          <a:spcPct val="105000"/>
                        </a:lnSpc>
                        <a:tabLst/>
                      </a:pPr>
                      <a:endParaRPr sz="500" dirty="0">
                        <a:latin typeface="Arial"/>
                        <a:ea typeface="Arial"/>
                        <a:cs typeface="Arial"/>
                      </a:endParaRPr>
                    </a:p>
                    <a:p>
                      <a:pPr marL="553084" algn="l" rtl="0" eaLnBrk="0">
                        <a:lnSpc>
                          <a:spcPts val="2059"/>
                        </a:lnSpc>
                        <a:spcBef>
                          <a:spcPts val="3"/>
                        </a:spcBef>
                        <a:tabLst/>
                      </a:pPr>
                      <a:r>
                        <a:rPr sz="1500" kern="0" spc="-20" dirty="0">
                          <a:solidFill>
                            <a:srgbClr val="000000">
                              <a:alpha val="100000"/>
                            </a:srgbClr>
                          </a:solidFill>
                          <a:latin typeface="Microsoft YaHei"/>
                          <a:ea typeface="Microsoft YaHei"/>
                          <a:cs typeface="Microsoft YaHei"/>
                        </a:rPr>
                        <a:t>3</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5000"/>
                        </a:lnSpc>
                        <a:tabLst/>
                      </a:pPr>
                      <a:endParaRPr sz="500" dirty="0">
                        <a:latin typeface="Arial"/>
                        <a:ea typeface="Arial"/>
                        <a:cs typeface="Arial"/>
                      </a:endParaRPr>
                    </a:p>
                    <a:p>
                      <a:pPr marL="95250" algn="l" rtl="0" eaLnBrk="0">
                        <a:lnSpc>
                          <a:spcPts val="2059"/>
                        </a:lnSpc>
                        <a:spcBef>
                          <a:spcPts val="3"/>
                        </a:spcBef>
                        <a:tabLst/>
                      </a:pPr>
                      <a:r>
                        <a:rPr sz="1500" kern="0" spc="90" dirty="0">
                          <a:solidFill>
                            <a:srgbClr val="000000">
                              <a:alpha val="100000"/>
                            </a:srgbClr>
                          </a:solidFill>
                          <a:latin typeface="Microsoft YaHei"/>
                          <a:ea typeface="Microsoft YaHei"/>
                          <a:cs typeface="Microsoft YaHei"/>
                        </a:rPr>
                        <a:t>设备/应用侧问题处理排查</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8000"/>
                        </a:lnSpc>
                        <a:tabLst/>
                      </a:pPr>
                      <a:endParaRPr sz="700" dirty="0">
                        <a:latin typeface="Arial"/>
                        <a:ea typeface="Arial"/>
                        <a:cs typeface="Arial"/>
                      </a:endParaRPr>
                    </a:p>
                    <a:p>
                      <a:pPr marL="1677035" algn="l" rtl="0" eaLnBrk="0">
                        <a:lnSpc>
                          <a:spcPct val="89000"/>
                        </a:lnSpc>
                        <a:spcBef>
                          <a:spcPts val="5"/>
                        </a:spcBef>
                        <a:tabLst/>
                      </a:pPr>
                      <a:r>
                        <a:rPr sz="1500" kern="0" spc="80" dirty="0">
                          <a:solidFill>
                            <a:srgbClr val="000000">
                              <a:alpha val="100000"/>
                            </a:srgbClr>
                          </a:solidFill>
                          <a:latin typeface="Microsoft YaHei"/>
                          <a:ea typeface="Microsoft YaHei"/>
                          <a:cs typeface="Microsoft YaHei"/>
                        </a:rPr>
                        <a:t>天翼物联-客户</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bl>
          </a:graphicData>
        </a:graphic>
      </p:graphicFrame>
      <p:sp>
        <p:nvSpPr>
          <p:cNvPr id="504" name="textbox 504"/>
          <p:cNvSpPr/>
          <p:nvPr/>
        </p:nvSpPr>
        <p:spPr>
          <a:xfrm>
            <a:off x="583996" y="1205153"/>
            <a:ext cx="5734050" cy="254634"/>
          </a:xfrm>
          <a:prstGeom prst="rect">
            <a:avLst/>
          </a:prstGeom>
          <a:noFill/>
          <a:ln w="0" cap="flat">
            <a:noFill/>
            <a:prstDash val="solid"/>
            <a:miter lim="0"/>
          </a:ln>
        </p:spPr>
        <p:txBody>
          <a:bodyPr vert="horz" wrap="square" lIns="0" tIns="0" rIns="0" bIns="0"/>
          <a:lstStyle/>
          <a:p>
            <a:pPr algn="l" rtl="0" eaLnBrk="0">
              <a:lnSpc>
                <a:spcPct val="91133"/>
              </a:lnSpc>
              <a:tabLst/>
            </a:pPr>
            <a:endParaRPr sz="100" dirty="0">
              <a:latin typeface="Arial"/>
              <a:ea typeface="Arial"/>
              <a:cs typeface="Arial"/>
            </a:endParaRPr>
          </a:p>
          <a:p>
            <a:pPr marL="12700" algn="l" rtl="0" eaLnBrk="0">
              <a:lnSpc>
                <a:spcPct val="88000"/>
              </a:lnSpc>
              <a:tabLst/>
            </a:pPr>
            <a:r>
              <a:rPr sz="1700" kern="0" spc="70" dirty="0">
                <a:solidFill>
                  <a:srgbClr val="000000">
                    <a:alpha val="100000"/>
                  </a:srgbClr>
                </a:solidFill>
                <a:latin typeface="Microsoft YaHei"/>
                <a:ea typeface="Microsoft YaHei"/>
                <a:cs typeface="Microsoft YaHei"/>
              </a:rPr>
              <a:t>工作目标</a:t>
            </a:r>
            <a:r>
              <a:rPr sz="1700" kern="0" spc="-100" dirty="0">
                <a:solidFill>
                  <a:srgbClr val="000000">
                    <a:alpha val="100000"/>
                  </a:srgbClr>
                </a:solidFill>
                <a:latin typeface="Microsoft YaHei"/>
                <a:ea typeface="Microsoft YaHei"/>
                <a:cs typeface="Microsoft YaHei"/>
              </a:rPr>
              <a:t> </a:t>
            </a:r>
            <a:r>
              <a:rPr sz="1700" kern="0" spc="70" dirty="0">
                <a:solidFill>
                  <a:srgbClr val="000000">
                    <a:alpha val="100000"/>
                  </a:srgbClr>
                </a:solidFill>
                <a:latin typeface="Microsoft YaHei"/>
                <a:ea typeface="Microsoft YaHei"/>
                <a:cs typeface="Microsoft YaHei"/>
              </a:rPr>
              <a:t>：针对迁移异常情况</a:t>
            </a:r>
            <a:r>
              <a:rPr sz="1700" kern="0" spc="-230" dirty="0">
                <a:solidFill>
                  <a:srgbClr val="000000">
                    <a:alpha val="100000"/>
                  </a:srgbClr>
                </a:solidFill>
                <a:latin typeface="Microsoft YaHei"/>
                <a:ea typeface="Microsoft YaHei"/>
                <a:cs typeface="Microsoft YaHei"/>
              </a:rPr>
              <a:t> </a:t>
            </a:r>
            <a:r>
              <a:rPr sz="1700" kern="0" spc="70" dirty="0">
                <a:solidFill>
                  <a:srgbClr val="000000">
                    <a:alpha val="100000"/>
                  </a:srgbClr>
                </a:solidFill>
                <a:latin typeface="Microsoft YaHei"/>
                <a:ea typeface="Microsoft YaHei"/>
                <a:cs typeface="Microsoft YaHei"/>
              </a:rPr>
              <a:t>，进行故障定位和问题解决</a:t>
            </a:r>
            <a:endParaRPr sz="1700" dirty="0">
              <a:latin typeface="Microsoft YaHei"/>
              <a:ea typeface="Microsoft YaHei"/>
              <a:cs typeface="Microsoft YaHei"/>
            </a:endParaRPr>
          </a:p>
        </p:txBody>
      </p:sp>
      <p:pic>
        <p:nvPicPr>
          <p:cNvPr id="506" name="picture 506"/>
          <p:cNvPicPr>
            <a:picLocks noChangeAspect="1"/>
          </p:cNvPicPr>
          <p:nvPr/>
        </p:nvPicPr>
        <p:blipFill>
          <a:blip r:embed="rId2"/>
          <a:stretch>
            <a:fillRect/>
          </a:stretch>
        </p:blipFill>
        <p:spPr>
          <a:xfrm rot="21600000">
            <a:off x="335279" y="807720"/>
            <a:ext cx="11519916" cy="67055"/>
          </a:xfrm>
          <a:prstGeom prst="rect">
            <a:avLst/>
          </a:prstGeom>
        </p:spPr>
      </p:pic>
      <p:pic>
        <p:nvPicPr>
          <p:cNvPr id="508" name="picture 508"/>
          <p:cNvPicPr>
            <a:picLocks noChangeAspect="1"/>
          </p:cNvPicPr>
          <p:nvPr/>
        </p:nvPicPr>
        <p:blipFill>
          <a:blip r:embed="rId3"/>
          <a:stretch>
            <a:fillRect/>
          </a:stretch>
        </p:blipFill>
        <p:spPr>
          <a:xfrm rot="21600000">
            <a:off x="11126046" y="215885"/>
            <a:ext cx="721486" cy="526694"/>
          </a:xfrm>
          <a:prstGeom prst="rect">
            <a:avLst/>
          </a:prstGeom>
        </p:spPr>
      </p:pic>
      <p:sp>
        <p:nvSpPr>
          <p:cNvPr id="510" name="textbox 510"/>
          <p:cNvSpPr/>
          <p:nvPr/>
        </p:nvSpPr>
        <p:spPr>
          <a:xfrm>
            <a:off x="422935" y="253327"/>
            <a:ext cx="1236344" cy="333375"/>
          </a:xfrm>
          <a:prstGeom prst="rect">
            <a:avLst/>
          </a:prstGeom>
          <a:noFill/>
          <a:ln w="0" cap="flat">
            <a:noFill/>
            <a:prstDash val="solid"/>
            <a:miter lim="0"/>
          </a:ln>
        </p:spPr>
        <p:txBody>
          <a:bodyPr vert="horz" wrap="square" lIns="0" tIns="0" rIns="0" bIns="0"/>
          <a:lstStyle/>
          <a:p>
            <a:pPr algn="l" rtl="0" eaLnBrk="0">
              <a:lnSpc>
                <a:spcPct val="77031"/>
              </a:lnSpc>
              <a:tabLst/>
            </a:pPr>
            <a:endParaRPr sz="100" dirty="0">
              <a:latin typeface="Arial"/>
              <a:ea typeface="Arial"/>
              <a:cs typeface="Arial"/>
            </a:endParaRPr>
          </a:p>
          <a:p>
            <a:pPr marL="12700" algn="l" rtl="0" eaLnBrk="0">
              <a:lnSpc>
                <a:spcPct val="88000"/>
              </a:lnSpc>
              <a:tabLst/>
            </a:pPr>
            <a:r>
              <a:rPr sz="2300" b="1" kern="0" spc="80" dirty="0">
                <a:solidFill>
                  <a:srgbClr val="C00000">
                    <a:alpha val="100000"/>
                  </a:srgbClr>
                </a:solidFill>
                <a:latin typeface="Microsoft YaHei"/>
                <a:ea typeface="Microsoft YaHei"/>
                <a:cs typeface="Microsoft YaHei"/>
              </a:rPr>
              <a:t>故障定位</a:t>
            </a:r>
            <a:endParaRPr sz="2300" dirty="0">
              <a:latin typeface="Microsoft YaHei"/>
              <a:ea typeface="Microsoft YaHei"/>
              <a:cs typeface="Microsoft YaHei"/>
            </a:endParaRPr>
          </a:p>
        </p:txBody>
      </p:sp>
      <p:sp>
        <p:nvSpPr>
          <p:cNvPr id="512" name="textbox 512"/>
          <p:cNvSpPr/>
          <p:nvPr/>
        </p:nvSpPr>
        <p:spPr>
          <a:xfrm>
            <a:off x="11662743" y="6462377"/>
            <a:ext cx="224154"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20" dirty="0">
                <a:solidFill>
                  <a:srgbClr val="B1B1B1">
                    <a:alpha val="100000"/>
                  </a:srgbClr>
                </a:solidFill>
                <a:latin typeface="DengXian"/>
                <a:ea typeface="DengXian"/>
                <a:cs typeface="DengXian"/>
              </a:rPr>
              <a:t>17</a:t>
            </a:r>
            <a:endParaRPr sz="1500" dirty="0">
              <a:latin typeface="DengXian"/>
              <a:ea typeface="DengXian"/>
              <a:cs typeface="DengXi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4" name="table 514"/>
          <p:cNvGraphicFramePr>
            <a:graphicFrameLocks noGrp="1"/>
          </p:cNvGraphicFramePr>
          <p:nvPr/>
        </p:nvGraphicFramePr>
        <p:xfrm>
          <a:off x="366725" y="2362707"/>
          <a:ext cx="11229975" cy="3886834"/>
        </p:xfrm>
        <a:graphic>
          <a:graphicData uri="http://schemas.openxmlformats.org/drawingml/2006/table">
            <a:tbl>
              <a:tblPr/>
              <a:tblGrid>
                <a:gridCol w="1690370"/>
                <a:gridCol w="1634489"/>
                <a:gridCol w="6129020"/>
                <a:gridCol w="1776095"/>
              </a:tblGrid>
              <a:tr h="402590">
                <a:tc>
                  <a:txBody>
                    <a:bodyPr/>
                    <a:lstStyle/>
                    <a:p>
                      <a:pPr algn="l" rtl="0" eaLnBrk="0">
                        <a:lnSpc>
                          <a:spcPct val="108000"/>
                        </a:lnSpc>
                        <a:tabLst/>
                      </a:pPr>
                      <a:endParaRPr sz="500" dirty="0">
                        <a:latin typeface="Arial"/>
                        <a:ea typeface="Arial"/>
                        <a:cs typeface="Arial"/>
                      </a:endParaRPr>
                    </a:p>
                    <a:p>
                      <a:pPr marL="473709" algn="l" rtl="0" eaLnBrk="0">
                        <a:lnSpc>
                          <a:spcPct val="87000"/>
                        </a:lnSpc>
                        <a:spcBef>
                          <a:spcPts val="5"/>
                        </a:spcBef>
                        <a:tabLst/>
                      </a:pPr>
                      <a:r>
                        <a:rPr sz="2000" b="1" kern="0" spc="-20" dirty="0">
                          <a:solidFill>
                            <a:srgbClr val="FFFFFF">
                              <a:alpha val="100000"/>
                            </a:srgbClr>
                          </a:solidFill>
                          <a:latin typeface="Microsoft YaHei"/>
                          <a:ea typeface="Microsoft YaHei"/>
                          <a:cs typeface="Microsoft YaHei"/>
                        </a:rPr>
                        <a:t>工作项</a:t>
                      </a:r>
                      <a:endParaRPr sz="20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12000"/>
                        </a:lnSpc>
                        <a:tabLst/>
                      </a:pPr>
                      <a:endParaRPr sz="400" dirty="0">
                        <a:latin typeface="Arial"/>
                        <a:ea typeface="Arial"/>
                        <a:cs typeface="Arial"/>
                      </a:endParaRPr>
                    </a:p>
                    <a:p>
                      <a:pPr marL="313690" algn="l" rtl="0" eaLnBrk="0">
                        <a:lnSpc>
                          <a:spcPct val="83000"/>
                        </a:lnSpc>
                        <a:spcBef>
                          <a:spcPts val="3"/>
                        </a:spcBef>
                        <a:tabLst/>
                      </a:pPr>
                      <a:r>
                        <a:rPr sz="2000" b="1" kern="0" spc="-20" dirty="0">
                          <a:solidFill>
                            <a:srgbClr val="FFFFFF">
                              <a:alpha val="100000"/>
                            </a:srgbClr>
                          </a:solidFill>
                          <a:latin typeface="DengXian"/>
                          <a:ea typeface="DengXian"/>
                          <a:cs typeface="DengXian"/>
                        </a:rPr>
                        <a:t>任务名称</a:t>
                      </a:r>
                      <a:endParaRPr sz="2000" dirty="0">
                        <a:latin typeface="DengXian"/>
                        <a:ea typeface="DengXian"/>
                        <a:cs typeface="DengXi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17000"/>
                        </a:lnSpc>
                        <a:tabLst/>
                      </a:pPr>
                      <a:endParaRPr sz="400" dirty="0">
                        <a:latin typeface="Arial"/>
                        <a:ea typeface="Arial"/>
                        <a:cs typeface="Arial"/>
                      </a:endParaRPr>
                    </a:p>
                    <a:p>
                      <a:pPr marL="2569845" algn="l" rtl="0" eaLnBrk="0">
                        <a:lnSpc>
                          <a:spcPct val="82000"/>
                        </a:lnSpc>
                        <a:spcBef>
                          <a:spcPts val="4"/>
                        </a:spcBef>
                        <a:tabLst/>
                      </a:pPr>
                      <a:r>
                        <a:rPr sz="2000" b="1" kern="0" spc="-30" dirty="0">
                          <a:solidFill>
                            <a:srgbClr val="FFFFFF">
                              <a:alpha val="100000"/>
                            </a:srgbClr>
                          </a:solidFill>
                          <a:latin typeface="DengXian"/>
                          <a:ea typeface="DengXian"/>
                          <a:cs typeface="DengXian"/>
                        </a:rPr>
                        <a:t>具体内容</a:t>
                      </a:r>
                      <a:endParaRPr sz="2000" dirty="0">
                        <a:latin typeface="DengXian"/>
                        <a:ea typeface="DengXian"/>
                        <a:cs typeface="DengXi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12000"/>
                        </a:lnSpc>
                        <a:tabLst/>
                      </a:pPr>
                      <a:endParaRPr sz="400" dirty="0">
                        <a:latin typeface="Arial"/>
                        <a:ea typeface="Arial"/>
                        <a:cs typeface="Arial"/>
                      </a:endParaRPr>
                    </a:p>
                    <a:p>
                      <a:pPr marL="513715" algn="l" rtl="0" eaLnBrk="0">
                        <a:lnSpc>
                          <a:spcPct val="83000"/>
                        </a:lnSpc>
                        <a:spcBef>
                          <a:spcPts val="1"/>
                        </a:spcBef>
                        <a:tabLst/>
                      </a:pPr>
                      <a:r>
                        <a:rPr sz="2000" b="1" kern="0" spc="-30" dirty="0">
                          <a:solidFill>
                            <a:srgbClr val="FFFFFF">
                              <a:alpha val="100000"/>
                            </a:srgbClr>
                          </a:solidFill>
                          <a:latin typeface="DengXian"/>
                          <a:ea typeface="DengXian"/>
                          <a:cs typeface="DengXian"/>
                        </a:rPr>
                        <a:t>责任方</a:t>
                      </a:r>
                      <a:endParaRPr sz="2000" dirty="0">
                        <a:latin typeface="DengXian"/>
                        <a:ea typeface="DengXian"/>
                        <a:cs typeface="DengXi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r>
              <a:tr h="1090930">
                <a:tc rowSpan="2">
                  <a:txBody>
                    <a:bodyPr/>
                    <a:lstStyle/>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marL="82550" algn="l" rtl="0" eaLnBrk="0">
                        <a:lnSpc>
                          <a:spcPct val="88000"/>
                        </a:lnSpc>
                        <a:spcBef>
                          <a:spcPts val="5"/>
                        </a:spcBef>
                        <a:tabLst/>
                      </a:pPr>
                      <a:r>
                        <a:rPr sz="1400" kern="0" spc="-10" dirty="0">
                          <a:solidFill>
                            <a:srgbClr val="000000">
                              <a:alpha val="100000"/>
                            </a:srgbClr>
                          </a:solidFill>
                          <a:latin typeface="Microsoft YaHei"/>
                          <a:ea typeface="Microsoft YaHei"/>
                          <a:cs typeface="Microsoft YaHei"/>
                        </a:rPr>
                        <a:t>南向设备侧</a:t>
                      </a:r>
                      <a:endParaRPr sz="14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37000"/>
                        </a:lnSpc>
                        <a:tabLst/>
                      </a:pPr>
                      <a:endParaRPr sz="1000" dirty="0">
                        <a:latin typeface="Arial"/>
                        <a:ea typeface="Arial"/>
                        <a:cs typeface="Arial"/>
                      </a:endParaRPr>
                    </a:p>
                    <a:p>
                      <a:pPr algn="l" rtl="0" eaLnBrk="0">
                        <a:lnSpc>
                          <a:spcPct val="137000"/>
                        </a:lnSpc>
                        <a:tabLst/>
                      </a:pPr>
                      <a:endParaRPr sz="1000" dirty="0">
                        <a:latin typeface="Arial"/>
                        <a:ea typeface="Arial"/>
                        <a:cs typeface="Arial"/>
                      </a:endParaRPr>
                    </a:p>
                    <a:p>
                      <a:pPr algn="l" rtl="0" eaLnBrk="0">
                        <a:lnSpc>
                          <a:spcPct val="7506"/>
                        </a:lnSpc>
                        <a:tabLst/>
                      </a:pPr>
                      <a:endParaRPr sz="100" dirty="0">
                        <a:latin typeface="Arial"/>
                        <a:ea typeface="Arial"/>
                        <a:cs typeface="Arial"/>
                      </a:endParaRPr>
                    </a:p>
                    <a:p>
                      <a:pPr marL="86994" algn="l" rtl="0" eaLnBrk="0">
                        <a:lnSpc>
                          <a:spcPts val="1708"/>
                        </a:lnSpc>
                        <a:tabLst/>
                      </a:pPr>
                      <a:r>
                        <a:rPr sz="1400" b="1" kern="0" spc="-50" dirty="0">
                          <a:solidFill>
                            <a:srgbClr val="C00000">
                              <a:alpha val="100000"/>
                            </a:srgbClr>
                          </a:solidFill>
                          <a:latin typeface="DengXian"/>
                          <a:ea typeface="DengXian"/>
                          <a:cs typeface="DengXian"/>
                        </a:rPr>
                        <a:t>IT</a:t>
                      </a:r>
                      <a:r>
                        <a:rPr sz="1400" b="1" kern="0" spc="150" dirty="0">
                          <a:solidFill>
                            <a:srgbClr val="C00000">
                              <a:alpha val="100000"/>
                            </a:srgbClr>
                          </a:solidFill>
                          <a:latin typeface="DengXian"/>
                          <a:ea typeface="DengXian"/>
                          <a:cs typeface="DengXian"/>
                        </a:rPr>
                        <a:t> </a:t>
                      </a:r>
                      <a:r>
                        <a:rPr sz="1400" b="1" kern="0" spc="-50" dirty="0">
                          <a:solidFill>
                            <a:srgbClr val="C00000">
                              <a:alpha val="100000"/>
                            </a:srgbClr>
                          </a:solidFill>
                          <a:latin typeface="DengXian"/>
                          <a:ea typeface="DengXian"/>
                          <a:cs typeface="DengXian"/>
                        </a:rPr>
                        <a:t>回退方案</a:t>
                      </a:r>
                      <a:endParaRPr sz="1400" dirty="0">
                        <a:latin typeface="DengXian"/>
                        <a:ea typeface="DengXian"/>
                        <a:cs typeface="DengXi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16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algn="l" rtl="0" eaLnBrk="0">
                        <a:lnSpc>
                          <a:spcPct val="7707"/>
                        </a:lnSpc>
                        <a:tabLst/>
                      </a:pPr>
                      <a:endParaRPr sz="100" dirty="0">
                        <a:latin typeface="Arial"/>
                        <a:ea typeface="Arial"/>
                        <a:cs typeface="Arial"/>
                      </a:endParaRPr>
                    </a:p>
                    <a:p>
                      <a:pPr marL="73025" indent="-635" algn="l" rtl="0" eaLnBrk="0">
                        <a:lnSpc>
                          <a:spcPct val="96000"/>
                        </a:lnSpc>
                        <a:tabLst/>
                      </a:pPr>
                      <a:r>
                        <a:rPr sz="1400" kern="0" spc="0" dirty="0">
                          <a:solidFill>
                            <a:srgbClr val="000000">
                              <a:alpha val="100000"/>
                            </a:srgbClr>
                          </a:solidFill>
                          <a:latin typeface="Microsoft YaHei"/>
                          <a:ea typeface="Microsoft YaHei"/>
                          <a:cs typeface="Microsoft YaHei"/>
                        </a:rPr>
                        <a:t>将客户问题号码下签约的参数进行撤单并重新签约原NB套餐下的公共A</a:t>
                      </a:r>
                      <a:r>
                        <a:rPr sz="1400" kern="0" spc="-10" dirty="0">
                          <a:solidFill>
                            <a:srgbClr val="000000">
                              <a:alpha val="100000"/>
                            </a:srgbClr>
                          </a:solidFill>
                          <a:latin typeface="Microsoft YaHei"/>
                          <a:ea typeface="Microsoft YaHei"/>
                          <a:cs typeface="Microsoft YaHei"/>
                        </a:rPr>
                        <a:t>PN参</a:t>
                      </a:r>
                      <a:r>
                        <a:rPr sz="1400" kern="0" spc="-10" dirty="0">
                          <a:solidFill>
                            <a:srgbClr val="000000">
                              <a:alpha val="100000"/>
                            </a:srgbClr>
                          </a:solidFill>
                          <a:latin typeface="Microsoft YaHei"/>
                          <a:ea typeface="Microsoft YaHei"/>
                          <a:cs typeface="Microsoft YaHei"/>
                        </a:rPr>
                        <a:t>数配置（成员）参数。</a:t>
                      </a:r>
                      <a:endParaRPr sz="14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47000"/>
                        </a:lnSpc>
                        <a:tabLst/>
                      </a:pPr>
                      <a:endParaRPr sz="1000" dirty="0">
                        <a:latin typeface="Arial"/>
                        <a:ea typeface="Arial"/>
                        <a:cs typeface="Arial"/>
                      </a:endParaRPr>
                    </a:p>
                    <a:p>
                      <a:pPr algn="l" rtl="0" eaLnBrk="0">
                        <a:lnSpc>
                          <a:spcPct val="148000"/>
                        </a:lnSpc>
                        <a:tabLst/>
                      </a:pPr>
                      <a:endParaRPr sz="1000" dirty="0">
                        <a:latin typeface="Arial"/>
                        <a:ea typeface="Arial"/>
                        <a:cs typeface="Arial"/>
                      </a:endParaRPr>
                    </a:p>
                    <a:p>
                      <a:pPr algn="l" rtl="0" eaLnBrk="0">
                        <a:lnSpc>
                          <a:spcPct val="8504"/>
                        </a:lnSpc>
                        <a:tabLst/>
                      </a:pPr>
                      <a:endParaRPr sz="100" dirty="0">
                        <a:latin typeface="Arial"/>
                        <a:ea typeface="Arial"/>
                        <a:cs typeface="Arial"/>
                      </a:endParaRPr>
                    </a:p>
                    <a:p>
                      <a:pPr marL="81280" algn="l" rtl="0" eaLnBrk="0">
                        <a:lnSpc>
                          <a:spcPct val="82000"/>
                        </a:lnSpc>
                        <a:tabLst/>
                      </a:pPr>
                      <a:r>
                        <a:rPr sz="1400" kern="0" spc="-10" dirty="0">
                          <a:solidFill>
                            <a:srgbClr val="000000">
                              <a:alpha val="100000"/>
                            </a:srgbClr>
                          </a:solidFill>
                          <a:latin typeface="DengXian"/>
                          <a:ea typeface="DengXian"/>
                          <a:cs typeface="DengXian"/>
                        </a:rPr>
                        <a:t>天翼物联-使能中心</a:t>
                      </a:r>
                      <a:endParaRPr sz="1400" dirty="0">
                        <a:latin typeface="DengXian"/>
                        <a:ea typeface="DengXian"/>
                        <a:cs typeface="DengXi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1193164">
                <a:tc vMerge="1">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20000"/>
                        </a:lnSpc>
                        <a:tabLst/>
                      </a:pPr>
                      <a:endParaRPr sz="1000" dirty="0">
                        <a:latin typeface="Arial"/>
                        <a:ea typeface="Arial"/>
                        <a:cs typeface="Arial"/>
                      </a:endParaRPr>
                    </a:p>
                    <a:p>
                      <a:pPr algn="l" rtl="0" eaLnBrk="0">
                        <a:lnSpc>
                          <a:spcPct val="121000"/>
                        </a:lnSpc>
                        <a:tabLst/>
                      </a:pPr>
                      <a:endParaRPr sz="1000" dirty="0">
                        <a:latin typeface="Arial"/>
                        <a:ea typeface="Arial"/>
                        <a:cs typeface="Arial"/>
                      </a:endParaRPr>
                    </a:p>
                    <a:p>
                      <a:pPr algn="l" rtl="0" eaLnBrk="0">
                        <a:lnSpc>
                          <a:spcPct val="6232"/>
                        </a:lnSpc>
                        <a:tabLst/>
                      </a:pPr>
                      <a:endParaRPr sz="100" dirty="0">
                        <a:latin typeface="Arial"/>
                        <a:ea typeface="Arial"/>
                        <a:cs typeface="Arial"/>
                      </a:endParaRPr>
                    </a:p>
                    <a:p>
                      <a:pPr marL="92075" algn="l" rtl="0" eaLnBrk="0">
                        <a:lnSpc>
                          <a:spcPct val="84000"/>
                        </a:lnSpc>
                        <a:tabLst/>
                      </a:pPr>
                      <a:r>
                        <a:rPr sz="1500" b="1" kern="0" spc="70" dirty="0">
                          <a:solidFill>
                            <a:srgbClr val="C00000">
                              <a:alpha val="100000"/>
                            </a:srgbClr>
                          </a:solidFill>
                          <a:latin typeface="DengXian"/>
                          <a:ea typeface="DengXian"/>
                          <a:cs typeface="DengXian"/>
                        </a:rPr>
                        <a:t>网络回退方案</a:t>
                      </a:r>
                      <a:endParaRPr sz="1500" dirty="0">
                        <a:latin typeface="DengXian"/>
                        <a:ea typeface="DengXian"/>
                        <a:cs typeface="DengXian"/>
                      </a:endParaRPr>
                    </a:p>
                    <a:p>
                      <a:pPr marL="210184" algn="l" rtl="0" eaLnBrk="0">
                        <a:lnSpc>
                          <a:spcPts val="2058"/>
                        </a:lnSpc>
                        <a:tabLst/>
                      </a:pPr>
                      <a:r>
                        <a:rPr sz="1400" b="1" kern="0" spc="-110" dirty="0">
                          <a:solidFill>
                            <a:srgbClr val="C00000">
                              <a:alpha val="100000"/>
                            </a:srgbClr>
                          </a:solidFill>
                          <a:latin typeface="DengXian"/>
                          <a:ea typeface="DengXian"/>
                          <a:cs typeface="DengXian"/>
                        </a:rPr>
                        <a:t>（备选）</a:t>
                      </a:r>
                      <a:endParaRPr sz="1400" dirty="0">
                        <a:latin typeface="DengXian"/>
                        <a:ea typeface="DengXian"/>
                        <a:cs typeface="DengXi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16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algn="l" rtl="0" eaLnBrk="0">
                        <a:lnSpc>
                          <a:spcPct val="117000"/>
                        </a:lnSpc>
                        <a:tabLst/>
                      </a:pPr>
                      <a:endParaRPr sz="1000" dirty="0">
                        <a:latin typeface="Arial"/>
                        <a:ea typeface="Arial"/>
                        <a:cs typeface="Arial"/>
                      </a:endParaRPr>
                    </a:p>
                    <a:p>
                      <a:pPr marL="73025" algn="l" rtl="0" eaLnBrk="0">
                        <a:lnSpc>
                          <a:spcPct val="87000"/>
                        </a:lnSpc>
                        <a:spcBef>
                          <a:spcPts val="3"/>
                        </a:spcBef>
                        <a:tabLst/>
                      </a:pPr>
                      <a:r>
                        <a:rPr sz="1400" kern="0" spc="0" dirty="0">
                          <a:solidFill>
                            <a:srgbClr val="000000">
                              <a:alpha val="100000"/>
                            </a:srgbClr>
                          </a:solidFill>
                          <a:latin typeface="Microsoft YaHei"/>
                          <a:ea typeface="Microsoft YaHei"/>
                          <a:cs typeface="Microsoft YaHei"/>
                        </a:rPr>
                        <a:t>后台进行数据上报的回退指令</a:t>
                      </a:r>
                      <a:r>
                        <a:rPr sz="1400" kern="0" spc="-10" dirty="0">
                          <a:solidFill>
                            <a:srgbClr val="000000">
                              <a:alpha val="100000"/>
                            </a:srgbClr>
                          </a:solidFill>
                          <a:latin typeface="Microsoft YaHei"/>
                          <a:ea typeface="Microsoft YaHei"/>
                          <a:cs typeface="Microsoft YaHei"/>
                        </a:rPr>
                        <a:t>操作</a:t>
                      </a:r>
                      <a:endParaRPr sz="14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29000"/>
                        </a:lnSpc>
                        <a:tabLst/>
                      </a:pPr>
                      <a:endParaRPr sz="1000" dirty="0">
                        <a:latin typeface="Arial"/>
                        <a:ea typeface="Arial"/>
                        <a:cs typeface="Arial"/>
                      </a:endParaRPr>
                    </a:p>
                    <a:p>
                      <a:pPr algn="l" rtl="0" eaLnBrk="0">
                        <a:lnSpc>
                          <a:spcPct val="130000"/>
                        </a:lnSpc>
                        <a:tabLst/>
                      </a:pPr>
                      <a:endParaRPr sz="1000" dirty="0">
                        <a:latin typeface="Arial"/>
                        <a:ea typeface="Arial"/>
                        <a:cs typeface="Arial"/>
                      </a:endParaRPr>
                    </a:p>
                    <a:p>
                      <a:pPr marL="81280" algn="l" rtl="0" eaLnBrk="0">
                        <a:lnSpc>
                          <a:spcPct val="83000"/>
                        </a:lnSpc>
                        <a:spcBef>
                          <a:spcPts val="6"/>
                        </a:spcBef>
                        <a:tabLst/>
                      </a:pPr>
                      <a:r>
                        <a:rPr sz="1400" kern="0" spc="-10" dirty="0">
                          <a:solidFill>
                            <a:srgbClr val="000000">
                              <a:alpha val="100000"/>
                            </a:srgbClr>
                          </a:solidFill>
                          <a:latin typeface="DengXian"/>
                          <a:ea typeface="DengXian"/>
                          <a:cs typeface="DengXian"/>
                        </a:rPr>
                        <a:t>天翼物联-智连中心</a:t>
                      </a:r>
                      <a:endParaRPr sz="1400" dirty="0">
                        <a:latin typeface="DengXian"/>
                        <a:ea typeface="DengXian"/>
                        <a:cs typeface="DengXi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1200150">
                <a:tc>
                  <a:txBody>
                    <a:bodyPr/>
                    <a:lstStyle/>
                    <a:p>
                      <a:pPr algn="l" rtl="0" eaLnBrk="0">
                        <a:lnSpc>
                          <a:spcPct val="104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r" rtl="0" eaLnBrk="0">
                        <a:lnSpc>
                          <a:spcPts val="1813"/>
                        </a:lnSpc>
                        <a:spcBef>
                          <a:spcPts val="7"/>
                        </a:spcBef>
                        <a:tabLst/>
                      </a:pPr>
                      <a:r>
                        <a:rPr sz="1400" kern="0" spc="-10" dirty="0">
                          <a:solidFill>
                            <a:srgbClr val="000000">
                              <a:alpha val="100000"/>
                            </a:srgbClr>
                          </a:solidFill>
                          <a:latin typeface="Microsoft YaHei"/>
                          <a:ea typeface="Microsoft YaHei"/>
                          <a:cs typeface="Microsoft YaHei"/>
                        </a:rPr>
                        <a:t>北向应用侧（按需）</a:t>
                      </a:r>
                      <a:endParaRPr sz="14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marL="75564" algn="l" rtl="0" eaLnBrk="0">
                        <a:lnSpc>
                          <a:spcPct val="82000"/>
                        </a:lnSpc>
                        <a:spcBef>
                          <a:spcPts val="4"/>
                        </a:spcBef>
                        <a:tabLst/>
                      </a:pPr>
                      <a:r>
                        <a:rPr sz="1400" b="1" kern="0" spc="-10" dirty="0">
                          <a:solidFill>
                            <a:srgbClr val="C00000">
                              <a:alpha val="100000"/>
                            </a:srgbClr>
                          </a:solidFill>
                          <a:latin typeface="DengXian"/>
                          <a:ea typeface="DengXian"/>
                          <a:cs typeface="DengXian"/>
                        </a:rPr>
                        <a:t>应用系统回退</a:t>
                      </a:r>
                      <a:endParaRPr sz="1400" dirty="0">
                        <a:latin typeface="DengXian"/>
                        <a:ea typeface="DengXian"/>
                        <a:cs typeface="DengXi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16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algn="l" rtl="0" eaLnBrk="0">
                        <a:lnSpc>
                          <a:spcPct val="117000"/>
                        </a:lnSpc>
                        <a:tabLst/>
                      </a:pPr>
                      <a:endParaRPr sz="1000" dirty="0">
                        <a:latin typeface="Arial"/>
                        <a:ea typeface="Arial"/>
                        <a:cs typeface="Arial"/>
                      </a:endParaRPr>
                    </a:p>
                    <a:p>
                      <a:pPr marL="73660" algn="l" rtl="0" eaLnBrk="0">
                        <a:lnSpc>
                          <a:spcPct val="88000"/>
                        </a:lnSpc>
                        <a:spcBef>
                          <a:spcPts val="1"/>
                        </a:spcBef>
                        <a:tabLst/>
                      </a:pPr>
                      <a:r>
                        <a:rPr sz="1400" kern="0" spc="0" dirty="0">
                          <a:solidFill>
                            <a:srgbClr val="000000">
                              <a:alpha val="100000"/>
                            </a:srgbClr>
                          </a:solidFill>
                          <a:latin typeface="Microsoft YaHei"/>
                          <a:ea typeface="Microsoft YaHei"/>
                          <a:cs typeface="Microsoft YaHei"/>
                        </a:rPr>
                        <a:t>根据客户侧业务逻辑进</a:t>
                      </a:r>
                      <a:r>
                        <a:rPr sz="1400" kern="0" spc="-10" dirty="0">
                          <a:solidFill>
                            <a:srgbClr val="000000">
                              <a:alpha val="100000"/>
                            </a:srgbClr>
                          </a:solidFill>
                          <a:latin typeface="Microsoft YaHei"/>
                          <a:ea typeface="Microsoft YaHei"/>
                          <a:cs typeface="Microsoft YaHei"/>
                        </a:rPr>
                        <a:t>行回退</a:t>
                      </a:r>
                      <a:endParaRPr sz="14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11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marL="73025" algn="l" rtl="0" eaLnBrk="0">
                        <a:lnSpc>
                          <a:spcPct val="88000"/>
                        </a:lnSpc>
                        <a:spcBef>
                          <a:spcPts val="4"/>
                        </a:spcBef>
                        <a:tabLst/>
                      </a:pPr>
                      <a:r>
                        <a:rPr sz="1400" kern="0" spc="-10" dirty="0">
                          <a:solidFill>
                            <a:srgbClr val="000000">
                              <a:alpha val="100000"/>
                            </a:srgbClr>
                          </a:solidFill>
                          <a:latin typeface="Microsoft YaHei"/>
                          <a:ea typeface="Microsoft YaHei"/>
                          <a:cs typeface="Microsoft YaHei"/>
                        </a:rPr>
                        <a:t>客户</a:t>
                      </a:r>
                      <a:endParaRPr sz="14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bl>
          </a:graphicData>
        </a:graphic>
      </p:graphicFrame>
      <p:sp>
        <p:nvSpPr>
          <p:cNvPr id="516" name="textbox 516"/>
          <p:cNvSpPr/>
          <p:nvPr/>
        </p:nvSpPr>
        <p:spPr>
          <a:xfrm>
            <a:off x="386194" y="1119124"/>
            <a:ext cx="11452225" cy="1039494"/>
          </a:xfrm>
          <a:prstGeom prst="rect">
            <a:avLst/>
          </a:prstGeom>
          <a:noFill/>
          <a:ln w="0" cap="flat">
            <a:noFill/>
            <a:prstDash val="solid"/>
            <a:miter lim="0"/>
          </a:ln>
        </p:spPr>
        <p:txBody>
          <a:bodyPr vert="horz" wrap="square" lIns="0" tIns="0" rIns="0" bIns="0"/>
          <a:lstStyle/>
          <a:p>
            <a:pPr algn="l" rtl="0" eaLnBrk="0">
              <a:lnSpc>
                <a:spcPct val="84614"/>
              </a:lnSpc>
              <a:tabLst/>
            </a:pPr>
            <a:endParaRPr sz="100" dirty="0">
              <a:latin typeface="Arial"/>
              <a:ea typeface="Arial"/>
              <a:cs typeface="Arial"/>
            </a:endParaRPr>
          </a:p>
          <a:p>
            <a:pPr marL="22859" algn="l" rtl="0" eaLnBrk="0">
              <a:lnSpc>
                <a:spcPct val="87000"/>
              </a:lnSpc>
              <a:tabLst/>
            </a:pPr>
            <a:r>
              <a:rPr sz="1700" b="1" kern="0" spc="50" dirty="0">
                <a:solidFill>
                  <a:srgbClr val="000000">
                    <a:alpha val="100000"/>
                  </a:srgbClr>
                </a:solidFill>
                <a:latin typeface="Microsoft YaHei"/>
                <a:ea typeface="Microsoft YaHei"/>
                <a:cs typeface="Microsoft YaHei"/>
              </a:rPr>
              <a:t>回退原则：</a:t>
            </a:r>
            <a:endParaRPr sz="1700" dirty="0">
              <a:latin typeface="Microsoft YaHei"/>
              <a:ea typeface="Microsoft YaHei"/>
              <a:cs typeface="Microsoft YaHei"/>
            </a:endParaRPr>
          </a:p>
          <a:p>
            <a:pPr marL="12700" algn="l" rtl="0" eaLnBrk="0">
              <a:lnSpc>
                <a:spcPct val="88000"/>
              </a:lnSpc>
              <a:spcBef>
                <a:spcPts val="1616"/>
              </a:spcBef>
              <a:tabLst/>
            </a:pPr>
            <a:r>
              <a:rPr sz="1700" kern="0" spc="80" dirty="0">
                <a:solidFill>
                  <a:srgbClr val="000000">
                    <a:alpha val="100000"/>
                  </a:srgbClr>
                </a:solidFill>
                <a:latin typeface="Microsoft YaHei"/>
                <a:ea typeface="Microsoft YaHei"/>
                <a:cs typeface="Microsoft YaHei"/>
              </a:rPr>
              <a:t>迁移第二天</a:t>
            </a:r>
            <a:r>
              <a:rPr sz="1700" kern="0" spc="-24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，客户验证各项命令下发、</a:t>
            </a:r>
            <a:r>
              <a:rPr sz="1700" kern="0" spc="-38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数据上报不正常</a:t>
            </a:r>
            <a:r>
              <a:rPr sz="1700" kern="0" spc="-24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a:t>
            </a:r>
            <a:r>
              <a:rPr sz="1700" kern="0" spc="70" dirty="0">
                <a:solidFill>
                  <a:srgbClr val="000000">
                    <a:alpha val="100000"/>
                  </a:srgbClr>
                </a:solidFill>
                <a:latin typeface="Microsoft YaHei"/>
                <a:ea typeface="Microsoft YaHei"/>
                <a:cs typeface="Microsoft YaHei"/>
              </a:rPr>
              <a:t>且故障无法及时恢复</a:t>
            </a:r>
            <a:r>
              <a:rPr sz="1700" kern="0" spc="-230" dirty="0">
                <a:solidFill>
                  <a:srgbClr val="000000">
                    <a:alpha val="100000"/>
                  </a:srgbClr>
                </a:solidFill>
                <a:latin typeface="Microsoft YaHei"/>
                <a:ea typeface="Microsoft YaHei"/>
                <a:cs typeface="Microsoft YaHei"/>
              </a:rPr>
              <a:t> </a:t>
            </a:r>
            <a:r>
              <a:rPr sz="1700" kern="0" spc="70" dirty="0">
                <a:solidFill>
                  <a:srgbClr val="000000">
                    <a:alpha val="100000"/>
                  </a:srgbClr>
                </a:solidFill>
                <a:latin typeface="Microsoft YaHei"/>
                <a:ea typeface="Microsoft YaHei"/>
                <a:cs typeface="Microsoft YaHei"/>
              </a:rPr>
              <a:t>，如影响客户生产</a:t>
            </a:r>
            <a:r>
              <a:rPr sz="1700" kern="0" spc="-230" dirty="0">
                <a:solidFill>
                  <a:srgbClr val="000000">
                    <a:alpha val="100000"/>
                  </a:srgbClr>
                </a:solidFill>
                <a:latin typeface="Microsoft YaHei"/>
                <a:ea typeface="Microsoft YaHei"/>
                <a:cs typeface="Microsoft YaHei"/>
              </a:rPr>
              <a:t> </a:t>
            </a:r>
            <a:r>
              <a:rPr sz="1700" kern="0" spc="70" dirty="0">
                <a:solidFill>
                  <a:srgbClr val="000000">
                    <a:alpha val="100000"/>
                  </a:srgbClr>
                </a:solidFill>
                <a:latin typeface="Microsoft YaHei"/>
                <a:ea typeface="Microsoft YaHei"/>
                <a:cs typeface="Microsoft YaHei"/>
              </a:rPr>
              <a:t>，针对出现问题的</a:t>
            </a:r>
            <a:endParaRPr sz="1700" dirty="0">
              <a:latin typeface="Microsoft YaHei"/>
              <a:ea typeface="Microsoft YaHei"/>
              <a:cs typeface="Microsoft YaHei"/>
            </a:endParaRPr>
          </a:p>
          <a:p>
            <a:pPr marL="13334" algn="l" rtl="0" eaLnBrk="0">
              <a:lnSpc>
                <a:spcPts val="2794"/>
              </a:lnSpc>
              <a:tabLst/>
            </a:pPr>
            <a:r>
              <a:rPr sz="1700" kern="0" spc="90" dirty="0">
                <a:solidFill>
                  <a:srgbClr val="000000">
                    <a:alpha val="100000"/>
                  </a:srgbClr>
                </a:solidFill>
                <a:latin typeface="Microsoft YaHei"/>
                <a:ea typeface="Microsoft YaHei"/>
                <a:cs typeface="Microsoft YaHei"/>
              </a:rPr>
              <a:t>设备可以进行立即回退；</a:t>
            </a:r>
            <a:r>
              <a:rPr sz="1700" kern="0" spc="-320" dirty="0">
                <a:solidFill>
                  <a:srgbClr val="000000">
                    <a:alpha val="100000"/>
                  </a:srgbClr>
                </a:solidFill>
                <a:latin typeface="Microsoft YaHei"/>
                <a:ea typeface="Microsoft YaHei"/>
                <a:cs typeface="Microsoft YaHei"/>
              </a:rPr>
              <a:t> </a:t>
            </a:r>
            <a:r>
              <a:rPr sz="1700" kern="0" spc="90" dirty="0">
                <a:solidFill>
                  <a:srgbClr val="000000">
                    <a:alpha val="100000"/>
                  </a:srgbClr>
                </a:solidFill>
                <a:latin typeface="Microsoft YaHei"/>
                <a:ea typeface="Microsoft YaHei"/>
                <a:cs typeface="Microsoft YaHei"/>
              </a:rPr>
              <a:t>其他小问题技术团队及时解决</a:t>
            </a:r>
            <a:endParaRPr sz="1700" dirty="0">
              <a:latin typeface="Microsoft YaHei"/>
              <a:ea typeface="Microsoft YaHei"/>
              <a:cs typeface="Microsoft YaHei"/>
            </a:endParaRPr>
          </a:p>
        </p:txBody>
      </p:sp>
      <p:pic>
        <p:nvPicPr>
          <p:cNvPr id="518" name="picture 518"/>
          <p:cNvPicPr>
            <a:picLocks noChangeAspect="1"/>
          </p:cNvPicPr>
          <p:nvPr/>
        </p:nvPicPr>
        <p:blipFill>
          <a:blip r:embed="rId2"/>
          <a:stretch>
            <a:fillRect/>
          </a:stretch>
        </p:blipFill>
        <p:spPr>
          <a:xfrm rot="21600000">
            <a:off x="335279" y="807720"/>
            <a:ext cx="11519916" cy="67055"/>
          </a:xfrm>
          <a:prstGeom prst="rect">
            <a:avLst/>
          </a:prstGeom>
        </p:spPr>
      </p:pic>
      <p:pic>
        <p:nvPicPr>
          <p:cNvPr id="520" name="picture 520"/>
          <p:cNvPicPr>
            <a:picLocks noChangeAspect="1"/>
          </p:cNvPicPr>
          <p:nvPr/>
        </p:nvPicPr>
        <p:blipFill>
          <a:blip r:embed="rId3"/>
          <a:stretch>
            <a:fillRect/>
          </a:stretch>
        </p:blipFill>
        <p:spPr>
          <a:xfrm rot="21600000">
            <a:off x="11126046" y="215885"/>
            <a:ext cx="721486" cy="526694"/>
          </a:xfrm>
          <a:prstGeom prst="rect">
            <a:avLst/>
          </a:prstGeom>
        </p:spPr>
      </p:pic>
      <p:sp>
        <p:nvSpPr>
          <p:cNvPr id="522" name="textbox 522"/>
          <p:cNvSpPr/>
          <p:nvPr/>
        </p:nvSpPr>
        <p:spPr>
          <a:xfrm>
            <a:off x="470408" y="329628"/>
            <a:ext cx="1226185" cy="332104"/>
          </a:xfrm>
          <a:prstGeom prst="rect">
            <a:avLst/>
          </a:prstGeom>
          <a:noFill/>
          <a:ln w="0" cap="flat">
            <a:noFill/>
            <a:prstDash val="solid"/>
            <a:miter lim="0"/>
          </a:ln>
        </p:spPr>
        <p:txBody>
          <a:bodyPr vert="horz" wrap="square" lIns="0" tIns="0" rIns="0" bIns="0"/>
          <a:lstStyle/>
          <a:p>
            <a:pPr algn="l" rtl="0" eaLnBrk="0">
              <a:lnSpc>
                <a:spcPct val="94819"/>
              </a:lnSpc>
              <a:tabLst/>
            </a:pPr>
            <a:endParaRPr sz="100" dirty="0">
              <a:latin typeface="Arial"/>
              <a:ea typeface="Arial"/>
              <a:cs typeface="Arial"/>
            </a:endParaRPr>
          </a:p>
          <a:p>
            <a:pPr marL="12700" algn="l" rtl="0" eaLnBrk="0">
              <a:lnSpc>
                <a:spcPct val="87000"/>
              </a:lnSpc>
              <a:tabLst/>
            </a:pPr>
            <a:r>
              <a:rPr sz="2300" b="1" kern="0" spc="60" dirty="0">
                <a:solidFill>
                  <a:srgbClr val="C00000">
                    <a:alpha val="100000"/>
                  </a:srgbClr>
                </a:solidFill>
                <a:latin typeface="Microsoft YaHei"/>
                <a:ea typeface="Microsoft YaHei"/>
                <a:cs typeface="Microsoft YaHei"/>
              </a:rPr>
              <a:t>回退预案</a:t>
            </a:r>
            <a:endParaRPr sz="2300" dirty="0">
              <a:latin typeface="Microsoft YaHei"/>
              <a:ea typeface="Microsoft YaHei"/>
              <a:cs typeface="Microsoft YaHei"/>
            </a:endParaRPr>
          </a:p>
        </p:txBody>
      </p:sp>
      <p:sp>
        <p:nvSpPr>
          <p:cNvPr id="524" name="textbox 524"/>
          <p:cNvSpPr/>
          <p:nvPr/>
        </p:nvSpPr>
        <p:spPr>
          <a:xfrm>
            <a:off x="11662743" y="6462377"/>
            <a:ext cx="224154" cy="2698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23"/>
              </a:lnSpc>
              <a:tabLst/>
            </a:pPr>
            <a:r>
              <a:rPr sz="1500" kern="0" spc="-20" dirty="0">
                <a:solidFill>
                  <a:srgbClr val="B1B1B1">
                    <a:alpha val="100000"/>
                  </a:srgbClr>
                </a:solidFill>
                <a:latin typeface="DengXian"/>
                <a:ea typeface="DengXian"/>
                <a:cs typeface="DengXian"/>
              </a:rPr>
              <a:t>18</a:t>
            </a:r>
            <a:endParaRPr sz="1500" dirty="0">
              <a:latin typeface="DengXian"/>
              <a:ea typeface="DengXian"/>
              <a:cs typeface="DengXi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6" name="picture 526"/>
          <p:cNvPicPr>
            <a:picLocks noChangeAspect="1"/>
          </p:cNvPicPr>
          <p:nvPr/>
        </p:nvPicPr>
        <p:blipFill>
          <a:blip r:embed="rId2"/>
          <a:stretch>
            <a:fillRect/>
          </a:stretch>
        </p:blipFill>
        <p:spPr>
          <a:xfrm rot="21600000">
            <a:off x="0" y="6797040"/>
            <a:ext cx="12192000" cy="60959"/>
          </a:xfrm>
          <a:prstGeom prst="rect">
            <a:avLst/>
          </a:prstGeom>
        </p:spPr>
      </p:pic>
      <p:pic>
        <p:nvPicPr>
          <p:cNvPr id="528" name="picture 528"/>
          <p:cNvPicPr>
            <a:picLocks noChangeAspect="1"/>
          </p:cNvPicPr>
          <p:nvPr/>
        </p:nvPicPr>
        <p:blipFill>
          <a:blip r:embed="rId3"/>
          <a:stretch>
            <a:fillRect/>
          </a:stretch>
        </p:blipFill>
        <p:spPr>
          <a:xfrm rot="21600000">
            <a:off x="0" y="2267711"/>
            <a:ext cx="8868156" cy="4590288"/>
          </a:xfrm>
          <a:prstGeom prst="rect">
            <a:avLst/>
          </a:prstGeom>
        </p:spPr>
      </p:pic>
      <p:pic>
        <p:nvPicPr>
          <p:cNvPr id="530" name="picture 530"/>
          <p:cNvPicPr>
            <a:picLocks noChangeAspect="1"/>
          </p:cNvPicPr>
          <p:nvPr/>
        </p:nvPicPr>
        <p:blipFill>
          <a:blip r:embed="rId4"/>
          <a:stretch>
            <a:fillRect/>
          </a:stretch>
        </p:blipFill>
        <p:spPr>
          <a:xfrm rot="21600000">
            <a:off x="275159" y="220025"/>
            <a:ext cx="2903497" cy="996243"/>
          </a:xfrm>
          <a:prstGeom prst="rect">
            <a:avLst/>
          </a:prstGeom>
        </p:spPr>
      </p:pic>
      <p:sp>
        <p:nvSpPr>
          <p:cNvPr id="532" name="textbox 532"/>
          <p:cNvSpPr/>
          <p:nvPr/>
        </p:nvSpPr>
        <p:spPr>
          <a:xfrm>
            <a:off x="4950866" y="2521128"/>
            <a:ext cx="2110739" cy="9302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7122"/>
              </a:lnSpc>
              <a:tabLst/>
            </a:pPr>
            <a:r>
              <a:rPr sz="5000" b="1" kern="0" spc="-430" dirty="0">
                <a:solidFill>
                  <a:srgbClr val="C00000">
                    <a:alpha val="100000"/>
                  </a:srgbClr>
                </a:solidFill>
                <a:latin typeface="Microsoft YaHei"/>
                <a:ea typeface="Microsoft YaHei"/>
                <a:cs typeface="Microsoft YaHei"/>
              </a:rPr>
              <a:t>谢谢！</a:t>
            </a:r>
            <a:endParaRPr sz="5000" dirty="0">
              <a:latin typeface="Microsoft YaHei"/>
              <a:ea typeface="Microsoft YaHei"/>
              <a:cs typeface="Microsoft YaHei"/>
            </a:endParaRPr>
          </a:p>
        </p:txBody>
      </p:sp>
      <p:pic>
        <p:nvPicPr>
          <p:cNvPr id="534" name="picture 534"/>
          <p:cNvPicPr>
            <a:picLocks noChangeAspect="1"/>
          </p:cNvPicPr>
          <p:nvPr/>
        </p:nvPicPr>
        <p:blipFill>
          <a:blip r:embed="rId5"/>
          <a:stretch>
            <a:fillRect/>
          </a:stretch>
        </p:blipFill>
        <p:spPr>
          <a:xfrm rot="21600000">
            <a:off x="11199876" y="313943"/>
            <a:ext cx="888492" cy="5440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vt="http://schemas.openxmlformats.org/officeDocument/2006/docPropsVTypes" xmlns:ap="http://schemas.openxmlformats.org/officeDocument/2006/extended-properties">
  <ap:Application>WPS 演示</ap:Application>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2025-12-10T16:23:07Z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wqlLaW5nc29mdCBQREYgdG8gV1BTIDExNQ</vt:lpwstr>
  </property>
  <property fmtid="{D5CDD505-2E9C-101B-9397-08002B2CF9AE}" pid="3" name="Created">
    <vt:filetime>2026-01-07T10:38:46</vt:filetime>
  </property>
</Properties>
</file>