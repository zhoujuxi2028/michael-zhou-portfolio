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handoutMasterIdLst>
    <p:handoutMasterId r:id="rId13"/>
  </p:handoutMasterIdLst>
  <p:sldIdLst>
    <p:sldId id="16768947" r:id="rId2"/>
    <p:sldId id="257" r:id="rId3"/>
    <p:sldId id="16769017" r:id="rId4"/>
    <p:sldId id="16769047" r:id="rId5"/>
    <p:sldId id="16769048" r:id="rId6"/>
    <p:sldId id="16769049" r:id="rId7"/>
    <p:sldId id="16769050" r:id="rId8"/>
    <p:sldId id="16769053" r:id="rId9"/>
    <p:sldId id="16769051" r:id="rId10"/>
    <p:sldId id="16768948" r:id="rId11"/>
  </p:sldIdLst>
  <p:sldSz cx="12192000" cy="6858000"/>
  <p:notesSz cx="6858000" cy="9144000"/>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77" userDrawn="1">
          <p15:clr>
            <a:srgbClr val="A4A3A4"/>
          </p15:clr>
        </p15:guide>
        <p15:guide id="2" pos="30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Z51386" initials="Z" lastIdx="1" clrIdx="0"/>
  <p:cmAuthor id="307" name="未知用户69" initials="" lastIdx="0" clrIdx="306"/>
  <p:cmAuthor id="1" name="zhang zhe" initials="zz" lastIdx="1" clrIdx="0"/>
  <p:cmAuthor id="308" name="未知用户70" initials="" lastIdx="0" clrIdx="307"/>
  <p:cmAuthor id="2" name="魏晋" initials="Y" lastIdx="2" clrIdx="1"/>
  <p:cmAuthor id="309" name="未知用户71" initials="" lastIdx="0" clrIdx="308"/>
  <p:cmAuthor id="310" name="未知用户72" initials="" lastIdx="0" clrIdx="309"/>
  <p:cmAuthor id="4" name="EDZ" initials="E" lastIdx="2" clrIdx="3"/>
  <p:cmAuthor id="311" name="未知用户73" initials="" lastIdx="0" clrIdx="310"/>
  <p:cmAuthor id="5" name="Tao Li" initials="TL" lastIdx="1" clrIdx="4"/>
  <p:cmAuthor id="312" name="未知用户49" initials="" lastIdx="0" clrIdx="311"/>
  <p:cmAuthor id="6" name="微软用户" initials="微软用户" lastIdx="0" clrIdx="5"/>
  <p:cmAuthor id="313" name="未知用户50" initials="" lastIdx="0" clrIdx="312"/>
  <p:cmAuthor id="7" name="未知用户93" initials="" lastIdx="0" clrIdx="6"/>
  <p:cmAuthor id="314" name="未知用户52" initials="" lastIdx="0" clrIdx="313"/>
  <p:cmAuthor id="8" name="wxh" initials="w" lastIdx="0" clrIdx="7"/>
  <p:cmAuthor id="315" name="MA15" initials="" lastIdx="0" clrIdx="314"/>
  <p:cmAuthor id="9" name="未知用户90" initials="" lastIdx="0" clrIdx="8"/>
  <p:cmAuthor id="316" name="未知用户53" initials="" lastIdx="0" clrIdx="315"/>
  <p:cmAuthor id="10" name="作者" initials="A" lastIdx="0" clrIdx="9"/>
  <p:cmAuthor id="317" name="未知用户96" initials="" lastIdx="0" clrIdx="316"/>
  <p:cmAuthor id="11" name="未知用户91" initials="" lastIdx="0" clrIdx="10"/>
  <p:cmAuthor id="318" name="未知用户48" initials="" lastIdx="0" clrIdx="317"/>
  <p:cmAuthor id="12" name="lhc" initials="l" lastIdx="0" clrIdx="11"/>
  <p:cmAuthor id="319" name="未知用户97" initials="" lastIdx="0" clrIdx="318"/>
  <p:cmAuthor id="13" name="未知用户92" initials="" lastIdx="0" clrIdx="12"/>
  <p:cmAuthor id="320" name="未知用户40" initials="" lastIdx="0" clrIdx="319"/>
  <p:cmAuthor id="14" name="董涛" initials="董" lastIdx="0" clrIdx="13"/>
  <p:cmAuthor id="321" name="未知用户43" initials="" lastIdx="0" clrIdx="320"/>
  <p:cmAuthor id="15" name="未知用户74" initials="" lastIdx="0" clrIdx="14"/>
  <p:cmAuthor id="322" name="未知用户100" initials="" lastIdx="0" clrIdx="321"/>
  <p:cmAuthor id="16" name="sz" initials="s" lastIdx="0" clrIdx="15"/>
  <p:cmAuthor id="323" name="未知用户101" initials="" lastIdx="0" clrIdx="322"/>
  <p:cmAuthor id="17" name="未知用户75" initials="" lastIdx="0" clrIdx="16"/>
  <p:cmAuthor id="324" name="未知用户26" initials="" lastIdx="0" clrIdx="323"/>
  <p:cmAuthor id="18" name="无 游客" initials="无" lastIdx="0" clrIdx="17"/>
  <p:cmAuthor id="325" name="韩雨" initials="韩" lastIdx="0" clrIdx="324"/>
  <p:cmAuthor id="19" name="未知用户76" initials="" lastIdx="0" clrIdx="18"/>
  <p:cmAuthor id="326" name="未知用户29" initials="" lastIdx="0" clrIdx="325"/>
  <p:cmAuthor id="20" name="董苗苗" initials="董" lastIdx="0" clrIdx="19"/>
  <p:cmAuthor id="327" name="未知用户33" initials="" lastIdx="0" clrIdx="326"/>
  <p:cmAuthor id="21" name="未知用户77" initials="" lastIdx="0" clrIdx="20"/>
  <p:cmAuthor id="328" name="未知用户34" initials="" lastIdx="0" clrIdx="327"/>
  <p:cmAuthor id="22" name="张正明" initials="张" lastIdx="0" clrIdx="21"/>
  <p:cmAuthor id="329" name="未知用户42" initials="" lastIdx="0" clrIdx="328"/>
  <p:cmAuthor id="23" name="未知用户78" initials="" lastIdx="0" clrIdx="22"/>
  <p:cmAuthor id="330" name="未知的使用者109" initials="" lastIdx="0" clrIdx="329"/>
  <p:cmAuthor id="24" name="PC" initials="P" lastIdx="0" clrIdx="23"/>
  <p:cmAuthor id="331" name="未知的使用者122" initials="" lastIdx="0" clrIdx="330"/>
  <p:cmAuthor id="25" name="未知用户79" initials="" lastIdx="0" clrIdx="24"/>
  <p:cmAuthor id="332" name="未知的使用者123" initials="" lastIdx="0" clrIdx="331"/>
  <p:cmAuthor id="26" name="lenovo" initials="l" lastIdx="0" clrIdx="25"/>
  <p:cmAuthor id="27" name="未知用户80" initials="" lastIdx="0" clrIdx="26"/>
  <p:cmAuthor id="28" name="李响" initials="李" lastIdx="0" clrIdx="27"/>
  <p:cmAuthor id="29" name="Harry xu" initials="" lastIdx="0" clrIdx="28"/>
  <p:cmAuthor id="30" name="陈驹洲" initials="陈" lastIdx="0" clrIdx="29"/>
  <p:cmAuthor id="31" name="未知用户27" initials="未" lastIdx="0" clrIdx="30"/>
  <p:cmAuthor id="32" name="Li Guoliang" initials="L" lastIdx="0" clrIdx="31"/>
  <p:cmAuthor id="33" name="未知用户35" initials="未" lastIdx="0" clrIdx="32"/>
  <p:cmAuthor id="34" name="刘云轩" initials="刘" lastIdx="0" clrIdx="33"/>
  <p:cmAuthor id="35" name="未知用户111" initials="未" lastIdx="0" clrIdx="34"/>
  <p:cmAuthor id="36" name="未知用户30" initials="未知用户30" lastIdx="0" clrIdx="35"/>
  <p:cmAuthor id="37" name="sharon" initials="s" lastIdx="0" clrIdx="36"/>
  <p:cmAuthor id="38" name="未知用户31" initials="未知用户31" lastIdx="0" clrIdx="37"/>
  <p:cmAuthor id="39" name="李颖" initials="李" lastIdx="0" clrIdx="38"/>
  <p:cmAuthor id="40" name="未知用户32" initials="未知用户32" lastIdx="0" clrIdx="39"/>
  <p:cmAuthor id="41" name="未知的使用者75" initials="未" lastIdx="0" clrIdx="40"/>
  <p:cmAuthor id="42" name="仝德志" initials="仝" lastIdx="0" clrIdx="41"/>
  <p:cmAuthor id="43" name="未知的使用者77" initials="未" lastIdx="0" clrIdx="42"/>
  <p:cmAuthor id="44" name="朱挺" initials="朱挺" lastIdx="0" clrIdx="43"/>
  <p:cmAuthor id="45" name="未知的使用者78" initials="未" lastIdx="0" clrIdx="44"/>
  <p:cmAuthor id="46" name="马云飞10014438" initials="马" lastIdx="0" clrIdx="45"/>
  <p:cmAuthor id="47" name="未知的使用者79" initials="未" lastIdx="0" clrIdx="46"/>
  <p:cmAuthor id="48" name="TF013070" initials="T" lastIdx="0" clrIdx="47"/>
  <p:cmAuthor id="49" name="施祖阳" initials="shizy" lastIdx="0" clrIdx="48"/>
  <p:cmAuthor id="50" name="alpha" initials="a" lastIdx="0" clrIdx="49"/>
  <p:cmAuthor id="51" name="孟伟伟" initials="孟" lastIdx="0" clrIdx="50"/>
  <p:cmAuthor id="52" name="00035181" initials="0" lastIdx="0" clrIdx="51"/>
  <p:cmAuthor id="53" name="李蕾00009994" initials="李蕾00009994" lastIdx="0" clrIdx="52"/>
  <p:cmAuthor id="54" name="Saku Uchikawa" initials="S" lastIdx="0" clrIdx="53"/>
  <p:cmAuthor id="55" name="10066351" initials="1" lastIdx="0" clrIdx="54"/>
  <p:cmAuthor id="56" name="蔡建楠" initials="caijianna" lastIdx="0" clrIdx="55"/>
  <p:cmAuthor id="57" name="殷格非" initials="殷" lastIdx="0" clrIdx="56"/>
  <p:cmAuthor id="58" name="光善军" initials="光" lastIdx="0" clrIdx="57"/>
  <p:cmAuthor id="59" name="z r" initials="zr" lastIdx="0" clrIdx="58"/>
  <p:cmAuthor id="60" name="Hou Yingfeng" initials="H" lastIdx="0" clrIdx="59"/>
  <p:cmAuthor id="61" name="8310" initials="8" lastIdx="0" clrIdx="60"/>
  <p:cmAuthor id="62" name="10056791" initials="ZTE" lastIdx="0" clrIdx="61"/>
  <p:cmAuthor id="63" name="Aqf" initials="A" lastIdx="0" clrIdx="62"/>
  <p:cmAuthor id="64" name="Unknown User52" initials="U" lastIdx="0" clrIdx="63"/>
  <p:cmAuthor id="65" name="李楠10047711" initials="李楠10047711" lastIdx="0" clrIdx="64"/>
  <p:cmAuthor id="66" name="liucunri" initials="l" lastIdx="0" clrIdx="65"/>
  <p:cmAuthor id="67" name="610007" initials="6" lastIdx="0" clrIdx="66"/>
  <p:cmAuthor id="68" name="Deanna Schuler (Bookey Consulting)" initials="D" lastIdx="0" clrIdx="67"/>
  <p:cmAuthor id="69" name="0045000519" initials="0" lastIdx="0" clrIdx="68"/>
  <p:cmAuthor id="70" name="ZhangXiaoMin" initials="Z" lastIdx="0" clrIdx="69"/>
  <p:cmAuthor id="71" name="廖麗華" initials="廖" lastIdx="0" clrIdx="70"/>
  <p:cmAuthor id="72" name="Microsoft Office 用户" initials="M" lastIdx="0" clrIdx="71"/>
  <p:cmAuthor id="73" name="cui yun" initials="cy" lastIdx="0" clrIdx="72"/>
  <p:cmAuthor id="74" name="群智集" initials="群" lastIdx="0" clrIdx="73"/>
  <p:cmAuthor id="75" name="未知的使用者161" initials="未" lastIdx="0" clrIdx="74"/>
  <p:cmAuthor id="76" name="江莉萍|jiangliping" initials="W用" lastIdx="0" clrIdx="75"/>
  <p:cmAuthor id="77" name="qihua-DCMS" initials="q" lastIdx="0" clrIdx="76"/>
  <p:cmAuthor id="78" name="YUMINGNJ" initials="Y" lastIdx="0" clrIdx="77"/>
  <p:cmAuthor id="79" name="未知的使用者152" initials="未" lastIdx="0" clrIdx="78"/>
  <p:cmAuthor id="80" name="daphne" initials="d" lastIdx="0" clrIdx="79"/>
  <p:cmAuthor id="81" name="Jason Wang" initials="J" lastIdx="0" clrIdx="80"/>
  <p:cmAuthor id="82" name="张 波" initials="张" lastIdx="0" clrIdx="81"/>
  <p:cmAuthor id="83" name="沈霄雷" initials="沈" lastIdx="0" clrIdx="82"/>
  <p:cmAuthor id="84" name="hl chen" initials="hc" lastIdx="0" clrIdx="83"/>
  <p:cmAuthor id="85" name="大量" initials="大量" lastIdx="0" clrIdx="84"/>
  <p:cmAuthor id="86" name="未知的使用者176" initials="未" lastIdx="0" clrIdx="85"/>
  <p:cmAuthor id="87" name="yuanzh" initials="y" lastIdx="0" clrIdx="86"/>
  <p:cmAuthor id="88" name="曾红" initials="曾" lastIdx="0" clrIdx="87"/>
  <p:cmAuthor id="89" name="18937034561@189.cn" initials="1" lastIdx="0" clrIdx="88"/>
  <p:cmAuthor id="90" name="未知的使用者178" initials="未" lastIdx="0" clrIdx="89"/>
  <p:cmAuthor id="91" name="李金金" initials="李金金" lastIdx="0" clrIdx="90"/>
  <p:cmAuthor id="92" name="未知的使用者179" initials="未" lastIdx="0" clrIdx="91"/>
  <p:cmAuthor id="93" name="mm" initials="m" lastIdx="0" clrIdx="92"/>
  <p:cmAuthor id="94" name="qi li" initials="ql" lastIdx="0" clrIdx="93"/>
  <p:cmAuthor id="95" name="未知的使用者180" initials="未" lastIdx="0" clrIdx="94"/>
  <p:cmAuthor id="96" name="周宏達JerryChou" initials="周" lastIdx="0" clrIdx="95"/>
  <p:cmAuthor id="97" name="hl sun" initials="h" lastIdx="0" clrIdx="96"/>
  <p:cmAuthor id="98" name="朱晓瑜" initials="朱" lastIdx="0" clrIdx="97"/>
  <p:cmAuthor id="99" name="張秀娟" initials="張" lastIdx="0" clrIdx="98"/>
  <p:cmAuthor id="100" name="Windows 用户" initials="W" lastIdx="0" clrIdx="99"/>
  <p:cmAuthor id="101" name="唐可欣" initials="唐" lastIdx="0" clrIdx="100"/>
  <p:cmAuthor id="102" name="thomas" initials="t" lastIdx="0" clrIdx="101"/>
  <p:cmAuthor id="103" name="不明使用者20" initials="不" lastIdx="0" clrIdx="102"/>
  <p:cmAuthor id="104" name="jet" initials="j" lastIdx="0" clrIdx="103"/>
  <p:cmAuthor id="105" name="clinchen" initials="c" lastIdx="0" clrIdx="104"/>
  <p:cmAuthor id="106" name="黄晓平" initials="黄" lastIdx="0" clrIdx="105"/>
  <p:cmAuthor id="107" name="德辰 李" initials="德李" lastIdx="0" clrIdx="106"/>
  <p:cmAuthor id="108" name="Evonlin" initials="E" lastIdx="0" clrIdx="107"/>
  <p:cmAuthor id="109" name="家伟 黄" initials="家黄" lastIdx="0" clrIdx="108"/>
  <p:cmAuthor id="110" name="Unknown User50" initials="" lastIdx="0" clrIdx="109"/>
  <p:cmAuthor id="111" name="k" initials="k" lastIdx="0" clrIdx="110"/>
  <p:cmAuthor id="112" name="陆世文" initials="陆" lastIdx="0" clrIdx="111"/>
  <p:cmAuthor id="113" name="刘 锐明" initials="刘" lastIdx="0" clrIdx="112"/>
  <p:cmAuthor id="114" name="欧 志芳" initials="欧" lastIdx="0" clrIdx="113"/>
  <p:cmAuthor id="115" name="培源" initials="培源" lastIdx="0" clrIdx="114"/>
  <p:cmAuthor id="116" name="Gu" initials="Y" lastIdx="0" clrIdx="115"/>
  <p:cmAuthor id="117" name="zhu chengxing" initials="zc" lastIdx="0" clrIdx="116"/>
  <p:cmAuthor id="118" name="王芸" initials="w" lastIdx="0" clrIdx="117"/>
  <p:cmAuthor id="119" name="未知用户16" initials="" lastIdx="0" clrIdx="118"/>
  <p:cmAuthor id="120" name="Mary Feil-Jacobs" initials="" lastIdx="0" clrIdx="119"/>
  <p:cmAuthor id="121" name="LiuHui" initials="" lastIdx="0" clrIdx="120"/>
  <p:cmAuthor id="122" name="未知的使用者45" initials="" lastIdx="0" clrIdx="121"/>
  <p:cmAuthor id="123" name="王鹏凯" initials="" lastIdx="0" clrIdx="122"/>
  <p:cmAuthor id="124" name="未知用户104" initials="" lastIdx="0" clrIdx="123"/>
  <p:cmAuthor id="125" name="未知用户5" initials="" lastIdx="0" clrIdx="124"/>
  <p:cmAuthor id="126" name="未知的使用者10" initials="" lastIdx="0" clrIdx="125"/>
  <p:cmAuthor id="127" name="未知的使用者93" initials="" lastIdx="0" clrIdx="126"/>
  <p:cmAuthor id="128" name="LeeElva" initials="" lastIdx="0" clrIdx="127"/>
  <p:cmAuthor id="129" name="未知用户99" initials="" lastIdx="0" clrIdx="128"/>
  <p:cmAuthor id="130" name="未知的使用者34" initials="" lastIdx="0" clrIdx="129"/>
  <p:cmAuthor id="131" name="未知的使用者115" initials="" lastIdx="0" clrIdx="130"/>
  <p:cmAuthor id="132" name="未知用户57" initials="" lastIdx="0" clrIdx="131"/>
  <p:cmAuthor id="133" name="lianghb" initials="" lastIdx="0" clrIdx="132"/>
  <p:cmAuthor id="134" name="未知用户17" initials="" lastIdx="0" clrIdx="133"/>
  <p:cmAuthor id="135" name="未知的使用者57" initials="" lastIdx="0" clrIdx="134"/>
  <p:cmAuthor id="136" name="未知的使用者16" initials="" lastIdx="0" clrIdx="135"/>
  <p:cmAuthor id="137" name="未知的使用者35" initials="" lastIdx="0" clrIdx="136"/>
  <p:cmAuthor id="138" name="未知用户102" initials="" lastIdx="0" clrIdx="137"/>
  <p:cmAuthor id="139" name="maxine" initials="" lastIdx="0" clrIdx="138"/>
  <p:cmAuthor id="140" name="未知的使用者121" initials="" lastIdx="0" clrIdx="139"/>
  <p:cmAuthor id="141" name="未知的使用者12" initials="" lastIdx="0" clrIdx="140"/>
  <p:cmAuthor id="142" name="周元元" initials="" lastIdx="0" clrIdx="141"/>
  <p:cmAuthor id="143" name="未知的使用者27" initials="" lastIdx="0" clrIdx="142"/>
  <p:cmAuthor id="144" name="未知的使用者30" initials="" lastIdx="0" clrIdx="143"/>
  <p:cmAuthor id="145" name="未知的使用者53" initials="" lastIdx="0" clrIdx="144"/>
  <p:cmAuthor id="146" name="未知用户58" initials="" lastIdx="0" clrIdx="145"/>
  <p:cmAuthor id="147" name="未知的使用者25" initials="" lastIdx="0" clrIdx="146"/>
  <p:cmAuthor id="148" name="liupeng" initials="" lastIdx="0" clrIdx="147"/>
  <p:cmAuthor id="149" name="未知用户24" initials="" lastIdx="0" clrIdx="148"/>
  <p:cmAuthor id="150" name="AbuSina" initials="" lastIdx="0" clrIdx="149"/>
  <p:cmAuthor id="151" name="未知的使用者94" initials="" lastIdx="0" clrIdx="150"/>
  <p:cmAuthor id="152" name="未知用户66" initials="" lastIdx="0" clrIdx="151"/>
  <p:cmAuthor id="153" name="未知用户19" initials="" lastIdx="0" clrIdx="152"/>
  <p:cmAuthor id="154" name="未知用户7" initials="" lastIdx="0" clrIdx="153"/>
  <p:cmAuthor id="155" name="未知的使用者56" initials="" lastIdx="0" clrIdx="154"/>
  <p:cmAuthor id="156" name="未知的使用者119" initials="" lastIdx="0" clrIdx="155"/>
  <p:cmAuthor id="157" name="未知用户59" initials="" lastIdx="0" clrIdx="156"/>
  <p:cmAuthor id="158" name="未知的使用者22" initials="" lastIdx="0" clrIdx="157"/>
  <p:cmAuthor id="159" name="未知的使用者103" initials="" lastIdx="0" clrIdx="158"/>
  <p:cmAuthor id="160" name="Wenwen" initials="" lastIdx="0" clrIdx="159"/>
  <p:cmAuthor id="161" name="未知的使用者117" initials="" lastIdx="0" clrIdx="160"/>
  <p:cmAuthor id="162" name="未知的使用者33" initials="" lastIdx="0" clrIdx="161"/>
  <p:cmAuthor id="163" name="未知的使用者28" initials="" lastIdx="0" clrIdx="162"/>
  <p:cmAuthor id="164" name="未知用户67" initials="" lastIdx="0" clrIdx="163"/>
  <p:cmAuthor id="165" name="未知用户114" initials="" lastIdx="0" clrIdx="164"/>
  <p:cmAuthor id="166" name="未知用户18" initials="" lastIdx="0" clrIdx="165"/>
  <p:cmAuthor id="167" name="未知的使用者67" initials="" lastIdx="0" clrIdx="166"/>
  <p:cmAuthor id="168" name="未知的使用者46" initials="" lastIdx="0" clrIdx="167"/>
  <p:cmAuthor id="169" name="未知的使用者26" initials="" lastIdx="0" clrIdx="168"/>
  <p:cmAuthor id="170" name="未知的使用者43" initials="" lastIdx="0" clrIdx="169"/>
  <p:cmAuthor id="171" name="未知的使用者9" initials="" lastIdx="0" clrIdx="170"/>
  <p:cmAuthor id="172" name="未知用户62" initials="" lastIdx="0" clrIdx="171"/>
  <p:cmAuthor id="173" name="不明使用者57" initials="" lastIdx="0" clrIdx="172"/>
  <p:cmAuthor id="174" name="未知用户108" initials="" lastIdx="0" clrIdx="173"/>
  <p:cmAuthor id="175" name="未知的使用者110" initials="" lastIdx="0" clrIdx="174"/>
  <p:cmAuthor id="176" name="linyd" initials="" lastIdx="0" clrIdx="175"/>
  <p:cmAuthor id="177" name="未知用户8" initials="" lastIdx="0" clrIdx="176"/>
  <p:cmAuthor id="178" name="未知的使用者31" initials="" lastIdx="0" clrIdx="177"/>
  <p:cmAuthor id="179" name="未知用户81" initials="" lastIdx="0" clrIdx="178"/>
  <p:cmAuthor id="180" name="未知用户115" initials="" lastIdx="0" clrIdx="179"/>
  <p:cmAuthor id="181" name="未知用户21" initials="" lastIdx="0" clrIdx="180"/>
  <p:cmAuthor id="182" name="未知的使用者68" initials="" lastIdx="0" clrIdx="181"/>
  <p:cmAuthor id="183" name="未知用户15" initials="" lastIdx="0" clrIdx="182"/>
  <p:cmAuthor id="184" name="李婧宜_YBferYVR" initials="authorId_1217247658" lastIdx="0" clrIdx="183"/>
  <p:cmAuthor id="185" name="未知用户82" initials="" lastIdx="0" clrIdx="184"/>
  <p:cmAuthor id="186" name=" " initials="" lastIdx="0" clrIdx="185"/>
  <p:cmAuthor id="187" name="未知的使用者7" initials="" lastIdx="0" clrIdx="186"/>
  <p:cmAuthor id="188" name="未知用户6" initials="" lastIdx="0" clrIdx="187"/>
  <p:cmAuthor id="189" name="未知的使用者55" initials="" lastIdx="0" clrIdx="188"/>
  <p:cmAuthor id="190" name="未知的使用者111" initials="" lastIdx="0" clrIdx="189"/>
  <p:cmAuthor id="191" name="未知的使用者50" initials="" lastIdx="0" clrIdx="190"/>
  <p:cmAuthor id="192" name="未知的使用者11" initials="" lastIdx="0" clrIdx="191"/>
  <p:cmAuthor id="193" name="未知用户47" initials="" lastIdx="0" clrIdx="192"/>
  <p:cmAuthor id="194" name="小延魔法师" initials="小" lastIdx="0" clrIdx="193"/>
  <p:cmAuthor id="195" name="未知用户106" initials="未" lastIdx="0" clrIdx="194"/>
  <p:cmAuthor id="196" name="王林10186938" initials="王林10186938" lastIdx="0" clrIdx="195"/>
  <p:cmAuthor id="197" name="未知用户116" initials="" lastIdx="0" clrIdx="196"/>
  <p:cmAuthor id="198" name="张平10088211" initials="张平10088211" lastIdx="0" clrIdx="197"/>
  <p:cmAuthor id="199" name="未知的使用者150" initials="未" lastIdx="0" clrIdx="198"/>
  <p:cmAuthor id="200" name="weihua zhou" initials="wz" lastIdx="0" clrIdx="199"/>
  <p:cmAuthor id="201" name="未知的使用者69" initials="" lastIdx="0" clrIdx="200"/>
  <p:cmAuthor id="202" name="毛 江俊" initials="毛江" lastIdx="0" clrIdx="201"/>
  <p:cmAuthor id="203" name="未知的使用者112" initials="" lastIdx="0" clrIdx="202"/>
  <p:cmAuthor id="204" name="Kevin Hu" initials="" lastIdx="0" clrIdx="203"/>
  <p:cmAuthor id="205" name="未知的使用者38" initials="" lastIdx="0" clrIdx="204"/>
  <p:cmAuthor id="206" name="未知的使用者8" initials="" lastIdx="0" clrIdx="205"/>
  <p:cmAuthor id="207" name="不明使用者56" initials="" lastIdx="0" clrIdx="206"/>
  <p:cmAuthor id="208" name="P00035_jeremy" initials="" lastIdx="0" clrIdx="207"/>
  <p:cmAuthor id="209" name="Unknown User7" initials="" lastIdx="0" clrIdx="208"/>
  <p:cmAuthor id="210" name="muzi wei" initials="" lastIdx="0" clrIdx="209"/>
  <p:cmAuthor id="211" name="未知的使用者41" initials="" lastIdx="0" clrIdx="210"/>
  <p:cmAuthor id="212" name="未知的使用者13" initials="" lastIdx="0" clrIdx="211"/>
  <p:cmAuthor id="213" name="djj" initials="" lastIdx="0" clrIdx="212"/>
  <p:cmAuthor id="214" name="未知用户117" initials="" lastIdx="0" clrIdx="213"/>
  <p:cmAuthor id="215" name="未知的使用者92" initials="未" lastIdx="0" clrIdx="214"/>
  <p:cmAuthor id="216" name="未知用户13" initials="" lastIdx="0" clrIdx="215"/>
  <p:cmAuthor id="217" name="不明使用者21" initials="" lastIdx="0" clrIdx="216"/>
  <p:cmAuthor id="218" name="未知的使用者52" initials="" lastIdx="0" clrIdx="217"/>
  <p:cmAuthor id="219" name="未知用户109" initials="" lastIdx="0" clrIdx="218"/>
  <p:cmAuthor id="220" name="Unknown User117" initials="U" lastIdx="0" clrIdx="219"/>
  <p:cmAuthor id="221" name="未知的使用者3" initials="" lastIdx="0" clrIdx="220"/>
  <p:cmAuthor id="222" name="未知用户14" initials="" lastIdx="0" clrIdx="221"/>
  <p:cmAuthor id="223" name="Unknown User65" initials="U" lastIdx="0" clrIdx="222"/>
  <p:cmAuthor id="224" name="未知用户98" initials="" lastIdx="0" clrIdx="223"/>
  <p:cmAuthor id="225" name="Unknown User11" initials="U" lastIdx="0" clrIdx="224"/>
  <p:cmAuthor id="226" name="未知用户83" initials="" lastIdx="0" clrIdx="225"/>
  <p:cmAuthor id="227" name="未知用户61" initials="" lastIdx="0" clrIdx="226"/>
  <p:cmAuthor id="228" name="不明使用者18" initials="" lastIdx="0" clrIdx="227"/>
  <p:cmAuthor id="229" name="未知用户28" initials="未" lastIdx="0" clrIdx="228"/>
  <p:cmAuthor id="230" name="未知的使用者72" initials="" lastIdx="0" clrIdx="229"/>
  <p:cmAuthor id="231" name="未知的使用者48" initials="" lastIdx="0" clrIdx="230"/>
  <p:cmAuthor id="232" name="未知的使用者104" initials="" lastIdx="0" clrIdx="231"/>
  <p:cmAuthor id="233" name="未知用户60" initials="" lastIdx="0" clrIdx="232"/>
  <p:cmAuthor id="234" name="未知的使用者39" initials="未" lastIdx="0" clrIdx="233"/>
  <p:cmAuthor id="235" name="Shawna Strickland" initials="" lastIdx="0" clrIdx="234"/>
  <p:cmAuthor id="236" name="未知的使用者36" initials="" lastIdx="0" clrIdx="235"/>
  <p:cmAuthor id="237" name="未知的使用者136" initials="未" lastIdx="0" clrIdx="236"/>
  <p:cmAuthor id="238" name="Daniel Wuu" initials="" lastIdx="0" clrIdx="237"/>
  <p:cmAuthor id="239" name="未知用户56" initials="" lastIdx="0" clrIdx="238"/>
  <p:cmAuthor id="240" name="未知的使用者14" initials="" lastIdx="0" clrIdx="239"/>
  <p:cmAuthor id="241" name="仇怿俊" initials="仇" lastIdx="0" clrIdx="240"/>
  <p:cmAuthor id="242" name="未知的使用者140" initials="未" lastIdx="0" clrIdx="241"/>
  <p:cmAuthor id="243" name="未知的使用者197" initials="未" lastIdx="0" clrIdx="242"/>
  <p:cmAuthor id="244" name="Ashley Eberenz" initials="" lastIdx="0" clrIdx="243"/>
  <p:cmAuthor id="245" name="不明使用者19" initials="" lastIdx="0" clrIdx="244"/>
  <p:cmAuthor id="246" name="qiantong" initials="" lastIdx="0" clrIdx="245"/>
  <p:cmAuthor id="247" name="未知的使用者74" initials="" lastIdx="0" clrIdx="246"/>
  <p:cmAuthor id="248" name="未知的使用者23" initials="" lastIdx="0" clrIdx="247"/>
  <p:cmAuthor id="249" name="未知的使用者1" initials="" lastIdx="0" clrIdx="248"/>
  <p:cmAuthor id="250" name="116304" initials="" lastIdx="0" clrIdx="249"/>
  <p:cmAuthor id="251" name="R affer" initials="" lastIdx="0" clrIdx="250"/>
  <p:cmAuthor id="252" name="未知用户55" initials="" lastIdx="0" clrIdx="251"/>
  <p:cmAuthor id="253" name="未知的使用者95" initials="" lastIdx="0" clrIdx="252"/>
  <p:cmAuthor id="254" name="未知的使用者168" initials="未" lastIdx="0" clrIdx="253"/>
  <p:cmAuthor id="255" name="未知的使用者32" initials="" lastIdx="0" clrIdx="254"/>
  <p:cmAuthor id="256" name="未知的使用者49" initials="" lastIdx="0" clrIdx="255"/>
  <p:cmAuthor id="257" name="Unknown User26" initials="U" lastIdx="0" clrIdx="256"/>
  <p:cmAuthor id="258" name="yuexuejun" initials="" lastIdx="0" clrIdx="257"/>
  <p:cmAuthor id="259" name="未知的使用者71" initials="" lastIdx="0" clrIdx="258"/>
  <p:cmAuthor id="260" name="未知的使用者105" initials="" lastIdx="0" clrIdx="259"/>
  <p:cmAuthor id="261" name="Unknown User70" initials="" lastIdx="0" clrIdx="260"/>
  <p:cmAuthor id="262" name="未知用户23" initials="" lastIdx="0" clrIdx="261"/>
  <p:cmAuthor id="263" name="hanjuncompany" initials="" lastIdx="0" clrIdx="262"/>
  <p:cmAuthor id="264" name="kathy chen" initials="" lastIdx="0" clrIdx="263"/>
  <p:cmAuthor id="265" name="未知的使用者63" initials="" lastIdx="0" clrIdx="264"/>
  <p:cmAuthor id="266" name="超" initials="超" lastIdx="0" clrIdx="265"/>
  <p:cmAuthor id="267" name="未知的使用者64" initials="" lastIdx="0" clrIdx="266"/>
  <p:cmAuthor id="268" name="任涛10036216" initials="任涛10036216" lastIdx="0" clrIdx="267"/>
  <p:cmAuthor id="269" name="未知的使用者47" initials="" lastIdx="0" clrIdx="268"/>
  <p:cmAuthor id="270" name="未知的使用者60" initials="" lastIdx="0" clrIdx="269"/>
  <p:cmAuthor id="271" name="未知的使用者59" initials="" lastIdx="0" clrIdx="270"/>
  <p:cmAuthor id="272" name="未知的使用者54" initials="" lastIdx="0" clrIdx="271"/>
  <p:cmAuthor id="273" name="未知的使用者66" initials="" lastIdx="0" clrIdx="272"/>
  <p:cmAuthor id="274" name="未知的使用者65" initials="" lastIdx="0" clrIdx="273"/>
  <p:cmAuthor id="275" name="未知的使用者106" initials="" lastIdx="0" clrIdx="274"/>
  <p:cmAuthor id="276" name="未知的使用者107" initials="" lastIdx="0" clrIdx="275"/>
  <p:cmAuthor id="277" name="未知的使用者108" initials="" lastIdx="0" clrIdx="276"/>
  <p:cmAuthor id="278" name="未知的使用者86" initials="" lastIdx="0" clrIdx="277"/>
  <p:cmAuthor id="279" name="未知的使用者116" initials="" lastIdx="0" clrIdx="278"/>
  <p:cmAuthor id="280" name="未知的使用者44" initials="" lastIdx="0" clrIdx="279"/>
  <p:cmAuthor id="281" name="未知的使用者37" initials="" lastIdx="0" clrIdx="280"/>
  <p:cmAuthor id="282" name="未知的使用者126" initials="" lastIdx="0" clrIdx="281"/>
  <p:cmAuthor id="283" name="未知的使用者127" initials="" lastIdx="0" clrIdx="282"/>
  <p:cmAuthor id="284" name="未知的使用者128" initials="" lastIdx="0" clrIdx="283"/>
  <p:cmAuthor id="285" name="未知的使用者124" initials="" lastIdx="0" clrIdx="284"/>
  <p:cmAuthor id="286" name="未知的使用者125" initials="" lastIdx="0" clrIdx="285"/>
  <p:cmAuthor id="287" name="Sara Chen" initials="" lastIdx="0" clrIdx="286"/>
  <p:cmAuthor id="288" name="huang gerrard" initials="" lastIdx="0" clrIdx="287"/>
  <p:cmAuthor id="289" name="未知用户170" initials="" lastIdx="0" clrIdx="288"/>
  <p:cmAuthor id="290" name="未知用户171" initials="" lastIdx="0" clrIdx="289"/>
  <p:cmAuthor id="291" name="未知用户172" initials="" lastIdx="0" clrIdx="290"/>
  <p:cmAuthor id="292" name="未知用户173" initials="" lastIdx="0" clrIdx="291"/>
  <p:cmAuthor id="293" name="未知用户149" initials="" lastIdx="0" clrIdx="292"/>
  <p:cmAuthor id="294" name="未知用户150" initials="" lastIdx="0" clrIdx="293"/>
  <p:cmAuthor id="295" name="未知用户151" initials="" lastIdx="0" clrIdx="294"/>
  <p:cmAuthor id="296" name="未知用户152" initials="" lastIdx="0" clrIdx="295"/>
  <p:cmAuthor id="297" name="未知用户153" initials="" lastIdx="0" clrIdx="296"/>
  <p:cmAuthor id="298" name="未知用户154" initials="" lastIdx="0" clrIdx="297"/>
  <p:cmAuthor id="299" name="未知用户155" initials="" lastIdx="0" clrIdx="298"/>
  <p:cmAuthor id="300" name="未知用户41" initials="" lastIdx="0" clrIdx="299"/>
  <p:cmAuthor id="301" name="未知用户44" initials="" lastIdx="0" clrIdx="300"/>
  <p:cmAuthor id="302" name="未知用户45" initials="" lastIdx="0" clrIdx="301"/>
  <p:cmAuthor id="303" name="未知用户156" initials="" lastIdx="0" clrIdx="302"/>
  <p:cmAuthor id="304" name="未知用户64" initials="" lastIdx="0" clrIdx="303"/>
  <p:cmAuthor id="305" name="未知用户65" initials="" lastIdx="0" clrIdx="304"/>
  <p:cmAuthor id="306" name="未知用户68" initials="" lastIdx="0" clrIdx="30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D6E8F5"/>
    <a:srgbClr val="BB0000"/>
    <a:srgbClr val="2F2F2F"/>
    <a:srgbClr val="FFC6C6"/>
    <a:srgbClr val="FF7474"/>
    <a:srgbClr val="227ACB"/>
    <a:srgbClr val="E4A6A8"/>
    <a:srgbClr val="FFA6A6"/>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23" autoAdjust="0"/>
    <p:restoredTop sz="93724" autoAdjust="0"/>
  </p:normalViewPr>
  <p:slideViewPr>
    <p:cSldViewPr snapToGrid="0" showGuides="1">
      <p:cViewPr varScale="1">
        <p:scale>
          <a:sx n="63" d="100"/>
          <a:sy n="63" d="100"/>
        </p:scale>
        <p:origin x="52" y="116"/>
      </p:cViewPr>
      <p:guideLst>
        <p:guide orient="horz" pos="1877"/>
        <p:guide pos="302"/>
      </p:guideLst>
    </p:cSldViewPr>
  </p:slideViewPr>
  <p:outlineViewPr>
    <p:cViewPr>
      <p:scale>
        <a:sx n="33" d="100"/>
        <a:sy n="33" d="100"/>
      </p:scale>
      <p:origin x="0" y="-5715"/>
    </p:cViewPr>
  </p:outlineViewPr>
  <p:notesTextViewPr>
    <p:cViewPr>
      <p:scale>
        <a:sx n="1" d="1"/>
        <a:sy n="1" d="1"/>
      </p:scale>
      <p:origin x="0" y="0"/>
    </p:cViewPr>
  </p:notesTextViewPr>
  <p:sorterViewPr>
    <p:cViewPr>
      <p:scale>
        <a:sx n="75" d="100"/>
        <a:sy n="75" d="100"/>
      </p:scale>
      <p:origin x="0" y="0"/>
    </p:cViewPr>
  </p:sorterViewPr>
  <p:notesViewPr>
    <p:cSldViewPr snapToGrid="0">
      <p:cViewPr varScale="1">
        <p:scale>
          <a:sx n="53" d="100"/>
          <a:sy n="53" d="100"/>
        </p:scale>
        <p:origin x="2682"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2026/3/4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F4615D-9CE9-429A-A223-474B18918F25}" type="datetimeFigureOut">
              <a:rPr lang="zh-CN" altLang="en-US" smtClean="0"/>
              <a:t>2026/3/4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7F0B17-20C8-4CBB-BD66-70902ADF39C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p:cNvSpPr>
            <a:spLocks noGrp="1" noRot="1" noChangeAspect="1" noTextEdit="1"/>
          </p:cNvSpPr>
          <p:nvPr>
            <p:ph type="sldImg"/>
          </p:nvPr>
        </p:nvSpPr>
        <p:spPr bwMode="auto">
          <a:xfrm>
            <a:off x="-222250" y="809625"/>
            <a:ext cx="7183438" cy="4041775"/>
          </a:xfrm>
          <a:noFill/>
          <a:ln>
            <a:solidFill>
              <a:srgbClr val="000000"/>
            </a:solidFill>
            <a:miter lim="800000"/>
          </a:ln>
        </p:spPr>
      </p:sp>
      <p:sp>
        <p:nvSpPr>
          <p:cNvPr id="25602" name="备注占位符 2"/>
          <p:cNvSpPr>
            <a:spLocks noGrp="1"/>
          </p:cNvSpPr>
          <p:nvPr>
            <p:ph type="body" idx="1"/>
          </p:nvPr>
        </p:nvSpPr>
        <p:spPr bwMode="auto">
          <a:noFill/>
        </p:spPr>
        <p:txBody>
          <a:bodyPr wrap="square" numCol="1" anchor="t" anchorCtr="0" compatLnSpc="1">
            <a:normAutofit/>
          </a:bodyPr>
          <a:lstStyle/>
          <a:p>
            <a:pPr eaLnBrk="1" hangingPunct="1">
              <a:spcBef>
                <a:spcPct val="0"/>
              </a:spcBef>
            </a:pPr>
            <a:endParaRPr lang="en-US" altLang="zh-CN" dirty="0"/>
          </a:p>
        </p:txBody>
      </p:sp>
      <p:sp>
        <p:nvSpPr>
          <p:cNvPr id="25603" name="灯片编号占位符 3"/>
          <p:cNvSpPr>
            <a:spLocks noGrp="1"/>
          </p:cNvSpPr>
          <p:nvPr>
            <p:ph type="sldNum" sz="quarter" idx="5"/>
          </p:nvPr>
        </p:nvSpPr>
        <p:spPr bwMode="auto">
          <a:noFill/>
          <a:ln>
            <a:miter lim="800000"/>
          </a:ln>
        </p:spPr>
        <p:txBody>
          <a:bodyPr wrap="square" numCol="1" anchorCtr="0" compatLnSpc="1"/>
          <a:lstStyle/>
          <a:p>
            <a:fld id="{01008513-1F04-4D29-B8E4-153D505E9E88}" type="slidenum">
              <a:rPr lang="zh-CN" altLang="en-US" smtClean="0">
                <a:solidFill>
                  <a:prstClr val="black"/>
                </a:solidFill>
                <a:ea typeface="宋体" panose="02010600030101010101" pitchFamily="2" charset="-122"/>
              </a:rPr>
              <a:t>1</a:t>
            </a:fld>
            <a:endParaRPr lang="en-US" altLang="zh-CN" dirty="0">
              <a:solidFill>
                <a:prstClr val="black"/>
              </a:solidFill>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7F0B17-20C8-4CBB-BD66-70902ADF39C6}"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indent="0" algn="just" defTabSz="266700">
              <a:spcBef>
                <a:spcPct val="0"/>
              </a:spcBef>
              <a:spcAft>
                <a:spcPct val="0"/>
              </a:spcAft>
            </a:pPr>
            <a:r>
              <a:rPr lang="en-US" altLang="zh-CN">
                <a:latin typeface="Calibri" panose="020F0502020204030204"/>
                <a:ea typeface="Calibri" panose="020F0502020204030204"/>
                <a:sym typeface="+mn-ea"/>
              </a:rPr>
              <a:t>NB</a:t>
            </a:r>
            <a:r>
              <a:rPr lang="zh-CN" altLang="en-US">
                <a:latin typeface="Calibri" panose="020F0502020204030204"/>
                <a:ea typeface="宋体" panose="02010600030101010101" pitchFamily="2" charset="-122"/>
                <a:sym typeface="+mn-ea"/>
              </a:rPr>
              <a:t>网关迁移工作各个相关团队工作分工总览</a:t>
            </a:r>
            <a:endParaRPr lang="zh-CN" altLang="en-US">
              <a:latin typeface="Calibri" panose="020F0502020204030204"/>
              <a:ea typeface="宋体" panose="02010600030101010101" pitchFamily="2" charset="-122"/>
            </a:endParaRPr>
          </a:p>
          <a:p>
            <a:pPr marL="0" indent="0" algn="just" defTabSz="266700">
              <a:spcBef>
                <a:spcPct val="0"/>
              </a:spcBef>
              <a:spcAft>
                <a:spcPct val="0"/>
              </a:spcAft>
            </a:pPr>
            <a:r>
              <a:rPr lang="en-US" altLang="zh-CN">
                <a:latin typeface="Calibri" panose="020F0502020204030204"/>
                <a:ea typeface="宋体" panose="02010600030101010101" pitchFamily="2" charset="-122"/>
                <a:sym typeface="+mn-ea"/>
              </a:rPr>
              <a:t> </a:t>
            </a:r>
            <a:endParaRPr lang="en-US" altLang="zh-CN">
              <a:latin typeface="Calibri" panose="020F0502020204030204"/>
              <a:ea typeface="宋体" panose="02010600030101010101" pitchFamily="2" charset="-122"/>
            </a:endParaRPr>
          </a:p>
          <a:p>
            <a:pPr marL="0" indent="0" algn="just" defTabSz="266700">
              <a:spcBef>
                <a:spcPct val="0"/>
              </a:spcBef>
              <a:spcAft>
                <a:spcPct val="0"/>
              </a:spcAft>
            </a:pPr>
            <a:r>
              <a:rPr lang="zh-CN" altLang="en-US">
                <a:latin typeface="Calibri" panose="020F0502020204030204"/>
                <a:ea typeface="宋体" panose="02010600030101010101" pitchFamily="2" charset="-122"/>
                <a:sym typeface="+mn-ea"/>
              </a:rPr>
              <a:t>省市公司：</a:t>
            </a:r>
            <a:endParaRPr lang="zh-CN" altLang="en-US">
              <a:latin typeface="Calibri" panose="020F0502020204030204"/>
              <a:ea typeface="宋体" panose="02010600030101010101" pitchFamily="2" charset="-122"/>
            </a:endParaRPr>
          </a:p>
          <a:p>
            <a:pPr marL="0" indent="0" algn="just" defTabSz="266700">
              <a:spcBef>
                <a:spcPct val="0"/>
              </a:spcBef>
              <a:spcAft>
                <a:spcPct val="0"/>
              </a:spcAft>
              <a:buFont typeface="Times New Roman" panose="02020603050405020304"/>
              <a:buAutoNum type="arabicPeriod"/>
              <a:tabLst>
                <a:tab pos="198120" algn="l"/>
              </a:tabLst>
            </a:pPr>
            <a:r>
              <a:rPr lang="zh-CN" altLang="en-US">
                <a:latin typeface="Calibri" panose="020F0502020204030204"/>
                <a:ea typeface="宋体" panose="02010600030101010101" pitchFamily="2" charset="-122"/>
                <a:sym typeface="+mn-ea"/>
              </a:rPr>
              <a:t>根据客户</a:t>
            </a:r>
            <a:r>
              <a:rPr lang="en-US" altLang="zh-CN">
                <a:latin typeface="Calibri" panose="020F0502020204030204"/>
                <a:ea typeface="Calibri" panose="020F0502020204030204"/>
                <a:sym typeface="+mn-ea"/>
              </a:rPr>
              <a:t>CRM</a:t>
            </a:r>
            <a:r>
              <a:rPr lang="zh-CN" altLang="en-US">
                <a:latin typeface="Calibri" panose="020F0502020204030204"/>
                <a:ea typeface="宋体" panose="02010600030101010101" pitchFamily="2" charset="-122"/>
                <a:sym typeface="+mn-ea"/>
              </a:rPr>
              <a:t>受理的卡号清单，确定客户经理</a:t>
            </a:r>
            <a:endParaRPr lang="zh-CN" altLang="en-US">
              <a:latin typeface="Calibri" panose="020F0502020204030204"/>
              <a:ea typeface="宋体" panose="02010600030101010101" pitchFamily="2" charset="-122"/>
            </a:endParaRPr>
          </a:p>
          <a:p>
            <a:pPr marL="0" indent="0" algn="just" defTabSz="266700">
              <a:spcBef>
                <a:spcPct val="0"/>
              </a:spcBef>
              <a:spcAft>
                <a:spcPct val="0"/>
              </a:spcAft>
              <a:buFont typeface="Times New Roman" panose="02020603050405020304"/>
              <a:buAutoNum type="arabicPeriod"/>
              <a:tabLst>
                <a:tab pos="198120" algn="l"/>
              </a:tabLst>
            </a:pPr>
            <a:r>
              <a:rPr lang="zh-CN" altLang="en-US">
                <a:latin typeface="Calibri" panose="020F0502020204030204"/>
                <a:ea typeface="宋体" panose="02010600030101010101" pitchFamily="2" charset="-122"/>
                <a:sym typeface="+mn-ea"/>
              </a:rPr>
              <a:t>客户经理正常和客户采购沟通，通过采购引荐客户平台技术部门</a:t>
            </a:r>
            <a:endParaRPr lang="zh-CN" altLang="en-US">
              <a:latin typeface="Calibri" panose="020F0502020204030204"/>
              <a:ea typeface="宋体" panose="02010600030101010101" pitchFamily="2" charset="-122"/>
            </a:endParaRPr>
          </a:p>
          <a:p>
            <a:pPr marL="0" indent="0" algn="just" defTabSz="266700">
              <a:spcBef>
                <a:spcPct val="0"/>
              </a:spcBef>
              <a:spcAft>
                <a:spcPct val="0"/>
              </a:spcAft>
              <a:buFont typeface="Times New Roman" panose="02020603050405020304"/>
              <a:buAutoNum type="arabicPeriod"/>
              <a:tabLst>
                <a:tab pos="198120" algn="l"/>
              </a:tabLst>
            </a:pPr>
            <a:r>
              <a:rPr lang="zh-CN" altLang="en-US">
                <a:latin typeface="Calibri" panose="020F0502020204030204"/>
                <a:ea typeface="宋体" panose="02010600030101010101" pitchFamily="2" charset="-122"/>
                <a:sym typeface="+mn-ea"/>
              </a:rPr>
              <a:t>介绍</a:t>
            </a:r>
            <a:r>
              <a:rPr lang="en-US" altLang="zh-CN">
                <a:latin typeface="Calibri" panose="020F0502020204030204"/>
                <a:ea typeface="Calibri" panose="020F0502020204030204"/>
                <a:sym typeface="+mn-ea"/>
              </a:rPr>
              <a:t>NB</a:t>
            </a:r>
            <a:r>
              <a:rPr lang="zh-CN" altLang="en-US">
                <a:latin typeface="Calibri" panose="020F0502020204030204"/>
                <a:ea typeface="宋体" panose="02010600030101010101" pitchFamily="2" charset="-122"/>
                <a:sym typeface="+mn-ea"/>
              </a:rPr>
              <a:t>网关迁移事项，建立物联网公司和客户的技术部门直接沟通渠道</a:t>
            </a:r>
            <a:endParaRPr lang="zh-CN" altLang="en-US">
              <a:latin typeface="Calibri" panose="020F0502020204030204"/>
              <a:ea typeface="宋体" panose="02010600030101010101" pitchFamily="2" charset="-122"/>
            </a:endParaRPr>
          </a:p>
          <a:p>
            <a:pPr marL="0" indent="0" algn="just" defTabSz="266700">
              <a:spcBef>
                <a:spcPct val="0"/>
              </a:spcBef>
              <a:spcAft>
                <a:spcPct val="0"/>
              </a:spcAft>
              <a:buFont typeface="Times New Roman" panose="02020603050405020304"/>
              <a:buAutoNum type="arabicPeriod"/>
              <a:tabLst>
                <a:tab pos="198120" algn="l"/>
              </a:tabLst>
            </a:pPr>
            <a:r>
              <a:rPr lang="zh-CN" altLang="en-US">
                <a:latin typeface="Calibri" panose="020F0502020204030204"/>
                <a:ea typeface="宋体" panose="02010600030101010101" pitchFamily="2" charset="-122"/>
                <a:sym typeface="+mn-ea"/>
              </a:rPr>
              <a:t>迁移过程中的协调和迁移后的客户售后服务沟通第一界面</a:t>
            </a:r>
            <a:endParaRPr lang="zh-CN" altLang="en-US">
              <a:latin typeface="Calibri" panose="020F0502020204030204"/>
              <a:ea typeface="宋体" panose="02010600030101010101" pitchFamily="2" charset="-122"/>
            </a:endParaRPr>
          </a:p>
          <a:p>
            <a:pPr marL="0" indent="0" algn="just" defTabSz="266700">
              <a:spcBef>
                <a:spcPct val="0"/>
              </a:spcBef>
              <a:spcAft>
                <a:spcPct val="0"/>
              </a:spcAft>
            </a:pPr>
            <a:r>
              <a:rPr lang="en-US" altLang="zh-CN">
                <a:latin typeface="Calibri" panose="020F0502020204030204"/>
                <a:ea typeface="宋体" panose="02010600030101010101" pitchFamily="2" charset="-122"/>
                <a:sym typeface="+mn-ea"/>
              </a:rPr>
              <a:t> </a:t>
            </a:r>
            <a:endParaRPr lang="en-US" altLang="zh-CN">
              <a:latin typeface="Calibri" panose="020F0502020204030204"/>
              <a:ea typeface="宋体" panose="02010600030101010101" pitchFamily="2" charset="-122"/>
            </a:endParaRPr>
          </a:p>
          <a:p>
            <a:pPr marL="0" indent="0" algn="just" defTabSz="266700">
              <a:spcBef>
                <a:spcPct val="0"/>
              </a:spcBef>
              <a:spcAft>
                <a:spcPct val="0"/>
              </a:spcAft>
            </a:pPr>
            <a:r>
              <a:rPr lang="zh-CN" altLang="en-US">
                <a:latin typeface="Calibri" panose="020F0502020204030204"/>
                <a:ea typeface="宋体" panose="02010600030101010101" pitchFamily="2" charset="-122"/>
                <a:sym typeface="+mn-ea"/>
              </a:rPr>
              <a:t>天翼物联</a:t>
            </a:r>
            <a:endParaRPr lang="zh-CN" altLang="en-US">
              <a:latin typeface="Calibri" panose="020F0502020204030204"/>
              <a:ea typeface="宋体" panose="02010600030101010101" pitchFamily="2" charset="-122"/>
            </a:endParaRPr>
          </a:p>
          <a:p>
            <a:pPr marL="0" indent="0" algn="just" defTabSz="266700">
              <a:spcBef>
                <a:spcPct val="0"/>
              </a:spcBef>
              <a:spcAft>
                <a:spcPct val="0"/>
              </a:spcAft>
              <a:buFont typeface="Times New Roman" panose="02020603050405020304"/>
              <a:buAutoNum type="arabicPlain"/>
            </a:pPr>
            <a:r>
              <a:rPr lang="zh-CN" altLang="en-US">
                <a:latin typeface="Calibri" panose="020F0502020204030204"/>
                <a:ea typeface="宋体" panose="02010600030101010101" pitchFamily="2" charset="-122"/>
                <a:sym typeface="+mn-ea"/>
              </a:rPr>
              <a:t>客户在</a:t>
            </a:r>
            <a:r>
              <a:rPr lang="en-US" altLang="zh-CN">
                <a:latin typeface="Calibri" panose="020F0502020204030204"/>
                <a:ea typeface="Calibri" panose="020F0502020204030204"/>
                <a:sym typeface="+mn-ea"/>
              </a:rPr>
              <a:t>NB</a:t>
            </a:r>
            <a:r>
              <a:rPr lang="zh-CN" altLang="en-US">
                <a:latin typeface="Calibri" panose="020F0502020204030204"/>
                <a:ea typeface="宋体" panose="02010600030101010101" pitchFamily="2" charset="-122"/>
                <a:sym typeface="+mn-ea"/>
              </a:rPr>
              <a:t>网关设备现状整理，包括卡清单、应用对接清单等</a:t>
            </a:r>
            <a:endParaRPr lang="zh-CN" altLang="en-US">
              <a:latin typeface="Calibri" panose="020F0502020204030204"/>
              <a:ea typeface="宋体" panose="02010600030101010101" pitchFamily="2" charset="-122"/>
            </a:endParaRPr>
          </a:p>
          <a:p>
            <a:pPr marL="0" indent="0" algn="just" defTabSz="266700">
              <a:spcBef>
                <a:spcPct val="0"/>
              </a:spcBef>
              <a:spcAft>
                <a:spcPct val="0"/>
              </a:spcAft>
              <a:buFont typeface="Times New Roman" panose="02020603050405020304"/>
              <a:buAutoNum type="arabicPlain"/>
            </a:pPr>
            <a:r>
              <a:rPr lang="zh-CN" altLang="en-US">
                <a:latin typeface="Calibri" panose="020F0502020204030204"/>
                <a:ea typeface="宋体" panose="02010600030101010101" pitchFamily="2" charset="-122"/>
                <a:sym typeface="+mn-ea"/>
              </a:rPr>
              <a:t>与客户技术部门进行迁移方案介绍，与客户完成迁移计划安排表</a:t>
            </a:r>
            <a:endParaRPr lang="zh-CN" altLang="en-US">
              <a:latin typeface="Calibri" panose="020F0502020204030204"/>
              <a:ea typeface="宋体" panose="02010600030101010101" pitchFamily="2" charset="-122"/>
            </a:endParaRPr>
          </a:p>
          <a:p>
            <a:pPr marL="0" indent="0" algn="just" defTabSz="266700">
              <a:spcBef>
                <a:spcPct val="0"/>
              </a:spcBef>
              <a:spcAft>
                <a:spcPct val="0"/>
              </a:spcAft>
              <a:buFont typeface="Times New Roman" panose="02020603050405020304"/>
              <a:buAutoNum type="arabicPlain"/>
            </a:pPr>
            <a:r>
              <a:rPr lang="zh-CN" altLang="en-US">
                <a:latin typeface="Calibri" panose="020F0502020204030204"/>
                <a:ea typeface="宋体" panose="02010600030101010101" pitchFamily="2" charset="-122"/>
                <a:sym typeface="+mn-ea"/>
              </a:rPr>
              <a:t>具体迁移和迁移后上线情况监控、售后服务保障</a:t>
            </a:r>
            <a:endParaRPr lang="zh-CN" altLang="en-US">
              <a:latin typeface="Calibri" panose="020F0502020204030204"/>
              <a:ea typeface="宋体" panose="02010600030101010101" pitchFamily="2" charset="-122"/>
            </a:endParaRPr>
          </a:p>
          <a:p>
            <a:pPr marL="0" indent="0" algn="just" defTabSz="266700">
              <a:spcBef>
                <a:spcPct val="0"/>
              </a:spcBef>
              <a:spcAft>
                <a:spcPct val="0"/>
              </a:spcAft>
            </a:pPr>
            <a:r>
              <a:rPr lang="en-US" altLang="zh-CN">
                <a:latin typeface="Calibri" panose="020F0502020204030204"/>
                <a:ea typeface="宋体" panose="02010600030101010101" pitchFamily="2" charset="-122"/>
                <a:sym typeface="+mn-ea"/>
              </a:rPr>
              <a:t> </a:t>
            </a:r>
            <a:endParaRPr lang="en-US" altLang="zh-CN">
              <a:latin typeface="Calibri" panose="020F0502020204030204"/>
              <a:ea typeface="宋体" panose="02010600030101010101" pitchFamily="2" charset="-122"/>
            </a:endParaRPr>
          </a:p>
          <a:p>
            <a:pPr marL="0" indent="0" algn="just" defTabSz="266700">
              <a:spcBef>
                <a:spcPct val="0"/>
              </a:spcBef>
              <a:spcAft>
                <a:spcPct val="0"/>
              </a:spcAft>
            </a:pPr>
            <a:r>
              <a:rPr lang="zh-CN" altLang="en-US">
                <a:latin typeface="Calibri" panose="020F0502020204030204"/>
                <a:ea typeface="宋体" panose="02010600030101010101" pitchFamily="2" charset="-122"/>
                <a:sym typeface="+mn-ea"/>
              </a:rPr>
              <a:t>客户主要工作</a:t>
            </a:r>
            <a:endParaRPr lang="zh-CN" altLang="en-US">
              <a:latin typeface="Calibri" panose="020F0502020204030204"/>
              <a:ea typeface="宋体" panose="02010600030101010101" pitchFamily="2" charset="-122"/>
            </a:endParaRPr>
          </a:p>
          <a:p>
            <a:pPr marL="0" indent="0" algn="just" defTabSz="266700">
              <a:spcBef>
                <a:spcPct val="0"/>
              </a:spcBef>
              <a:spcAft>
                <a:spcPct val="0"/>
              </a:spcAft>
              <a:buFont typeface="Times New Roman" panose="02020603050405020304"/>
              <a:buAutoNum type="arabicPlain"/>
            </a:pPr>
            <a:r>
              <a:rPr lang="zh-CN" altLang="en-US">
                <a:latin typeface="Calibri" panose="020F0502020204030204"/>
                <a:ea typeface="宋体" panose="02010600030101010101" pitchFamily="2" charset="-122"/>
                <a:sym typeface="+mn-ea"/>
              </a:rPr>
              <a:t>根据电信提供的需迁移的卡号清单，配合梳理整理，提供每批次迁移的卡号清单；</a:t>
            </a:r>
            <a:endParaRPr lang="zh-CN" altLang="en-US">
              <a:latin typeface="Calibri" panose="020F0502020204030204"/>
              <a:ea typeface="宋体" panose="02010600030101010101" pitchFamily="2" charset="-122"/>
            </a:endParaRPr>
          </a:p>
          <a:p>
            <a:pPr marL="0" indent="0" algn="just" defTabSz="266700">
              <a:spcBef>
                <a:spcPct val="0"/>
              </a:spcBef>
              <a:spcAft>
                <a:spcPct val="0"/>
              </a:spcAft>
              <a:buFont typeface="Times New Roman" panose="02020603050405020304"/>
              <a:buAutoNum type="arabicPlain"/>
            </a:pPr>
            <a:r>
              <a:rPr lang="zh-CN" altLang="en-US">
                <a:latin typeface="Calibri" panose="020F0502020204030204"/>
                <a:ea typeface="宋体" panose="02010600030101010101" pitchFamily="2" charset="-122"/>
                <a:sym typeface="+mn-ea"/>
              </a:rPr>
              <a:t>客户应用平台与</a:t>
            </a:r>
            <a:r>
              <a:rPr lang="en-US" altLang="zh-CN">
                <a:latin typeface="Calibri" panose="020F0502020204030204"/>
                <a:ea typeface="Calibri" panose="020F0502020204030204"/>
                <a:sym typeface="+mn-ea"/>
              </a:rPr>
              <a:t>AEP</a:t>
            </a:r>
            <a:r>
              <a:rPr lang="zh-CN" altLang="en-US">
                <a:latin typeface="Calibri" panose="020F0502020204030204"/>
                <a:ea typeface="宋体" panose="02010600030101010101" pitchFamily="2" charset="-122"/>
                <a:sym typeface="+mn-ea"/>
              </a:rPr>
              <a:t>平台的接口对接调整</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D8FF13D-3B7B-4727-B252-6A8E1481ECCD}"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微软雅黑" panose="020B0503020204020204" charset="-122"/>
                <a:cs typeface="+mn-cs"/>
              </a:rPr>
              <a:t>10</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6.xml"/><Relationship Id="rId7" Type="http://schemas.openxmlformats.org/officeDocument/2006/relationships/image" Target="../media/image1.jpe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2.png"/><Relationship Id="rId5" Type="http://schemas.openxmlformats.org/officeDocument/2006/relationships/slideMaster" Target="../slideMasters/slideMaster1.xml"/><Relationship Id="rId4" Type="http://schemas.openxmlformats.org/officeDocument/2006/relationships/tags" Target="../tags/tag7.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_仅标题空内容">
    <p:spTree>
      <p:nvGrpSpPr>
        <p:cNvPr id="1" name=""/>
        <p:cNvGrpSpPr/>
        <p:nvPr/>
      </p:nvGrpSpPr>
      <p:grpSpPr>
        <a:xfrm>
          <a:off x="0" y="0"/>
          <a:ext cx="0" cy="0"/>
          <a:chOff x="0" y="0"/>
          <a:chExt cx="0" cy="0"/>
        </a:xfrm>
      </p:grpSpPr>
      <p:sp>
        <p:nvSpPr>
          <p:cNvPr id="2" name="标题 1"/>
          <p:cNvSpPr>
            <a:spLocks noGrp="1"/>
          </p:cNvSpPr>
          <p:nvPr>
            <p:ph type="title"/>
          </p:nvPr>
        </p:nvSpPr>
        <p:spPr>
          <a:xfrm>
            <a:off x="335359" y="249620"/>
            <a:ext cx="10314711" cy="558110"/>
          </a:xfrm>
        </p:spPr>
        <p:txBody>
          <a:bodyPr>
            <a:noAutofit/>
          </a:bodyPr>
          <a:lstStyle>
            <a:lvl1pPr algn="l" defTabSz="1218565" rtl="0" eaLnBrk="1" latinLnBrk="0" hangingPunct="1">
              <a:spcBef>
                <a:spcPct val="0"/>
              </a:spcBef>
              <a:buNone/>
              <a:defRPr lang="zh-CN" altLang="en-US" sz="2400" b="1" kern="1200" dirty="0">
                <a:solidFill>
                  <a:srgbClr val="C00000"/>
                </a:solidFill>
                <a:latin typeface="微软雅黑" panose="020B0503020204020204" charset="-122"/>
                <a:ea typeface="微软雅黑" panose="020B0503020204020204" charset="-122"/>
                <a:cs typeface="+mj-cs"/>
              </a:defRPr>
            </a:lvl1pPr>
          </a:lstStyle>
          <a:p>
            <a:r>
              <a:rPr lang="zh-CN" altLang="en-US" dirty="0"/>
              <a:t>单击此处编辑母版标题样式</a:t>
            </a:r>
          </a:p>
        </p:txBody>
      </p:sp>
      <p:sp>
        <p:nvSpPr>
          <p:cNvPr id="3" name="矩形 2"/>
          <p:cNvSpPr/>
          <p:nvPr userDrawn="1"/>
        </p:nvSpPr>
        <p:spPr>
          <a:xfrm>
            <a:off x="11568608" y="6444602"/>
            <a:ext cx="425116" cy="338554"/>
          </a:xfrm>
          <a:prstGeom prst="rect">
            <a:avLst/>
          </a:prstGeom>
        </p:spPr>
        <p:txBody>
          <a:bodyPr wrap="none">
            <a:spAutoFit/>
          </a:bodyPr>
          <a:lstStyle/>
          <a:p>
            <a:pPr marL="0" marR="0" lvl="0" indent="0" algn="l" defTabSz="1217295" rtl="0" eaLnBrk="1" fontAlgn="auto" latinLnBrk="0" hangingPunct="1">
              <a:lnSpc>
                <a:spcPct val="100000"/>
              </a:lnSpc>
              <a:spcBef>
                <a:spcPts val="0"/>
              </a:spcBef>
              <a:spcAft>
                <a:spcPts val="0"/>
              </a:spcAft>
              <a:buClrTx/>
              <a:buSzTx/>
              <a:buFontTx/>
              <a:buNone/>
              <a:defRPr/>
            </a:pPr>
            <a:fld id="{D5DDBE9D-0EAE-4BF9-9976-992BCF72F40A}" type="slidenum">
              <a:rPr kumimoji="0" lang="zh-CN" altLang="en-US" sz="1600" b="0" i="0" u="none" strike="noStrike" kern="1200" cap="none" spc="0" normalizeH="0" baseline="0" noProof="0">
                <a:ln>
                  <a:noFill/>
                </a:ln>
                <a:solidFill>
                  <a:prstClr val="black">
                    <a:tint val="75000"/>
                  </a:prstClr>
                </a:solidFill>
                <a:effectLst/>
                <a:uLnTx/>
                <a:uFillTx/>
                <a:latin typeface="Calibri" panose="020F0502020204030204"/>
                <a:ea typeface="华文细黑" panose="02010600040101010101" pitchFamily="2" charset="-122"/>
                <a:cs typeface="+mn-cs"/>
              </a:rPr>
              <a:t>‹#›</a:t>
            </a:fld>
            <a:endParaRPr kumimoji="0" lang="zh-CN" altLang="en-US" sz="1600" b="0" i="0" u="none" strike="noStrike" kern="1200" cap="none" spc="0" normalizeH="0" baseline="0" noProof="0" dirty="0">
              <a:ln>
                <a:noFill/>
              </a:ln>
              <a:solidFill>
                <a:prstClr val="black"/>
              </a:solidFill>
              <a:effectLst/>
              <a:uLnTx/>
              <a:uFillTx/>
              <a:latin typeface="Calibri" panose="020F0502020204030204"/>
              <a:ea typeface="华文细黑" panose="02010600040101010101" pitchFamily="2" charset="-122"/>
              <a:cs typeface="+mn-cs"/>
            </a:endParaRPr>
          </a:p>
        </p:txBody>
      </p:sp>
      <p:pic>
        <p:nvPicPr>
          <p:cNvPr id="9" name="图片 8"/>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a:fillRect/>
          </a:stretch>
        </p:blipFill>
        <p:spPr>
          <a:xfrm>
            <a:off x="335359" y="807730"/>
            <a:ext cx="11520001" cy="67235"/>
          </a:xfrm>
          <a:prstGeom prst="rect">
            <a:avLst/>
          </a:prstGeom>
        </p:spPr>
      </p:pic>
      <p:pic>
        <p:nvPicPr>
          <p:cNvPr id="4" name="图片 3"/>
          <p:cNvPicPr>
            <a:picLocks noChangeAspect="1"/>
          </p:cNvPicPr>
          <p:nvPr userDrawn="1">
            <p:custDataLst>
              <p:tags r:id="rId1"/>
            </p:custDataLst>
          </p:nvPr>
        </p:nvPicPr>
        <p:blipFill rotWithShape="1">
          <a:blip r:embed="rId4"/>
          <a:srcRect l="63705" r="12267"/>
          <a:stretch>
            <a:fillRect/>
          </a:stretch>
        </p:blipFill>
        <p:spPr>
          <a:xfrm>
            <a:off x="11016000" y="-108000"/>
            <a:ext cx="995680" cy="1078721"/>
          </a:xfrm>
          <a:prstGeom prst="rect">
            <a:avLst/>
          </a:prstGeom>
        </p:spPr>
      </p:pic>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_标题页">
    <p:bg>
      <p:bgPr>
        <a:blipFill rotWithShape="1">
          <a:blip r:embed="rId3" cstate="print"/>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9816353" y="202458"/>
            <a:ext cx="2164976" cy="829081"/>
          </a:xfrm>
          <a:prstGeom prst="rect">
            <a:avLst/>
          </a:prstGeom>
          <a:solidFill>
            <a:schemeClr val="bg1"/>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9529" tIns="49529" rIns="49529" bIns="49529" numCol="1" spcCol="38100" rtlCol="0" anchor="ctr">
            <a:noAutofit/>
          </a:bodyPr>
          <a:lstStyle/>
          <a:p>
            <a:pPr marL="0" marR="0" indent="0" algn="l" defTabSz="990600" rtl="0" fontAlgn="auto" latinLnBrk="0" hangingPunct="0">
              <a:lnSpc>
                <a:spcPct val="100000"/>
              </a:lnSpc>
              <a:spcBef>
                <a:spcPts val="0"/>
              </a:spcBef>
              <a:spcAft>
                <a:spcPts val="0"/>
              </a:spcAft>
              <a:buClrTx/>
              <a:buSzTx/>
              <a:buFontTx/>
              <a:buNone/>
            </a:pPr>
            <a:endParaRPr kumimoji="0" lang="zh-CN" altLang="en-US" sz="195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1" name="文本占位符 22"/>
          <p:cNvSpPr>
            <a:spLocks noGrp="1"/>
          </p:cNvSpPr>
          <p:nvPr>
            <p:ph type="body" sz="quarter" idx="10"/>
          </p:nvPr>
        </p:nvSpPr>
        <p:spPr>
          <a:xfrm>
            <a:off x="1223876" y="2756230"/>
            <a:ext cx="9744253" cy="1248833"/>
          </a:xfrm>
          <a:prstGeom prst="rect">
            <a:avLst/>
          </a:prstGeom>
        </p:spPr>
        <p:txBody>
          <a:bodyPr/>
          <a:lstStyle>
            <a:lvl1pPr marL="0" indent="0" algn="ctr">
              <a:buNone/>
              <a:defRPr sz="4800" b="1"/>
            </a:lvl1pPr>
          </a:lstStyle>
          <a:p>
            <a:pPr lvl="0"/>
            <a:r>
              <a:rPr lang="zh-CN" altLang="en-US" dirty="0"/>
              <a:t>单击此处编辑母版文本样式</a:t>
            </a:r>
          </a:p>
        </p:txBody>
      </p:sp>
      <p:sp>
        <p:nvSpPr>
          <p:cNvPr id="12" name="文本占位符 27"/>
          <p:cNvSpPr>
            <a:spLocks noGrp="1"/>
          </p:cNvSpPr>
          <p:nvPr>
            <p:ph type="body" sz="quarter" idx="12"/>
          </p:nvPr>
        </p:nvSpPr>
        <p:spPr>
          <a:xfrm>
            <a:off x="3023789" y="4005043"/>
            <a:ext cx="6144427" cy="481076"/>
          </a:xfrm>
          <a:prstGeom prst="rect">
            <a:avLst/>
          </a:prstGeom>
        </p:spPr>
        <p:txBody>
          <a:bodyPr anchor="ctr"/>
          <a:lstStyle>
            <a:lvl1pPr marL="0" indent="0" algn="ctr">
              <a:buNone/>
              <a:defRPr sz="2400">
                <a:solidFill>
                  <a:schemeClr val="tx1">
                    <a:lumMod val="50000"/>
                    <a:lumOff val="50000"/>
                  </a:schemeClr>
                </a:solidFill>
              </a:defRPr>
            </a:lvl1pPr>
            <a:lvl2pPr>
              <a:defRPr sz="3200"/>
            </a:lvl2pPr>
            <a:lvl3pPr>
              <a:defRPr sz="2665"/>
            </a:lvl3pPr>
            <a:lvl4pPr>
              <a:defRPr sz="2400"/>
            </a:lvl4pPr>
            <a:lvl5pPr>
              <a:defRPr sz="2400"/>
            </a:lvl5pPr>
          </a:lstStyle>
          <a:p>
            <a:pPr lvl="0"/>
            <a:r>
              <a:rPr lang="zh-CN" altLang="en-US" dirty="0"/>
              <a:t>单击此处编辑母版文本样式</a:t>
            </a:r>
          </a:p>
        </p:txBody>
      </p:sp>
      <p:pic>
        <p:nvPicPr>
          <p:cNvPr id="4" name="图片 3"/>
          <p:cNvPicPr>
            <a:picLocks noChangeAspect="1"/>
          </p:cNvPicPr>
          <p:nvPr userDrawn="1">
            <p:custDataLst>
              <p:tags r:id="rId1"/>
            </p:custDataLst>
          </p:nvPr>
        </p:nvPicPr>
        <p:blipFill rotWithShape="1">
          <a:blip r:embed="rId4"/>
          <a:srcRect l="63705" r="12267"/>
          <a:stretch>
            <a:fillRect/>
          </a:stretch>
        </p:blipFill>
        <p:spPr>
          <a:xfrm>
            <a:off x="11016000" y="-108000"/>
            <a:ext cx="995680" cy="1078721"/>
          </a:xfrm>
          <a:prstGeom prst="rect">
            <a:avLst/>
          </a:prstGeom>
        </p:spPr>
      </p:pic>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仅标题空内容">
    <p:spTree>
      <p:nvGrpSpPr>
        <p:cNvPr id="1" name=""/>
        <p:cNvGrpSpPr/>
        <p:nvPr/>
      </p:nvGrpSpPr>
      <p:grpSpPr>
        <a:xfrm>
          <a:off x="0" y="0"/>
          <a:ext cx="0" cy="0"/>
          <a:chOff x="0" y="0"/>
          <a:chExt cx="0" cy="0"/>
        </a:xfrm>
      </p:grpSpPr>
      <p:sp>
        <p:nvSpPr>
          <p:cNvPr id="2" name="标题 1"/>
          <p:cNvSpPr>
            <a:spLocks noGrp="1"/>
          </p:cNvSpPr>
          <p:nvPr>
            <p:ph type="title"/>
          </p:nvPr>
        </p:nvSpPr>
        <p:spPr>
          <a:xfrm>
            <a:off x="349200" y="180000"/>
            <a:ext cx="10080000" cy="648000"/>
          </a:xfrm>
          <a:prstGeom prst="rect">
            <a:avLst/>
          </a:prstGeom>
        </p:spPr>
        <p:txBody>
          <a:bodyPr anchor="ctr" anchorCtr="0">
            <a:noAutofit/>
          </a:bodyPr>
          <a:lstStyle>
            <a:lvl1pPr algn="l" defTabSz="1218565" rtl="0" eaLnBrk="1" latinLnBrk="0" hangingPunct="1">
              <a:spcBef>
                <a:spcPct val="0"/>
              </a:spcBef>
              <a:buNone/>
              <a:defRPr lang="zh-CN" altLang="en-US" sz="2400" b="1" kern="1200" baseline="0" dirty="0">
                <a:solidFill>
                  <a:srgbClr val="C00000"/>
                </a:solidFill>
                <a:latin typeface="Times New Roman" panose="02020603050405020304" pitchFamily="18" charset="0"/>
                <a:ea typeface="微软雅黑" panose="020B0503020204020204" charset="-122"/>
                <a:cs typeface="+mj-cs"/>
              </a:defRPr>
            </a:lvl1pPr>
          </a:lstStyle>
          <a:p>
            <a:r>
              <a:rPr lang="zh-CN" altLang="en-US" dirty="0"/>
              <a:t>单击此处编辑母版标题样式</a:t>
            </a:r>
          </a:p>
        </p:txBody>
      </p:sp>
      <p:sp>
        <p:nvSpPr>
          <p:cNvPr id="3" name="矩形 2"/>
          <p:cNvSpPr/>
          <p:nvPr/>
        </p:nvSpPr>
        <p:spPr>
          <a:xfrm>
            <a:off x="11568608" y="6444602"/>
            <a:ext cx="425116" cy="338554"/>
          </a:xfrm>
          <a:prstGeom prst="rect">
            <a:avLst/>
          </a:prstGeom>
        </p:spPr>
        <p:txBody>
          <a:bodyPr wrap="none">
            <a:spAutoFit/>
          </a:bodyPr>
          <a:lstStyle/>
          <a:p>
            <a:pPr marL="0" marR="0" lvl="0" indent="0" algn="l" defTabSz="1217295" rtl="0" eaLnBrk="1" fontAlgn="auto" latinLnBrk="0" hangingPunct="1">
              <a:lnSpc>
                <a:spcPct val="100000"/>
              </a:lnSpc>
              <a:spcBef>
                <a:spcPts val="0"/>
              </a:spcBef>
              <a:spcAft>
                <a:spcPts val="0"/>
              </a:spcAft>
              <a:buClrTx/>
              <a:buSzTx/>
              <a:buFontTx/>
              <a:buNone/>
              <a:defRPr/>
            </a:pPr>
            <a:fld id="{D5DDBE9D-0EAE-4BF9-9976-992BCF72F40A}" type="slidenum">
              <a:rPr kumimoji="0" lang="zh-CN" altLang="en-US" sz="1600" b="0" i="0" u="none" strike="noStrike" kern="1200" cap="none" spc="0" normalizeH="0" baseline="0" noProof="0">
                <a:ln>
                  <a:noFill/>
                </a:ln>
                <a:solidFill>
                  <a:prstClr val="black">
                    <a:tint val="75000"/>
                  </a:prstClr>
                </a:solidFill>
                <a:effectLst/>
                <a:uLnTx/>
                <a:uFillTx/>
                <a:latin typeface="Times New Roman" panose="02020603050405020304"/>
                <a:ea typeface="微软雅黑" panose="020B0503020204020204" charset="-122"/>
                <a:cs typeface="+mn-cs"/>
              </a:rPr>
              <a:t>‹#›</a:t>
            </a:fld>
            <a:endParaRPr kumimoji="0" lang="zh-CN" altLang="en-US" sz="1600" b="0" i="0" u="none" strike="noStrike" kern="1200" cap="none" spc="0" normalizeH="0" baseline="0" noProof="0" dirty="0">
              <a:ln>
                <a:noFill/>
              </a:ln>
              <a:solidFill>
                <a:prstClr val="black"/>
              </a:solidFill>
              <a:effectLst/>
              <a:uLnTx/>
              <a:uFillTx/>
              <a:latin typeface="Times New Roman" panose="02020603050405020304"/>
              <a:ea typeface="微软雅黑" panose="020B0503020204020204" charset="-122"/>
              <a:cs typeface="+mn-cs"/>
            </a:endParaRPr>
          </a:p>
        </p:txBody>
      </p:sp>
      <p:pic>
        <p:nvPicPr>
          <p:cNvPr id="4" name="图片 3"/>
          <p:cNvPicPr>
            <a:picLocks noChangeAspect="1"/>
          </p:cNvPicPr>
          <p:nvPr>
            <p:custDataLst>
              <p:tags r:id="rId1"/>
            </p:custDataLst>
          </p:nvPr>
        </p:nvPicPr>
        <p:blipFill rotWithShape="1">
          <a:blip r:embed="rId6"/>
          <a:srcRect l="63705" r="12267"/>
          <a:stretch>
            <a:fillRect/>
          </a:stretch>
        </p:blipFill>
        <p:spPr>
          <a:xfrm>
            <a:off x="11016000" y="-108000"/>
            <a:ext cx="995680" cy="1078721"/>
          </a:xfrm>
          <a:prstGeom prst="rect">
            <a:avLst/>
          </a:prstGeom>
        </p:spPr>
      </p:pic>
      <p:pic>
        <p:nvPicPr>
          <p:cNvPr id="2097154" name="图片 5"/>
          <p:cNvPicPr>
            <a:picLocks noChangeAspect="1"/>
          </p:cNvPicPr>
          <p:nvPr>
            <p:custDataLst>
              <p:tags r:id="rId2"/>
            </p:custDataLst>
          </p:nvPr>
        </p:nvPicPr>
        <p:blipFill rotWithShape="1">
          <a:blip r:embed="rId7" cstate="print">
            <a:extLst>
              <a:ext uri="{28A0092B-C50C-407E-A947-70E740481C1C}">
                <a14:useLocalDpi xmlns:a14="http://schemas.microsoft.com/office/drawing/2010/main" val="0"/>
              </a:ext>
            </a:extLst>
          </a:blip>
          <a:srcRect/>
          <a:stretch>
            <a:fillRect/>
          </a:stretch>
        </p:blipFill>
        <p:spPr>
          <a:xfrm>
            <a:off x="324000" y="792000"/>
            <a:ext cx="11520001" cy="67235"/>
          </a:xfrm>
          <a:prstGeom prst="rect">
            <a:avLst/>
          </a:prstGeom>
        </p:spPr>
      </p:pic>
      <p:sp>
        <p:nvSpPr>
          <p:cNvPr id="5" name="矩形 4"/>
          <p:cNvSpPr/>
          <p:nvPr userDrawn="1"/>
        </p:nvSpPr>
        <p:spPr>
          <a:xfrm>
            <a:off x="11568608" y="6444602"/>
            <a:ext cx="425116" cy="338554"/>
          </a:xfrm>
          <a:prstGeom prst="rect">
            <a:avLst/>
          </a:prstGeom>
        </p:spPr>
        <p:txBody>
          <a:bodyPr wrap="none">
            <a:spAutoFit/>
          </a:bodyPr>
          <a:lstStyle/>
          <a:p>
            <a:pPr marL="0" marR="0" lvl="0" indent="0" algn="l" defTabSz="1217295" rtl="0" eaLnBrk="1" fontAlgn="auto" latinLnBrk="0" hangingPunct="1">
              <a:lnSpc>
                <a:spcPct val="100000"/>
              </a:lnSpc>
              <a:spcBef>
                <a:spcPts val="0"/>
              </a:spcBef>
              <a:spcAft>
                <a:spcPts val="0"/>
              </a:spcAft>
              <a:buClrTx/>
              <a:buSzTx/>
              <a:buFontTx/>
              <a:buNone/>
              <a:defRPr/>
            </a:pPr>
            <a:fld id="{D5DDBE9D-0EAE-4BF9-9976-992BCF72F40A}" type="slidenum">
              <a:rPr kumimoji="0" lang="zh-CN" altLang="en-US" sz="1600" b="0" i="0" u="none" strike="noStrike" kern="1200" cap="none" spc="0" normalizeH="0" baseline="0" noProof="0">
                <a:ln>
                  <a:noFill/>
                </a:ln>
                <a:solidFill>
                  <a:prstClr val="black">
                    <a:tint val="75000"/>
                  </a:prstClr>
                </a:solidFill>
                <a:effectLst/>
                <a:uLnTx/>
                <a:uFillTx/>
                <a:latin typeface="Times New Roman" panose="02020603050405020304"/>
                <a:ea typeface="微软雅黑" panose="020B0503020204020204" charset="-122"/>
                <a:cs typeface="+mn-cs"/>
              </a:rPr>
              <a:t>‹#›</a:t>
            </a:fld>
            <a:endParaRPr kumimoji="0" lang="zh-CN" altLang="en-US" sz="1600" b="0" i="0" u="none" strike="noStrike" kern="1200" cap="none" spc="0" normalizeH="0" baseline="0" noProof="0" dirty="0">
              <a:ln>
                <a:noFill/>
              </a:ln>
              <a:solidFill>
                <a:prstClr val="black"/>
              </a:solidFill>
              <a:effectLst/>
              <a:uLnTx/>
              <a:uFillTx/>
              <a:latin typeface="Times New Roman" panose="02020603050405020304"/>
              <a:ea typeface="微软雅黑" panose="020B0503020204020204" charset="-122"/>
              <a:cs typeface="+mn-cs"/>
            </a:endParaRPr>
          </a:p>
        </p:txBody>
      </p:sp>
      <p:pic>
        <p:nvPicPr>
          <p:cNvPr id="7" name="图片 6"/>
          <p:cNvPicPr>
            <a:picLocks noChangeAspect="1"/>
          </p:cNvPicPr>
          <p:nvPr userDrawn="1">
            <p:custDataLst>
              <p:tags r:id="rId3"/>
            </p:custDataLst>
          </p:nvPr>
        </p:nvPicPr>
        <p:blipFill rotWithShape="1">
          <a:blip r:embed="rId6"/>
          <a:srcRect l="63705" r="12267"/>
          <a:stretch>
            <a:fillRect/>
          </a:stretch>
        </p:blipFill>
        <p:spPr>
          <a:xfrm>
            <a:off x="11016000" y="-108000"/>
            <a:ext cx="995680" cy="1078721"/>
          </a:xfrm>
          <a:prstGeom prst="rect">
            <a:avLst/>
          </a:prstGeom>
        </p:spPr>
      </p:pic>
      <p:pic>
        <p:nvPicPr>
          <p:cNvPr id="8" name="图片 5"/>
          <p:cNvPicPr>
            <a:picLocks noChangeAspect="1"/>
          </p:cNvPicPr>
          <p:nvPr userDrawn="1">
            <p:custDataLst>
              <p:tags r:id="rId4"/>
            </p:custDataLst>
          </p:nvPr>
        </p:nvPicPr>
        <p:blipFill rotWithShape="1">
          <a:blip r:embed="rId7" cstate="print">
            <a:extLst>
              <a:ext uri="{28A0092B-C50C-407E-A947-70E740481C1C}">
                <a14:useLocalDpi xmlns:a14="http://schemas.microsoft.com/office/drawing/2010/main" val="0"/>
              </a:ext>
            </a:extLst>
          </a:blip>
          <a:srcRect/>
          <a:stretch>
            <a:fillRect/>
          </a:stretch>
        </p:blipFill>
        <p:spPr>
          <a:xfrm>
            <a:off x="324000" y="792000"/>
            <a:ext cx="11520001" cy="672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sldNum="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1" y="6796913"/>
            <a:ext cx="12192000" cy="7912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notesSlide" Target="../notesSlides/notesSlide2.xml"/><Relationship Id="rId7" Type="http://schemas.openxmlformats.org/officeDocument/2006/relationships/image" Target="../media/image6.png"/><Relationship Id="rId2" Type="http://schemas.openxmlformats.org/officeDocument/2006/relationships/slideLayout" Target="../slideLayouts/slideLayout3.xml"/><Relationship Id="rId1" Type="http://schemas.openxmlformats.org/officeDocument/2006/relationships/tags" Target="../tags/tag8.xml"/><Relationship Id="rId6" Type="http://schemas.openxmlformats.org/officeDocument/2006/relationships/image" Target="../media/image5.pn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hyperlink" Target="https://device.api.ct10649.com:8743/" TargetMode="External"/><Relationship Id="rId9" Type="http://schemas.openxmlformats.org/officeDocument/2006/relationships/image" Target="../media/image8.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12.e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2.bin"/><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14.e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15.emf"/><Relationship Id="rId4"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15.xml"/><Relationship Id="rId7" Type="http://schemas.openxmlformats.org/officeDocument/2006/relationships/slideLayout" Target="../slideLayouts/slideLayout3.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80060" y="1647321"/>
            <a:ext cx="11559540" cy="1801495"/>
          </a:xfrm>
          <a:prstGeom prst="rect">
            <a:avLst/>
          </a:prstGeom>
          <a:noFill/>
          <a:ln>
            <a:noFill/>
          </a:ln>
        </p:spPr>
        <p:txBody>
          <a:bodyPr wrap="square" rtlCol="0" anchor="ctr" anchorCtr="0">
            <a:noAutofit/>
          </a:bodyPr>
          <a:lstStyle>
            <a:defPPr>
              <a:defRPr lang="zh-CN"/>
            </a:defPPr>
            <a:lvl1pPr algn="ctr">
              <a:spcBef>
                <a:spcPts val="600"/>
              </a:spcBef>
              <a:defRPr sz="3600" b="1">
                <a:solidFill>
                  <a:srgbClr val="C00000"/>
                </a:solidFill>
                <a:latin typeface="微软雅黑" panose="020B0503020204020204" charset="-122"/>
                <a:ea typeface="微软雅黑" panose="020B0503020204020204" charset="-122"/>
              </a:defRPr>
            </a:lvl1pPr>
          </a:lstStyle>
          <a:p>
            <a:r>
              <a:rPr lang="zh-CN" altLang="en-US" sz="4800" dirty="0"/>
              <a:t>关于</a:t>
            </a:r>
            <a:r>
              <a:rPr lang="en-US" altLang="zh-CN" sz="4800" dirty="0"/>
              <a:t>NB</a:t>
            </a:r>
            <a:r>
              <a:rPr lang="zh-CN" altLang="en-US" sz="4800" dirty="0"/>
              <a:t>网关</a:t>
            </a:r>
            <a:r>
              <a:rPr lang="en-US" altLang="zh-CN" sz="4800" dirty="0"/>
              <a:t>CA</a:t>
            </a:r>
            <a:r>
              <a:rPr lang="zh-CN" altLang="en-US" sz="4800" dirty="0"/>
              <a:t>证书到期解决方案</a:t>
            </a:r>
            <a:endParaRPr lang="en-US" altLang="zh-CN" sz="4800" dirty="0"/>
          </a:p>
        </p:txBody>
      </p:sp>
      <p:sp>
        <p:nvSpPr>
          <p:cNvPr id="2" name="date"/>
          <p:cNvSpPr txBox="1"/>
          <p:nvPr/>
        </p:nvSpPr>
        <p:spPr>
          <a:xfrm>
            <a:off x="3519487" y="4089094"/>
            <a:ext cx="5153025" cy="1121585"/>
          </a:xfrm>
          <a:prstGeom prst="rect">
            <a:avLst/>
          </a:prstGeom>
          <a:noFill/>
          <a:ln w="9525">
            <a:noFill/>
          </a:ln>
        </p:spPr>
        <p:txBody>
          <a:bodyPr lIns="109207" tIns="54603" rIns="109207" bIns="54603" anchor="ctr"/>
          <a:lstStyle/>
          <a:p>
            <a:pPr algn="ctr">
              <a:lnSpc>
                <a:spcPct val="150000"/>
              </a:lnSpc>
            </a:pPr>
            <a:endParaRPr lang="en-US" altLang="zh-CN" dirty="0">
              <a:latin typeface="微软雅黑" panose="020B0503020204020204" charset="-122"/>
              <a:ea typeface="微软雅黑" panose="020B0503020204020204" charset="-122"/>
            </a:endParaRPr>
          </a:p>
          <a:p>
            <a:pPr algn="ctr">
              <a:lnSpc>
                <a:spcPct val="150000"/>
              </a:lnSpc>
            </a:pPr>
            <a:r>
              <a:rPr lang="zh-CN" altLang="en-US" dirty="0">
                <a:latin typeface="微软雅黑" panose="020B0503020204020204" charset="-122"/>
                <a:ea typeface="微软雅黑" panose="020B0503020204020204" charset="-122"/>
              </a:rPr>
              <a:t>天翼物联科技有限公司</a:t>
            </a:r>
            <a:endParaRPr lang="en-US" altLang="zh-CN" dirty="0">
              <a:latin typeface="微软雅黑" panose="020B0503020204020204" charset="-122"/>
              <a:ea typeface="微软雅黑" panose="020B0503020204020204" charset="-122"/>
            </a:endParaRPr>
          </a:p>
          <a:p>
            <a:pPr algn="ctr">
              <a:lnSpc>
                <a:spcPct val="150000"/>
              </a:lnSpc>
            </a:pPr>
            <a:r>
              <a:rPr lang="en-US" altLang="zh-CN" dirty="0">
                <a:latin typeface="微软雅黑" panose="020B0503020204020204" charset="-122"/>
                <a:ea typeface="微软雅黑" panose="020B0503020204020204" charset="-122"/>
              </a:rPr>
              <a:t>2026</a:t>
            </a:r>
            <a:r>
              <a:rPr lang="zh-CN" altLang="en-US" dirty="0">
                <a:latin typeface="微软雅黑" panose="020B0503020204020204" charset="-122"/>
                <a:ea typeface="微软雅黑" panose="020B0503020204020204" charset="-122"/>
              </a:rPr>
              <a:t>年</a:t>
            </a:r>
            <a:r>
              <a:rPr lang="en-US" altLang="zh-CN" dirty="0">
                <a:latin typeface="微软雅黑" panose="020B0503020204020204" charset="-122"/>
                <a:ea typeface="微软雅黑" panose="020B0503020204020204" charset="-122"/>
              </a:rPr>
              <a:t>3</a:t>
            </a:r>
            <a:r>
              <a:rPr lang="zh-CN" altLang="en-US" dirty="0">
                <a:latin typeface="微软雅黑" panose="020B0503020204020204" charset="-122"/>
                <a:ea typeface="微软雅黑" panose="020B0503020204020204" charset="-122"/>
              </a:rPr>
              <a:t>月</a:t>
            </a:r>
            <a:r>
              <a:rPr lang="en-US" altLang="zh-CN" dirty="0">
                <a:latin typeface="微软雅黑" panose="020B0503020204020204" charset="-122"/>
                <a:ea typeface="微软雅黑" panose="020B0503020204020204" charset="-122"/>
              </a:rPr>
              <a:t>4</a:t>
            </a:r>
            <a:r>
              <a:rPr lang="zh-CN" altLang="en-US" dirty="0">
                <a:latin typeface="微软雅黑" panose="020B0503020204020204" charset="-122"/>
                <a:ea typeface="微软雅黑" panose="020B0503020204020204" charset="-122"/>
              </a:rPr>
              <a:t>日</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NB</a:t>
            </a:r>
            <a:r>
              <a:rPr lang="zh-CN" altLang="en-US" dirty="0"/>
              <a:t>业务端到端业务流程：本次仅影响北向命令下发，不影响消息订阅推送</a:t>
            </a:r>
          </a:p>
        </p:txBody>
      </p:sp>
      <p:sp>
        <p:nvSpPr>
          <p:cNvPr id="13" name="文本框 12"/>
          <p:cNvSpPr txBox="1"/>
          <p:nvPr>
            <p:custDataLst>
              <p:tags r:id="rId1"/>
            </p:custDataLst>
          </p:nvPr>
        </p:nvSpPr>
        <p:spPr>
          <a:xfrm>
            <a:off x="97430" y="872048"/>
            <a:ext cx="12170515" cy="756727"/>
          </a:xfrm>
          <a:prstGeom prst="rect">
            <a:avLst/>
          </a:prstGeom>
          <a:noFill/>
        </p:spPr>
        <p:txBody>
          <a:bodyPr wrap="square" rtlCol="0" anchor="t">
            <a:noAutofit/>
          </a:bodyPr>
          <a:lstStyle/>
          <a:p>
            <a:pPr marL="571500" indent="-285750">
              <a:lnSpc>
                <a:spcPct val="150000"/>
              </a:lnSpc>
              <a:buFont typeface="Wingdings" panose="05000000000000000000" pitchFamily="2" charset="2"/>
              <a:buChar char="n"/>
            </a:pPr>
            <a:r>
              <a:rPr lang="en-US" altLang="zh-CN" sz="1600" b="1" dirty="0">
                <a:latin typeface="+mn-ea"/>
                <a:sym typeface="+mn-ea"/>
              </a:rPr>
              <a:t>NB</a:t>
            </a:r>
            <a:r>
              <a:rPr lang="zh-CN" altLang="en-US" sz="1600" b="1" dirty="0">
                <a:latin typeface="+mn-ea"/>
                <a:sym typeface="+mn-ea"/>
              </a:rPr>
              <a:t>业务涉及端到端流程：</a:t>
            </a:r>
            <a:r>
              <a:rPr lang="zh-CN" altLang="en-US" sz="1600" dirty="0">
                <a:latin typeface="+mn-ea"/>
                <a:sym typeface="+mn-ea"/>
              </a:rPr>
              <a:t>包括终端、无线、核心网、终端、</a:t>
            </a:r>
            <a:r>
              <a:rPr lang="en-US" altLang="zh-CN" sz="1600" dirty="0">
                <a:latin typeface="+mn-ea"/>
                <a:sym typeface="+mn-ea"/>
              </a:rPr>
              <a:t>NB</a:t>
            </a:r>
            <a:r>
              <a:rPr lang="zh-CN" altLang="en-US" sz="1600" dirty="0">
                <a:latin typeface="+mn-ea"/>
                <a:sym typeface="+mn-ea"/>
              </a:rPr>
              <a:t>网关及客户业务平台。以燃气场景为例，客户南向数据通过</a:t>
            </a:r>
            <a:r>
              <a:rPr lang="en-US" altLang="zh-CN" sz="1600" dirty="0">
                <a:latin typeface="+mn-ea"/>
                <a:sym typeface="+mn-ea"/>
              </a:rPr>
              <a:t>NB</a:t>
            </a:r>
            <a:r>
              <a:rPr lang="zh-CN" altLang="en-US" sz="1600" dirty="0">
                <a:latin typeface="+mn-ea"/>
                <a:sym typeface="+mn-ea"/>
              </a:rPr>
              <a:t>无线及核心网上报至</a:t>
            </a:r>
            <a:r>
              <a:rPr lang="en-US" altLang="zh-CN" sz="1600" dirty="0">
                <a:latin typeface="+mn-ea"/>
                <a:sym typeface="+mn-ea"/>
              </a:rPr>
              <a:t>NB</a:t>
            </a:r>
            <a:r>
              <a:rPr lang="zh-CN" altLang="en-US" sz="1600" dirty="0">
                <a:latin typeface="+mn-ea"/>
                <a:sym typeface="+mn-ea"/>
              </a:rPr>
              <a:t>网关，</a:t>
            </a:r>
            <a:r>
              <a:rPr lang="en-US" altLang="zh-CN" sz="1600" dirty="0">
                <a:latin typeface="+mn-ea"/>
                <a:sym typeface="+mn-ea"/>
              </a:rPr>
              <a:t>NB</a:t>
            </a:r>
            <a:r>
              <a:rPr lang="zh-CN" altLang="en-US" sz="1600" dirty="0">
                <a:latin typeface="+mn-ea"/>
                <a:sym typeface="+mn-ea"/>
              </a:rPr>
              <a:t>网关将南向数推送至客户业务平台订阅地址，</a:t>
            </a:r>
            <a:r>
              <a:rPr lang="zh-CN" altLang="en-US" sz="1600" b="1" dirty="0">
                <a:solidFill>
                  <a:srgbClr val="C00000"/>
                </a:solidFill>
                <a:latin typeface="+mn-ea"/>
                <a:sym typeface="+mn-ea"/>
              </a:rPr>
              <a:t>客户平台拿到推送数据后调用北向命令下发接口进行燃气表业务控制</a:t>
            </a:r>
            <a:endParaRPr lang="en-US" altLang="zh-CN" sz="1600" b="1" dirty="0">
              <a:solidFill>
                <a:srgbClr val="C00000"/>
              </a:solidFill>
              <a:latin typeface="+mn-ea"/>
              <a:sym typeface="+mn-ea"/>
            </a:endParaRPr>
          </a:p>
          <a:p>
            <a:pPr marL="571500" indent="-285750">
              <a:lnSpc>
                <a:spcPct val="150000"/>
              </a:lnSpc>
              <a:buFont typeface="Wingdings" panose="05000000000000000000" pitchFamily="2" charset="2"/>
              <a:buChar char="n"/>
            </a:pPr>
            <a:r>
              <a:rPr lang="en-US" altLang="zh-CN" sz="1600" b="1" dirty="0">
                <a:latin typeface="+mn-ea"/>
                <a:sym typeface="+mn-ea"/>
              </a:rPr>
              <a:t>NB</a:t>
            </a:r>
            <a:r>
              <a:rPr lang="zh-CN" altLang="en-US" sz="1600" b="1" dirty="0">
                <a:latin typeface="+mn-ea"/>
                <a:sym typeface="+mn-ea"/>
              </a:rPr>
              <a:t>网关命令下发的调用地址，客户需要排查程序里面</a:t>
            </a:r>
            <a:r>
              <a:rPr lang="zh-CN" altLang="en-US" sz="1600" b="1">
                <a:latin typeface="+mn-ea"/>
                <a:sym typeface="+mn-ea"/>
              </a:rPr>
              <a:t>是否对以下地址</a:t>
            </a:r>
            <a:r>
              <a:rPr lang="zh-CN" altLang="en-US" sz="1600" b="1" dirty="0">
                <a:latin typeface="+mn-ea"/>
                <a:sym typeface="+mn-ea"/>
              </a:rPr>
              <a:t>发起</a:t>
            </a:r>
            <a:r>
              <a:rPr lang="en-US" altLang="zh-CN" sz="1600" b="1" dirty="0">
                <a:latin typeface="+mn-ea"/>
                <a:sym typeface="+mn-ea"/>
              </a:rPr>
              <a:t>https</a:t>
            </a:r>
            <a:r>
              <a:rPr lang="zh-CN" altLang="en-US" sz="1600" b="1" dirty="0">
                <a:latin typeface="+mn-ea"/>
                <a:sym typeface="+mn-ea"/>
              </a:rPr>
              <a:t>请求：</a:t>
            </a:r>
            <a:endParaRPr lang="en-US" altLang="zh-CN" sz="1600" b="1" dirty="0">
              <a:latin typeface="+mn-ea"/>
              <a:sym typeface="+mn-ea"/>
            </a:endParaRPr>
          </a:p>
          <a:p>
            <a:pPr marL="571500" indent="285750">
              <a:lnSpc>
                <a:spcPct val="150000"/>
              </a:lnSpc>
              <a:buFont typeface="Wingdings" panose="05000000000000000000" pitchFamily="2" charset="2"/>
              <a:buChar char="Ø"/>
            </a:pPr>
            <a:r>
              <a:rPr lang="zh-CN" altLang="en-US" sz="1600" b="1" dirty="0">
                <a:solidFill>
                  <a:srgbClr val="C00000"/>
                </a:solidFill>
                <a:latin typeface="+mn-ea"/>
                <a:sym typeface="+mn-ea"/>
              </a:rPr>
              <a:t>一集群：</a:t>
            </a:r>
            <a:r>
              <a:rPr lang="en-US" altLang="zh-CN" sz="1600" b="1" dirty="0">
                <a:latin typeface="+mn-ea"/>
                <a:sym typeface="+mn-ea"/>
                <a:hlinkClick r:id="rId4">
                  <a:extLst>
                    <a:ext uri="{A12FA001-AC4F-418D-AE19-62706E023703}">
                      <ahyp:hlinkClr xmlns:ahyp="http://schemas.microsoft.com/office/drawing/2018/hyperlinkcolor" val="tx"/>
                    </a:ext>
                  </a:extLst>
                </a:hlinkClick>
              </a:rPr>
              <a:t>https://device.api.ct10649.com:8743</a:t>
            </a:r>
            <a:endParaRPr lang="en-US" altLang="zh-CN" sz="1600" b="1" dirty="0">
              <a:latin typeface="+mn-ea"/>
              <a:sym typeface="+mn-ea"/>
            </a:endParaRPr>
          </a:p>
          <a:p>
            <a:pPr marL="571500" indent="285750">
              <a:lnSpc>
                <a:spcPct val="150000"/>
              </a:lnSpc>
              <a:buFont typeface="Wingdings" panose="05000000000000000000" pitchFamily="2" charset="2"/>
              <a:buChar char="Ø"/>
            </a:pPr>
            <a:r>
              <a:rPr lang="en-US" altLang="zh-CN" sz="1600" b="1" dirty="0">
                <a:latin typeface="+mn-ea"/>
                <a:sym typeface="+mn-ea"/>
              </a:rPr>
              <a:t> </a:t>
            </a:r>
            <a:r>
              <a:rPr lang="zh-CN" altLang="en-US" sz="1600" b="1" dirty="0">
                <a:latin typeface="+mn-ea"/>
                <a:sym typeface="+mn-ea"/>
              </a:rPr>
              <a:t>二集群</a:t>
            </a:r>
            <a:r>
              <a:rPr lang="en-US" altLang="zh-CN" sz="1600" b="1" dirty="0">
                <a:latin typeface="+mn-ea"/>
                <a:sym typeface="+mn-ea"/>
              </a:rPr>
              <a:t>:https://***.lwm2m2-api.ctwing.cn:8743</a:t>
            </a:r>
          </a:p>
        </p:txBody>
      </p:sp>
      <p:sp>
        <p:nvSpPr>
          <p:cNvPr id="23" name="椭圆 22"/>
          <p:cNvSpPr/>
          <p:nvPr/>
        </p:nvSpPr>
        <p:spPr>
          <a:xfrm>
            <a:off x="819199" y="3665220"/>
            <a:ext cx="1114425" cy="1915795"/>
          </a:xfrm>
          <a:prstGeom prst="ellipse">
            <a:avLst/>
          </a:prstGeom>
          <a:noFill/>
          <a:ln w="9525" cap="flat" cmpd="sng" algn="ctr">
            <a:solidFill>
              <a:srgbClr val="159BFF"/>
            </a:solidFill>
            <a:prstDash val="dash"/>
          </a:ln>
          <a:effectLst/>
        </p:spPr>
        <p:style>
          <a:lnRef idx="2">
            <a:schemeClr val="accent5"/>
          </a:lnRef>
          <a:fillRef idx="1">
            <a:schemeClr val="lt1"/>
          </a:fillRef>
          <a:effectRef idx="0">
            <a:schemeClr val="accent5"/>
          </a:effectRef>
          <a:fontRef idx="minor">
            <a:schemeClr val="dk1"/>
          </a:fontRef>
        </p:style>
        <p:txBody>
          <a:bodyPr lIns="121917" tIns="60958" rIns="121917" bIns="60958" anchor="ctr"/>
          <a:lstStyle/>
          <a:p>
            <a:pPr algn="ctr" defTabSz="1218565"/>
            <a:endParaRPr lang="zh-CN" altLang="en-US" sz="1600" noProof="1">
              <a:solidFill>
                <a:schemeClr val="lt1"/>
              </a:solidFill>
            </a:endParaRPr>
          </a:p>
        </p:txBody>
      </p:sp>
      <p:pic>
        <p:nvPicPr>
          <p:cNvPr id="24" name="图片 4" descr="P3-智能停车应用平台.jpg"/>
          <p:cNvPicPr>
            <a:picLocks noChangeAspect="1" noChangeArrowheads="1"/>
          </p:cNvPicPr>
          <p:nvPr/>
        </p:nvPicPr>
        <p:blipFill>
          <a:blip r:embed="rId5"/>
          <a:srcRect/>
          <a:stretch>
            <a:fillRect/>
          </a:stretch>
        </p:blipFill>
        <p:spPr bwMode="auto">
          <a:xfrm>
            <a:off x="7487969" y="3368040"/>
            <a:ext cx="1263650" cy="848360"/>
          </a:xfrm>
          <a:prstGeom prst="rect">
            <a:avLst/>
          </a:prstGeom>
        </p:spPr>
      </p:pic>
      <p:pic>
        <p:nvPicPr>
          <p:cNvPr id="25" name="Picture 2"/>
          <p:cNvPicPr>
            <a:picLocks noChangeAspect="1" noChangeArrowheads="1"/>
          </p:cNvPicPr>
          <p:nvPr/>
        </p:nvPicPr>
        <p:blipFill>
          <a:blip r:embed="rId6"/>
          <a:srcRect/>
          <a:stretch>
            <a:fillRect/>
          </a:stretch>
        </p:blipFill>
        <p:spPr bwMode="auto">
          <a:xfrm>
            <a:off x="2564814" y="3709035"/>
            <a:ext cx="542925" cy="403860"/>
          </a:xfrm>
          <a:prstGeom prst="rect">
            <a:avLst/>
          </a:prstGeom>
        </p:spPr>
      </p:pic>
      <p:pic>
        <p:nvPicPr>
          <p:cNvPr id="28" name="Picture 2"/>
          <p:cNvPicPr>
            <a:picLocks noChangeAspect="1" noChangeArrowheads="1"/>
          </p:cNvPicPr>
          <p:nvPr/>
        </p:nvPicPr>
        <p:blipFill>
          <a:blip r:embed="rId6"/>
          <a:srcRect/>
          <a:stretch>
            <a:fillRect/>
          </a:stretch>
        </p:blipFill>
        <p:spPr bwMode="auto">
          <a:xfrm>
            <a:off x="2564814" y="4770755"/>
            <a:ext cx="542925" cy="403860"/>
          </a:xfrm>
          <a:prstGeom prst="rect">
            <a:avLst/>
          </a:prstGeom>
        </p:spPr>
      </p:pic>
      <p:pic>
        <p:nvPicPr>
          <p:cNvPr id="29" name="Picture 3" descr="14"/>
          <p:cNvPicPr>
            <a:picLocks noChangeAspect="1" noChangeArrowheads="1"/>
          </p:cNvPicPr>
          <p:nvPr/>
        </p:nvPicPr>
        <p:blipFill>
          <a:blip r:embed="rId7" cstate="print"/>
          <a:srcRect/>
          <a:stretch>
            <a:fillRect/>
          </a:stretch>
        </p:blipFill>
        <p:spPr bwMode="auto">
          <a:xfrm>
            <a:off x="4748579" y="4553585"/>
            <a:ext cx="488950" cy="396875"/>
          </a:xfrm>
          <a:prstGeom prst="rect">
            <a:avLst/>
          </a:prstGeom>
        </p:spPr>
      </p:pic>
      <p:sp>
        <p:nvSpPr>
          <p:cNvPr id="30" name="TextBox 10"/>
          <p:cNvSpPr txBox="1">
            <a:spLocks noChangeArrowheads="1"/>
          </p:cNvSpPr>
          <p:nvPr/>
        </p:nvSpPr>
        <p:spPr bwMode="auto">
          <a:xfrm rot="10800000" flipV="1">
            <a:off x="3754804" y="3886835"/>
            <a:ext cx="1525270" cy="592455"/>
          </a:xfrm>
          <a:prstGeom prst="rect">
            <a:avLst/>
          </a:prstGeom>
          <a:noFill/>
          <a:ln w="9525">
            <a:noFill/>
            <a:miter lim="800000"/>
          </a:ln>
        </p:spPr>
        <p:txBody>
          <a:bodyPr wrap="square" lIns="91366" tIns="45682" rIns="91366" bIns="45682">
            <a:spAutoFit/>
          </a:bodyPr>
          <a:lstStyle/>
          <a:p>
            <a:r>
              <a:rPr lang="en-US" altLang="zh-CN" sz="1000" b="1" dirty="0">
                <a:solidFill>
                  <a:srgbClr val="0000FF"/>
                </a:solidFill>
                <a:latin typeface="微软雅黑" panose="020B0503020204020204" charset="-122"/>
                <a:ea typeface="微软雅黑" panose="020B0503020204020204" charset="-122"/>
              </a:rPr>
              <a:t>NB-IoT</a:t>
            </a:r>
            <a:r>
              <a:rPr lang="zh-CN" altLang="en-US" sz="1000" b="1" dirty="0">
                <a:solidFill>
                  <a:srgbClr val="0000FF"/>
                </a:solidFill>
                <a:latin typeface="微软雅黑" panose="020B0503020204020204" charset="-122"/>
                <a:ea typeface="微软雅黑" panose="020B0503020204020204" charset="-122"/>
              </a:rPr>
              <a:t>核心网</a:t>
            </a:r>
            <a:endParaRPr lang="en-US" altLang="zh-CN" sz="1000" b="1" dirty="0">
              <a:solidFill>
                <a:srgbClr val="0000FF"/>
              </a:solidFill>
              <a:latin typeface="微软雅黑" panose="020B0503020204020204" charset="-122"/>
              <a:ea typeface="微软雅黑" panose="020B0503020204020204" charset="-122"/>
            </a:endParaRPr>
          </a:p>
          <a:p>
            <a:r>
              <a:rPr lang="en-US" altLang="zh-CN" sz="1000" b="1" dirty="0">
                <a:solidFill>
                  <a:srgbClr val="0000FF"/>
                </a:solidFill>
                <a:latin typeface="微软雅黑" panose="020B0503020204020204" charset="-122"/>
                <a:ea typeface="微软雅黑" panose="020B0503020204020204" charset="-122"/>
              </a:rPr>
              <a:t>(</a:t>
            </a:r>
            <a:r>
              <a:rPr lang="zh-CN" altLang="en-US" sz="1000" b="1" dirty="0">
                <a:solidFill>
                  <a:srgbClr val="0000FF"/>
                </a:solidFill>
                <a:latin typeface="微软雅黑" panose="020B0503020204020204" charset="-122"/>
                <a:ea typeface="微软雅黑" panose="020B0503020204020204" charset="-122"/>
              </a:rPr>
              <a:t>定向访问控制，</a:t>
            </a:r>
            <a:r>
              <a:rPr lang="en-US" altLang="zh-CN" sz="1000" b="1" dirty="0">
                <a:solidFill>
                  <a:srgbClr val="0000FF"/>
                </a:solidFill>
                <a:latin typeface="微软雅黑" panose="020B0503020204020204" charset="-122"/>
                <a:ea typeface="微软雅黑" panose="020B0503020204020204" charset="-122"/>
              </a:rPr>
              <a:t>APN+CC)</a:t>
            </a:r>
            <a:endParaRPr lang="zh-CN" altLang="en-US" sz="1000" b="1" dirty="0">
              <a:solidFill>
                <a:srgbClr val="0000FF"/>
              </a:solidFill>
              <a:latin typeface="微软雅黑" panose="020B0503020204020204" charset="-122"/>
              <a:ea typeface="微软雅黑" panose="020B0503020204020204" charset="-122"/>
            </a:endParaRPr>
          </a:p>
        </p:txBody>
      </p:sp>
      <p:sp>
        <p:nvSpPr>
          <p:cNvPr id="31" name="任意多边形 15"/>
          <p:cNvSpPr/>
          <p:nvPr/>
        </p:nvSpPr>
        <p:spPr bwMode="auto">
          <a:xfrm>
            <a:off x="7114589" y="4596130"/>
            <a:ext cx="590550" cy="163195"/>
          </a:xfrm>
          <a:custGeom>
            <a:avLst/>
            <a:gdLst>
              <a:gd name="connsiteX0" fmla="*/ 2088292 w 2088292"/>
              <a:gd name="connsiteY0" fmla="*/ 0 h 1013254"/>
              <a:gd name="connsiteX1" fmla="*/ 988540 w 2088292"/>
              <a:gd name="connsiteY1" fmla="*/ 729049 h 1013254"/>
              <a:gd name="connsiteX2" fmla="*/ 0 w 2088292"/>
              <a:gd name="connsiteY2" fmla="*/ 1013254 h 1013254"/>
            </a:gdLst>
            <a:ahLst/>
            <a:cxnLst>
              <a:cxn ang="0">
                <a:pos x="connsiteX0" y="connsiteY0"/>
              </a:cxn>
              <a:cxn ang="0">
                <a:pos x="connsiteX1" y="connsiteY1"/>
              </a:cxn>
              <a:cxn ang="0">
                <a:pos x="connsiteX2" y="connsiteY2"/>
              </a:cxn>
            </a:cxnLst>
            <a:rect l="l" t="t" r="r" b="b"/>
            <a:pathLst>
              <a:path w="2088292" h="1013254">
                <a:moveTo>
                  <a:pt x="2088292" y="0"/>
                </a:moveTo>
                <a:cubicBezTo>
                  <a:pt x="1712440" y="280086"/>
                  <a:pt x="1336589" y="560173"/>
                  <a:pt x="988540" y="729049"/>
                </a:cubicBezTo>
                <a:cubicBezTo>
                  <a:pt x="640491" y="897925"/>
                  <a:pt x="320245" y="955589"/>
                  <a:pt x="0" y="1013254"/>
                </a:cubicBezTo>
              </a:path>
            </a:pathLst>
          </a:custGeom>
          <a:noFill/>
          <a:ln w="38100" cap="flat" cmpd="sng" algn="ctr">
            <a:solidFill>
              <a:schemeClr val="accent6"/>
            </a:solidFill>
            <a:prstDash val="solid"/>
            <a:round/>
            <a:headEnd type="stealth" w="lg" len="lg"/>
            <a:tailEnd type="stealth" w="lg" len="lg"/>
          </a:ln>
          <a:effectLst/>
        </p:spPr>
        <p:txBody>
          <a:bodyPr lIns="91366" tIns="45682" rIns="91366" bIns="45682"/>
          <a:lstStyle/>
          <a:p>
            <a:pPr defTabSz="456565"/>
            <a:endParaRPr lang="zh-CN" altLang="en-US" sz="1000" noProof="1">
              <a:latin typeface="微软雅黑" panose="020B0503020204020204" charset="-122"/>
              <a:ea typeface="微软雅黑" panose="020B0503020204020204" charset="-122"/>
            </a:endParaRPr>
          </a:p>
        </p:txBody>
      </p:sp>
      <p:sp>
        <p:nvSpPr>
          <p:cNvPr id="32" name="任意多边形 17"/>
          <p:cNvSpPr/>
          <p:nvPr/>
        </p:nvSpPr>
        <p:spPr bwMode="auto">
          <a:xfrm>
            <a:off x="3015664" y="4130040"/>
            <a:ext cx="1741170" cy="533400"/>
          </a:xfrm>
          <a:custGeom>
            <a:avLst/>
            <a:gdLst>
              <a:gd name="connsiteX0" fmla="*/ 0 w 2706130"/>
              <a:gd name="connsiteY0" fmla="*/ 0 h 716692"/>
              <a:gd name="connsiteX1" fmla="*/ 432487 w 2706130"/>
              <a:gd name="connsiteY1" fmla="*/ 420130 h 716692"/>
              <a:gd name="connsiteX2" fmla="*/ 1124465 w 2706130"/>
              <a:gd name="connsiteY2" fmla="*/ 593124 h 716692"/>
              <a:gd name="connsiteX3" fmla="*/ 2706130 w 2706130"/>
              <a:gd name="connsiteY3" fmla="*/ 716692 h 716692"/>
            </a:gdLst>
            <a:ahLst/>
            <a:cxnLst>
              <a:cxn ang="0">
                <a:pos x="connsiteX0" y="connsiteY0"/>
              </a:cxn>
              <a:cxn ang="0">
                <a:pos x="connsiteX1" y="connsiteY1"/>
              </a:cxn>
              <a:cxn ang="0">
                <a:pos x="connsiteX2" y="connsiteY2"/>
              </a:cxn>
              <a:cxn ang="0">
                <a:pos x="connsiteX3" y="connsiteY3"/>
              </a:cxn>
            </a:cxnLst>
            <a:rect l="l" t="t" r="r" b="b"/>
            <a:pathLst>
              <a:path w="2706130" h="716692">
                <a:moveTo>
                  <a:pt x="0" y="0"/>
                </a:moveTo>
                <a:cubicBezTo>
                  <a:pt x="122538" y="160638"/>
                  <a:pt x="245076" y="321276"/>
                  <a:pt x="432487" y="420130"/>
                </a:cubicBezTo>
                <a:cubicBezTo>
                  <a:pt x="619898" y="518984"/>
                  <a:pt x="745525" y="543697"/>
                  <a:pt x="1124465" y="593124"/>
                </a:cubicBezTo>
                <a:cubicBezTo>
                  <a:pt x="1503406" y="642551"/>
                  <a:pt x="2104768" y="679621"/>
                  <a:pt x="2706130" y="716692"/>
                </a:cubicBezTo>
              </a:path>
            </a:pathLst>
          </a:custGeom>
          <a:noFill/>
          <a:ln w="38100" cap="flat" cmpd="sng" algn="ctr">
            <a:solidFill>
              <a:schemeClr val="accent6"/>
            </a:solidFill>
            <a:prstDash val="solid"/>
            <a:round/>
            <a:headEnd type="stealth" w="lg" len="lg"/>
            <a:tailEnd type="stealth" w="lg" len="lg"/>
          </a:ln>
          <a:effectLst/>
        </p:spPr>
        <p:txBody>
          <a:bodyPr lIns="91366" tIns="45682" rIns="91366" bIns="45682"/>
          <a:lstStyle/>
          <a:p>
            <a:pPr defTabSz="456565"/>
            <a:endParaRPr lang="zh-CN" altLang="en-US" sz="1000" noProof="1">
              <a:latin typeface="微软雅黑" panose="020B0503020204020204" charset="-122"/>
              <a:ea typeface="微软雅黑" panose="020B0503020204020204" charset="-122"/>
            </a:endParaRPr>
          </a:p>
        </p:txBody>
      </p:sp>
      <p:sp>
        <p:nvSpPr>
          <p:cNvPr id="33" name="任意多边形 18"/>
          <p:cNvSpPr/>
          <p:nvPr/>
        </p:nvSpPr>
        <p:spPr bwMode="auto">
          <a:xfrm>
            <a:off x="2967404" y="4786630"/>
            <a:ext cx="1848485" cy="163830"/>
          </a:xfrm>
          <a:custGeom>
            <a:avLst/>
            <a:gdLst>
              <a:gd name="connsiteX0" fmla="*/ 0 w 2669060"/>
              <a:gd name="connsiteY0" fmla="*/ 261551 h 261551"/>
              <a:gd name="connsiteX1" fmla="*/ 593124 w 2669060"/>
              <a:gd name="connsiteY1" fmla="*/ 39130 h 261551"/>
              <a:gd name="connsiteX2" fmla="*/ 1940011 w 2669060"/>
              <a:gd name="connsiteY2" fmla="*/ 26773 h 261551"/>
              <a:gd name="connsiteX3" fmla="*/ 2669060 w 2669060"/>
              <a:gd name="connsiteY3" fmla="*/ 39130 h 261551"/>
            </a:gdLst>
            <a:ahLst/>
            <a:cxnLst>
              <a:cxn ang="0">
                <a:pos x="connsiteX0" y="connsiteY0"/>
              </a:cxn>
              <a:cxn ang="0">
                <a:pos x="connsiteX1" y="connsiteY1"/>
              </a:cxn>
              <a:cxn ang="0">
                <a:pos x="connsiteX2" y="connsiteY2"/>
              </a:cxn>
              <a:cxn ang="0">
                <a:pos x="connsiteX3" y="connsiteY3"/>
              </a:cxn>
            </a:cxnLst>
            <a:rect l="l" t="t" r="r" b="b"/>
            <a:pathLst>
              <a:path w="2669060" h="261551">
                <a:moveTo>
                  <a:pt x="0" y="261551"/>
                </a:moveTo>
                <a:cubicBezTo>
                  <a:pt x="134894" y="169905"/>
                  <a:pt x="269789" y="78260"/>
                  <a:pt x="593124" y="39130"/>
                </a:cubicBezTo>
                <a:cubicBezTo>
                  <a:pt x="916459" y="0"/>
                  <a:pt x="1594022" y="26773"/>
                  <a:pt x="1940011" y="26773"/>
                </a:cubicBezTo>
                <a:cubicBezTo>
                  <a:pt x="2286000" y="26773"/>
                  <a:pt x="2477530" y="32951"/>
                  <a:pt x="2669060" y="39130"/>
                </a:cubicBezTo>
              </a:path>
            </a:pathLst>
          </a:custGeom>
          <a:noFill/>
          <a:ln w="38100" cap="flat" cmpd="sng" algn="ctr">
            <a:solidFill>
              <a:srgbClr val="C00000"/>
            </a:solidFill>
            <a:prstDash val="solid"/>
            <a:round/>
            <a:headEnd type="stealth" w="lg" len="lg"/>
            <a:tailEnd type="stealth" w="lg" len="lg"/>
          </a:ln>
          <a:effectLst/>
        </p:spPr>
        <p:txBody>
          <a:bodyPr lIns="91366" tIns="45682" rIns="91366" bIns="45682"/>
          <a:lstStyle/>
          <a:p>
            <a:pPr defTabSz="456565"/>
            <a:endParaRPr lang="zh-CN" altLang="en-US" sz="1000" noProof="1">
              <a:latin typeface="微软雅黑" panose="020B0503020204020204" charset="-122"/>
              <a:ea typeface="微软雅黑" panose="020B0503020204020204" charset="-122"/>
            </a:endParaRPr>
          </a:p>
        </p:txBody>
      </p:sp>
      <p:sp>
        <p:nvSpPr>
          <p:cNvPr id="40" name="Freeform 107"/>
          <p:cNvSpPr>
            <a:spLocks noChangeArrowheads="1"/>
          </p:cNvSpPr>
          <p:nvPr/>
        </p:nvSpPr>
        <p:spPr bwMode="auto">
          <a:xfrm rot="19124526" flipH="1">
            <a:off x="2200959" y="4593590"/>
            <a:ext cx="160655" cy="442595"/>
          </a:xfrm>
          <a:custGeom>
            <a:avLst/>
            <a:gdLst/>
            <a:ahLst/>
            <a:cxnLst>
              <a:cxn ang="0">
                <a:pos x="98" y="0"/>
              </a:cxn>
              <a:cxn ang="0">
                <a:pos x="0" y="229"/>
              </a:cxn>
              <a:cxn ang="0">
                <a:pos x="70" y="229"/>
              </a:cxn>
              <a:cxn ang="0">
                <a:pos x="50" y="405"/>
              </a:cxn>
              <a:cxn ang="0">
                <a:pos x="138" y="180"/>
              </a:cxn>
              <a:cxn ang="0">
                <a:pos x="68" y="180"/>
              </a:cxn>
              <a:cxn ang="0">
                <a:pos x="98" y="0"/>
              </a:cxn>
            </a:cxnLst>
            <a:rect l="0" t="0" r="r" b="b"/>
            <a:pathLst>
              <a:path w="138" h="405">
                <a:moveTo>
                  <a:pt x="98" y="0"/>
                </a:moveTo>
                <a:lnTo>
                  <a:pt x="0" y="229"/>
                </a:lnTo>
                <a:lnTo>
                  <a:pt x="70" y="229"/>
                </a:lnTo>
                <a:lnTo>
                  <a:pt x="50" y="405"/>
                </a:lnTo>
                <a:lnTo>
                  <a:pt x="138" y="180"/>
                </a:lnTo>
                <a:lnTo>
                  <a:pt x="68" y="180"/>
                </a:lnTo>
                <a:lnTo>
                  <a:pt x="98" y="0"/>
                </a:lnTo>
                <a:close/>
              </a:path>
            </a:pathLst>
          </a:custGeom>
          <a:solidFill>
            <a:srgbClr val="FF0000"/>
          </a:solidFill>
          <a:ln w="9525">
            <a:noFill/>
            <a:round/>
          </a:ln>
        </p:spPr>
        <p:txBody>
          <a:bodyPr/>
          <a:lstStyle/>
          <a:p>
            <a:endParaRPr lang="zh-CN" altLang="en-US" sz="1050"/>
          </a:p>
        </p:txBody>
      </p:sp>
      <p:sp>
        <p:nvSpPr>
          <p:cNvPr id="41" name="Freeform 107"/>
          <p:cNvSpPr>
            <a:spLocks noChangeArrowheads="1"/>
          </p:cNvSpPr>
          <p:nvPr/>
        </p:nvSpPr>
        <p:spPr bwMode="auto">
          <a:xfrm rot="19124526" flipH="1">
            <a:off x="2104439" y="3731260"/>
            <a:ext cx="163195" cy="389890"/>
          </a:xfrm>
          <a:custGeom>
            <a:avLst/>
            <a:gdLst/>
            <a:ahLst/>
            <a:cxnLst>
              <a:cxn ang="0">
                <a:pos x="98" y="0"/>
              </a:cxn>
              <a:cxn ang="0">
                <a:pos x="0" y="229"/>
              </a:cxn>
              <a:cxn ang="0">
                <a:pos x="70" y="229"/>
              </a:cxn>
              <a:cxn ang="0">
                <a:pos x="50" y="405"/>
              </a:cxn>
              <a:cxn ang="0">
                <a:pos x="138" y="180"/>
              </a:cxn>
              <a:cxn ang="0">
                <a:pos x="68" y="180"/>
              </a:cxn>
              <a:cxn ang="0">
                <a:pos x="98" y="0"/>
              </a:cxn>
            </a:cxnLst>
            <a:rect l="0" t="0" r="r" b="b"/>
            <a:pathLst>
              <a:path w="138" h="405">
                <a:moveTo>
                  <a:pt x="98" y="0"/>
                </a:moveTo>
                <a:lnTo>
                  <a:pt x="0" y="229"/>
                </a:lnTo>
                <a:lnTo>
                  <a:pt x="70" y="229"/>
                </a:lnTo>
                <a:lnTo>
                  <a:pt x="50" y="405"/>
                </a:lnTo>
                <a:lnTo>
                  <a:pt x="138" y="180"/>
                </a:lnTo>
                <a:lnTo>
                  <a:pt x="68" y="180"/>
                </a:lnTo>
                <a:lnTo>
                  <a:pt x="98" y="0"/>
                </a:lnTo>
                <a:close/>
              </a:path>
            </a:pathLst>
          </a:custGeom>
          <a:solidFill>
            <a:srgbClr val="FF0000"/>
          </a:solidFill>
          <a:ln w="9525">
            <a:noFill/>
            <a:round/>
          </a:ln>
        </p:spPr>
        <p:txBody>
          <a:bodyPr/>
          <a:lstStyle/>
          <a:p>
            <a:endParaRPr lang="zh-CN" altLang="en-US" sz="1050"/>
          </a:p>
        </p:txBody>
      </p:sp>
      <p:sp>
        <p:nvSpPr>
          <p:cNvPr id="42" name="TextBox 23"/>
          <p:cNvSpPr txBox="1">
            <a:spLocks noChangeArrowheads="1"/>
          </p:cNvSpPr>
          <p:nvPr/>
        </p:nvSpPr>
        <p:spPr bwMode="auto">
          <a:xfrm>
            <a:off x="987474" y="3333115"/>
            <a:ext cx="1516380" cy="262890"/>
          </a:xfrm>
          <a:prstGeom prst="rect">
            <a:avLst/>
          </a:prstGeom>
          <a:noFill/>
          <a:ln w="9525">
            <a:noFill/>
            <a:miter lim="800000"/>
          </a:ln>
        </p:spPr>
        <p:txBody>
          <a:bodyPr wrap="square" lIns="91366" tIns="45682" rIns="91366" bIns="45682">
            <a:spAutoFit/>
          </a:bodyPr>
          <a:lstStyle/>
          <a:p>
            <a:endParaRPr lang="zh-CN" altLang="en-US" sz="1000" b="1" dirty="0">
              <a:solidFill>
                <a:srgbClr val="0000FF"/>
              </a:solidFill>
              <a:latin typeface="微软雅黑" panose="020B0503020204020204" charset="-122"/>
              <a:ea typeface="微软雅黑" panose="020B0503020204020204" charset="-122"/>
            </a:endParaRPr>
          </a:p>
        </p:txBody>
      </p:sp>
      <p:cxnSp>
        <p:nvCxnSpPr>
          <p:cNvPr id="43" name="直接连接符 42"/>
          <p:cNvCxnSpPr/>
          <p:nvPr/>
        </p:nvCxnSpPr>
        <p:spPr bwMode="auto">
          <a:xfrm>
            <a:off x="2320339" y="3253740"/>
            <a:ext cx="24130" cy="2958465"/>
          </a:xfrm>
          <a:prstGeom prst="line">
            <a:avLst/>
          </a:prstGeom>
          <a:solidFill>
            <a:schemeClr val="accent1"/>
          </a:solidFill>
          <a:ln w="9525" cap="flat" cmpd="sng" algn="ctr">
            <a:solidFill>
              <a:srgbClr val="FF2121"/>
            </a:solidFill>
            <a:prstDash val="dashDot"/>
            <a:round/>
            <a:headEnd type="none" w="med" len="med"/>
            <a:tailEnd type="none" w="med" len="med"/>
          </a:ln>
          <a:effectLst>
            <a:outerShdw blurRad="50800" dist="38100" dir="2700000" algn="tl" rotWithShape="0">
              <a:prstClr val="black">
                <a:alpha val="40000"/>
              </a:prstClr>
            </a:outerShdw>
          </a:effectLst>
        </p:spPr>
      </p:cxnSp>
      <p:cxnSp>
        <p:nvCxnSpPr>
          <p:cNvPr id="44" name="直接连接符 43"/>
          <p:cNvCxnSpPr/>
          <p:nvPr/>
        </p:nvCxnSpPr>
        <p:spPr bwMode="auto">
          <a:xfrm>
            <a:off x="4475529" y="3253740"/>
            <a:ext cx="24130" cy="2958465"/>
          </a:xfrm>
          <a:prstGeom prst="line">
            <a:avLst/>
          </a:prstGeom>
          <a:solidFill>
            <a:schemeClr val="accent1"/>
          </a:solidFill>
          <a:ln w="9525" cap="flat" cmpd="sng" algn="ctr">
            <a:solidFill>
              <a:srgbClr val="FF2121"/>
            </a:solidFill>
            <a:prstDash val="dashDot"/>
            <a:round/>
            <a:headEnd type="none" w="med" len="med"/>
            <a:tailEnd type="none" w="med" len="med"/>
          </a:ln>
          <a:effectLst>
            <a:outerShdw blurRad="50800" dist="38100" dir="2700000" algn="tl" rotWithShape="0">
              <a:prstClr val="black">
                <a:alpha val="40000"/>
              </a:prstClr>
            </a:outerShdw>
          </a:effectLst>
        </p:spPr>
      </p:cxnSp>
      <p:cxnSp>
        <p:nvCxnSpPr>
          <p:cNvPr id="45" name="直接连接符 44"/>
          <p:cNvCxnSpPr/>
          <p:nvPr/>
        </p:nvCxnSpPr>
        <p:spPr bwMode="auto">
          <a:xfrm>
            <a:off x="6796454" y="3253740"/>
            <a:ext cx="24130" cy="2958465"/>
          </a:xfrm>
          <a:prstGeom prst="line">
            <a:avLst/>
          </a:prstGeom>
          <a:solidFill>
            <a:schemeClr val="accent1"/>
          </a:solidFill>
          <a:ln w="9525" cap="flat" cmpd="sng" algn="ctr">
            <a:solidFill>
              <a:srgbClr val="FF2121"/>
            </a:solidFill>
            <a:prstDash val="dashDot"/>
            <a:round/>
            <a:headEnd type="none" w="med" len="med"/>
            <a:tailEnd type="none" w="med" len="med"/>
          </a:ln>
          <a:effectLst>
            <a:outerShdw blurRad="50800" dist="38100" dir="2700000" algn="tl" rotWithShape="0">
              <a:prstClr val="black">
                <a:alpha val="40000"/>
              </a:prstClr>
            </a:outerShdw>
          </a:effectLst>
        </p:spPr>
      </p:cxnSp>
      <p:sp>
        <p:nvSpPr>
          <p:cNvPr id="46" name="圆角矩形 34"/>
          <p:cNvSpPr/>
          <p:nvPr/>
        </p:nvSpPr>
        <p:spPr bwMode="auto">
          <a:xfrm>
            <a:off x="819199" y="5666740"/>
            <a:ext cx="890905" cy="407035"/>
          </a:xfrm>
          <a:prstGeom prst="roundRect">
            <a:avLst/>
          </a:prstGeom>
          <a:solidFill>
            <a:srgbClr val="4A9BD2"/>
          </a:solidFill>
          <a:ln w="9525" algn="ctr">
            <a:noFill/>
            <a:miter lim="800000"/>
          </a:ln>
          <a:effectLst>
            <a:outerShdw blurRad="279400" algn="ctr" rotWithShape="0">
              <a:srgbClr val="000000">
                <a:alpha val="55000"/>
              </a:srgbClr>
            </a:outerShdw>
          </a:effectLst>
        </p:spPr>
        <p:txBody>
          <a:bodyPr lIns="89916" tIns="46755" rIns="89916" bIns="46755">
            <a:spAutoFit/>
          </a:bodyPr>
          <a:lstStyle/>
          <a:p>
            <a:pPr marL="292100" indent="-292100" algn="ctr" defTabSz="456565">
              <a:lnSpc>
                <a:spcPct val="170000"/>
              </a:lnSpc>
            </a:pPr>
            <a:r>
              <a:rPr lang="zh-CN" altLang="en-US" sz="1100" b="1" noProof="1">
                <a:solidFill>
                  <a:srgbClr val="FFFFFF"/>
                </a:solidFill>
                <a:latin typeface="微软雅黑" panose="020B0503020204020204" charset="-122"/>
                <a:ea typeface="微软雅黑" panose="020B0503020204020204" charset="-122"/>
                <a:cs typeface="Arial" panose="020B0604020202020204" pitchFamily="34" charset="0"/>
              </a:rPr>
              <a:t>终端侧</a:t>
            </a:r>
            <a:endParaRPr lang="zh-CN" altLang="en-US" sz="1100" b="1" noProof="1">
              <a:solidFill>
                <a:srgbClr val="FFFFFF"/>
              </a:solidFill>
              <a:latin typeface="微软雅黑" panose="020B0503020204020204" charset="-122"/>
              <a:ea typeface="微软雅黑" panose="020B0503020204020204" charset="-122"/>
            </a:endParaRPr>
          </a:p>
        </p:txBody>
      </p:sp>
      <p:sp>
        <p:nvSpPr>
          <p:cNvPr id="47" name="圆角矩形 35"/>
          <p:cNvSpPr/>
          <p:nvPr/>
        </p:nvSpPr>
        <p:spPr bwMode="auto">
          <a:xfrm>
            <a:off x="2964229" y="5635625"/>
            <a:ext cx="890905" cy="452120"/>
          </a:xfrm>
          <a:prstGeom prst="roundRect">
            <a:avLst/>
          </a:prstGeom>
          <a:solidFill>
            <a:srgbClr val="0087E2">
              <a:alpha val="60000"/>
            </a:srgbClr>
          </a:solidFill>
          <a:ln w="9525" algn="ctr">
            <a:noFill/>
            <a:miter lim="800000"/>
          </a:ln>
          <a:effectLst>
            <a:outerShdw blurRad="279400" algn="ctr" rotWithShape="0">
              <a:srgbClr val="000000">
                <a:alpha val="55000"/>
              </a:srgbClr>
            </a:outerShdw>
          </a:effectLst>
        </p:spPr>
        <p:txBody>
          <a:bodyPr lIns="89916" tIns="46755" rIns="89916" bIns="46755">
            <a:spAutoFit/>
          </a:bodyPr>
          <a:lstStyle/>
          <a:p>
            <a:pPr marL="292100" indent="-292100" algn="ctr" defTabSz="456565">
              <a:lnSpc>
                <a:spcPct val="170000"/>
              </a:lnSpc>
            </a:pPr>
            <a:r>
              <a:rPr lang="zh-CN" altLang="en-US" sz="1100" b="1" noProof="1">
                <a:solidFill>
                  <a:schemeClr val="tx1"/>
                </a:solidFill>
                <a:latin typeface="微软雅黑" panose="020B0503020204020204" charset="-122"/>
                <a:ea typeface="微软雅黑" panose="020B0503020204020204" charset="-122"/>
                <a:cs typeface="Arial" panose="020B0604020202020204" pitchFamily="34" charset="0"/>
              </a:rPr>
              <a:t>无线侧</a:t>
            </a:r>
            <a:endParaRPr lang="zh-CN" altLang="en-US" sz="1100" b="1" noProof="1">
              <a:solidFill>
                <a:schemeClr val="tx1"/>
              </a:solidFill>
              <a:latin typeface="微软雅黑" panose="020B0503020204020204" charset="-122"/>
              <a:ea typeface="微软雅黑" panose="020B0503020204020204" charset="-122"/>
            </a:endParaRPr>
          </a:p>
        </p:txBody>
      </p:sp>
      <p:sp>
        <p:nvSpPr>
          <p:cNvPr id="48" name="圆角矩形 36"/>
          <p:cNvSpPr/>
          <p:nvPr/>
        </p:nvSpPr>
        <p:spPr bwMode="auto">
          <a:xfrm>
            <a:off x="5280074" y="5635625"/>
            <a:ext cx="890905" cy="452120"/>
          </a:xfrm>
          <a:prstGeom prst="roundRect">
            <a:avLst/>
          </a:prstGeom>
          <a:solidFill>
            <a:srgbClr val="0087E2">
              <a:alpha val="60000"/>
            </a:srgbClr>
          </a:solidFill>
          <a:ln w="9525" algn="ctr">
            <a:noFill/>
            <a:miter lim="800000"/>
          </a:ln>
          <a:effectLst>
            <a:outerShdw blurRad="279400" algn="ctr" rotWithShape="0">
              <a:srgbClr val="000000">
                <a:alpha val="55000"/>
              </a:srgbClr>
            </a:outerShdw>
          </a:effectLst>
        </p:spPr>
        <p:txBody>
          <a:bodyPr lIns="89916" tIns="46755" rIns="89916" bIns="46755">
            <a:spAutoFit/>
          </a:bodyPr>
          <a:lstStyle/>
          <a:p>
            <a:pPr marL="292100" indent="-292100" algn="ctr" defTabSz="456565">
              <a:lnSpc>
                <a:spcPct val="170000"/>
              </a:lnSpc>
            </a:pPr>
            <a:r>
              <a:rPr lang="zh-CN" altLang="en-US" sz="1100" b="1" noProof="1">
                <a:solidFill>
                  <a:schemeClr val="tx1"/>
                </a:solidFill>
                <a:latin typeface="微软雅黑" panose="020B0503020204020204" charset="-122"/>
                <a:ea typeface="微软雅黑" panose="020B0503020204020204" charset="-122"/>
                <a:cs typeface="Arial" panose="020B0604020202020204" pitchFamily="34" charset="0"/>
              </a:rPr>
              <a:t>核心网</a:t>
            </a:r>
            <a:endParaRPr lang="zh-CN" altLang="en-US" sz="1100" b="1" noProof="1">
              <a:solidFill>
                <a:schemeClr val="tx1"/>
              </a:solidFill>
              <a:latin typeface="微软雅黑" panose="020B0503020204020204" charset="-122"/>
              <a:ea typeface="微软雅黑" panose="020B0503020204020204" charset="-122"/>
            </a:endParaRPr>
          </a:p>
        </p:txBody>
      </p:sp>
      <p:sp>
        <p:nvSpPr>
          <p:cNvPr id="49" name="圆角矩形 38"/>
          <p:cNvSpPr/>
          <p:nvPr/>
        </p:nvSpPr>
        <p:spPr bwMode="auto">
          <a:xfrm>
            <a:off x="7726729" y="5718175"/>
            <a:ext cx="890905" cy="407035"/>
          </a:xfrm>
          <a:prstGeom prst="roundRect">
            <a:avLst/>
          </a:prstGeom>
          <a:solidFill>
            <a:srgbClr val="0087E2">
              <a:alpha val="60000"/>
            </a:srgbClr>
          </a:solidFill>
          <a:ln w="9525" algn="ctr">
            <a:noFill/>
            <a:miter lim="800000"/>
          </a:ln>
          <a:effectLst>
            <a:outerShdw blurRad="279400" algn="ctr" rotWithShape="0">
              <a:srgbClr val="000000">
                <a:alpha val="55000"/>
              </a:srgbClr>
            </a:outerShdw>
          </a:effectLst>
        </p:spPr>
        <p:txBody>
          <a:bodyPr lIns="89916" tIns="46755" rIns="89916" bIns="46755">
            <a:spAutoFit/>
          </a:bodyPr>
          <a:lstStyle/>
          <a:p>
            <a:pPr marL="292100" indent="-292100" algn="ctr" defTabSz="456565">
              <a:lnSpc>
                <a:spcPct val="170000"/>
              </a:lnSpc>
            </a:pPr>
            <a:r>
              <a:rPr lang="zh-CN" altLang="en-US" sz="1100" b="1" noProof="1">
                <a:solidFill>
                  <a:schemeClr val="tx1"/>
                </a:solidFill>
                <a:latin typeface="微软雅黑" panose="020B0503020204020204" charset="-122"/>
                <a:ea typeface="微软雅黑" panose="020B0503020204020204" charset="-122"/>
                <a:cs typeface="Arial" panose="020B0604020202020204" pitchFamily="34" charset="0"/>
              </a:rPr>
              <a:t>平台侧</a:t>
            </a:r>
            <a:endParaRPr lang="zh-CN" altLang="en-US" sz="1100" b="1" noProof="1">
              <a:solidFill>
                <a:schemeClr val="tx1"/>
              </a:solidFill>
              <a:latin typeface="微软雅黑" panose="020B0503020204020204" charset="-122"/>
              <a:ea typeface="微软雅黑" panose="020B0503020204020204" charset="-122"/>
            </a:endParaRPr>
          </a:p>
        </p:txBody>
      </p:sp>
      <p:sp>
        <p:nvSpPr>
          <p:cNvPr id="59" name="TextBox 82"/>
          <p:cNvSpPr txBox="1">
            <a:spLocks noChangeArrowheads="1"/>
          </p:cNvSpPr>
          <p:nvPr/>
        </p:nvSpPr>
        <p:spPr bwMode="auto">
          <a:xfrm rot="10800000" flipV="1">
            <a:off x="6949171" y="3119339"/>
            <a:ext cx="3604895" cy="307340"/>
          </a:xfrm>
          <a:prstGeom prst="rect">
            <a:avLst/>
          </a:prstGeom>
          <a:noFill/>
          <a:ln w="9525">
            <a:noFill/>
            <a:miter lim="800000"/>
          </a:ln>
        </p:spPr>
        <p:txBody>
          <a:bodyPr wrap="square" lIns="121658" tIns="60828" rIns="121658" bIns="60828">
            <a:spAutoFit/>
          </a:bodyPr>
          <a:lstStyle/>
          <a:p>
            <a:pPr defTabSz="609600"/>
            <a:r>
              <a:rPr lang="zh-CN" altLang="en-US" sz="1200" dirty="0">
                <a:ea typeface="微软雅黑" panose="020B0503020204020204" charset="-122"/>
              </a:rPr>
              <a:t>调用</a:t>
            </a:r>
            <a:r>
              <a:rPr lang="en-US" altLang="zh-CN" sz="1200" dirty="0">
                <a:ea typeface="微软雅黑" panose="020B0503020204020204" charset="-122"/>
              </a:rPr>
              <a:t>NB</a:t>
            </a:r>
            <a:r>
              <a:rPr lang="zh-CN" altLang="en-US" sz="1200" dirty="0">
                <a:ea typeface="微软雅黑" panose="020B0503020204020204" charset="-122"/>
              </a:rPr>
              <a:t>网关北向</a:t>
            </a:r>
            <a:r>
              <a:rPr lang="en-US" altLang="zh-CN" sz="1200" dirty="0">
                <a:ea typeface="微软雅黑" panose="020B0503020204020204" charset="-122"/>
              </a:rPr>
              <a:t>API</a:t>
            </a:r>
            <a:r>
              <a:rPr lang="zh-CN" altLang="en-US" sz="1200" dirty="0">
                <a:ea typeface="微软雅黑" panose="020B0503020204020204" charset="-122"/>
              </a:rPr>
              <a:t>接口、订阅业务推送数据</a:t>
            </a:r>
          </a:p>
        </p:txBody>
      </p:sp>
      <p:sp>
        <p:nvSpPr>
          <p:cNvPr id="60" name="矩形 59"/>
          <p:cNvSpPr/>
          <p:nvPr/>
        </p:nvSpPr>
        <p:spPr>
          <a:xfrm>
            <a:off x="2438449" y="3327400"/>
            <a:ext cx="1198245" cy="261620"/>
          </a:xfrm>
          <a:prstGeom prst="rect">
            <a:avLst/>
          </a:prstGeom>
          <a:no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r>
              <a:rPr lang="en-US" altLang="zh-CN" sz="1000" b="1" noProof="1">
                <a:solidFill>
                  <a:srgbClr val="0000FF"/>
                </a:solidFill>
                <a:latin typeface="微软雅黑" panose="020B0503020204020204" charset="-122"/>
                <a:ea typeface="微软雅黑" panose="020B0503020204020204" charset="-122"/>
                <a:cs typeface="Arial" panose="020B0604020202020204" pitchFamily="34" charset="0"/>
              </a:rPr>
              <a:t>NB-IoT</a:t>
            </a:r>
            <a:r>
              <a:rPr lang="zh-CN" altLang="en-US" sz="1000" b="1" noProof="1">
                <a:solidFill>
                  <a:srgbClr val="0000FF"/>
                </a:solidFill>
                <a:latin typeface="微软雅黑" panose="020B0503020204020204" charset="-122"/>
                <a:ea typeface="微软雅黑" panose="020B0503020204020204" charset="-122"/>
                <a:cs typeface="Arial" panose="020B0604020202020204" pitchFamily="34" charset="0"/>
              </a:rPr>
              <a:t>基站</a:t>
            </a:r>
          </a:p>
        </p:txBody>
      </p:sp>
      <p:sp>
        <p:nvSpPr>
          <p:cNvPr id="61" name="矩形 60"/>
          <p:cNvSpPr/>
          <p:nvPr/>
        </p:nvSpPr>
        <p:spPr>
          <a:xfrm>
            <a:off x="2460674" y="4641215"/>
            <a:ext cx="1120140" cy="277495"/>
          </a:xfrm>
          <a:prstGeom prst="rect">
            <a:avLst/>
          </a:prstGeom>
          <a:no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r>
              <a:rPr lang="en-US" altLang="zh-CN" sz="1000" b="1" noProof="1">
                <a:solidFill>
                  <a:srgbClr val="0000FF"/>
                </a:solidFill>
                <a:latin typeface="微软雅黑" panose="020B0503020204020204" charset="-122"/>
                <a:ea typeface="微软雅黑" panose="020B0503020204020204" charset="-122"/>
              </a:rPr>
              <a:t>NB-IoT</a:t>
            </a:r>
            <a:r>
              <a:rPr lang="zh-CN" altLang="en-US" sz="1000" b="1" noProof="1">
                <a:solidFill>
                  <a:srgbClr val="0000FF"/>
                </a:solidFill>
                <a:latin typeface="微软雅黑" panose="020B0503020204020204" charset="-122"/>
                <a:ea typeface="微软雅黑" panose="020B0503020204020204" charset="-122"/>
              </a:rPr>
              <a:t>基站</a:t>
            </a:r>
          </a:p>
        </p:txBody>
      </p:sp>
      <p:sp>
        <p:nvSpPr>
          <p:cNvPr id="62" name="任意多边形 92"/>
          <p:cNvSpPr/>
          <p:nvPr/>
        </p:nvSpPr>
        <p:spPr bwMode="auto">
          <a:xfrm>
            <a:off x="7998509" y="4124325"/>
            <a:ext cx="50800" cy="539115"/>
          </a:xfrm>
          <a:custGeom>
            <a:avLst/>
            <a:gdLst>
              <a:gd name="connsiteX0" fmla="*/ 2088292 w 2088292"/>
              <a:gd name="connsiteY0" fmla="*/ 0 h 1013254"/>
              <a:gd name="connsiteX1" fmla="*/ 988540 w 2088292"/>
              <a:gd name="connsiteY1" fmla="*/ 729049 h 1013254"/>
              <a:gd name="connsiteX2" fmla="*/ 0 w 2088292"/>
              <a:gd name="connsiteY2" fmla="*/ 1013254 h 1013254"/>
            </a:gdLst>
            <a:ahLst/>
            <a:cxnLst>
              <a:cxn ang="0">
                <a:pos x="connsiteX0" y="connsiteY0"/>
              </a:cxn>
              <a:cxn ang="0">
                <a:pos x="connsiteX1" y="connsiteY1"/>
              </a:cxn>
              <a:cxn ang="0">
                <a:pos x="connsiteX2" y="connsiteY2"/>
              </a:cxn>
            </a:cxnLst>
            <a:rect l="l" t="t" r="r" b="b"/>
            <a:pathLst>
              <a:path w="2088292" h="1013254">
                <a:moveTo>
                  <a:pt x="2088292" y="0"/>
                </a:moveTo>
                <a:cubicBezTo>
                  <a:pt x="1712440" y="280086"/>
                  <a:pt x="1336589" y="560173"/>
                  <a:pt x="988540" y="729049"/>
                </a:cubicBezTo>
                <a:cubicBezTo>
                  <a:pt x="640491" y="897925"/>
                  <a:pt x="320245" y="955589"/>
                  <a:pt x="0" y="1013254"/>
                </a:cubicBezTo>
              </a:path>
            </a:pathLst>
          </a:custGeom>
          <a:noFill/>
          <a:ln w="38100" cap="flat" cmpd="sng" algn="ctr">
            <a:solidFill>
              <a:schemeClr val="accent6"/>
            </a:solidFill>
            <a:prstDash val="solid"/>
            <a:round/>
            <a:headEnd type="stealth" w="lg" len="lg"/>
            <a:tailEnd type="stealth" w="lg" len="lg"/>
          </a:ln>
          <a:effectLst/>
        </p:spPr>
        <p:txBody>
          <a:bodyPr lIns="91366" tIns="45682" rIns="91366" bIns="45682"/>
          <a:lstStyle/>
          <a:p>
            <a:pPr defTabSz="456565"/>
            <a:endParaRPr lang="zh-CN" altLang="en-US" sz="1000" noProof="1">
              <a:latin typeface="微软雅黑" panose="020B0503020204020204" charset="-122"/>
              <a:ea typeface="微软雅黑" panose="020B0503020204020204" charset="-122"/>
            </a:endParaRPr>
          </a:p>
        </p:txBody>
      </p:sp>
      <p:grpSp>
        <p:nvGrpSpPr>
          <p:cNvPr id="63" name="组合 46"/>
          <p:cNvGrpSpPr/>
          <p:nvPr/>
        </p:nvGrpSpPr>
        <p:grpSpPr bwMode="auto">
          <a:xfrm>
            <a:off x="1112569" y="3947795"/>
            <a:ext cx="351155" cy="1213485"/>
            <a:chOff x="811047" y="1950396"/>
            <a:chExt cx="522141" cy="1462118"/>
          </a:xfrm>
        </p:grpSpPr>
        <p:pic>
          <p:nvPicPr>
            <p:cNvPr id="65" name="Picture 6"/>
            <p:cNvPicPr>
              <a:picLocks noChangeAspect="1" noChangeArrowheads="1"/>
            </p:cNvPicPr>
            <p:nvPr/>
          </p:nvPicPr>
          <p:blipFill>
            <a:blip r:embed="rId8"/>
            <a:srcRect/>
            <a:stretch>
              <a:fillRect/>
            </a:stretch>
          </p:blipFill>
          <p:spPr bwMode="auto">
            <a:xfrm>
              <a:off x="811047" y="3063936"/>
              <a:ext cx="521064" cy="348578"/>
            </a:xfrm>
            <a:prstGeom prst="rect">
              <a:avLst/>
            </a:prstGeom>
          </p:spPr>
        </p:pic>
        <p:pic>
          <p:nvPicPr>
            <p:cNvPr id="66" name="Picture 10"/>
            <p:cNvPicPr>
              <a:picLocks noChangeAspect="1" noChangeArrowheads="1"/>
            </p:cNvPicPr>
            <p:nvPr/>
          </p:nvPicPr>
          <p:blipFill>
            <a:blip r:embed="rId9"/>
            <a:srcRect/>
            <a:stretch>
              <a:fillRect/>
            </a:stretch>
          </p:blipFill>
          <p:spPr bwMode="auto">
            <a:xfrm>
              <a:off x="830274" y="1950396"/>
              <a:ext cx="502914" cy="348578"/>
            </a:xfrm>
            <a:prstGeom prst="rect">
              <a:avLst/>
            </a:prstGeom>
          </p:spPr>
        </p:pic>
        <p:pic>
          <p:nvPicPr>
            <p:cNvPr id="67" name="Picture 6"/>
            <p:cNvPicPr preferRelativeResize="0">
              <a:picLocks noChangeArrowheads="1"/>
            </p:cNvPicPr>
            <p:nvPr/>
          </p:nvPicPr>
          <p:blipFill>
            <a:blip r:embed="rId10" cstate="print"/>
            <a:srcRect/>
            <a:stretch>
              <a:fillRect/>
            </a:stretch>
          </p:blipFill>
          <p:spPr bwMode="auto">
            <a:xfrm>
              <a:off x="811047" y="2473912"/>
              <a:ext cx="506636" cy="415736"/>
            </a:xfrm>
            <a:prstGeom prst="rect">
              <a:avLst/>
            </a:prstGeom>
          </p:spPr>
        </p:pic>
      </p:grpSp>
      <p:sp>
        <p:nvSpPr>
          <p:cNvPr id="108" name="矩形 107"/>
          <p:cNvSpPr/>
          <p:nvPr/>
        </p:nvSpPr>
        <p:spPr>
          <a:xfrm>
            <a:off x="349200" y="3335445"/>
            <a:ext cx="1776792" cy="371182"/>
          </a:xfrm>
          <a:prstGeom prst="rect">
            <a:avLst/>
          </a:prstGeom>
          <a:no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r>
              <a:rPr lang="en-US" altLang="zh-CN" sz="1000" b="1" noProof="1">
                <a:solidFill>
                  <a:srgbClr val="0000FF"/>
                </a:solidFill>
                <a:latin typeface="微软雅黑" panose="020B0503020204020204" charset="-122"/>
                <a:ea typeface="微软雅黑" panose="020B0503020204020204" charset="-122"/>
                <a:cs typeface="Arial" panose="020B0604020202020204" pitchFamily="34" charset="0"/>
              </a:rPr>
              <a:t>NB-IoT</a:t>
            </a:r>
            <a:r>
              <a:rPr lang="zh-CN" altLang="en-US" sz="1000" b="1" noProof="1">
                <a:solidFill>
                  <a:srgbClr val="0000FF"/>
                </a:solidFill>
                <a:latin typeface="微软雅黑" panose="020B0503020204020204" charset="-122"/>
                <a:ea typeface="微软雅黑" panose="020B0503020204020204" charset="-122"/>
                <a:cs typeface="Arial" panose="020B0604020202020204" pitchFamily="34" charset="0"/>
              </a:rPr>
              <a:t>各制式终端</a:t>
            </a:r>
            <a:endParaRPr lang="en-US" altLang="zh-CN" sz="1000" b="1" noProof="1">
              <a:solidFill>
                <a:srgbClr val="0000FF"/>
              </a:solidFill>
              <a:latin typeface="微软雅黑" panose="020B0503020204020204" charset="-122"/>
              <a:ea typeface="微软雅黑" panose="020B0503020204020204" charset="-122"/>
              <a:cs typeface="Arial" panose="020B0604020202020204" pitchFamily="34" charset="0"/>
            </a:endParaRPr>
          </a:p>
          <a:p>
            <a:pPr algn="ctr"/>
            <a:r>
              <a:rPr lang="zh-CN" altLang="en-US" sz="1000" b="1" noProof="1">
                <a:solidFill>
                  <a:srgbClr val="0000FF"/>
                </a:solidFill>
                <a:latin typeface="微软雅黑" panose="020B0503020204020204" charset="-122"/>
                <a:ea typeface="微软雅黑" panose="020B0503020204020204" charset="-122"/>
                <a:cs typeface="Arial" panose="020B0604020202020204" pitchFamily="34" charset="0"/>
              </a:rPr>
              <a:t>（燃气表、水表、烟感等）</a:t>
            </a:r>
          </a:p>
        </p:txBody>
      </p:sp>
      <p:sp>
        <p:nvSpPr>
          <p:cNvPr id="109" name="矩形 108"/>
          <p:cNvSpPr/>
          <p:nvPr/>
        </p:nvSpPr>
        <p:spPr>
          <a:xfrm>
            <a:off x="1903761" y="4045196"/>
            <a:ext cx="1286936" cy="309548"/>
          </a:xfrm>
          <a:prstGeom prst="rect">
            <a:avLst/>
          </a:prstGeom>
          <a:no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r>
              <a:rPr lang="en-US" altLang="zh-CN" sz="1100" b="1" noProof="1">
                <a:solidFill>
                  <a:schemeClr val="tx1"/>
                </a:solidFill>
                <a:latin typeface="微软雅黑" panose="020B0503020204020204" charset="-122"/>
                <a:ea typeface="微软雅黑" panose="020B0503020204020204" charset="-122"/>
              </a:rPr>
              <a:t>1</a:t>
            </a:r>
            <a:r>
              <a:rPr lang="zh-CN" altLang="en-US" sz="1100" b="1" noProof="1">
                <a:solidFill>
                  <a:schemeClr val="tx1"/>
                </a:solidFill>
                <a:latin typeface="微软雅黑" panose="020B0503020204020204" charset="-122"/>
                <a:ea typeface="微软雅黑" panose="020B0503020204020204" charset="-122"/>
              </a:rPr>
              <a:t>、设备数据上报</a:t>
            </a:r>
          </a:p>
        </p:txBody>
      </p:sp>
      <p:sp>
        <p:nvSpPr>
          <p:cNvPr id="110" name="圆角矩形 38"/>
          <p:cNvSpPr/>
          <p:nvPr/>
        </p:nvSpPr>
        <p:spPr bwMode="auto">
          <a:xfrm>
            <a:off x="7668944" y="4542790"/>
            <a:ext cx="890905" cy="491490"/>
          </a:xfrm>
          <a:prstGeom prst="roundRect">
            <a:avLst/>
          </a:prstGeom>
          <a:solidFill>
            <a:srgbClr val="4D9E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50" b="1" noProof="1">
                <a:solidFill>
                  <a:schemeClr val="tx1"/>
                </a:solidFill>
              </a:rPr>
              <a:t>NB</a:t>
            </a:r>
            <a:r>
              <a:rPr lang="zh-CN" altLang="en-US" sz="1050" b="1" noProof="1">
                <a:solidFill>
                  <a:schemeClr val="tx1"/>
                </a:solidFill>
              </a:rPr>
              <a:t>网关</a:t>
            </a:r>
          </a:p>
        </p:txBody>
      </p:sp>
      <p:sp>
        <p:nvSpPr>
          <p:cNvPr id="111" name="圆角矩形 38"/>
          <p:cNvSpPr/>
          <p:nvPr/>
        </p:nvSpPr>
        <p:spPr bwMode="auto">
          <a:xfrm>
            <a:off x="10320069" y="4435475"/>
            <a:ext cx="1572260" cy="5988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50" b="1" noProof="1">
                <a:solidFill>
                  <a:schemeClr val="lt1"/>
                </a:solidFill>
              </a:rPr>
              <a:t>NB</a:t>
            </a:r>
            <a:r>
              <a:rPr lang="zh-CN" altLang="en-US" sz="1050" b="1" noProof="1"/>
              <a:t>网关</a:t>
            </a:r>
            <a:r>
              <a:rPr lang="zh-CN" altLang="en-US" sz="1050" b="1" noProof="1">
                <a:solidFill>
                  <a:schemeClr val="lt1"/>
                </a:solidFill>
              </a:rPr>
              <a:t>客户业务平台</a:t>
            </a:r>
          </a:p>
        </p:txBody>
      </p:sp>
      <p:sp>
        <p:nvSpPr>
          <p:cNvPr id="112" name="矩形 111"/>
          <p:cNvSpPr/>
          <p:nvPr/>
        </p:nvSpPr>
        <p:spPr>
          <a:xfrm>
            <a:off x="1830753" y="4454222"/>
            <a:ext cx="1286936" cy="309548"/>
          </a:xfrm>
          <a:prstGeom prst="rect">
            <a:avLst/>
          </a:prstGeom>
          <a:no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r>
              <a:rPr lang="en-US" altLang="zh-CN" sz="1000" b="1" noProof="1">
                <a:solidFill>
                  <a:srgbClr val="FF0000"/>
                </a:solidFill>
                <a:latin typeface="微软雅黑" panose="020B0503020204020204" charset="-122"/>
                <a:ea typeface="微软雅黑" panose="020B0503020204020204" charset="-122"/>
              </a:rPr>
              <a:t>4</a:t>
            </a:r>
            <a:r>
              <a:rPr lang="zh-CN" altLang="en-US" sz="1000" b="1" noProof="1">
                <a:solidFill>
                  <a:srgbClr val="FF0000"/>
                </a:solidFill>
                <a:latin typeface="微软雅黑" panose="020B0503020204020204" charset="-122"/>
                <a:ea typeface="微软雅黑" panose="020B0503020204020204" charset="-122"/>
              </a:rPr>
              <a:t>、设备命令下发</a:t>
            </a:r>
          </a:p>
        </p:txBody>
      </p:sp>
      <p:sp>
        <p:nvSpPr>
          <p:cNvPr id="10" name="云形 9"/>
          <p:cNvSpPr/>
          <p:nvPr/>
        </p:nvSpPr>
        <p:spPr>
          <a:xfrm>
            <a:off x="5280074" y="4479290"/>
            <a:ext cx="1899920" cy="589280"/>
          </a:xfrm>
          <a:prstGeom prst="cloud">
            <a:avLst/>
          </a:prstGeom>
        </p:spPr>
        <p:style>
          <a:lnRef idx="3">
            <a:schemeClr val="accent1"/>
          </a:lnRef>
          <a:fillRef idx="0">
            <a:srgbClr val="FFFFFF"/>
          </a:fillRef>
          <a:effectRef idx="0">
            <a:srgbClr val="FFFFFF"/>
          </a:effectRef>
          <a:fontRef idx="minor">
            <a:schemeClr val="tx1"/>
          </a:fontRef>
        </p:style>
        <p:txBody>
          <a:bodyPr rtlCol="0" anchor="ctr"/>
          <a:lstStyle/>
          <a:p>
            <a:pPr algn="ctr"/>
            <a:r>
              <a:rPr lang="en-US" altLang="zh-CN"/>
              <a:t>CN2 VPN </a:t>
            </a:r>
          </a:p>
        </p:txBody>
      </p:sp>
      <p:cxnSp>
        <p:nvCxnSpPr>
          <p:cNvPr id="12" name="直接箭头连接符 11"/>
          <p:cNvCxnSpPr>
            <a:cxnSpLocks/>
            <a:endCxn id="111" idx="1"/>
          </p:cNvCxnSpPr>
          <p:nvPr/>
        </p:nvCxnSpPr>
        <p:spPr>
          <a:xfrm flipV="1">
            <a:off x="8569374" y="4734878"/>
            <a:ext cx="1750695" cy="28892"/>
          </a:xfrm>
          <a:prstGeom prst="straightConnector1">
            <a:avLst/>
          </a:prstGeom>
          <a:ln w="38100">
            <a:solidFill>
              <a:srgbClr val="00B050"/>
            </a:solidFill>
            <a:tailEnd type="arrow"/>
          </a:ln>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nvCxnSpPr>
        <p:spPr>
          <a:xfrm flipH="1" flipV="1">
            <a:off x="8549054" y="4885690"/>
            <a:ext cx="1747520" cy="10160"/>
          </a:xfrm>
          <a:prstGeom prst="straightConnector1">
            <a:avLst/>
          </a:prstGeom>
          <a:ln w="57150">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8569374" y="5101868"/>
            <a:ext cx="2022475" cy="338554"/>
          </a:xfrm>
          <a:prstGeom prst="rect">
            <a:avLst/>
          </a:prstGeom>
          <a:noFill/>
        </p:spPr>
        <p:txBody>
          <a:bodyPr wrap="square" rtlCol="0">
            <a:spAutoFit/>
          </a:bodyPr>
          <a:lstStyle/>
          <a:p>
            <a:r>
              <a:rPr lang="en-US" altLang="zh-CN" sz="1600" b="1" dirty="0">
                <a:solidFill>
                  <a:srgbClr val="FF0000"/>
                </a:solidFill>
              </a:rPr>
              <a:t>3</a:t>
            </a:r>
            <a:r>
              <a:rPr lang="zh-CN" altLang="en-US" sz="1600" b="1" dirty="0">
                <a:solidFill>
                  <a:srgbClr val="FF0000"/>
                </a:solidFill>
              </a:rPr>
              <a:t>、平台命令下发</a:t>
            </a:r>
          </a:p>
        </p:txBody>
      </p:sp>
      <p:sp>
        <p:nvSpPr>
          <p:cNvPr id="3" name="乘号 2">
            <a:extLst>
              <a:ext uri="{FF2B5EF4-FFF2-40B4-BE49-F238E27FC236}">
                <a16:creationId xmlns:a16="http://schemas.microsoft.com/office/drawing/2014/main" id="{98488AF2-47FF-9C3F-60B1-D4C9174D42F4}"/>
              </a:ext>
            </a:extLst>
          </p:cNvPr>
          <p:cNvSpPr/>
          <p:nvPr/>
        </p:nvSpPr>
        <p:spPr>
          <a:xfrm>
            <a:off x="9117379" y="4749324"/>
            <a:ext cx="519430" cy="415290"/>
          </a:xfrm>
          <a:prstGeom prst="mathMultiply">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4" name="文本框 3">
            <a:extLst>
              <a:ext uri="{FF2B5EF4-FFF2-40B4-BE49-F238E27FC236}">
                <a16:creationId xmlns:a16="http://schemas.microsoft.com/office/drawing/2014/main" id="{FB8F1A88-079D-6663-0A73-830CC9B13C8B}"/>
              </a:ext>
            </a:extLst>
          </p:cNvPr>
          <p:cNvSpPr txBox="1"/>
          <p:nvPr/>
        </p:nvSpPr>
        <p:spPr>
          <a:xfrm>
            <a:off x="8756645" y="4406463"/>
            <a:ext cx="1503680" cy="307777"/>
          </a:xfrm>
          <a:prstGeom prst="rect">
            <a:avLst/>
          </a:prstGeom>
          <a:noFill/>
        </p:spPr>
        <p:txBody>
          <a:bodyPr wrap="square" rtlCol="0">
            <a:spAutoFit/>
          </a:bodyPr>
          <a:lstStyle/>
          <a:p>
            <a:r>
              <a:rPr lang="en-US" altLang="zh-CN" sz="1400" b="1" dirty="0"/>
              <a:t>2</a:t>
            </a:r>
            <a:r>
              <a:rPr lang="zh-CN" altLang="en-US" sz="1400" b="1" dirty="0"/>
              <a:t>、消息推送</a:t>
            </a:r>
          </a:p>
        </p:txBody>
      </p:sp>
      <p:sp>
        <p:nvSpPr>
          <p:cNvPr id="6" name="乘号 5">
            <a:extLst>
              <a:ext uri="{FF2B5EF4-FFF2-40B4-BE49-F238E27FC236}">
                <a16:creationId xmlns:a16="http://schemas.microsoft.com/office/drawing/2014/main" id="{55ED500F-2092-5E5E-9756-3AC237B296A8}"/>
              </a:ext>
            </a:extLst>
          </p:cNvPr>
          <p:cNvSpPr/>
          <p:nvPr/>
        </p:nvSpPr>
        <p:spPr>
          <a:xfrm>
            <a:off x="3580496" y="4607242"/>
            <a:ext cx="519430" cy="415290"/>
          </a:xfrm>
          <a:prstGeom prst="mathMultiply">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NB</a:t>
            </a:r>
            <a:r>
              <a:rPr lang="zh-CN" altLang="en-US" dirty="0"/>
              <a:t>网关客户调用方式及本次</a:t>
            </a:r>
            <a:r>
              <a:rPr lang="en-US" altLang="zh-CN" dirty="0"/>
              <a:t>CA</a:t>
            </a:r>
            <a:r>
              <a:rPr lang="zh-CN" altLang="en-US" dirty="0"/>
              <a:t>证书到期影响场景</a:t>
            </a:r>
          </a:p>
        </p:txBody>
      </p:sp>
      <p:sp>
        <p:nvSpPr>
          <p:cNvPr id="35" name="文本框 34"/>
          <p:cNvSpPr txBox="1"/>
          <p:nvPr/>
        </p:nvSpPr>
        <p:spPr>
          <a:xfrm>
            <a:off x="6350" y="1403167"/>
            <a:ext cx="12066270" cy="2050415"/>
          </a:xfrm>
          <a:prstGeom prst="rect">
            <a:avLst/>
          </a:prstGeom>
          <a:noFill/>
          <a:ln>
            <a:noFill/>
            <a:prstDash val="sysDash"/>
          </a:ln>
        </p:spPr>
        <p:txBody>
          <a:bodyPr wrap="square">
            <a:noAutofit/>
          </a:bodyPr>
          <a:lstStyle/>
          <a:p>
            <a:pPr marL="285750" indent="-285750" defTabSz="457200" fontAlgn="auto">
              <a:lnSpc>
                <a:spcPct val="150000"/>
              </a:lnSpc>
              <a:spcBef>
                <a:spcPts val="600"/>
              </a:spcBef>
              <a:buFont typeface="Wingdings" panose="05000000000000000000" pitchFamily="2" charset="2"/>
              <a:buChar char="n"/>
              <a:defRPr/>
            </a:pPr>
            <a:r>
              <a:rPr kumimoji="1" lang="zh-CN" altLang="en-US" sz="1600" b="1" kern="0" dirty="0">
                <a:latin typeface="+mn-ea"/>
                <a:cs typeface="微软雅黑" panose="020B0503020204020204" charset="-122"/>
              </a:rPr>
              <a:t>客户调用方式：</a:t>
            </a:r>
            <a:endParaRPr kumimoji="1" lang="en-US" altLang="zh-CN" sz="1600" b="1" kern="0" dirty="0">
              <a:latin typeface="+mn-ea"/>
              <a:cs typeface="微软雅黑" panose="020B0503020204020204" charset="-122"/>
            </a:endParaRPr>
          </a:p>
          <a:p>
            <a:pPr marL="285750" indent="285750" defTabSz="457200" fontAlgn="auto">
              <a:lnSpc>
                <a:spcPct val="150000"/>
              </a:lnSpc>
              <a:spcBef>
                <a:spcPts val="600"/>
              </a:spcBef>
              <a:buFont typeface="Wingdings" panose="05000000000000000000" pitchFamily="2" charset="2"/>
              <a:buChar char="Ø"/>
              <a:defRPr/>
            </a:pPr>
            <a:r>
              <a:rPr kumimoji="1" lang="zh-CN" altLang="en-US" sz="1400" b="1" kern="0" dirty="0">
                <a:solidFill>
                  <a:schemeClr val="tx1"/>
                </a:solidFill>
                <a:latin typeface="+mn-ea"/>
                <a:cs typeface="微软雅黑" panose="020B0503020204020204" charset="-122"/>
              </a:rPr>
              <a:t>方式</a:t>
            </a:r>
            <a:r>
              <a:rPr kumimoji="1" lang="en-US" altLang="zh-CN" sz="1400" b="1" kern="0" dirty="0">
                <a:solidFill>
                  <a:schemeClr val="tx1"/>
                </a:solidFill>
                <a:latin typeface="+mn-ea"/>
                <a:cs typeface="微软雅黑" panose="020B0503020204020204" charset="-122"/>
              </a:rPr>
              <a:t>1</a:t>
            </a:r>
            <a:r>
              <a:rPr kumimoji="1" lang="zh-CN" altLang="en-US" sz="1400" b="1" kern="0" dirty="0">
                <a:solidFill>
                  <a:schemeClr val="tx1"/>
                </a:solidFill>
                <a:latin typeface="+mn-ea"/>
                <a:cs typeface="微软雅黑" panose="020B0503020204020204" charset="-122"/>
              </a:rPr>
              <a:t>：集成</a:t>
            </a:r>
            <a:r>
              <a:rPr kumimoji="1" lang="en-US" altLang="zh-CN" sz="1400" b="1" kern="0" dirty="0">
                <a:solidFill>
                  <a:schemeClr val="tx1"/>
                </a:solidFill>
                <a:latin typeface="+mn-ea"/>
                <a:cs typeface="微软雅黑" panose="020B0503020204020204" charset="-122"/>
              </a:rPr>
              <a:t>Java SDK</a:t>
            </a:r>
            <a:r>
              <a:rPr kumimoji="1" lang="zh-CN" altLang="en-US" sz="1400" b="1" kern="0" dirty="0">
                <a:solidFill>
                  <a:schemeClr val="tx1"/>
                </a:solidFill>
                <a:latin typeface="+mn-ea"/>
                <a:cs typeface="微软雅黑" panose="020B0503020204020204" charset="-122"/>
              </a:rPr>
              <a:t>客户的应用，内置证书，服务器端过期后，将会受到影响</a:t>
            </a:r>
            <a:r>
              <a:rPr kumimoji="1" lang="en-US" altLang="zh-CN" sz="1400" b="1" kern="0" dirty="0">
                <a:solidFill>
                  <a:schemeClr val="tx1"/>
                </a:solidFill>
                <a:latin typeface="+mn-ea"/>
                <a:cs typeface="微软雅黑" panose="020B0503020204020204" charset="-122"/>
              </a:rPr>
              <a:t>(</a:t>
            </a:r>
            <a:r>
              <a:rPr kumimoji="1" lang="zh-CN" altLang="en-US" sz="1400" b="1" kern="0" dirty="0">
                <a:solidFill>
                  <a:schemeClr val="tx1"/>
                </a:solidFill>
                <a:latin typeface="+mn-ea"/>
                <a:cs typeface="微软雅黑" panose="020B0503020204020204" charset="-122"/>
              </a:rPr>
              <a:t>风险较低</a:t>
            </a:r>
            <a:r>
              <a:rPr kumimoji="1" lang="en-US" altLang="zh-CN" sz="1400" b="1" kern="0" dirty="0">
                <a:solidFill>
                  <a:schemeClr val="tx1"/>
                </a:solidFill>
                <a:latin typeface="+mn-ea"/>
                <a:cs typeface="微软雅黑" panose="020B0503020204020204" charset="-122"/>
              </a:rPr>
              <a:t>)</a:t>
            </a:r>
            <a:endParaRPr kumimoji="1" lang="zh-CN" altLang="en-US" sz="1400" b="1" kern="0" dirty="0">
              <a:solidFill>
                <a:schemeClr val="tx1"/>
              </a:solidFill>
              <a:latin typeface="+mn-ea"/>
              <a:cs typeface="微软雅黑" panose="020B0503020204020204" charset="-122"/>
            </a:endParaRPr>
          </a:p>
          <a:p>
            <a:pPr marL="285750" indent="285750" defTabSz="457200" fontAlgn="auto">
              <a:lnSpc>
                <a:spcPct val="150000"/>
              </a:lnSpc>
              <a:spcBef>
                <a:spcPts val="600"/>
              </a:spcBef>
              <a:buFont typeface="Wingdings" panose="05000000000000000000" pitchFamily="2" charset="2"/>
              <a:buChar char="Ø"/>
              <a:defRPr/>
            </a:pPr>
            <a:r>
              <a:rPr kumimoji="1" lang="zh-CN" altLang="en-US" sz="1400" b="1" kern="0" dirty="0">
                <a:solidFill>
                  <a:schemeClr val="tx1"/>
                </a:solidFill>
                <a:latin typeface="+mn-ea"/>
              </a:rPr>
              <a:t>方式</a:t>
            </a:r>
            <a:r>
              <a:rPr kumimoji="1" lang="en-US" altLang="zh-CN" sz="1400" b="1" kern="0" dirty="0">
                <a:solidFill>
                  <a:schemeClr val="tx1"/>
                </a:solidFill>
                <a:latin typeface="+mn-ea"/>
              </a:rPr>
              <a:t>2</a:t>
            </a:r>
            <a:r>
              <a:rPr kumimoji="1" lang="zh-CN" altLang="en-US" sz="1400" b="1" kern="0" dirty="0">
                <a:solidFill>
                  <a:schemeClr val="tx1"/>
                </a:solidFill>
                <a:latin typeface="+mn-ea"/>
              </a:rPr>
              <a:t>：使用</a:t>
            </a:r>
            <a:r>
              <a:rPr kumimoji="1" lang="en-US" altLang="zh-CN" sz="1400" b="1" kern="0" dirty="0">
                <a:solidFill>
                  <a:schemeClr val="tx1"/>
                </a:solidFill>
                <a:latin typeface="+mn-ea"/>
              </a:rPr>
              <a:t>Java</a:t>
            </a:r>
            <a:r>
              <a:rPr kumimoji="1" lang="zh-CN" altLang="en-US" sz="1400" b="1" kern="0" dirty="0">
                <a:solidFill>
                  <a:schemeClr val="tx1"/>
                </a:solidFill>
                <a:latin typeface="+mn-ea"/>
              </a:rPr>
              <a:t>程序开发，使用</a:t>
            </a:r>
            <a:r>
              <a:rPr kumimoji="1" lang="en-US" altLang="zh-CN" sz="1400" b="1" kern="0" dirty="0">
                <a:solidFill>
                  <a:schemeClr val="tx1"/>
                </a:solidFill>
                <a:latin typeface="+mn-ea"/>
              </a:rPr>
              <a:t>CA</a:t>
            </a:r>
            <a:r>
              <a:rPr kumimoji="1" lang="zh-CN" altLang="en-US" sz="1400" b="1" kern="0" dirty="0">
                <a:solidFill>
                  <a:schemeClr val="tx1"/>
                </a:solidFill>
                <a:latin typeface="+mn-ea"/>
              </a:rPr>
              <a:t>证书认证，服务端证书过期后，命令无法下发</a:t>
            </a:r>
            <a:endParaRPr kumimoji="1" lang="en-US" altLang="zh-CN" sz="1400" b="1" kern="0" dirty="0">
              <a:solidFill>
                <a:schemeClr val="tx1"/>
              </a:solidFill>
              <a:latin typeface="+mn-ea"/>
            </a:endParaRPr>
          </a:p>
          <a:p>
            <a:pPr marL="285750" indent="285750" defTabSz="457200" fontAlgn="auto">
              <a:lnSpc>
                <a:spcPct val="150000"/>
              </a:lnSpc>
              <a:spcBef>
                <a:spcPts val="600"/>
              </a:spcBef>
              <a:buFont typeface="Wingdings" panose="05000000000000000000" pitchFamily="2" charset="2"/>
              <a:buChar char="Ø"/>
              <a:defRPr/>
            </a:pPr>
            <a:r>
              <a:rPr kumimoji="1" lang="zh-CN" altLang="en-US" sz="1400" b="1" kern="0" dirty="0">
                <a:solidFill>
                  <a:schemeClr val="tx1"/>
                </a:solidFill>
                <a:latin typeface="+mn-ea"/>
              </a:rPr>
              <a:t>方式</a:t>
            </a:r>
            <a:r>
              <a:rPr kumimoji="1" lang="en-US" altLang="zh-CN" sz="1400" b="1" kern="0" dirty="0">
                <a:solidFill>
                  <a:schemeClr val="tx1"/>
                </a:solidFill>
                <a:latin typeface="+mn-ea"/>
              </a:rPr>
              <a:t>3</a:t>
            </a:r>
            <a:r>
              <a:rPr kumimoji="1" lang="zh-CN" altLang="en-US" sz="1400" b="1" kern="0" dirty="0">
                <a:solidFill>
                  <a:schemeClr val="tx1"/>
                </a:solidFill>
                <a:latin typeface="+mn-ea"/>
              </a:rPr>
              <a:t>：非</a:t>
            </a:r>
            <a:r>
              <a:rPr kumimoji="1" lang="en-US" altLang="zh-CN" sz="1400" b="1" kern="0" dirty="0">
                <a:solidFill>
                  <a:schemeClr val="tx1"/>
                </a:solidFill>
                <a:latin typeface="+mn-ea"/>
              </a:rPr>
              <a:t>Java</a:t>
            </a:r>
            <a:r>
              <a:rPr kumimoji="1" lang="zh-CN" altLang="en-US" sz="1400" b="1" kern="0" dirty="0">
                <a:solidFill>
                  <a:schemeClr val="tx1"/>
                </a:solidFill>
                <a:latin typeface="+mn-ea"/>
              </a:rPr>
              <a:t>语言的客户，使用</a:t>
            </a:r>
            <a:r>
              <a:rPr kumimoji="1" lang="en-US" altLang="zh-CN" sz="1400" b="1" kern="0" dirty="0">
                <a:solidFill>
                  <a:schemeClr val="tx1"/>
                </a:solidFill>
                <a:latin typeface="+mn-ea"/>
              </a:rPr>
              <a:t>CA</a:t>
            </a:r>
            <a:r>
              <a:rPr kumimoji="1" lang="zh-CN" altLang="en-US" sz="1400" b="1" kern="0" dirty="0">
                <a:solidFill>
                  <a:schemeClr val="tx1"/>
                </a:solidFill>
                <a:latin typeface="+mn-ea"/>
              </a:rPr>
              <a:t>证书（对于</a:t>
            </a:r>
            <a:r>
              <a:rPr kumimoji="1" lang="en-US" altLang="zh-CN" sz="1400" b="1" kern="0" dirty="0">
                <a:solidFill>
                  <a:schemeClr val="tx1"/>
                </a:solidFill>
                <a:latin typeface="+mn-ea"/>
              </a:rPr>
              <a:t>C#</a:t>
            </a:r>
            <a:r>
              <a:rPr kumimoji="1" lang="zh-CN" altLang="en-US" sz="1400" b="1" kern="0" dirty="0">
                <a:solidFill>
                  <a:schemeClr val="tx1"/>
                </a:solidFill>
                <a:latin typeface="+mn-ea"/>
              </a:rPr>
              <a:t>、</a:t>
            </a:r>
            <a:r>
              <a:rPr kumimoji="1" lang="en-US" altLang="zh-CN" sz="1400" b="1" kern="0" dirty="0">
                <a:solidFill>
                  <a:schemeClr val="tx1"/>
                </a:solidFill>
                <a:latin typeface="+mn-ea"/>
              </a:rPr>
              <a:t>Go</a:t>
            </a:r>
            <a:r>
              <a:rPr kumimoji="1" lang="zh-CN" altLang="en-US" sz="1400" b="1" kern="0" dirty="0">
                <a:solidFill>
                  <a:schemeClr val="tx1"/>
                </a:solidFill>
                <a:latin typeface="+mn-ea"/>
              </a:rPr>
              <a:t>）等语言，风险较大，如</a:t>
            </a:r>
            <a:r>
              <a:rPr kumimoji="1" lang="en-US" altLang="zh-CN" sz="1400" b="1" kern="0" dirty="0">
                <a:solidFill>
                  <a:schemeClr val="tx1"/>
                </a:solidFill>
                <a:latin typeface="+mn-ea"/>
              </a:rPr>
              <a:t>C#</a:t>
            </a:r>
            <a:r>
              <a:rPr kumimoji="1" lang="zh-CN" altLang="en-US" sz="1400" b="1" kern="0" dirty="0">
                <a:solidFill>
                  <a:schemeClr val="tx1"/>
                </a:solidFill>
                <a:latin typeface="+mn-ea"/>
              </a:rPr>
              <a:t>对于证书有时间认证风险</a:t>
            </a:r>
          </a:p>
          <a:p>
            <a:pPr marL="285750" indent="285750" defTabSz="457200" fontAlgn="auto">
              <a:lnSpc>
                <a:spcPct val="150000"/>
              </a:lnSpc>
              <a:spcBef>
                <a:spcPts val="600"/>
              </a:spcBef>
              <a:buFont typeface="Wingdings" panose="05000000000000000000" pitchFamily="2" charset="2"/>
              <a:buChar char="Ø"/>
              <a:defRPr/>
            </a:pPr>
            <a:r>
              <a:rPr kumimoji="1" lang="zh-CN" altLang="en-US" sz="1400" b="1" kern="0" dirty="0">
                <a:solidFill>
                  <a:schemeClr val="tx1"/>
                </a:solidFill>
                <a:latin typeface="+mn-ea"/>
              </a:rPr>
              <a:t>方式</a:t>
            </a:r>
            <a:r>
              <a:rPr kumimoji="1" lang="en-US" altLang="zh-CN" sz="1400" b="1" kern="0" dirty="0">
                <a:solidFill>
                  <a:schemeClr val="tx1"/>
                </a:solidFill>
                <a:latin typeface="+mn-ea"/>
              </a:rPr>
              <a:t>4</a:t>
            </a:r>
            <a:r>
              <a:rPr kumimoji="1" lang="zh-CN" altLang="en-US" sz="1400" b="1" kern="0" dirty="0">
                <a:solidFill>
                  <a:schemeClr val="tx1"/>
                </a:solidFill>
                <a:latin typeface="+mn-ea"/>
              </a:rPr>
              <a:t>：未使用证书认证的客户，在代码中直接跳过证书认证客户（无影响）</a:t>
            </a:r>
            <a:endParaRPr kumimoji="1" lang="en-US" altLang="zh-CN" sz="1400" b="1" kern="0" dirty="0">
              <a:solidFill>
                <a:schemeClr val="tx1"/>
              </a:solidFill>
              <a:latin typeface="+mn-ea"/>
            </a:endParaRPr>
          </a:p>
          <a:p>
            <a:pPr marL="285750" indent="-285750" defTabSz="457200" fontAlgn="auto">
              <a:lnSpc>
                <a:spcPct val="150000"/>
              </a:lnSpc>
              <a:spcBef>
                <a:spcPts val="600"/>
              </a:spcBef>
              <a:buFont typeface="Wingdings" panose="05000000000000000000" pitchFamily="2" charset="2"/>
              <a:buChar char="n"/>
              <a:defRPr/>
            </a:pPr>
            <a:endParaRPr kumimoji="1" lang="en-US" altLang="zh-CN" sz="1400" b="1" kern="0" dirty="0">
              <a:solidFill>
                <a:schemeClr val="tx1"/>
              </a:solidFill>
              <a:latin typeface="+mn-ea"/>
            </a:endParaRPr>
          </a:p>
        </p:txBody>
      </p:sp>
      <p:sp>
        <p:nvSpPr>
          <p:cNvPr id="2" name="矩形 1"/>
          <p:cNvSpPr/>
          <p:nvPr/>
        </p:nvSpPr>
        <p:spPr>
          <a:xfrm>
            <a:off x="415925" y="904875"/>
            <a:ext cx="11276330" cy="53403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dirty="0"/>
              <a:t>如果客户侧应用平台未在</a:t>
            </a:r>
            <a:r>
              <a:rPr lang="en-US" altLang="zh-CN" sz="1600" b="1" dirty="0"/>
              <a:t>5</a:t>
            </a:r>
            <a:r>
              <a:rPr lang="zh-CN" altLang="en-US" sz="1600" b="1" dirty="0"/>
              <a:t>月</a:t>
            </a:r>
            <a:r>
              <a:rPr lang="en-US" altLang="zh-CN" sz="1600" b="1" dirty="0"/>
              <a:t>2</a:t>
            </a:r>
            <a:r>
              <a:rPr lang="zh-CN" altLang="en-US" sz="1600" b="1" dirty="0"/>
              <a:t>日前完成</a:t>
            </a:r>
            <a:r>
              <a:rPr lang="en-US" altLang="zh-CN" sz="1600" b="1" dirty="0"/>
              <a:t>CA</a:t>
            </a:r>
            <a:r>
              <a:rPr lang="zh-CN" altLang="en-US" sz="1600" b="1" dirty="0"/>
              <a:t>证书更新，有可能造成设备命令下发失败，引起设备无法下行控制故障</a:t>
            </a:r>
          </a:p>
          <a:p>
            <a:pPr algn="ctr"/>
            <a:r>
              <a:rPr lang="zh-CN" altLang="en-US" sz="1600" b="1" dirty="0"/>
              <a:t>影响燃气表水表开关阀门、充值缴费、停车位、洗衣机、空调控制等各种场景</a:t>
            </a:r>
          </a:p>
        </p:txBody>
      </p:sp>
      <p:grpSp>
        <p:nvGrpSpPr>
          <p:cNvPr id="17" name="组合 16"/>
          <p:cNvGrpSpPr/>
          <p:nvPr/>
        </p:nvGrpSpPr>
        <p:grpSpPr>
          <a:xfrm>
            <a:off x="599440" y="3782695"/>
            <a:ext cx="3860800" cy="2658110"/>
            <a:chOff x="11562" y="5620"/>
            <a:chExt cx="6080" cy="4186"/>
          </a:xfrm>
        </p:grpSpPr>
        <p:sp>
          <p:nvSpPr>
            <p:cNvPr id="5" name="矩形 4"/>
            <p:cNvSpPr/>
            <p:nvPr/>
          </p:nvSpPr>
          <p:spPr>
            <a:xfrm>
              <a:off x="12853" y="8960"/>
              <a:ext cx="3316" cy="846"/>
            </a:xfrm>
            <a:prstGeom prst="rect">
              <a:avLst/>
            </a:prstGeom>
            <a:solidFill>
              <a:srgbClr val="C00000"/>
            </a:solidFill>
            <a:ln>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t>NB</a:t>
              </a:r>
              <a:r>
                <a:rPr lang="zh-CN" altLang="en-US" dirty="0"/>
                <a:t>终端</a:t>
              </a:r>
            </a:p>
          </p:txBody>
        </p:sp>
        <p:sp>
          <p:nvSpPr>
            <p:cNvPr id="7" name="矩形 6"/>
            <p:cNvSpPr/>
            <p:nvPr/>
          </p:nvSpPr>
          <p:spPr>
            <a:xfrm>
              <a:off x="11744" y="7311"/>
              <a:ext cx="5898" cy="688"/>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dirty="0">
                  <a:sym typeface="+mn-ea"/>
                </a:rPr>
                <a:t>华为</a:t>
              </a:r>
              <a:r>
                <a:rPr lang="en-US" altLang="zh-CN" dirty="0">
                  <a:sym typeface="+mn-ea"/>
                </a:rPr>
                <a:t>NB</a:t>
              </a:r>
              <a:r>
                <a:rPr lang="zh-CN" altLang="en-US" dirty="0">
                  <a:sym typeface="+mn-ea"/>
                </a:rPr>
                <a:t>网关平台</a:t>
              </a:r>
              <a:endParaRPr lang="zh-CN" altLang="en-US"/>
            </a:p>
          </p:txBody>
        </p:sp>
        <p:sp>
          <p:nvSpPr>
            <p:cNvPr id="9" name="矩形 8"/>
            <p:cNvSpPr/>
            <p:nvPr/>
          </p:nvSpPr>
          <p:spPr>
            <a:xfrm>
              <a:off x="11562" y="5620"/>
              <a:ext cx="5898" cy="73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dirty="0">
                  <a:sym typeface="+mn-ea"/>
                </a:rPr>
                <a:t>客户应用平台</a:t>
              </a:r>
              <a:endParaRPr lang="zh-CN"/>
            </a:p>
          </p:txBody>
        </p:sp>
        <p:cxnSp>
          <p:nvCxnSpPr>
            <p:cNvPr id="10" name="直接箭头连接符 9"/>
            <p:cNvCxnSpPr/>
            <p:nvPr/>
          </p:nvCxnSpPr>
          <p:spPr>
            <a:xfrm flipH="1" flipV="1">
              <a:off x="13399" y="6351"/>
              <a:ext cx="19" cy="9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p:nvPr/>
          </p:nvCxnSpPr>
          <p:spPr>
            <a:xfrm>
              <a:off x="15011" y="6365"/>
              <a:ext cx="36" cy="964"/>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6" name="乘号 15"/>
            <p:cNvSpPr/>
            <p:nvPr/>
          </p:nvSpPr>
          <p:spPr>
            <a:xfrm>
              <a:off x="14638" y="6533"/>
              <a:ext cx="818" cy="654"/>
            </a:xfrm>
            <a:prstGeom prst="mathMultiply">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grpSp>
      <p:cxnSp>
        <p:nvCxnSpPr>
          <p:cNvPr id="18" name="直接箭头连接符 17"/>
          <p:cNvCxnSpPr/>
          <p:nvPr/>
        </p:nvCxnSpPr>
        <p:spPr>
          <a:xfrm flipV="1">
            <a:off x="1818005" y="5273675"/>
            <a:ext cx="0" cy="6000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9" name="直接箭头连接符 18"/>
          <p:cNvCxnSpPr/>
          <p:nvPr/>
        </p:nvCxnSpPr>
        <p:spPr>
          <a:xfrm>
            <a:off x="2787650" y="5302885"/>
            <a:ext cx="0" cy="564326"/>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nvGrpSpPr>
          <p:cNvPr id="21" name="组合 20"/>
          <p:cNvGrpSpPr/>
          <p:nvPr/>
        </p:nvGrpSpPr>
        <p:grpSpPr>
          <a:xfrm>
            <a:off x="4940935" y="3437255"/>
            <a:ext cx="7146290" cy="3060363"/>
            <a:chOff x="364" y="5024"/>
            <a:chExt cx="16474" cy="4105"/>
          </a:xfrm>
        </p:grpSpPr>
        <p:sp>
          <p:nvSpPr>
            <p:cNvPr id="22" name="矩形: 圆角 10"/>
            <p:cNvSpPr/>
            <p:nvPr/>
          </p:nvSpPr>
          <p:spPr>
            <a:xfrm>
              <a:off x="5673" y="8045"/>
              <a:ext cx="6593" cy="5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华为</a:t>
              </a:r>
              <a:r>
                <a:rPr lang="en-US" altLang="zh-CN" sz="1600" dirty="0"/>
                <a:t>NB</a:t>
              </a:r>
              <a:r>
                <a:rPr lang="zh-CN" altLang="en-US" sz="1600" dirty="0"/>
                <a:t>网关平台</a:t>
              </a:r>
            </a:p>
          </p:txBody>
        </p:sp>
        <p:cxnSp>
          <p:nvCxnSpPr>
            <p:cNvPr id="24" name="直接箭头连接符 23"/>
            <p:cNvCxnSpPr>
              <a:stCxn id="37" idx="2"/>
              <a:endCxn id="22" idx="0"/>
            </p:cNvCxnSpPr>
            <p:nvPr/>
          </p:nvCxnSpPr>
          <p:spPr>
            <a:xfrm>
              <a:off x="6577" y="7100"/>
              <a:ext cx="2393" cy="9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39" idx="2"/>
              <a:endCxn id="22" idx="0"/>
            </p:cNvCxnSpPr>
            <p:nvPr/>
          </p:nvCxnSpPr>
          <p:spPr>
            <a:xfrm flipH="1">
              <a:off x="8970" y="7165"/>
              <a:ext cx="2014" cy="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38" idx="2"/>
            </p:cNvCxnSpPr>
            <p:nvPr/>
          </p:nvCxnSpPr>
          <p:spPr>
            <a:xfrm>
              <a:off x="1814" y="7043"/>
              <a:ext cx="7158" cy="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3811" y="5024"/>
              <a:ext cx="5118" cy="1299"/>
            </a:xfrm>
            <a:prstGeom prst="rect">
              <a:avLst/>
            </a:prstGeom>
            <a:noFill/>
          </p:spPr>
          <p:txBody>
            <a:bodyPr wrap="square">
              <a:noAutofit/>
            </a:bodyPr>
            <a:lstStyle/>
            <a:p>
              <a:r>
                <a:rPr lang="zh-CN" altLang="en-US" sz="1400" b="1" dirty="0">
                  <a:solidFill>
                    <a:srgbClr val="C00000"/>
                  </a:solidFill>
                </a:rPr>
                <a:t>方式</a:t>
              </a:r>
              <a:r>
                <a:rPr lang="en-US" altLang="zh-CN" sz="1400" b="1" dirty="0">
                  <a:solidFill>
                    <a:srgbClr val="C00000"/>
                  </a:solidFill>
                </a:rPr>
                <a:t>2</a:t>
              </a:r>
              <a:r>
                <a:rPr lang="zh-CN" altLang="en-US" sz="1400" b="1" dirty="0">
                  <a:solidFill>
                    <a:srgbClr val="C00000"/>
                  </a:solidFill>
                </a:rPr>
                <a:t>：</a:t>
              </a:r>
            </a:p>
            <a:p>
              <a:r>
                <a:rPr lang="zh-CN" altLang="en-US" sz="1400" b="1" dirty="0">
                  <a:solidFill>
                    <a:srgbClr val="C00000"/>
                  </a:solidFill>
                </a:rPr>
                <a:t>客户端使用</a:t>
              </a:r>
              <a:r>
                <a:rPr lang="en-US" altLang="zh-CN" sz="1400" b="1" dirty="0">
                  <a:solidFill>
                    <a:srgbClr val="C00000"/>
                  </a:solidFill>
                </a:rPr>
                <a:t>Java</a:t>
              </a:r>
              <a:r>
                <a:rPr lang="zh-CN" altLang="en-US" sz="1400" b="1" dirty="0">
                  <a:solidFill>
                    <a:srgbClr val="C00000"/>
                  </a:solidFill>
                </a:rPr>
                <a:t>语言</a:t>
              </a:r>
            </a:p>
            <a:p>
              <a:r>
                <a:rPr lang="zh-CN" altLang="en-US" sz="1400" b="1" dirty="0">
                  <a:solidFill>
                    <a:srgbClr val="C00000"/>
                  </a:solidFill>
                </a:rPr>
                <a:t>且客户应用加载</a:t>
              </a:r>
              <a:r>
                <a:rPr lang="en-US" altLang="zh-CN" sz="1400" b="1" dirty="0">
                  <a:solidFill>
                    <a:srgbClr val="C00000"/>
                  </a:solidFill>
                </a:rPr>
                <a:t>CA</a:t>
              </a:r>
              <a:r>
                <a:rPr lang="zh-CN" altLang="en-US" sz="1400" b="1" dirty="0">
                  <a:solidFill>
                    <a:srgbClr val="C00000"/>
                  </a:solidFill>
                </a:rPr>
                <a:t>证书认证</a:t>
              </a:r>
            </a:p>
          </p:txBody>
        </p:sp>
        <p:sp>
          <p:nvSpPr>
            <p:cNvPr id="32" name="文本框 31"/>
            <p:cNvSpPr txBox="1"/>
            <p:nvPr/>
          </p:nvSpPr>
          <p:spPr>
            <a:xfrm>
              <a:off x="6130" y="8718"/>
              <a:ext cx="7692" cy="411"/>
            </a:xfrm>
            <a:prstGeom prst="rect">
              <a:avLst/>
            </a:prstGeom>
            <a:noFill/>
          </p:spPr>
          <p:txBody>
            <a:bodyPr wrap="square">
              <a:spAutoFit/>
            </a:bodyPr>
            <a:lstStyle/>
            <a:p>
              <a:r>
                <a:rPr lang="zh-CN" altLang="en-US" sz="1400" dirty="0">
                  <a:solidFill>
                    <a:srgbClr val="C00000"/>
                  </a:solidFill>
                </a:rPr>
                <a:t>华为服务器根证书</a:t>
              </a:r>
              <a:r>
                <a:rPr lang="en-US" altLang="zh-CN" sz="1400" dirty="0">
                  <a:solidFill>
                    <a:srgbClr val="C00000"/>
                  </a:solidFill>
                </a:rPr>
                <a:t>(5</a:t>
              </a:r>
              <a:r>
                <a:rPr lang="zh-CN" altLang="en-US" sz="1400" dirty="0">
                  <a:solidFill>
                    <a:srgbClr val="C00000"/>
                  </a:solidFill>
                </a:rPr>
                <a:t>月</a:t>
              </a:r>
              <a:r>
                <a:rPr lang="en-US" altLang="zh-CN" sz="1400" dirty="0">
                  <a:solidFill>
                    <a:srgbClr val="C00000"/>
                  </a:solidFill>
                </a:rPr>
                <a:t>2</a:t>
              </a:r>
              <a:r>
                <a:rPr lang="zh-CN" altLang="en-US" sz="1400" dirty="0">
                  <a:solidFill>
                    <a:srgbClr val="C00000"/>
                  </a:solidFill>
                </a:rPr>
                <a:t>日到期</a:t>
              </a:r>
              <a:r>
                <a:rPr lang="en-US" altLang="zh-CN" sz="1400" dirty="0">
                  <a:solidFill>
                    <a:srgbClr val="C00000"/>
                  </a:solidFill>
                </a:rPr>
                <a:t>)</a:t>
              </a:r>
              <a:endParaRPr lang="zh-CN" altLang="en-US" sz="1400" dirty="0">
                <a:solidFill>
                  <a:srgbClr val="C00000"/>
                </a:solidFill>
              </a:endParaRPr>
            </a:p>
          </p:txBody>
        </p:sp>
        <p:sp>
          <p:nvSpPr>
            <p:cNvPr id="36" name="矩形: 圆角 46"/>
            <p:cNvSpPr/>
            <p:nvPr/>
          </p:nvSpPr>
          <p:spPr>
            <a:xfrm>
              <a:off x="13908" y="5024"/>
              <a:ext cx="2897" cy="222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37" name="矩形: 圆角 13"/>
            <p:cNvSpPr/>
            <p:nvPr/>
          </p:nvSpPr>
          <p:spPr>
            <a:xfrm>
              <a:off x="4791" y="6409"/>
              <a:ext cx="3570" cy="6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Java</a:t>
              </a:r>
              <a:r>
                <a:rPr lang="zh-CN" altLang="en-US" sz="1600" dirty="0"/>
                <a:t>方式</a:t>
              </a:r>
            </a:p>
          </p:txBody>
        </p:sp>
        <p:sp>
          <p:nvSpPr>
            <p:cNvPr id="38" name="矩形: 圆角 14"/>
            <p:cNvSpPr/>
            <p:nvPr/>
          </p:nvSpPr>
          <p:spPr>
            <a:xfrm>
              <a:off x="578" y="6221"/>
              <a:ext cx="2473" cy="8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t>SDK</a:t>
              </a:r>
              <a:r>
                <a:rPr lang="zh-CN" altLang="en-US" sz="1400" dirty="0"/>
                <a:t>方式</a:t>
              </a:r>
              <a:endParaRPr lang="en-US" altLang="zh-CN" sz="1400" dirty="0"/>
            </a:p>
            <a:p>
              <a:pPr algn="ctr"/>
              <a:r>
                <a:rPr lang="en-US" altLang="zh-CN" sz="1400" dirty="0"/>
                <a:t>(</a:t>
              </a:r>
              <a:r>
                <a:rPr lang="zh-CN" altLang="en-US" sz="1400" dirty="0"/>
                <a:t>仅提供</a:t>
              </a:r>
              <a:r>
                <a:rPr lang="en-US" altLang="zh-CN" sz="1400" dirty="0"/>
                <a:t>Java</a:t>
              </a:r>
              <a:r>
                <a:rPr lang="zh-CN" altLang="en-US" sz="1400" dirty="0"/>
                <a:t>版本</a:t>
              </a:r>
              <a:r>
                <a:rPr lang="en-US" altLang="zh-CN" sz="1400" dirty="0"/>
                <a:t>)</a:t>
              </a:r>
            </a:p>
          </p:txBody>
        </p:sp>
        <p:sp>
          <p:nvSpPr>
            <p:cNvPr id="39" name="矩形: 圆角 29"/>
            <p:cNvSpPr/>
            <p:nvPr/>
          </p:nvSpPr>
          <p:spPr>
            <a:xfrm>
              <a:off x="9236" y="6409"/>
              <a:ext cx="3495" cy="7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t>非</a:t>
              </a:r>
              <a:r>
                <a:rPr lang="en-US" altLang="zh-CN" sz="1400" dirty="0"/>
                <a:t>Java</a:t>
              </a:r>
              <a:r>
                <a:rPr lang="zh-CN" altLang="en-US" sz="1400" dirty="0"/>
                <a:t>方式</a:t>
              </a:r>
              <a:r>
                <a:rPr lang="en-US" altLang="zh-CN" sz="1400" dirty="0"/>
                <a:t>(C#</a:t>
              </a:r>
              <a:r>
                <a:rPr lang="zh-CN" altLang="en-US" sz="1400" dirty="0"/>
                <a:t>、</a:t>
              </a:r>
              <a:r>
                <a:rPr lang="en-US" altLang="zh-CN" sz="1400" dirty="0"/>
                <a:t>Go</a:t>
              </a:r>
              <a:r>
                <a:rPr lang="zh-CN" altLang="en-US" sz="1400" dirty="0"/>
                <a:t>、</a:t>
              </a:r>
              <a:r>
                <a:rPr lang="en-US" altLang="zh-CN" sz="1400" dirty="0"/>
                <a:t>Python</a:t>
              </a:r>
              <a:r>
                <a:rPr lang="zh-CN" altLang="en-US" sz="1400" dirty="0"/>
                <a:t>、</a:t>
              </a:r>
              <a:r>
                <a:rPr lang="en-US" altLang="zh-CN" sz="1400" dirty="0"/>
                <a:t>C++</a:t>
              </a:r>
              <a:r>
                <a:rPr lang="zh-CN" altLang="en-US" sz="1400" dirty="0"/>
                <a:t>等各类语言</a:t>
              </a:r>
              <a:r>
                <a:rPr lang="en-US" altLang="zh-CN" sz="1400" dirty="0"/>
                <a:t>)</a:t>
              </a:r>
            </a:p>
          </p:txBody>
        </p:sp>
        <p:sp>
          <p:nvSpPr>
            <p:cNvPr id="40" name="文本框 39"/>
            <p:cNvSpPr txBox="1"/>
            <p:nvPr/>
          </p:nvSpPr>
          <p:spPr>
            <a:xfrm>
              <a:off x="364" y="5024"/>
              <a:ext cx="3363" cy="989"/>
            </a:xfrm>
            <a:prstGeom prst="rect">
              <a:avLst/>
            </a:prstGeom>
            <a:noFill/>
          </p:spPr>
          <p:txBody>
            <a:bodyPr wrap="square">
              <a:spAutoFit/>
            </a:bodyPr>
            <a:lstStyle/>
            <a:p>
              <a:r>
                <a:rPr lang="zh-CN" altLang="en-US" sz="1400" b="1" dirty="0">
                  <a:solidFill>
                    <a:srgbClr val="C00000"/>
                  </a:solidFill>
                </a:rPr>
                <a:t>方式</a:t>
              </a:r>
              <a:r>
                <a:rPr lang="en-US" altLang="zh-CN" sz="1400" b="1" dirty="0">
                  <a:solidFill>
                    <a:srgbClr val="C00000"/>
                  </a:solidFill>
                </a:rPr>
                <a:t>1</a:t>
              </a:r>
              <a:r>
                <a:rPr lang="zh-CN" altLang="en-US" sz="1400" b="1" dirty="0">
                  <a:solidFill>
                    <a:srgbClr val="C00000"/>
                  </a:solidFill>
                </a:rPr>
                <a:t>：</a:t>
              </a:r>
              <a:endParaRPr lang="en-US" altLang="zh-CN" sz="1400" dirty="0"/>
            </a:p>
            <a:p>
              <a:r>
                <a:rPr lang="zh-CN" altLang="en-US" sz="1400" b="1" dirty="0">
                  <a:solidFill>
                    <a:srgbClr val="C00000"/>
                  </a:solidFill>
                </a:rPr>
                <a:t>客户通过</a:t>
              </a:r>
              <a:r>
                <a:rPr lang="en-US" altLang="zh-CN" sz="1400" b="1" dirty="0">
                  <a:solidFill>
                    <a:srgbClr val="C00000"/>
                  </a:solidFill>
                </a:rPr>
                <a:t>Java SDK</a:t>
              </a:r>
              <a:r>
                <a:rPr lang="zh-CN" altLang="en-US" sz="1400" b="1" dirty="0">
                  <a:solidFill>
                    <a:srgbClr val="C00000"/>
                  </a:solidFill>
                </a:rPr>
                <a:t>集成调用</a:t>
              </a:r>
            </a:p>
          </p:txBody>
        </p:sp>
        <p:sp>
          <p:nvSpPr>
            <p:cNvPr id="43" name="文本框 42"/>
            <p:cNvSpPr txBox="1"/>
            <p:nvPr/>
          </p:nvSpPr>
          <p:spPr>
            <a:xfrm>
              <a:off x="13822" y="5248"/>
              <a:ext cx="3016" cy="1280"/>
            </a:xfrm>
            <a:prstGeom prst="rect">
              <a:avLst/>
            </a:prstGeom>
            <a:noFill/>
          </p:spPr>
          <p:txBody>
            <a:bodyPr wrap="square">
              <a:spAutoFit/>
            </a:bodyPr>
            <a:lstStyle/>
            <a:p>
              <a:r>
                <a:rPr lang="zh-CN" altLang="en-US" sz="1400" b="1" dirty="0"/>
                <a:t>方式</a:t>
              </a:r>
              <a:r>
                <a:rPr lang="en-US" altLang="zh-CN" sz="1400" b="1" dirty="0"/>
                <a:t>4</a:t>
              </a:r>
              <a:r>
                <a:rPr lang="zh-CN" altLang="en-US" sz="1400" b="1" dirty="0"/>
                <a:t>：</a:t>
              </a:r>
            </a:p>
            <a:p>
              <a:r>
                <a:rPr lang="zh-CN" altLang="en-US" sz="1400" dirty="0"/>
                <a:t>客户未使用证书认证（无影响）</a:t>
              </a:r>
            </a:p>
          </p:txBody>
        </p:sp>
        <p:sp>
          <p:nvSpPr>
            <p:cNvPr id="44" name="矩形: 圆角 40"/>
            <p:cNvSpPr/>
            <p:nvPr/>
          </p:nvSpPr>
          <p:spPr>
            <a:xfrm>
              <a:off x="14115" y="6439"/>
              <a:ext cx="2473" cy="604"/>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t>各类语言</a:t>
              </a:r>
              <a:endParaRPr lang="en-US" altLang="zh-CN" sz="1400" dirty="0"/>
            </a:p>
          </p:txBody>
        </p:sp>
        <p:cxnSp>
          <p:nvCxnSpPr>
            <p:cNvPr id="45" name="直接箭头连接符 44"/>
            <p:cNvCxnSpPr>
              <a:stCxn id="36" idx="2"/>
            </p:cNvCxnSpPr>
            <p:nvPr/>
          </p:nvCxnSpPr>
          <p:spPr>
            <a:xfrm flipH="1">
              <a:off x="9187" y="7244"/>
              <a:ext cx="6170" cy="7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9111" y="5024"/>
              <a:ext cx="3746" cy="2343"/>
            </a:xfrm>
            <a:prstGeom prst="rect">
              <a:avLst/>
            </a:prstGeom>
            <a:noFill/>
          </p:spPr>
          <p:txBody>
            <a:bodyPr wrap="square">
              <a:noAutofit/>
            </a:bodyPr>
            <a:lstStyle/>
            <a:p>
              <a:r>
                <a:rPr lang="zh-CN" altLang="en-US" sz="1400" b="1" dirty="0">
                  <a:solidFill>
                    <a:srgbClr val="C00000"/>
                  </a:solidFill>
                </a:rPr>
                <a:t>方式</a:t>
              </a:r>
              <a:r>
                <a:rPr lang="en-US" altLang="zh-CN" sz="1400" b="1" dirty="0">
                  <a:solidFill>
                    <a:srgbClr val="C00000"/>
                  </a:solidFill>
                </a:rPr>
                <a:t>3</a:t>
              </a:r>
              <a:r>
                <a:rPr lang="zh-CN" altLang="en-US" sz="1400" b="1" dirty="0">
                  <a:solidFill>
                    <a:srgbClr val="C00000"/>
                  </a:solidFill>
                </a:rPr>
                <a:t>：</a:t>
              </a:r>
            </a:p>
            <a:p>
              <a:r>
                <a:rPr lang="zh-CN" altLang="en-US" sz="1400" b="1" dirty="0">
                  <a:solidFill>
                    <a:srgbClr val="C00000"/>
                  </a:solidFill>
                </a:rPr>
                <a:t>非</a:t>
              </a:r>
              <a:r>
                <a:rPr lang="en-US" altLang="zh-CN" sz="1400" b="1" dirty="0">
                  <a:solidFill>
                    <a:srgbClr val="C00000"/>
                  </a:solidFill>
                </a:rPr>
                <a:t>Java</a:t>
              </a:r>
              <a:r>
                <a:rPr lang="zh-CN" altLang="en-US" sz="1400" b="1" dirty="0">
                  <a:solidFill>
                    <a:srgbClr val="C00000"/>
                  </a:solidFill>
                </a:rPr>
                <a:t>语言的客户使用</a:t>
              </a:r>
              <a:r>
                <a:rPr lang="en-US" altLang="zh-CN" sz="1400" b="1" dirty="0">
                  <a:solidFill>
                    <a:srgbClr val="C00000"/>
                  </a:solidFill>
                </a:rPr>
                <a:t>CA</a:t>
              </a:r>
              <a:r>
                <a:rPr lang="zh-CN" altLang="en-US" sz="1400" b="1" dirty="0">
                  <a:solidFill>
                    <a:srgbClr val="C00000"/>
                  </a:solidFill>
                </a:rPr>
                <a:t>证书认证</a:t>
              </a:r>
            </a:p>
          </p:txBody>
        </p:sp>
      </p:grpSp>
      <p:cxnSp>
        <p:nvCxnSpPr>
          <p:cNvPr id="48" name="直接连接符 47"/>
          <p:cNvCxnSpPr/>
          <p:nvPr/>
        </p:nvCxnSpPr>
        <p:spPr>
          <a:xfrm flipH="1">
            <a:off x="4599940" y="3345180"/>
            <a:ext cx="11430" cy="3429000"/>
          </a:xfrm>
          <a:prstGeom prst="line">
            <a:avLst/>
          </a:prstGeom>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690533" y="5343991"/>
            <a:ext cx="1271834" cy="523220"/>
          </a:xfrm>
          <a:prstGeom prst="rect">
            <a:avLst/>
          </a:prstGeom>
          <a:noFill/>
        </p:spPr>
        <p:txBody>
          <a:bodyPr wrap="square">
            <a:spAutoFit/>
          </a:bodyPr>
          <a:lstStyle/>
          <a:p>
            <a:r>
              <a:rPr lang="en-US" altLang="zh-CN" sz="1400" b="1" dirty="0"/>
              <a:t>1</a:t>
            </a:r>
            <a:r>
              <a:rPr lang="zh-CN" altLang="en-US" sz="1400" b="1" dirty="0"/>
              <a:t>、设备数据上报</a:t>
            </a:r>
            <a:r>
              <a:rPr lang="en-US" altLang="zh-CN" sz="1400" b="1" dirty="0"/>
              <a:t>(</a:t>
            </a:r>
            <a:r>
              <a:rPr lang="zh-CN" altLang="en-US" sz="1400" b="1" dirty="0"/>
              <a:t>无影响</a:t>
            </a:r>
            <a:r>
              <a:rPr lang="en-US" altLang="zh-CN" sz="1400" b="1" dirty="0"/>
              <a:t>)</a:t>
            </a:r>
            <a:endParaRPr lang="zh-CN" altLang="en-US" sz="1400" b="1" dirty="0"/>
          </a:p>
        </p:txBody>
      </p:sp>
      <p:sp>
        <p:nvSpPr>
          <p:cNvPr id="6" name="文本框 5"/>
          <p:cNvSpPr txBox="1"/>
          <p:nvPr/>
        </p:nvSpPr>
        <p:spPr>
          <a:xfrm>
            <a:off x="3072124" y="5350530"/>
            <a:ext cx="1433683" cy="523220"/>
          </a:xfrm>
          <a:prstGeom prst="rect">
            <a:avLst/>
          </a:prstGeom>
          <a:noFill/>
        </p:spPr>
        <p:txBody>
          <a:bodyPr wrap="square">
            <a:spAutoFit/>
          </a:bodyPr>
          <a:lstStyle/>
          <a:p>
            <a:r>
              <a:rPr lang="en-US" altLang="zh-CN" sz="1400" b="1" dirty="0">
                <a:solidFill>
                  <a:srgbClr val="C00000"/>
                </a:solidFill>
              </a:rPr>
              <a:t>4</a:t>
            </a:r>
            <a:r>
              <a:rPr lang="zh-CN" altLang="en-US" sz="1400" b="1" dirty="0">
                <a:solidFill>
                  <a:srgbClr val="C00000"/>
                </a:solidFill>
              </a:rPr>
              <a:t>、命令下发控制设备</a:t>
            </a:r>
            <a:r>
              <a:rPr lang="en-US" altLang="zh-CN" sz="1400" b="1" dirty="0">
                <a:solidFill>
                  <a:srgbClr val="C00000"/>
                </a:solidFill>
              </a:rPr>
              <a:t>(</a:t>
            </a:r>
            <a:r>
              <a:rPr lang="zh-CN" altLang="en-US" sz="1400" b="1" dirty="0">
                <a:solidFill>
                  <a:srgbClr val="C00000"/>
                </a:solidFill>
              </a:rPr>
              <a:t>影响</a:t>
            </a:r>
            <a:r>
              <a:rPr lang="en-US" altLang="zh-CN" sz="1400" b="1" dirty="0">
                <a:solidFill>
                  <a:srgbClr val="C00000"/>
                </a:solidFill>
              </a:rPr>
              <a:t>)</a:t>
            </a:r>
            <a:endParaRPr lang="zh-CN" altLang="en-US" sz="1400" b="1" dirty="0">
              <a:solidFill>
                <a:srgbClr val="C00000"/>
              </a:solidFill>
            </a:endParaRPr>
          </a:p>
        </p:txBody>
      </p:sp>
      <p:sp>
        <p:nvSpPr>
          <p:cNvPr id="13" name="乘号 12"/>
          <p:cNvSpPr/>
          <p:nvPr/>
        </p:nvSpPr>
        <p:spPr>
          <a:xfrm>
            <a:off x="2515379" y="5321974"/>
            <a:ext cx="519430" cy="415290"/>
          </a:xfrm>
          <a:prstGeom prst="mathMultiply">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14" name="文本框 13"/>
          <p:cNvSpPr txBox="1"/>
          <p:nvPr/>
        </p:nvSpPr>
        <p:spPr>
          <a:xfrm>
            <a:off x="281803" y="4287151"/>
            <a:ext cx="1573775" cy="523220"/>
          </a:xfrm>
          <a:prstGeom prst="rect">
            <a:avLst/>
          </a:prstGeom>
          <a:noFill/>
        </p:spPr>
        <p:txBody>
          <a:bodyPr wrap="square">
            <a:spAutoFit/>
          </a:bodyPr>
          <a:lstStyle/>
          <a:p>
            <a:r>
              <a:rPr lang="en-US" altLang="zh-CN" sz="1400" b="1" dirty="0"/>
              <a:t>2</a:t>
            </a:r>
            <a:r>
              <a:rPr lang="zh-CN" altLang="en-US" sz="1400" b="1" dirty="0"/>
              <a:t>、数据推送客户平台</a:t>
            </a:r>
            <a:r>
              <a:rPr lang="en-US" altLang="zh-CN" sz="1400" b="1" dirty="0"/>
              <a:t>(</a:t>
            </a:r>
            <a:r>
              <a:rPr lang="zh-CN" altLang="en-US" sz="1400" b="1" dirty="0"/>
              <a:t>无影响</a:t>
            </a:r>
            <a:r>
              <a:rPr lang="en-US" altLang="zh-CN" sz="1400" b="1" dirty="0"/>
              <a:t>)</a:t>
            </a:r>
            <a:endParaRPr lang="zh-CN" altLang="en-US" sz="1400" b="1" dirty="0"/>
          </a:p>
        </p:txBody>
      </p:sp>
      <p:sp>
        <p:nvSpPr>
          <p:cNvPr id="20" name="文本框 19"/>
          <p:cNvSpPr txBox="1"/>
          <p:nvPr/>
        </p:nvSpPr>
        <p:spPr>
          <a:xfrm>
            <a:off x="2996016" y="4304898"/>
            <a:ext cx="1573775" cy="523220"/>
          </a:xfrm>
          <a:prstGeom prst="rect">
            <a:avLst/>
          </a:prstGeom>
          <a:noFill/>
        </p:spPr>
        <p:txBody>
          <a:bodyPr wrap="square">
            <a:spAutoFit/>
          </a:bodyPr>
          <a:lstStyle/>
          <a:p>
            <a:r>
              <a:rPr lang="en-US" altLang="zh-CN" sz="1400" b="1" dirty="0">
                <a:solidFill>
                  <a:srgbClr val="C00000"/>
                </a:solidFill>
              </a:rPr>
              <a:t>3</a:t>
            </a:r>
            <a:r>
              <a:rPr lang="zh-CN" altLang="en-US" sz="1400" b="1" dirty="0">
                <a:solidFill>
                  <a:srgbClr val="C00000"/>
                </a:solidFill>
              </a:rPr>
              <a:t>、客户命令下发接口调用</a:t>
            </a:r>
            <a:r>
              <a:rPr lang="en-US" altLang="zh-CN" sz="1400" b="1" dirty="0">
                <a:solidFill>
                  <a:srgbClr val="C00000"/>
                </a:solidFill>
              </a:rPr>
              <a:t>(</a:t>
            </a:r>
            <a:r>
              <a:rPr lang="zh-CN" altLang="en-US" sz="1400" b="1" dirty="0">
                <a:solidFill>
                  <a:srgbClr val="C00000"/>
                </a:solidFill>
              </a:rPr>
              <a:t>影响</a:t>
            </a:r>
            <a:r>
              <a:rPr lang="en-US" altLang="zh-CN" sz="1400" b="1" dirty="0">
                <a:solidFill>
                  <a:srgbClr val="C00000"/>
                </a:solidFill>
              </a:rPr>
              <a:t>)</a:t>
            </a:r>
            <a:endParaRPr lang="zh-CN" altLang="en-US" sz="1400" b="1" dirty="0">
              <a:solidFill>
                <a:srgbClr val="C00000"/>
              </a:solidFil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解决方案</a:t>
            </a:r>
            <a:r>
              <a:rPr lang="en-US" altLang="zh-CN" dirty="0"/>
              <a:t>(1/4)</a:t>
            </a:r>
            <a:r>
              <a:rPr lang="zh-CN" altLang="en-US" dirty="0"/>
              <a:t>：客户通过</a:t>
            </a:r>
            <a:r>
              <a:rPr lang="en-US" altLang="zh-CN" dirty="0"/>
              <a:t>Java SDK</a:t>
            </a:r>
            <a:r>
              <a:rPr lang="zh-CN" altLang="en-US" dirty="0"/>
              <a:t>集成调用，需更换</a:t>
            </a:r>
            <a:r>
              <a:rPr lang="en-US" altLang="zh-CN" dirty="0"/>
              <a:t>SDK</a:t>
            </a:r>
            <a:endParaRPr lang="zh-CN" altLang="en-US" dirty="0"/>
          </a:p>
        </p:txBody>
      </p:sp>
      <p:pic>
        <p:nvPicPr>
          <p:cNvPr id="2050"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9064" y="2123978"/>
            <a:ext cx="3803650" cy="622300"/>
          </a:xfrm>
          <a:prstGeom prst="rect">
            <a:avLst/>
          </a:prstGeom>
          <a:noFill/>
          <a:extLst>
            <a:ext uri="{909E8E84-426E-40DD-AFC4-6F175D3DCCD1}">
              <a14:hiddenFill xmlns:a14="http://schemas.microsoft.com/office/drawing/2010/main">
                <a:solidFill>
                  <a:srgbClr val="FFFFFF"/>
                </a:solidFill>
              </a14:hiddenFill>
            </a:ext>
          </a:extLst>
        </p:spPr>
      </p:pic>
      <p:pic>
        <p:nvPicPr>
          <p:cNvPr id="2049"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9313" y="3489540"/>
            <a:ext cx="5270500" cy="1219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156439" y="1656700"/>
            <a:ext cx="11961768"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zh-CN" altLang="en-US" sz="1600" b="1" i="0" u="none" strike="noStrike" cap="none" normalizeH="0" baseline="0" dirty="0">
                <a:ln>
                  <a:noFill/>
                </a:ln>
                <a:solidFill>
                  <a:schemeClr val="tx1"/>
                </a:solidFill>
                <a:effectLst/>
                <a:latin typeface="+mn-ea"/>
                <a:cs typeface="Times New Roman" panose="02020603050405020304" pitchFamily="18" charset="0"/>
              </a:rPr>
              <a:t>步骤</a:t>
            </a:r>
            <a:r>
              <a:rPr kumimoji="0" lang="en-US" altLang="zh-CN" sz="1600" b="1" i="0" u="none" strike="noStrike" cap="none" normalizeH="0" baseline="0" dirty="0">
                <a:ln>
                  <a:noFill/>
                </a:ln>
                <a:solidFill>
                  <a:schemeClr val="tx1"/>
                </a:solidFill>
                <a:effectLst/>
                <a:latin typeface="+mn-ea"/>
                <a:cs typeface="Times New Roman" panose="02020603050405020304" pitchFamily="18" charset="0"/>
              </a:rPr>
              <a:t>1</a:t>
            </a:r>
            <a:r>
              <a:rPr kumimoji="0" lang="zh-CN" altLang="en-US" sz="1600" b="1" i="0" u="none" strike="noStrike" cap="none" normalizeH="0" baseline="0" dirty="0">
                <a:ln>
                  <a:noFill/>
                </a:ln>
                <a:solidFill>
                  <a:schemeClr val="tx1"/>
                </a:solidFill>
                <a:effectLst/>
                <a:latin typeface="+mn-ea"/>
                <a:cs typeface="Times New Roman" panose="02020603050405020304" pitchFamily="18" charset="0"/>
              </a:rPr>
              <a:t>：</a:t>
            </a:r>
            <a:r>
              <a:rPr kumimoji="0" lang="zh-CN" altLang="zh-CN" sz="1600" b="0" i="0" u="none" strike="noStrike" cap="none" normalizeH="0" baseline="0" dirty="0">
                <a:ln>
                  <a:noFill/>
                </a:ln>
                <a:solidFill>
                  <a:schemeClr val="tx1"/>
                </a:solidFill>
                <a:effectLst/>
                <a:latin typeface="+mn-ea"/>
                <a:cs typeface="Times New Roman" panose="02020603050405020304" pitchFamily="18" charset="0"/>
              </a:rPr>
              <a:t>排查是否在依赖中依赖了</a:t>
            </a:r>
            <a:r>
              <a:rPr kumimoji="0" lang="en-US" altLang="zh-CN" sz="1600" b="0" i="0" u="none" strike="noStrike" cap="none" normalizeH="0" baseline="0" dirty="0">
                <a:ln>
                  <a:noFill/>
                </a:ln>
                <a:solidFill>
                  <a:schemeClr val="tx1"/>
                </a:solidFill>
                <a:effectLst/>
                <a:latin typeface="+mn-ea"/>
                <a:cs typeface="Times New Roman" panose="02020603050405020304" pitchFamily="18" charset="0"/>
              </a:rPr>
              <a:t>NB</a:t>
            </a:r>
            <a:r>
              <a:rPr kumimoji="0" lang="zh-CN" altLang="en-US" sz="1600" b="0" i="0" u="none" strike="noStrike" cap="none" normalizeH="0" baseline="0" dirty="0">
                <a:ln>
                  <a:noFill/>
                </a:ln>
                <a:solidFill>
                  <a:schemeClr val="tx1"/>
                </a:solidFill>
                <a:effectLst/>
                <a:latin typeface="+mn-ea"/>
                <a:cs typeface="Times New Roman" panose="02020603050405020304" pitchFamily="18" charset="0"/>
              </a:rPr>
              <a:t>网关提供的</a:t>
            </a:r>
            <a:r>
              <a:rPr kumimoji="0" lang="en-US" altLang="zh-CN" sz="1600" b="0" i="0" u="none" strike="noStrike" cap="none" normalizeH="0" baseline="0" dirty="0">
                <a:ln>
                  <a:noFill/>
                </a:ln>
                <a:solidFill>
                  <a:schemeClr val="tx1"/>
                </a:solidFill>
                <a:effectLst/>
                <a:latin typeface="+mn-ea"/>
                <a:cs typeface="Times New Roman" panose="02020603050405020304" pitchFamily="18" charset="0"/>
              </a:rPr>
              <a:t>JAVA SDK</a:t>
            </a:r>
            <a:r>
              <a:rPr kumimoji="0" lang="zh-CN" altLang="en-US" sz="1600" b="0" i="0" u="none" strike="noStrike" cap="none" normalizeH="0" baseline="0" dirty="0">
                <a:ln>
                  <a:noFill/>
                </a:ln>
                <a:solidFill>
                  <a:schemeClr val="tx1"/>
                </a:solidFill>
                <a:effectLst/>
                <a:latin typeface="+mn-ea"/>
                <a:cs typeface="Times New Roman" panose="02020603050405020304" pitchFamily="18" charset="0"/>
              </a:rPr>
              <a:t>或打包文件中包含如下文件，</a:t>
            </a:r>
            <a:r>
              <a:rPr kumimoji="0" lang="en-US" altLang="zh-CN" sz="1600" b="0" i="0" u="none" strike="noStrike" cap="none" normalizeH="0" baseline="0" dirty="0">
                <a:ln>
                  <a:noFill/>
                </a:ln>
                <a:solidFill>
                  <a:schemeClr val="tx1"/>
                </a:solidFill>
                <a:effectLst/>
                <a:latin typeface="+mn-ea"/>
                <a:cs typeface="Times New Roman" panose="02020603050405020304" pitchFamily="18" charset="0"/>
              </a:rPr>
              <a:t>SDK JAR</a:t>
            </a:r>
            <a:r>
              <a:rPr kumimoji="0" lang="zh-CN" altLang="en-US" sz="1600" b="0" i="0" u="none" strike="noStrike" cap="none" normalizeH="0" baseline="0" dirty="0">
                <a:ln>
                  <a:noFill/>
                </a:ln>
                <a:solidFill>
                  <a:schemeClr val="tx1"/>
                </a:solidFill>
                <a:effectLst/>
                <a:latin typeface="+mn-ea"/>
                <a:cs typeface="Times New Roman" panose="02020603050405020304" pitchFamily="18" charset="0"/>
              </a:rPr>
              <a:t>包命名如下所示：</a:t>
            </a:r>
            <a:r>
              <a:rPr kumimoji="0" lang="en-US" altLang="zh-CN" sz="1600" b="0" i="0" u="none" strike="noStrike" cap="none" normalizeH="0" baseline="0" dirty="0">
                <a:ln>
                  <a:noFill/>
                </a:ln>
                <a:solidFill>
                  <a:schemeClr val="tx1"/>
                </a:solidFill>
                <a:effectLst/>
                <a:latin typeface="+mn-ea"/>
                <a:cs typeface="Times New Roman" panose="02020603050405020304" pitchFamily="18" charset="0"/>
              </a:rPr>
              <a:t>api-client-1.0.0.jar </a:t>
            </a:r>
            <a:r>
              <a:rPr kumimoji="0" lang="zh-CN" altLang="en-US" sz="1600" b="0" i="0" u="none" strike="noStrike" cap="none" normalizeH="0" baseline="0" dirty="0">
                <a:ln>
                  <a:noFill/>
                </a:ln>
                <a:solidFill>
                  <a:schemeClr val="tx1"/>
                </a:solidFill>
                <a:effectLst/>
                <a:latin typeface="+mn-ea"/>
                <a:cs typeface="Times New Roman" panose="02020603050405020304" pitchFamily="18" charset="0"/>
              </a:rPr>
              <a:t>（注：客户实际部署过程中可能会对修改此文件默认名称，例如修改为</a:t>
            </a:r>
            <a:r>
              <a:rPr kumimoji="0" lang="en-US" altLang="zh-CN" sz="1600" b="0" i="0" u="none" strike="noStrike" cap="none" normalizeH="0" baseline="0" dirty="0">
                <a:ln>
                  <a:noFill/>
                </a:ln>
                <a:solidFill>
                  <a:schemeClr val="tx1"/>
                </a:solidFill>
                <a:effectLst/>
                <a:latin typeface="+mn-ea"/>
                <a:cs typeface="Times New Roman" panose="02020603050405020304" pitchFamily="18" charset="0"/>
              </a:rPr>
              <a:t>api-client-**</a:t>
            </a:r>
            <a:r>
              <a:rPr lang="en-US" altLang="zh-CN" sz="1600" dirty="0">
                <a:latin typeface="+mn-ea"/>
                <a:cs typeface="Times New Roman" panose="02020603050405020304" pitchFamily="18" charset="0"/>
              </a:rPr>
              <a:t>.jar</a:t>
            </a:r>
            <a:r>
              <a:rPr kumimoji="0" lang="zh-CN" altLang="en-US" sz="1600" b="0" i="0" u="none" strike="noStrike" cap="none" normalizeH="0" baseline="0" dirty="0">
                <a:ln>
                  <a:noFill/>
                </a:ln>
                <a:solidFill>
                  <a:schemeClr val="tx1"/>
                </a:solidFill>
                <a:effectLst/>
                <a:latin typeface="+mn-ea"/>
                <a:cs typeface="Times New Roman" panose="02020603050405020304" pitchFamily="18" charset="0"/>
              </a:rPr>
              <a:t>）</a:t>
            </a:r>
            <a:endParaRPr kumimoji="0" lang="zh-CN" altLang="en-US" sz="1600" b="0" i="0" u="none" strike="noStrike" cap="none" normalizeH="0" baseline="0" dirty="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1" name="文本框 10"/>
          <p:cNvSpPr txBox="1"/>
          <p:nvPr/>
        </p:nvSpPr>
        <p:spPr>
          <a:xfrm>
            <a:off x="156439" y="2702017"/>
            <a:ext cx="10763451" cy="787523"/>
          </a:xfrm>
          <a:prstGeom prst="rect">
            <a:avLst/>
          </a:prstGeom>
          <a:noFill/>
        </p:spPr>
        <p:txBody>
          <a:bodyPr wrap="square">
            <a:spAutoFit/>
          </a:bodyPr>
          <a:lstStyle/>
          <a:p>
            <a:pPr marL="285750" lvl="0" indent="-285750">
              <a:lnSpc>
                <a:spcPct val="150000"/>
              </a:lnSpc>
              <a:buFont typeface="Wingdings" panose="05000000000000000000" pitchFamily="2" charset="2"/>
              <a:buChar char="Ø"/>
            </a:pPr>
            <a:r>
              <a:rPr lang="zh-CN" altLang="en-US" sz="1600" b="1" kern="100" dirty="0">
                <a:effectLst/>
                <a:latin typeface="+mn-ea"/>
              </a:rPr>
              <a:t>步骤</a:t>
            </a:r>
            <a:r>
              <a:rPr lang="en-US" altLang="zh-CN" sz="1600" b="1" kern="100" dirty="0">
                <a:effectLst/>
                <a:latin typeface="+mn-ea"/>
              </a:rPr>
              <a:t>2</a:t>
            </a:r>
            <a:r>
              <a:rPr lang="zh-CN" altLang="en-US" sz="1600" b="1" kern="100" dirty="0">
                <a:effectLst/>
                <a:latin typeface="+mn-ea"/>
              </a:rPr>
              <a:t>：</a:t>
            </a:r>
            <a:r>
              <a:rPr lang="zh-CN" altLang="zh-CN" sz="1600" kern="100" dirty="0">
                <a:effectLst/>
                <a:latin typeface="+mn-ea"/>
              </a:rPr>
              <a:t>排查业务代码中是否引入了如下包名：</a:t>
            </a:r>
            <a:r>
              <a:rPr lang="en-US" altLang="zh-CN" sz="1600" kern="100" dirty="0">
                <a:effectLst/>
                <a:latin typeface="+mn-ea"/>
              </a:rPr>
              <a:t>import </a:t>
            </a:r>
            <a:r>
              <a:rPr lang="en-US" altLang="zh-CN" sz="1600" b="1" kern="100" dirty="0" err="1">
                <a:effectLst/>
                <a:latin typeface="+mn-ea"/>
              </a:rPr>
              <a:t>com.iotplatform.client</a:t>
            </a:r>
            <a:r>
              <a:rPr lang="en-US" altLang="zh-CN" sz="1600" kern="100" dirty="0" err="1">
                <a:effectLst/>
                <a:latin typeface="+mn-ea"/>
              </a:rPr>
              <a:t>.NorthApiClient</a:t>
            </a:r>
            <a:r>
              <a:rPr lang="en-US" altLang="zh-CN" sz="1600" kern="100" dirty="0">
                <a:effectLst/>
                <a:latin typeface="+mn-ea"/>
              </a:rPr>
              <a:t>  </a:t>
            </a:r>
            <a:r>
              <a:rPr lang="zh-CN" altLang="zh-CN" sz="1600" kern="100" dirty="0">
                <a:effectLst/>
                <a:latin typeface="+mn-ea"/>
              </a:rPr>
              <a:t>或</a:t>
            </a:r>
            <a:r>
              <a:rPr lang="en-US" altLang="zh-CN" sz="1600" kern="100" dirty="0">
                <a:effectLst/>
                <a:latin typeface="+mn-ea"/>
              </a:rPr>
              <a:t>  import </a:t>
            </a:r>
            <a:r>
              <a:rPr lang="en-US" altLang="zh-CN" sz="1600" kern="100" dirty="0" err="1">
                <a:effectLst/>
                <a:latin typeface="+mn-ea"/>
              </a:rPr>
              <a:t>com.iotplatform.client.invokeapi.Authentication</a:t>
            </a:r>
            <a:r>
              <a:rPr lang="en-US" altLang="zh-CN" sz="1600" kern="100" dirty="0">
                <a:effectLst/>
                <a:latin typeface="+mn-ea"/>
              </a:rPr>
              <a:t>  </a:t>
            </a:r>
            <a:r>
              <a:rPr lang="zh-CN" altLang="zh-CN" sz="1600" kern="100" dirty="0">
                <a:effectLst/>
                <a:latin typeface="+mn-ea"/>
              </a:rPr>
              <a:t>等包含 </a:t>
            </a:r>
            <a:r>
              <a:rPr lang="en-US" altLang="zh-CN" sz="1600" b="1" kern="100" dirty="0" err="1">
                <a:effectLst/>
                <a:latin typeface="+mn-ea"/>
              </a:rPr>
              <a:t>com.iotplatform.client</a:t>
            </a:r>
            <a:r>
              <a:rPr lang="zh-CN" altLang="zh-CN" sz="1600" b="1" kern="100" dirty="0">
                <a:effectLst/>
                <a:latin typeface="+mn-ea"/>
              </a:rPr>
              <a:t>关键字的包。</a:t>
            </a:r>
            <a:endParaRPr lang="zh-CN" altLang="zh-CN" sz="1600" kern="100" dirty="0">
              <a:effectLst/>
              <a:latin typeface="+mn-ea"/>
            </a:endParaRPr>
          </a:p>
        </p:txBody>
      </p:sp>
      <p:sp>
        <p:nvSpPr>
          <p:cNvPr id="13" name="文本框 12"/>
          <p:cNvSpPr txBox="1"/>
          <p:nvPr/>
        </p:nvSpPr>
        <p:spPr>
          <a:xfrm>
            <a:off x="424927" y="4783109"/>
            <a:ext cx="10225143" cy="418191"/>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sz="1600" b="1" kern="100" dirty="0">
                <a:effectLst/>
                <a:latin typeface="+mn-ea"/>
              </a:rPr>
              <a:t>步骤</a:t>
            </a:r>
            <a:r>
              <a:rPr lang="en-US" altLang="zh-CN" sz="1600" b="1" kern="100" dirty="0">
                <a:effectLst/>
                <a:latin typeface="+mn-ea"/>
              </a:rPr>
              <a:t>3</a:t>
            </a:r>
            <a:r>
              <a:rPr lang="zh-CN" altLang="en-US" sz="1600" b="1" kern="100" dirty="0">
                <a:effectLst/>
                <a:latin typeface="+mn-ea"/>
              </a:rPr>
              <a:t>：</a:t>
            </a:r>
            <a:r>
              <a:rPr lang="zh-CN" altLang="zh-CN" sz="1600" kern="100" dirty="0">
                <a:effectLst/>
                <a:latin typeface="+mn-ea"/>
              </a:rPr>
              <a:t>若发现有以</a:t>
            </a:r>
            <a:r>
              <a:rPr lang="zh-CN" altLang="en-US" sz="1600" kern="100" dirty="0">
                <a:effectLst/>
                <a:latin typeface="+mn-ea"/>
              </a:rPr>
              <a:t>上</a:t>
            </a:r>
            <a:r>
              <a:rPr lang="zh-CN" altLang="zh-CN" sz="1600" kern="100" dirty="0">
                <a:effectLst/>
                <a:latin typeface="+mn-ea"/>
              </a:rPr>
              <a:t>依赖，建议</a:t>
            </a:r>
            <a:r>
              <a:rPr lang="zh-CN" altLang="en-US" sz="1600" kern="100" dirty="0">
                <a:latin typeface="+mn-ea"/>
              </a:rPr>
              <a:t>客户侧研发人员</a:t>
            </a:r>
            <a:r>
              <a:rPr lang="zh-CN" altLang="zh-CN" sz="1600" kern="100" dirty="0">
                <a:effectLst/>
                <a:latin typeface="+mn-ea"/>
              </a:rPr>
              <a:t>更换最新的</a:t>
            </a:r>
            <a:r>
              <a:rPr lang="en-US" altLang="zh-CN" sz="1600" kern="100" dirty="0">
                <a:effectLst/>
                <a:latin typeface="+mn-ea"/>
              </a:rPr>
              <a:t>SDK</a:t>
            </a:r>
            <a:r>
              <a:rPr lang="zh-CN" altLang="zh-CN" sz="1600" kern="100" dirty="0">
                <a:effectLst/>
                <a:latin typeface="+mn-ea"/>
              </a:rPr>
              <a:t>版本</a:t>
            </a:r>
            <a:r>
              <a:rPr lang="zh-CN" altLang="en-US" sz="1600" kern="100" dirty="0">
                <a:latin typeface="+mn-ea"/>
              </a:rPr>
              <a:t>，并对服务进行重启部署</a:t>
            </a:r>
            <a:endParaRPr lang="zh-CN" altLang="zh-CN" sz="1600" kern="100" dirty="0">
              <a:effectLst/>
              <a:latin typeface="+mn-ea"/>
            </a:endParaRPr>
          </a:p>
        </p:txBody>
      </p:sp>
      <p:graphicFrame>
        <p:nvGraphicFramePr>
          <p:cNvPr id="14" name="对象 13"/>
          <p:cNvGraphicFramePr>
            <a:graphicFrameLocks noChangeAspect="1"/>
          </p:cNvGraphicFramePr>
          <p:nvPr/>
        </p:nvGraphicFramePr>
        <p:xfrm>
          <a:off x="9862687" y="4282310"/>
          <a:ext cx="1949171" cy="1271014"/>
        </p:xfrm>
        <a:graphic>
          <a:graphicData uri="http://schemas.openxmlformats.org/presentationml/2006/ole">
            <mc:AlternateContent xmlns:mc="http://schemas.openxmlformats.org/markup-compatibility/2006">
              <mc:Choice xmlns:v="urn:schemas-microsoft-com:vml" Requires="v">
                <p:oleObj name="包装程序外壳对象" showAsIcon="1" r:id="rId4" imgW="839470" imgH="723265" progId="Package">
                  <p:embed/>
                </p:oleObj>
              </mc:Choice>
              <mc:Fallback>
                <p:oleObj name="包装程序外壳对象" showAsIcon="1" r:id="rId4" imgW="839470" imgH="723265" progId="Package">
                  <p:embed/>
                  <p:pic>
                    <p:nvPicPr>
                      <p:cNvPr id="0" name="图片 1"/>
                      <p:cNvPicPr/>
                      <p:nvPr/>
                    </p:nvPicPr>
                    <p:blipFill>
                      <a:blip r:embed="rId5"/>
                      <a:stretch>
                        <a:fillRect/>
                      </a:stretch>
                    </p:blipFill>
                    <p:spPr>
                      <a:xfrm>
                        <a:off x="9862687" y="4282310"/>
                        <a:ext cx="1949171" cy="1271014"/>
                      </a:xfrm>
                      <a:prstGeom prst="rect">
                        <a:avLst/>
                      </a:prstGeom>
                    </p:spPr>
                  </p:pic>
                </p:oleObj>
              </mc:Fallback>
            </mc:AlternateContent>
          </a:graphicData>
        </a:graphic>
      </p:graphicFrame>
      <p:sp>
        <p:nvSpPr>
          <p:cNvPr id="16" name="文本框 15"/>
          <p:cNvSpPr txBox="1"/>
          <p:nvPr/>
        </p:nvSpPr>
        <p:spPr>
          <a:xfrm>
            <a:off x="10358442" y="5380842"/>
            <a:ext cx="1453416" cy="369332"/>
          </a:xfrm>
          <a:prstGeom prst="rect">
            <a:avLst/>
          </a:prstGeom>
          <a:noFill/>
        </p:spPr>
        <p:txBody>
          <a:bodyPr wrap="square">
            <a:spAutoFit/>
          </a:bodyPr>
          <a:lstStyle/>
          <a:p>
            <a:r>
              <a:rPr kumimoji="1" lang="zh-CN" altLang="en-US" b="1" dirty="0">
                <a:solidFill>
                  <a:srgbClr val="C00000"/>
                </a:solidFill>
                <a:latin typeface="+mn-ea"/>
                <a:sym typeface="Arial" panose="020B0604020202020204" pitchFamily="34" charset="0"/>
              </a:rPr>
              <a:t>新版本</a:t>
            </a:r>
            <a:r>
              <a:rPr kumimoji="1" lang="en-US" altLang="zh-CN" b="1" dirty="0">
                <a:solidFill>
                  <a:srgbClr val="C00000"/>
                </a:solidFill>
                <a:latin typeface="+mn-ea"/>
                <a:sym typeface="Arial" panose="020B0604020202020204" pitchFamily="34" charset="0"/>
              </a:rPr>
              <a:t>SDK</a:t>
            </a:r>
            <a:endParaRPr lang="zh-CN" alt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解决方案</a:t>
            </a:r>
            <a:r>
              <a:rPr lang="en-US" altLang="zh-CN" dirty="0"/>
              <a:t>(2/4)</a:t>
            </a:r>
            <a:r>
              <a:rPr lang="zh-CN" altLang="en-US" dirty="0"/>
              <a:t>：客户使用</a:t>
            </a:r>
            <a:r>
              <a:rPr lang="en-US" altLang="zh-CN" dirty="0"/>
              <a:t>Java</a:t>
            </a:r>
            <a:r>
              <a:rPr lang="zh-CN" altLang="en-US" dirty="0"/>
              <a:t>语言开发且应用侧加载</a:t>
            </a:r>
            <a:r>
              <a:rPr lang="en-US" altLang="zh-CN" dirty="0"/>
              <a:t>CA</a:t>
            </a:r>
            <a:r>
              <a:rPr lang="zh-CN" altLang="en-US" dirty="0"/>
              <a:t>证书</a:t>
            </a:r>
            <a:r>
              <a:rPr lang="en-US" altLang="zh-CN" dirty="0"/>
              <a:t>(</a:t>
            </a:r>
            <a:r>
              <a:rPr lang="en-US" altLang="zh-CN" dirty="0" err="1"/>
              <a:t>jks</a:t>
            </a:r>
            <a:r>
              <a:rPr lang="zh-CN" altLang="en-US" dirty="0"/>
              <a:t>后缀</a:t>
            </a:r>
            <a:r>
              <a:rPr lang="en-US" altLang="zh-CN" dirty="0"/>
              <a:t>)</a:t>
            </a:r>
            <a:endParaRPr lang="zh-CN" altLang="en-US" dirty="0"/>
          </a:p>
        </p:txBody>
      </p:sp>
      <p:sp>
        <p:nvSpPr>
          <p:cNvPr id="5" name="Rectangle 3"/>
          <p:cNvSpPr>
            <a:spLocks noChangeArrowheads="1"/>
          </p:cNvSpPr>
          <p:nvPr/>
        </p:nvSpPr>
        <p:spPr bwMode="auto">
          <a:xfrm>
            <a:off x="335359" y="1541966"/>
            <a:ext cx="11961768"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285750" lvl="0" indent="-285750">
              <a:buFont typeface="Wingdings" panose="05000000000000000000" pitchFamily="2" charset="2"/>
              <a:buChar char="Ø"/>
            </a:pPr>
            <a:r>
              <a:rPr kumimoji="0" lang="zh-CN" altLang="en-US" sz="1600" b="1" i="0" u="none" strike="noStrike" cap="none" normalizeH="0" baseline="0" dirty="0">
                <a:ln>
                  <a:noFill/>
                </a:ln>
                <a:solidFill>
                  <a:schemeClr val="tx1"/>
                </a:solidFill>
                <a:effectLst/>
                <a:latin typeface="+mn-ea"/>
                <a:cs typeface="Times New Roman" panose="02020603050405020304" pitchFamily="18" charset="0"/>
              </a:rPr>
              <a:t>步骤</a:t>
            </a:r>
            <a:r>
              <a:rPr kumimoji="0" lang="en-US" altLang="zh-CN" sz="1600" b="1" i="0" u="none" strike="noStrike" cap="none" normalizeH="0" baseline="0" dirty="0">
                <a:ln>
                  <a:noFill/>
                </a:ln>
                <a:solidFill>
                  <a:schemeClr val="tx1"/>
                </a:solidFill>
                <a:effectLst/>
                <a:latin typeface="+mn-ea"/>
                <a:cs typeface="Times New Roman" panose="02020603050405020304" pitchFamily="18" charset="0"/>
              </a:rPr>
              <a:t>1</a:t>
            </a:r>
            <a:r>
              <a:rPr kumimoji="0" lang="zh-CN" altLang="en-US" sz="1600" b="1" i="0" u="none" strike="noStrike" cap="none" normalizeH="0" baseline="0" dirty="0">
                <a:ln>
                  <a:noFill/>
                </a:ln>
                <a:solidFill>
                  <a:schemeClr val="tx1"/>
                </a:solidFill>
                <a:effectLst/>
                <a:latin typeface="+mn-ea"/>
                <a:cs typeface="Times New Roman" panose="02020603050405020304" pitchFamily="18" charset="0"/>
              </a:rPr>
              <a:t>：</a:t>
            </a:r>
            <a:r>
              <a:rPr lang="zh-CN" altLang="en-US" sz="1600" dirty="0">
                <a:latin typeface="+mn-ea"/>
                <a:cs typeface="Times New Roman" panose="02020603050405020304" pitchFamily="18" charset="0"/>
              </a:rPr>
              <a:t>客户研发人员排查</a:t>
            </a:r>
            <a:r>
              <a:rPr lang="zh-CN" altLang="zh-CN" sz="1600" dirty="0">
                <a:latin typeface="+mn-ea"/>
              </a:rPr>
              <a:t>代码工程，搜索是否通过文件加载了</a:t>
            </a:r>
            <a:r>
              <a:rPr lang="en-US" altLang="zh-CN" sz="1600" dirty="0">
                <a:latin typeface="+mn-ea"/>
              </a:rPr>
              <a:t>CA</a:t>
            </a:r>
            <a:r>
              <a:rPr lang="zh-CN" altLang="zh-CN" sz="1600" dirty="0">
                <a:latin typeface="+mn-ea"/>
              </a:rPr>
              <a:t>证书，并对证书文件进行加载使用。</a:t>
            </a:r>
          </a:p>
          <a:p>
            <a:pPr marL="285750" lvl="0" indent="-285750">
              <a:buFont typeface="Wingdings" panose="05000000000000000000" pitchFamily="2" charset="2"/>
              <a:buChar char="Ø"/>
            </a:pPr>
            <a:r>
              <a:rPr lang="zh-CN" altLang="en-US" sz="1600" b="1" dirty="0">
                <a:latin typeface="+mn-ea"/>
              </a:rPr>
              <a:t>步骤</a:t>
            </a:r>
            <a:r>
              <a:rPr lang="en-US" altLang="zh-CN" sz="1600" b="1" dirty="0">
                <a:latin typeface="+mn-ea"/>
              </a:rPr>
              <a:t>2</a:t>
            </a:r>
            <a:r>
              <a:rPr lang="zh-CN" altLang="en-US" sz="1600" b="1" dirty="0">
                <a:latin typeface="+mn-ea"/>
              </a:rPr>
              <a:t>：</a:t>
            </a:r>
            <a:r>
              <a:rPr lang="en-US" altLang="zh-CN" sz="1600" dirty="0">
                <a:latin typeface="+mn-ea"/>
              </a:rPr>
              <a:t>Java</a:t>
            </a:r>
            <a:r>
              <a:rPr lang="zh-CN" altLang="en-US" sz="1600" dirty="0">
                <a:latin typeface="+mn-ea"/>
              </a:rPr>
              <a:t>版本</a:t>
            </a:r>
            <a:r>
              <a:rPr lang="zh-CN" altLang="zh-CN" sz="1600" dirty="0">
                <a:latin typeface="+mn-ea"/>
              </a:rPr>
              <a:t>默认证书文件名为</a:t>
            </a:r>
            <a:r>
              <a:rPr lang="en-US" altLang="zh-CN" sz="1600" b="1" dirty="0" err="1">
                <a:solidFill>
                  <a:srgbClr val="C00000"/>
                </a:solidFill>
                <a:latin typeface="+mn-ea"/>
              </a:rPr>
              <a:t>ca.jks</a:t>
            </a:r>
            <a:r>
              <a:rPr lang="en-US" altLang="zh-CN" sz="1600" dirty="0">
                <a:latin typeface="+mn-ea"/>
              </a:rPr>
              <a:t>(</a:t>
            </a:r>
            <a:r>
              <a:rPr lang="zh-CN" altLang="en-US" sz="1600" dirty="0">
                <a:latin typeface="+mn-ea"/>
              </a:rPr>
              <a:t>客户可能进行名字更新，例如</a:t>
            </a:r>
            <a:r>
              <a:rPr lang="en-US" altLang="zh-CN" sz="1600" dirty="0">
                <a:latin typeface="+mn-ea"/>
              </a:rPr>
              <a:t>ca-</a:t>
            </a:r>
            <a:r>
              <a:rPr lang="en-US" altLang="zh-CN" sz="1600" dirty="0" err="1">
                <a:latin typeface="+mn-ea"/>
              </a:rPr>
              <a:t>oc.jks</a:t>
            </a:r>
            <a:r>
              <a:rPr lang="zh-CN" altLang="en-US" sz="1600" dirty="0">
                <a:latin typeface="+mn-ea"/>
              </a:rPr>
              <a:t>之类</a:t>
            </a:r>
            <a:r>
              <a:rPr lang="en-US" altLang="zh-CN" sz="1600" dirty="0">
                <a:latin typeface="+mn-ea"/>
              </a:rPr>
              <a:t>)</a:t>
            </a:r>
            <a:r>
              <a:rPr lang="zh-CN" altLang="zh-CN" sz="1600" dirty="0">
                <a:latin typeface="+mn-ea"/>
              </a:rPr>
              <a:t>，请在代码中查找是否有：</a:t>
            </a:r>
            <a:r>
              <a:rPr lang="en-US" altLang="zh-CN" sz="1600" dirty="0" err="1">
                <a:latin typeface="+mn-ea"/>
              </a:rPr>
              <a:t>KeyStore.getInstance</a:t>
            </a:r>
            <a:r>
              <a:rPr lang="en-US" altLang="zh-CN" sz="1600" dirty="0">
                <a:latin typeface="+mn-ea"/>
              </a:rPr>
              <a:t>("</a:t>
            </a:r>
            <a:r>
              <a:rPr lang="en-US" altLang="zh-CN" sz="1600" dirty="0" err="1">
                <a:latin typeface="+mn-ea"/>
              </a:rPr>
              <a:t>jks</a:t>
            </a:r>
            <a:r>
              <a:rPr lang="en-US" altLang="zh-CN" sz="1600" dirty="0">
                <a:latin typeface="+mn-ea"/>
              </a:rPr>
              <a:t>")  </a:t>
            </a:r>
            <a:r>
              <a:rPr lang="zh-CN" altLang="zh-CN" sz="1600" dirty="0">
                <a:latin typeface="+mn-ea"/>
              </a:rPr>
              <a:t>或 </a:t>
            </a:r>
            <a:r>
              <a:rPr lang="en-US" altLang="zh-CN" sz="1600" dirty="0" err="1">
                <a:latin typeface="+mn-ea"/>
              </a:rPr>
              <a:t>TrustManagerFactory.getInstance</a:t>
            </a:r>
            <a:r>
              <a:rPr lang="en-US" altLang="zh-CN" sz="1600" dirty="0">
                <a:latin typeface="+mn-ea"/>
              </a:rPr>
              <a:t>("sunx509") </a:t>
            </a:r>
            <a:r>
              <a:rPr lang="zh-CN" altLang="zh-CN" sz="1600" dirty="0">
                <a:latin typeface="+mn-ea"/>
              </a:rPr>
              <a:t>代码调用，且此部分代码调用指定加载了</a:t>
            </a:r>
            <a:r>
              <a:rPr lang="en-US" altLang="zh-CN" sz="1600" dirty="0" err="1">
                <a:latin typeface="+mn-ea"/>
              </a:rPr>
              <a:t>ca.jks</a:t>
            </a:r>
            <a:r>
              <a:rPr lang="zh-CN" altLang="zh-CN" sz="1600" dirty="0">
                <a:latin typeface="+mn-ea"/>
              </a:rPr>
              <a:t>文件。</a:t>
            </a:r>
            <a:endParaRPr lang="en-US" altLang="zh-CN" sz="1600" dirty="0">
              <a:latin typeface="+mn-ea"/>
            </a:endParaRPr>
          </a:p>
          <a:p>
            <a:pPr marL="285750" lvl="0" indent="-285750">
              <a:buFont typeface="Wingdings" panose="05000000000000000000" pitchFamily="2" charset="2"/>
              <a:buChar char="Ø"/>
            </a:pPr>
            <a:r>
              <a:rPr lang="zh-CN" altLang="en-US" sz="1600" b="1" dirty="0">
                <a:latin typeface="+mn-ea"/>
              </a:rPr>
              <a:t>步骤</a:t>
            </a:r>
            <a:r>
              <a:rPr lang="en-US" altLang="zh-CN" sz="1600" b="1" dirty="0">
                <a:latin typeface="+mn-ea"/>
              </a:rPr>
              <a:t>3</a:t>
            </a:r>
            <a:r>
              <a:rPr lang="zh-CN" altLang="en-US" sz="1600" b="1" dirty="0">
                <a:latin typeface="+mn-ea"/>
              </a:rPr>
              <a:t>：</a:t>
            </a:r>
            <a:r>
              <a:rPr lang="zh-CN" altLang="zh-CN" sz="1600" dirty="0">
                <a:latin typeface="+mn-ea"/>
              </a:rPr>
              <a:t>如有以上代码且未跳过证书校验，则表明使用了</a:t>
            </a:r>
            <a:r>
              <a:rPr lang="en-US" altLang="zh-CN" sz="1600" dirty="0">
                <a:latin typeface="+mn-ea"/>
              </a:rPr>
              <a:t>CA</a:t>
            </a:r>
            <a:r>
              <a:rPr lang="zh-CN" altLang="zh-CN" sz="1600" dirty="0">
                <a:latin typeface="+mn-ea"/>
              </a:rPr>
              <a:t>证书</a:t>
            </a:r>
            <a:r>
              <a:rPr lang="zh-CN" altLang="en-US" sz="1600" dirty="0">
                <a:latin typeface="+mn-ea"/>
              </a:rPr>
              <a:t>，需要更新成华为最新提供的</a:t>
            </a:r>
            <a:r>
              <a:rPr lang="en-US" altLang="zh-CN" sz="1600" dirty="0">
                <a:latin typeface="+mn-ea"/>
              </a:rPr>
              <a:t>ca</a:t>
            </a:r>
            <a:r>
              <a:rPr lang="zh-CN" altLang="en-US" sz="1600" dirty="0">
                <a:latin typeface="+mn-ea"/>
              </a:rPr>
              <a:t>证书文件</a:t>
            </a:r>
            <a:endParaRPr lang="zh-CN" altLang="zh-CN" sz="1600" dirty="0">
              <a:latin typeface="+mn-ea"/>
            </a:endParaRPr>
          </a:p>
          <a:p>
            <a:pPr lvl="0" eaLnBrk="0" fontAlgn="base" hangingPunct="0">
              <a:spcBef>
                <a:spcPct val="0"/>
              </a:spcBef>
              <a:spcAft>
                <a:spcPct val="0"/>
              </a:spcAft>
            </a:pPr>
            <a:r>
              <a:rPr lang="zh-CN" altLang="en-US" sz="1600" dirty="0">
                <a:solidFill>
                  <a:srgbClr val="C00000"/>
                </a:solidFill>
                <a:latin typeface="Arial" panose="020B0604020202020204" pitchFamily="34" charset="0"/>
              </a:rPr>
              <a:t>注：</a:t>
            </a:r>
            <a:r>
              <a:rPr lang="en-US" altLang="zh-CN" sz="1600" dirty="0">
                <a:solidFill>
                  <a:srgbClr val="C00000"/>
                </a:solidFill>
                <a:latin typeface="Arial" panose="020B0604020202020204" pitchFamily="34" charset="0"/>
              </a:rPr>
              <a:t> outgoing.CertwithKey.pkcs12</a:t>
            </a:r>
            <a:r>
              <a:rPr lang="zh-CN" altLang="en-US" sz="1600" dirty="0">
                <a:solidFill>
                  <a:srgbClr val="C00000"/>
                </a:solidFill>
                <a:latin typeface="Arial" panose="020B0604020202020204" pitchFamily="34" charset="0"/>
              </a:rPr>
              <a:t>为推送的证书，本次不影响推送，客户仅需更新</a:t>
            </a:r>
            <a:r>
              <a:rPr lang="en-US" altLang="zh-CN" sz="1600" dirty="0" err="1">
                <a:solidFill>
                  <a:srgbClr val="C00000"/>
                </a:solidFill>
                <a:latin typeface="Arial" panose="020B0604020202020204" pitchFamily="34" charset="0"/>
              </a:rPr>
              <a:t>ca.jks</a:t>
            </a:r>
            <a:endParaRPr kumimoji="0" lang="zh-CN" altLang="en-US" sz="1600" b="0" i="0" u="none" strike="noStrike" cap="none" normalizeH="0" baseline="0" dirty="0">
              <a:ln>
                <a:noFill/>
              </a:ln>
              <a:solidFill>
                <a:srgbClr val="C00000"/>
              </a:solidFill>
              <a:effectLst/>
              <a:latin typeface="Arial" panose="020B0604020202020204" pitchFamily="34" charset="0"/>
            </a:endParaRPr>
          </a:p>
        </p:txBody>
      </p:sp>
      <p:sp>
        <p:nvSpPr>
          <p:cNvPr id="3" name="文本框 2"/>
          <p:cNvSpPr txBox="1"/>
          <p:nvPr/>
        </p:nvSpPr>
        <p:spPr>
          <a:xfrm>
            <a:off x="2697070" y="3579574"/>
            <a:ext cx="5943599" cy="3106107"/>
          </a:xfrm>
          <a:prstGeom prst="rect">
            <a:avLst/>
          </a:prstGeom>
          <a:noFill/>
        </p:spPr>
        <p:txBody>
          <a:bodyPr wrap="square">
            <a:spAutoFit/>
          </a:bodyPr>
          <a:lstStyle/>
          <a:p>
            <a:pPr marL="279400" indent="266700">
              <a:lnSpc>
                <a:spcPct val="150000"/>
              </a:lnSpc>
              <a:buNone/>
            </a:pPr>
            <a:r>
              <a:rPr lang="zh-CN" altLang="zh-CN" sz="1200" b="1" kern="100" dirty="0">
                <a:solidFill>
                  <a:srgbClr val="C00000"/>
                </a:solidFill>
                <a:effectLst/>
                <a:latin typeface="Times New Roman" panose="02020603050405020304" pitchFamily="18" charset="0"/>
                <a:ea typeface="宋体" panose="02010600030101010101" pitchFamily="2" charset="-122"/>
              </a:rPr>
              <a:t>指定加载代码示例（非真实业务代码）：</a:t>
            </a:r>
          </a:p>
          <a:p>
            <a:pPr marL="812800" indent="254000">
              <a:lnSpc>
                <a:spcPct val="150000"/>
              </a:lnSpc>
              <a:buNone/>
            </a:pPr>
            <a:r>
              <a:rPr lang="en-US" altLang="zh-CN" sz="1200" kern="100" dirty="0">
                <a:effectLst/>
                <a:latin typeface="Times New Roman" panose="02020603050405020304" pitchFamily="18" charset="0"/>
                <a:ea typeface="宋体" panose="02010600030101010101" pitchFamily="2" charset="-122"/>
              </a:rPr>
              <a:t>….</a:t>
            </a:r>
            <a:endParaRPr lang="zh-CN" altLang="zh-CN" sz="1200" kern="100" dirty="0">
              <a:effectLst/>
              <a:latin typeface="Times New Roman" panose="02020603050405020304" pitchFamily="18" charset="0"/>
              <a:ea typeface="宋体" panose="02010600030101010101" pitchFamily="2" charset="-122"/>
            </a:endParaRPr>
          </a:p>
          <a:p>
            <a:pPr marL="279400" indent="266700">
              <a:lnSpc>
                <a:spcPct val="150000"/>
              </a:lnSpc>
              <a:buNone/>
            </a:pPr>
            <a:r>
              <a:rPr lang="en-US" altLang="zh-CN" sz="1200" kern="100" dirty="0">
                <a:effectLst/>
                <a:latin typeface="Times New Roman" panose="02020603050405020304" pitchFamily="18" charset="0"/>
                <a:ea typeface="宋体" panose="02010600030101010101" pitchFamily="2" charset="-122"/>
              </a:rPr>
              <a:t>            //</a:t>
            </a:r>
            <a:r>
              <a:rPr lang="zh-CN" altLang="zh-CN" sz="1200" kern="100" dirty="0">
                <a:effectLst/>
                <a:latin typeface="Times New Roman" panose="02020603050405020304" pitchFamily="18" charset="0"/>
                <a:ea typeface="宋体" panose="02010600030101010101" pitchFamily="2" charset="-122"/>
              </a:rPr>
              <a:t>指定读取</a:t>
            </a:r>
            <a:r>
              <a:rPr lang="en-US" altLang="zh-CN" sz="1200" kern="100" dirty="0">
                <a:effectLst/>
                <a:latin typeface="Times New Roman" panose="02020603050405020304" pitchFamily="18" charset="0"/>
                <a:ea typeface="宋体" panose="02010600030101010101" pitchFamily="2" charset="-122"/>
              </a:rPr>
              <a:t>CA</a:t>
            </a:r>
            <a:r>
              <a:rPr lang="zh-CN" altLang="zh-CN" sz="1200" kern="100" dirty="0">
                <a:effectLst/>
                <a:latin typeface="Times New Roman" panose="02020603050405020304" pitchFamily="18" charset="0"/>
                <a:ea typeface="宋体" panose="02010600030101010101" pitchFamily="2" charset="-122"/>
              </a:rPr>
              <a:t>文件</a:t>
            </a:r>
          </a:p>
          <a:p>
            <a:pPr marL="1066800" indent="266700">
              <a:lnSpc>
                <a:spcPct val="150000"/>
              </a:lnSpc>
              <a:buNone/>
            </a:pPr>
            <a:r>
              <a:rPr lang="en-US" altLang="zh-CN" sz="1200" kern="100" dirty="0" err="1">
                <a:effectLst/>
                <a:latin typeface="Times New Roman" panose="02020603050405020304" pitchFamily="18" charset="0"/>
                <a:ea typeface="宋体" panose="02010600030101010101" pitchFamily="2" charset="-122"/>
              </a:rPr>
              <a:t>InputStream</a:t>
            </a:r>
            <a:r>
              <a:rPr lang="en-US" altLang="zh-CN" sz="1200" kern="100" dirty="0">
                <a:effectLst/>
                <a:latin typeface="Times New Roman" panose="02020603050405020304" pitchFamily="18" charset="0"/>
                <a:ea typeface="宋体" panose="02010600030101010101" pitchFamily="2" charset="-122"/>
              </a:rPr>
              <a:t> </a:t>
            </a:r>
            <a:r>
              <a:rPr lang="en-US" altLang="zh-CN" sz="1200" kern="100" dirty="0" err="1">
                <a:effectLst/>
                <a:latin typeface="Times New Roman" panose="02020603050405020304" pitchFamily="18" charset="0"/>
                <a:ea typeface="宋体" panose="02010600030101010101" pitchFamily="2" charset="-122"/>
              </a:rPr>
              <a:t>isTrustCa</a:t>
            </a:r>
            <a:r>
              <a:rPr lang="en-US" altLang="zh-CN" sz="1200" kern="100" dirty="0">
                <a:effectLst/>
                <a:latin typeface="Times New Roman" panose="02020603050405020304" pitchFamily="18" charset="0"/>
                <a:ea typeface="宋体" panose="02010600030101010101" pitchFamily="2" charset="-122"/>
              </a:rPr>
              <a:t> = </a:t>
            </a:r>
            <a:r>
              <a:rPr lang="en-US" altLang="zh-CN" sz="1200" kern="100" dirty="0" err="1">
                <a:effectLst/>
                <a:latin typeface="Times New Roman" panose="02020603050405020304" pitchFamily="18" charset="0"/>
                <a:ea typeface="宋体" panose="02010600030101010101" pitchFamily="2" charset="-122"/>
              </a:rPr>
              <a:t>this.getClass</a:t>
            </a:r>
            <a:r>
              <a:rPr lang="en-US" altLang="zh-CN" sz="1200" kern="100" dirty="0">
                <a:effectLst/>
                <a:latin typeface="Times New Roman" panose="02020603050405020304" pitchFamily="18" charset="0"/>
                <a:ea typeface="宋体" panose="02010600030101010101" pitchFamily="2" charset="-122"/>
              </a:rPr>
              <a:t>().</a:t>
            </a:r>
            <a:r>
              <a:rPr lang="en-US" altLang="zh-CN" sz="1200" kern="100" dirty="0" err="1">
                <a:effectLst/>
                <a:latin typeface="Times New Roman" panose="02020603050405020304" pitchFamily="18" charset="0"/>
                <a:ea typeface="宋体" panose="02010600030101010101" pitchFamily="2" charset="-122"/>
              </a:rPr>
              <a:t>getResourceAsStream</a:t>
            </a:r>
            <a:r>
              <a:rPr lang="en-US" altLang="zh-CN" sz="1200" kern="100" dirty="0">
                <a:effectLst/>
                <a:latin typeface="Times New Roman" panose="02020603050405020304" pitchFamily="18" charset="0"/>
                <a:ea typeface="宋体" panose="02010600030101010101" pitchFamily="2" charset="-122"/>
              </a:rPr>
              <a:t>("</a:t>
            </a:r>
            <a:r>
              <a:rPr lang="en-US" altLang="zh-CN" sz="1200" kern="100" dirty="0" err="1">
                <a:effectLst/>
                <a:latin typeface="Times New Roman" panose="02020603050405020304" pitchFamily="18" charset="0"/>
                <a:ea typeface="宋体" panose="02010600030101010101" pitchFamily="2" charset="-122"/>
              </a:rPr>
              <a:t>ca.jks</a:t>
            </a:r>
            <a:r>
              <a:rPr lang="en-US" altLang="zh-CN" sz="1200" kern="100" dirty="0">
                <a:effectLst/>
                <a:latin typeface="Times New Roman" panose="02020603050405020304" pitchFamily="18" charset="0"/>
                <a:ea typeface="宋体" panose="02010600030101010101" pitchFamily="2" charset="-122"/>
              </a:rPr>
              <a:t>");</a:t>
            </a:r>
            <a:endParaRPr lang="zh-CN" altLang="zh-CN" sz="1200" kern="100" dirty="0">
              <a:effectLst/>
              <a:latin typeface="Times New Roman" panose="02020603050405020304" pitchFamily="18" charset="0"/>
              <a:ea typeface="宋体" panose="02010600030101010101" pitchFamily="2" charset="-122"/>
            </a:endParaRPr>
          </a:p>
          <a:p>
            <a:pPr marL="279400" indent="266700">
              <a:lnSpc>
                <a:spcPct val="150000"/>
              </a:lnSpc>
              <a:buNone/>
            </a:pPr>
            <a:r>
              <a:rPr lang="en-US" altLang="zh-CN" sz="1200" kern="100" dirty="0">
                <a:effectLst/>
                <a:latin typeface="Times New Roman" panose="02020603050405020304" pitchFamily="18" charset="0"/>
                <a:ea typeface="宋体" panose="02010600030101010101" pitchFamily="2" charset="-122"/>
              </a:rPr>
              <a:t>            KeyStore </a:t>
            </a:r>
            <a:r>
              <a:rPr lang="en-US" altLang="zh-CN" sz="1200" kern="100" dirty="0" err="1">
                <a:effectLst/>
                <a:latin typeface="Times New Roman" panose="02020603050405020304" pitchFamily="18" charset="0"/>
                <a:ea typeface="宋体" panose="02010600030101010101" pitchFamily="2" charset="-122"/>
              </a:rPr>
              <a:t>caCert</a:t>
            </a:r>
            <a:r>
              <a:rPr lang="en-US" altLang="zh-CN" sz="1200" kern="100" dirty="0">
                <a:effectLst/>
                <a:latin typeface="Times New Roman" panose="02020603050405020304" pitchFamily="18" charset="0"/>
                <a:ea typeface="宋体" panose="02010600030101010101" pitchFamily="2" charset="-122"/>
              </a:rPr>
              <a:t> = </a:t>
            </a:r>
            <a:r>
              <a:rPr lang="en-US" altLang="zh-CN" sz="1200" kern="100" dirty="0" err="1">
                <a:effectLst/>
                <a:latin typeface="Times New Roman" panose="02020603050405020304" pitchFamily="18" charset="0"/>
                <a:ea typeface="宋体" panose="02010600030101010101" pitchFamily="2" charset="-122"/>
              </a:rPr>
              <a:t>KeyStore.getInstance</a:t>
            </a:r>
            <a:r>
              <a:rPr lang="en-US" altLang="zh-CN" sz="1200" kern="100" dirty="0">
                <a:effectLst/>
                <a:latin typeface="Times New Roman" panose="02020603050405020304" pitchFamily="18" charset="0"/>
                <a:ea typeface="宋体" panose="02010600030101010101" pitchFamily="2" charset="-122"/>
              </a:rPr>
              <a:t>("</a:t>
            </a:r>
            <a:r>
              <a:rPr lang="en-US" altLang="zh-CN" sz="1200" kern="100" dirty="0" err="1">
                <a:effectLst/>
                <a:latin typeface="Times New Roman" panose="02020603050405020304" pitchFamily="18" charset="0"/>
                <a:ea typeface="宋体" panose="02010600030101010101" pitchFamily="2" charset="-122"/>
              </a:rPr>
              <a:t>jks</a:t>
            </a:r>
            <a:r>
              <a:rPr lang="en-US" altLang="zh-CN" sz="1200" kern="100" dirty="0">
                <a:effectLst/>
                <a:latin typeface="Times New Roman" panose="02020603050405020304" pitchFamily="18" charset="0"/>
                <a:ea typeface="宋体" panose="02010600030101010101" pitchFamily="2" charset="-122"/>
              </a:rPr>
              <a:t>");</a:t>
            </a:r>
            <a:endParaRPr lang="zh-CN" altLang="zh-CN" sz="1200" kern="100" dirty="0">
              <a:effectLst/>
              <a:latin typeface="Times New Roman" panose="02020603050405020304" pitchFamily="18" charset="0"/>
              <a:ea typeface="宋体" panose="02010600030101010101" pitchFamily="2" charset="-122"/>
            </a:endParaRPr>
          </a:p>
          <a:p>
            <a:pPr marL="279400" indent="266700">
              <a:lnSpc>
                <a:spcPct val="150000"/>
              </a:lnSpc>
              <a:buNone/>
            </a:pPr>
            <a:r>
              <a:rPr lang="en-US" altLang="zh-CN" sz="1200" kern="100" dirty="0">
                <a:effectLst/>
                <a:latin typeface="Times New Roman" panose="02020603050405020304" pitchFamily="18" charset="0"/>
                <a:ea typeface="宋体" panose="02010600030101010101" pitchFamily="2" charset="-122"/>
              </a:rPr>
              <a:t>            </a:t>
            </a:r>
            <a:r>
              <a:rPr lang="en-US" altLang="zh-CN" sz="1200" kern="100" dirty="0" err="1">
                <a:effectLst/>
                <a:latin typeface="Times New Roman" panose="02020603050405020304" pitchFamily="18" charset="0"/>
                <a:ea typeface="宋体" panose="02010600030101010101" pitchFamily="2" charset="-122"/>
              </a:rPr>
              <a:t>caCert.load</a:t>
            </a:r>
            <a:r>
              <a:rPr lang="en-US" altLang="zh-CN" sz="1200" kern="100" dirty="0">
                <a:effectLst/>
                <a:latin typeface="Times New Roman" panose="02020603050405020304" pitchFamily="18" charset="0"/>
                <a:ea typeface="宋体" panose="02010600030101010101" pitchFamily="2" charset="-122"/>
              </a:rPr>
              <a:t>(</a:t>
            </a:r>
            <a:r>
              <a:rPr lang="en-US" altLang="zh-CN" sz="1200" kern="100" dirty="0" err="1">
                <a:effectLst/>
                <a:latin typeface="Times New Roman" panose="02020603050405020304" pitchFamily="18" charset="0"/>
                <a:ea typeface="宋体" panose="02010600030101010101" pitchFamily="2" charset="-122"/>
              </a:rPr>
              <a:t>isTrustCa</a:t>
            </a:r>
            <a:r>
              <a:rPr lang="en-US" altLang="zh-CN" sz="1200" kern="100" dirty="0">
                <a:effectLst/>
                <a:latin typeface="Times New Roman" panose="02020603050405020304" pitchFamily="18" charset="0"/>
                <a:ea typeface="宋体" panose="02010600030101010101" pitchFamily="2" charset="-122"/>
              </a:rPr>
              <a:t>, </a:t>
            </a:r>
            <a:r>
              <a:rPr lang="en-US" altLang="zh-CN" sz="1200" kern="100" dirty="0" err="1">
                <a:effectLst/>
                <a:latin typeface="Times New Roman" panose="02020603050405020304" pitchFamily="18" charset="0"/>
                <a:ea typeface="宋体" panose="02010600030101010101" pitchFamily="2" charset="-122"/>
              </a:rPr>
              <a:t>AuthConstant.TRUSTCAPWD.toCharArray</a:t>
            </a:r>
            <a:r>
              <a:rPr lang="en-US" altLang="zh-CN" sz="1200" kern="100" dirty="0">
                <a:effectLst/>
                <a:latin typeface="Times New Roman" panose="02020603050405020304" pitchFamily="18" charset="0"/>
                <a:ea typeface="宋体" panose="02010600030101010101" pitchFamily="2" charset="-122"/>
              </a:rPr>
              <a:t>());</a:t>
            </a:r>
            <a:endParaRPr lang="zh-CN" altLang="zh-CN" sz="1200" kern="100" dirty="0">
              <a:effectLst/>
              <a:latin typeface="Times New Roman" panose="02020603050405020304" pitchFamily="18" charset="0"/>
              <a:ea typeface="宋体" panose="02010600030101010101" pitchFamily="2" charset="-122"/>
            </a:endParaRPr>
          </a:p>
          <a:p>
            <a:pPr marL="279400" indent="266700">
              <a:lnSpc>
                <a:spcPct val="150000"/>
              </a:lnSpc>
              <a:buNone/>
            </a:pPr>
            <a:r>
              <a:rPr lang="en-US" altLang="zh-CN" sz="1200" kern="100" dirty="0">
                <a:effectLst/>
                <a:latin typeface="Times New Roman" panose="02020603050405020304" pitchFamily="18" charset="0"/>
                <a:ea typeface="宋体" panose="02010600030101010101" pitchFamily="2" charset="-122"/>
              </a:rPr>
              <a:t>            </a:t>
            </a:r>
            <a:r>
              <a:rPr lang="en-US" altLang="zh-CN" sz="1200" kern="100" dirty="0" err="1">
                <a:effectLst/>
                <a:latin typeface="Times New Roman" panose="02020603050405020304" pitchFamily="18" charset="0"/>
                <a:ea typeface="宋体" panose="02010600030101010101" pitchFamily="2" charset="-122"/>
              </a:rPr>
              <a:t>TrustManagerFactory</a:t>
            </a:r>
            <a:r>
              <a:rPr lang="en-US" altLang="zh-CN" sz="1200" kern="100" dirty="0">
                <a:effectLst/>
                <a:latin typeface="Times New Roman" panose="02020603050405020304" pitchFamily="18" charset="0"/>
                <a:ea typeface="宋体" panose="02010600030101010101" pitchFamily="2" charset="-122"/>
              </a:rPr>
              <a:t> </a:t>
            </a:r>
            <a:r>
              <a:rPr lang="en-US" altLang="zh-CN" sz="1200" kern="100" dirty="0" err="1">
                <a:effectLst/>
                <a:latin typeface="Times New Roman" panose="02020603050405020304" pitchFamily="18" charset="0"/>
                <a:ea typeface="宋体" panose="02010600030101010101" pitchFamily="2" charset="-122"/>
              </a:rPr>
              <a:t>tmf</a:t>
            </a:r>
            <a:r>
              <a:rPr lang="en-US" altLang="zh-CN" sz="1200" kern="100" dirty="0">
                <a:effectLst/>
                <a:latin typeface="Times New Roman" panose="02020603050405020304" pitchFamily="18" charset="0"/>
                <a:ea typeface="宋体" panose="02010600030101010101" pitchFamily="2" charset="-122"/>
              </a:rPr>
              <a:t> = </a:t>
            </a:r>
            <a:r>
              <a:rPr lang="en-US" altLang="zh-CN" sz="1200" kern="100" dirty="0" err="1">
                <a:effectLst/>
                <a:latin typeface="Times New Roman" panose="02020603050405020304" pitchFamily="18" charset="0"/>
                <a:ea typeface="宋体" panose="02010600030101010101" pitchFamily="2" charset="-122"/>
              </a:rPr>
              <a:t>TrustManagerFactory.getInstance</a:t>
            </a:r>
            <a:r>
              <a:rPr lang="en-US" altLang="zh-CN" sz="1200" kern="100" dirty="0">
                <a:effectLst/>
                <a:latin typeface="Times New Roman" panose="02020603050405020304" pitchFamily="18" charset="0"/>
                <a:ea typeface="宋体" panose="02010600030101010101" pitchFamily="2" charset="-122"/>
              </a:rPr>
              <a:t>("sunx509");</a:t>
            </a:r>
            <a:endParaRPr lang="zh-CN" altLang="zh-CN" sz="1200" kern="100" dirty="0">
              <a:effectLst/>
              <a:latin typeface="Times New Roman" panose="02020603050405020304" pitchFamily="18" charset="0"/>
              <a:ea typeface="宋体" panose="02010600030101010101" pitchFamily="2" charset="-122"/>
            </a:endParaRPr>
          </a:p>
          <a:p>
            <a:pPr marL="279400" indent="266700">
              <a:lnSpc>
                <a:spcPct val="150000"/>
              </a:lnSpc>
              <a:buNone/>
            </a:pPr>
            <a:r>
              <a:rPr lang="en-US" altLang="zh-CN" sz="1200" kern="100" dirty="0">
                <a:effectLst/>
                <a:latin typeface="Times New Roman" panose="02020603050405020304" pitchFamily="18" charset="0"/>
                <a:ea typeface="宋体" panose="02010600030101010101" pitchFamily="2" charset="-122"/>
              </a:rPr>
              <a:t>            </a:t>
            </a:r>
            <a:r>
              <a:rPr lang="en-US" altLang="zh-CN" sz="1200" kern="100" dirty="0" err="1">
                <a:effectLst/>
                <a:latin typeface="Times New Roman" panose="02020603050405020304" pitchFamily="18" charset="0"/>
                <a:ea typeface="宋体" panose="02010600030101010101" pitchFamily="2" charset="-122"/>
              </a:rPr>
              <a:t>tmf.init</a:t>
            </a:r>
            <a:r>
              <a:rPr lang="en-US" altLang="zh-CN" sz="1200" kern="100" dirty="0">
                <a:effectLst/>
                <a:latin typeface="Times New Roman" panose="02020603050405020304" pitchFamily="18" charset="0"/>
                <a:ea typeface="宋体" panose="02010600030101010101" pitchFamily="2" charset="-122"/>
              </a:rPr>
              <a:t>(</a:t>
            </a:r>
            <a:r>
              <a:rPr lang="en-US" altLang="zh-CN" sz="1200" kern="100" dirty="0" err="1">
                <a:effectLst/>
                <a:latin typeface="Times New Roman" panose="02020603050405020304" pitchFamily="18" charset="0"/>
                <a:ea typeface="宋体" panose="02010600030101010101" pitchFamily="2" charset="-122"/>
              </a:rPr>
              <a:t>caCert</a:t>
            </a:r>
            <a:r>
              <a:rPr lang="en-US" altLang="zh-CN" sz="1200" kern="100" dirty="0">
                <a:effectLst/>
                <a:latin typeface="Times New Roman" panose="02020603050405020304" pitchFamily="18" charset="0"/>
                <a:ea typeface="宋体" panose="02010600030101010101" pitchFamily="2" charset="-122"/>
              </a:rPr>
              <a:t>);</a:t>
            </a:r>
            <a:endParaRPr lang="zh-CN" altLang="zh-CN" sz="1200" kern="100" dirty="0">
              <a:effectLst/>
              <a:latin typeface="Times New Roman" panose="02020603050405020304" pitchFamily="18" charset="0"/>
              <a:ea typeface="宋体" panose="02010600030101010101" pitchFamily="2" charset="-122"/>
            </a:endParaRPr>
          </a:p>
          <a:p>
            <a:pPr marL="279400" indent="266700">
              <a:lnSpc>
                <a:spcPct val="150000"/>
              </a:lnSpc>
              <a:buNone/>
            </a:pPr>
            <a:r>
              <a:rPr lang="en-US" altLang="zh-CN" sz="1200" kern="100" dirty="0">
                <a:effectLst/>
                <a:latin typeface="Times New Roman" panose="02020603050405020304" pitchFamily="18" charset="0"/>
                <a:ea typeface="宋体" panose="02010600030101010101" pitchFamily="2" charset="-122"/>
              </a:rPr>
              <a:t>            </a:t>
            </a:r>
            <a:r>
              <a:rPr lang="en-US" altLang="zh-CN" sz="1200" kern="100" dirty="0" err="1">
                <a:effectLst/>
                <a:latin typeface="Times New Roman" panose="02020603050405020304" pitchFamily="18" charset="0"/>
                <a:ea typeface="宋体" panose="02010600030101010101" pitchFamily="2" charset="-122"/>
              </a:rPr>
              <a:t>SSLContext</a:t>
            </a:r>
            <a:r>
              <a:rPr lang="en-US" altLang="zh-CN" sz="1200" kern="100" dirty="0">
                <a:effectLst/>
                <a:latin typeface="Times New Roman" panose="02020603050405020304" pitchFamily="18" charset="0"/>
                <a:ea typeface="宋体" panose="02010600030101010101" pitchFamily="2" charset="-122"/>
              </a:rPr>
              <a:t> </a:t>
            </a:r>
            <a:r>
              <a:rPr lang="en-US" altLang="zh-CN" sz="1200" kern="100" dirty="0" err="1">
                <a:effectLst/>
                <a:latin typeface="Times New Roman" panose="02020603050405020304" pitchFamily="18" charset="0"/>
                <a:ea typeface="宋体" panose="02010600030101010101" pitchFamily="2" charset="-122"/>
              </a:rPr>
              <a:t>sc</a:t>
            </a:r>
            <a:r>
              <a:rPr lang="en-US" altLang="zh-CN" sz="1200" kern="100" dirty="0">
                <a:effectLst/>
                <a:latin typeface="Times New Roman" panose="02020603050405020304" pitchFamily="18" charset="0"/>
                <a:ea typeface="宋体" panose="02010600030101010101" pitchFamily="2" charset="-122"/>
              </a:rPr>
              <a:t> = </a:t>
            </a:r>
            <a:r>
              <a:rPr lang="en-US" altLang="zh-CN" sz="1200" kern="100" dirty="0" err="1">
                <a:effectLst/>
                <a:latin typeface="Times New Roman" panose="02020603050405020304" pitchFamily="18" charset="0"/>
                <a:ea typeface="宋体" panose="02010600030101010101" pitchFamily="2" charset="-122"/>
              </a:rPr>
              <a:t>SSLContext.getInstance</a:t>
            </a:r>
            <a:r>
              <a:rPr lang="en-US" altLang="zh-CN" sz="1200" kern="100" dirty="0">
                <a:effectLst/>
                <a:latin typeface="Times New Roman" panose="02020603050405020304" pitchFamily="18" charset="0"/>
                <a:ea typeface="宋体" panose="02010600030101010101" pitchFamily="2" charset="-122"/>
              </a:rPr>
              <a:t>("TLS");</a:t>
            </a:r>
            <a:endParaRPr lang="zh-CN" altLang="zh-CN" sz="1200" kern="100" dirty="0">
              <a:effectLst/>
              <a:latin typeface="Times New Roman" panose="02020603050405020304" pitchFamily="18" charset="0"/>
              <a:ea typeface="宋体" panose="02010600030101010101" pitchFamily="2" charset="-122"/>
            </a:endParaRPr>
          </a:p>
          <a:p>
            <a:pPr marL="279400" indent="533400">
              <a:lnSpc>
                <a:spcPct val="150000"/>
              </a:lnSpc>
              <a:buNone/>
            </a:pPr>
            <a:r>
              <a:rPr lang="en-US" altLang="zh-CN" sz="1200" kern="100" dirty="0">
                <a:effectLst/>
                <a:latin typeface="Times New Roman" panose="02020603050405020304" pitchFamily="18" charset="0"/>
                <a:ea typeface="宋体" panose="02010600030101010101" pitchFamily="2" charset="-122"/>
              </a:rPr>
              <a:t>//</a:t>
            </a:r>
            <a:r>
              <a:rPr lang="zh-CN" altLang="zh-CN" sz="1200" kern="100" dirty="0">
                <a:effectLst/>
                <a:latin typeface="Times New Roman" panose="02020603050405020304" pitchFamily="18" charset="0"/>
                <a:ea typeface="宋体" panose="02010600030101010101" pitchFamily="2" charset="-122"/>
              </a:rPr>
              <a:t>使用默认证书校验，未跳过证书校验</a:t>
            </a:r>
          </a:p>
          <a:p>
            <a:pPr marL="279400" indent="533400">
              <a:lnSpc>
                <a:spcPct val="150000"/>
              </a:lnSpc>
              <a:buNone/>
            </a:pPr>
            <a:r>
              <a:rPr lang="en-US" altLang="zh-CN" sz="1200" kern="100" dirty="0" err="1">
                <a:effectLst/>
                <a:latin typeface="Times New Roman" panose="02020603050405020304" pitchFamily="18" charset="0"/>
                <a:ea typeface="宋体" panose="02010600030101010101" pitchFamily="2" charset="-122"/>
              </a:rPr>
              <a:t>sc.init</a:t>
            </a:r>
            <a:r>
              <a:rPr lang="en-US" altLang="zh-CN" sz="1200" kern="100" dirty="0">
                <a:effectLst/>
                <a:latin typeface="Times New Roman" panose="02020603050405020304" pitchFamily="18" charset="0"/>
                <a:ea typeface="宋体" panose="02010600030101010101" pitchFamily="2" charset="-122"/>
              </a:rPr>
              <a:t>(</a:t>
            </a:r>
            <a:r>
              <a:rPr lang="en-US" altLang="zh-CN" sz="1200" kern="100" dirty="0" err="1">
                <a:effectLst/>
                <a:latin typeface="Times New Roman" panose="02020603050405020304" pitchFamily="18" charset="0"/>
                <a:ea typeface="宋体" panose="02010600030101010101" pitchFamily="2" charset="-122"/>
              </a:rPr>
              <a:t>kmf.getKeyManagers</a:t>
            </a:r>
            <a:r>
              <a:rPr lang="en-US" altLang="zh-CN" sz="1200" kern="100" dirty="0">
                <a:effectLst/>
                <a:latin typeface="Times New Roman" panose="02020603050405020304" pitchFamily="18" charset="0"/>
                <a:ea typeface="宋体" panose="02010600030101010101" pitchFamily="2" charset="-122"/>
              </a:rPr>
              <a:t>(), </a:t>
            </a:r>
            <a:r>
              <a:rPr lang="en-US" altLang="zh-CN" sz="1200" kern="100" dirty="0" err="1">
                <a:effectLst/>
                <a:latin typeface="Times New Roman" panose="02020603050405020304" pitchFamily="18" charset="0"/>
                <a:ea typeface="宋体" panose="02010600030101010101" pitchFamily="2" charset="-122"/>
              </a:rPr>
              <a:t>tmf.getTrustManagers</a:t>
            </a:r>
            <a:r>
              <a:rPr lang="en-US" altLang="zh-CN" sz="1200" kern="100" dirty="0">
                <a:effectLst/>
                <a:latin typeface="Times New Roman" panose="02020603050405020304" pitchFamily="18" charset="0"/>
                <a:ea typeface="宋体" panose="02010600030101010101" pitchFamily="2" charset="-122"/>
              </a:rPr>
              <a:t>(), (</a:t>
            </a:r>
            <a:r>
              <a:rPr lang="en-US" altLang="zh-CN" sz="1200" kern="100" dirty="0" err="1">
                <a:effectLst/>
                <a:latin typeface="Times New Roman" panose="02020603050405020304" pitchFamily="18" charset="0"/>
                <a:ea typeface="宋体" panose="02010600030101010101" pitchFamily="2" charset="-122"/>
              </a:rPr>
              <a:t>SecureRandom</a:t>
            </a:r>
            <a:r>
              <a:rPr lang="en-US" altLang="zh-CN" sz="1200" kern="100" dirty="0">
                <a:effectLst/>
                <a:latin typeface="Times New Roman" panose="02020603050405020304" pitchFamily="18" charset="0"/>
                <a:ea typeface="宋体" panose="02010600030101010101" pitchFamily="2" charset="-122"/>
              </a:rPr>
              <a:t>)null);</a:t>
            </a:r>
            <a:endParaRPr lang="zh-CN" altLang="zh-CN" sz="1200" kern="100" dirty="0">
              <a:effectLst/>
              <a:latin typeface="Times New Roman" panose="02020603050405020304" pitchFamily="18" charset="0"/>
              <a:ea typeface="宋体" panose="02010600030101010101" pitchFamily="2" charset="-122"/>
            </a:endParaRPr>
          </a:p>
        </p:txBody>
      </p:sp>
      <p:graphicFrame>
        <p:nvGraphicFramePr>
          <p:cNvPr id="6" name="对象 5"/>
          <p:cNvGraphicFramePr>
            <a:graphicFrameLocks noChangeAspect="1"/>
          </p:cNvGraphicFramePr>
          <p:nvPr/>
        </p:nvGraphicFramePr>
        <p:xfrm>
          <a:off x="10111901" y="4514787"/>
          <a:ext cx="1780957" cy="1533602"/>
        </p:xfrm>
        <a:graphic>
          <a:graphicData uri="http://schemas.openxmlformats.org/presentationml/2006/ole">
            <mc:AlternateContent xmlns:mc="http://schemas.openxmlformats.org/markup-compatibility/2006">
              <mc:Choice xmlns:v="urn:schemas-microsoft-com:vml" Requires="v">
                <p:oleObj name="包装程序外壳对象" showAsIcon="1" r:id="rId2" imgW="839470" imgH="723265" progId="Package">
                  <p:embed/>
                </p:oleObj>
              </mc:Choice>
              <mc:Fallback>
                <p:oleObj name="包装程序外壳对象" showAsIcon="1" r:id="rId2" imgW="839470" imgH="723265" progId="Package">
                  <p:embed/>
                  <p:pic>
                    <p:nvPicPr>
                      <p:cNvPr id="0" name="图片 1"/>
                      <p:cNvPicPr/>
                      <p:nvPr/>
                    </p:nvPicPr>
                    <p:blipFill>
                      <a:blip r:embed="rId3"/>
                      <a:stretch>
                        <a:fillRect/>
                      </a:stretch>
                    </p:blipFill>
                    <p:spPr>
                      <a:xfrm>
                        <a:off x="10111901" y="4514787"/>
                        <a:ext cx="1780957" cy="1533602"/>
                      </a:xfrm>
                      <a:prstGeom prst="rect">
                        <a:avLst/>
                      </a:prstGeom>
                    </p:spPr>
                  </p:pic>
                </p:oleObj>
              </mc:Fallback>
            </mc:AlternateContent>
          </a:graphicData>
        </a:graphic>
      </p:graphicFrame>
      <p:sp>
        <p:nvSpPr>
          <p:cNvPr id="8" name="文本框 7"/>
          <p:cNvSpPr txBox="1"/>
          <p:nvPr/>
        </p:nvSpPr>
        <p:spPr>
          <a:xfrm>
            <a:off x="10247525" y="5389128"/>
            <a:ext cx="1645333" cy="369332"/>
          </a:xfrm>
          <a:prstGeom prst="rect">
            <a:avLst/>
          </a:prstGeom>
          <a:noFill/>
        </p:spPr>
        <p:txBody>
          <a:bodyPr wrap="square">
            <a:spAutoFit/>
          </a:bodyPr>
          <a:lstStyle/>
          <a:p>
            <a:r>
              <a:rPr kumimoji="1" lang="zh-CN" altLang="en-US" b="1" dirty="0">
                <a:solidFill>
                  <a:srgbClr val="C00000"/>
                </a:solidFill>
                <a:latin typeface="+mn-ea"/>
                <a:sym typeface="Arial" panose="020B0604020202020204" pitchFamily="34" charset="0"/>
              </a:rPr>
              <a:t>新版本</a:t>
            </a:r>
            <a:r>
              <a:rPr kumimoji="1" lang="en-US" altLang="zh-CN" b="1" dirty="0">
                <a:solidFill>
                  <a:srgbClr val="C00000"/>
                </a:solidFill>
                <a:latin typeface="+mn-ea"/>
                <a:sym typeface="Arial" panose="020B0604020202020204" pitchFamily="34" charset="0"/>
              </a:rPr>
              <a:t>ca</a:t>
            </a:r>
            <a:r>
              <a:rPr kumimoji="1" lang="zh-CN" altLang="en-US" b="1" dirty="0">
                <a:solidFill>
                  <a:srgbClr val="C00000"/>
                </a:solidFill>
                <a:latin typeface="+mn-ea"/>
                <a:sym typeface="Arial" panose="020B0604020202020204" pitchFamily="34" charset="0"/>
              </a:rPr>
              <a:t>证书</a:t>
            </a:r>
            <a:endParaRPr lang="zh-CN" alt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圆角 12"/>
          <p:cNvSpPr/>
          <p:nvPr/>
        </p:nvSpPr>
        <p:spPr>
          <a:xfrm>
            <a:off x="4966636" y="2020706"/>
            <a:ext cx="6987941" cy="443784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12" name="矩形: 圆角 11"/>
          <p:cNvSpPr/>
          <p:nvPr/>
        </p:nvSpPr>
        <p:spPr>
          <a:xfrm>
            <a:off x="0" y="2056809"/>
            <a:ext cx="4494998" cy="480119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4" name="标题 3"/>
          <p:cNvSpPr>
            <a:spLocks noGrp="1"/>
          </p:cNvSpPr>
          <p:nvPr>
            <p:ph type="title"/>
          </p:nvPr>
        </p:nvSpPr>
        <p:spPr/>
        <p:txBody>
          <a:bodyPr/>
          <a:lstStyle/>
          <a:p>
            <a:r>
              <a:rPr lang="zh-CN" altLang="en-US" dirty="0"/>
              <a:t>解决方案</a:t>
            </a:r>
            <a:r>
              <a:rPr lang="en-US" altLang="zh-CN" dirty="0"/>
              <a:t>(3/4)</a:t>
            </a:r>
            <a:r>
              <a:rPr lang="zh-CN" altLang="en-US" dirty="0"/>
              <a:t>：客户使用</a:t>
            </a:r>
            <a:r>
              <a:rPr lang="en-US" altLang="zh-CN" dirty="0"/>
              <a:t>C#</a:t>
            </a:r>
            <a:r>
              <a:rPr lang="zh-CN" altLang="en-US" dirty="0"/>
              <a:t>或</a:t>
            </a:r>
            <a:r>
              <a:rPr lang="en-US" altLang="zh-CN" dirty="0"/>
              <a:t>Go</a:t>
            </a:r>
            <a:r>
              <a:rPr lang="zh-CN" altLang="en-US" dirty="0"/>
              <a:t>语言开发且应用侧加载</a:t>
            </a:r>
            <a:r>
              <a:rPr lang="en-US" altLang="zh-CN" dirty="0"/>
              <a:t>(ca</a:t>
            </a:r>
            <a:r>
              <a:rPr lang="zh-CN" altLang="en-US" dirty="0"/>
              <a:t>证书</a:t>
            </a:r>
            <a:r>
              <a:rPr lang="en-US" altLang="zh-CN" dirty="0" err="1"/>
              <a:t>crt</a:t>
            </a:r>
            <a:r>
              <a:rPr lang="zh-CN" altLang="en-US" dirty="0"/>
              <a:t>后缀</a:t>
            </a:r>
            <a:r>
              <a:rPr lang="en-US" altLang="zh-CN" dirty="0"/>
              <a:t>)</a:t>
            </a:r>
            <a:endParaRPr lang="zh-CN" altLang="en-US" dirty="0"/>
          </a:p>
        </p:txBody>
      </p:sp>
      <p:sp>
        <p:nvSpPr>
          <p:cNvPr id="2" name="文本框 1"/>
          <p:cNvSpPr txBox="1"/>
          <p:nvPr>
            <p:custDataLst>
              <p:tags r:id="rId1"/>
            </p:custDataLst>
          </p:nvPr>
        </p:nvSpPr>
        <p:spPr>
          <a:xfrm>
            <a:off x="874145" y="1718255"/>
            <a:ext cx="2571115" cy="338554"/>
          </a:xfrm>
          <a:prstGeom prst="rect">
            <a:avLst/>
          </a:prstGeom>
          <a:solidFill>
            <a:srgbClr val="C00000"/>
          </a:solidFill>
        </p:spPr>
        <p:txBody>
          <a:bodyPr wrap="square" rtlCol="0" anchor="t">
            <a:spAutoFit/>
          </a:bodyPr>
          <a:lstStyle>
            <a:defPPr>
              <a:defRPr lang="zh-CN"/>
            </a:defPPr>
            <a:lvl1pPr algn="l" rtl="0" eaLnBrk="0" fontAlgn="base" hangingPunct="0">
              <a:spcBef>
                <a:spcPct val="0"/>
              </a:spcBef>
              <a:spcAft>
                <a:spcPct val="0"/>
              </a:spcAft>
              <a:defRPr kern="1200">
                <a:solidFill>
                  <a:sysClr val="windowText" lastClr="000000"/>
                </a:solidFill>
                <a:latin typeface="Arial" panose="020B0604020202020204" pitchFamily="34" charset="0"/>
                <a:ea typeface="微软雅黑" panose="020B0503020204020204" charset="-122"/>
                <a:cs typeface="+mn-ea"/>
              </a:defRPr>
            </a:lvl1pPr>
            <a:lvl2pPr marL="457200" algn="l" rtl="0" eaLnBrk="0" fontAlgn="base" hangingPunct="0">
              <a:spcBef>
                <a:spcPct val="0"/>
              </a:spcBef>
              <a:spcAft>
                <a:spcPct val="0"/>
              </a:spcAft>
              <a:defRPr kern="1200">
                <a:solidFill>
                  <a:sysClr val="windowText" lastClr="000000"/>
                </a:solidFill>
                <a:latin typeface="Arial" panose="020B0604020202020204" pitchFamily="34" charset="0"/>
                <a:ea typeface="微软雅黑" panose="020B0503020204020204" charset="-122"/>
                <a:cs typeface="+mn-ea"/>
              </a:defRPr>
            </a:lvl2pPr>
            <a:lvl3pPr marL="914400" algn="l" rtl="0" eaLnBrk="0" fontAlgn="base" hangingPunct="0">
              <a:spcBef>
                <a:spcPct val="0"/>
              </a:spcBef>
              <a:spcAft>
                <a:spcPct val="0"/>
              </a:spcAft>
              <a:defRPr kern="1200">
                <a:solidFill>
                  <a:sysClr val="windowText" lastClr="000000"/>
                </a:solidFill>
                <a:latin typeface="Arial" panose="020B0604020202020204" pitchFamily="34" charset="0"/>
                <a:ea typeface="微软雅黑" panose="020B0503020204020204" charset="-122"/>
                <a:cs typeface="+mn-ea"/>
              </a:defRPr>
            </a:lvl3pPr>
            <a:lvl4pPr marL="1371600" algn="l" rtl="0" eaLnBrk="0" fontAlgn="base" hangingPunct="0">
              <a:spcBef>
                <a:spcPct val="0"/>
              </a:spcBef>
              <a:spcAft>
                <a:spcPct val="0"/>
              </a:spcAft>
              <a:defRPr kern="1200">
                <a:solidFill>
                  <a:sysClr val="windowText" lastClr="000000"/>
                </a:solidFill>
                <a:latin typeface="Arial" panose="020B0604020202020204" pitchFamily="34" charset="0"/>
                <a:ea typeface="微软雅黑" panose="020B0503020204020204" charset="-122"/>
                <a:cs typeface="+mn-ea"/>
              </a:defRPr>
            </a:lvl4pPr>
            <a:lvl5pPr marL="1828800" algn="l" rtl="0" eaLnBrk="0" fontAlgn="base" hangingPunct="0">
              <a:spcBef>
                <a:spcPct val="0"/>
              </a:spcBef>
              <a:spcAft>
                <a:spcPct val="0"/>
              </a:spcAft>
              <a:defRPr kern="1200">
                <a:solidFill>
                  <a:sysClr val="windowText" lastClr="000000"/>
                </a:solidFill>
                <a:latin typeface="Arial" panose="020B0604020202020204" pitchFamily="34" charset="0"/>
                <a:ea typeface="微软雅黑" panose="020B0503020204020204" charset="-122"/>
                <a:cs typeface="+mn-ea"/>
              </a:defRPr>
            </a:lvl5pPr>
            <a:lvl6pPr marL="2286000" algn="l" defTabSz="914400" rtl="0" eaLnBrk="1" latinLnBrk="0" hangingPunct="1">
              <a:defRPr kern="1200">
                <a:solidFill>
                  <a:sysClr val="windowText" lastClr="000000"/>
                </a:solidFill>
                <a:latin typeface="Arial" panose="020B0604020202020204" pitchFamily="34" charset="0"/>
                <a:ea typeface="微软雅黑" panose="020B0503020204020204" charset="-122"/>
                <a:cs typeface="+mn-ea"/>
              </a:defRPr>
            </a:lvl6pPr>
            <a:lvl7pPr marL="2743200" algn="l" defTabSz="914400" rtl="0" eaLnBrk="1" latinLnBrk="0" hangingPunct="1">
              <a:defRPr kern="1200">
                <a:solidFill>
                  <a:sysClr val="windowText" lastClr="000000"/>
                </a:solidFill>
                <a:latin typeface="Arial" panose="020B0604020202020204" pitchFamily="34" charset="0"/>
                <a:ea typeface="微软雅黑" panose="020B0503020204020204" charset="-122"/>
                <a:cs typeface="+mn-ea"/>
              </a:defRPr>
            </a:lvl7pPr>
            <a:lvl8pPr marL="3200400" algn="l" defTabSz="914400" rtl="0" eaLnBrk="1" latinLnBrk="0" hangingPunct="1">
              <a:defRPr kern="1200">
                <a:solidFill>
                  <a:sysClr val="windowText" lastClr="000000"/>
                </a:solidFill>
                <a:latin typeface="Arial" panose="020B0604020202020204" pitchFamily="34" charset="0"/>
                <a:ea typeface="微软雅黑" panose="020B0503020204020204" charset="-122"/>
                <a:cs typeface="+mn-ea"/>
              </a:defRPr>
            </a:lvl8pPr>
            <a:lvl9pPr marL="3657600" algn="l" defTabSz="914400" rtl="0" eaLnBrk="1" latinLnBrk="0" hangingPunct="1">
              <a:defRPr kern="1200">
                <a:solidFill>
                  <a:sysClr val="windowText" lastClr="000000"/>
                </a:solidFill>
                <a:latin typeface="Arial" panose="020B0604020202020204" pitchFamily="34" charset="0"/>
                <a:ea typeface="微软雅黑" panose="020B0503020204020204" charset="-122"/>
                <a:cs typeface="+mn-ea"/>
              </a:defRPr>
            </a:lvl9pPr>
          </a:lstStyle>
          <a:p>
            <a:pPr algn="ctr">
              <a:spcBef>
                <a:spcPct val="20000"/>
              </a:spcBef>
            </a:pPr>
            <a:r>
              <a:rPr kumimoji="1" lang="zh-CN" altLang="zh-CN" sz="1600" b="1" dirty="0">
                <a:ln w="15875">
                  <a:noFill/>
                </a:ln>
                <a:solidFill>
                  <a:sysClr val="window" lastClr="FFFFFF"/>
                </a:solidFill>
              </a:rPr>
              <a:t>客户</a:t>
            </a:r>
            <a:r>
              <a:rPr kumimoji="1" lang="zh-CN" altLang="en-US" sz="1600" b="1" dirty="0">
                <a:ln w="15875">
                  <a:noFill/>
                </a:ln>
                <a:solidFill>
                  <a:sysClr val="window" lastClr="FFFFFF"/>
                </a:solidFill>
              </a:rPr>
              <a:t>采用</a:t>
            </a:r>
            <a:r>
              <a:rPr kumimoji="1" lang="en-US" altLang="zh-CN" sz="1600" b="1" dirty="0">
                <a:ln w="15875">
                  <a:noFill/>
                </a:ln>
                <a:solidFill>
                  <a:sysClr val="window" lastClr="FFFFFF"/>
                </a:solidFill>
              </a:rPr>
              <a:t>C#</a:t>
            </a:r>
            <a:r>
              <a:rPr kumimoji="1" lang="zh-CN" altLang="en-US" sz="1600" b="1" dirty="0">
                <a:ln w="15875">
                  <a:noFill/>
                </a:ln>
                <a:solidFill>
                  <a:sysClr val="window" lastClr="FFFFFF"/>
                </a:solidFill>
              </a:rPr>
              <a:t>开发</a:t>
            </a:r>
            <a:endParaRPr kumimoji="1" lang="zh-CN" altLang="en-US" sz="1600" b="1" dirty="0">
              <a:ln w="15875">
                <a:noFill/>
              </a:ln>
              <a:solidFill>
                <a:sysClr val="window" lastClr="FFFFFF"/>
              </a:solidFill>
              <a:sym typeface="Calibri" panose="020F0502020204030204" charset="0"/>
            </a:endParaRPr>
          </a:p>
        </p:txBody>
      </p:sp>
      <p:sp>
        <p:nvSpPr>
          <p:cNvPr id="7" name="文本框 6"/>
          <p:cNvSpPr txBox="1"/>
          <p:nvPr/>
        </p:nvSpPr>
        <p:spPr>
          <a:xfrm>
            <a:off x="84221" y="2116701"/>
            <a:ext cx="4410777" cy="5025350"/>
          </a:xfrm>
          <a:prstGeom prst="rect">
            <a:avLst/>
          </a:prstGeom>
          <a:noFill/>
        </p:spPr>
        <p:txBody>
          <a:bodyPr wrap="square">
            <a:spAutoFit/>
          </a:bodyPr>
          <a:lstStyle/>
          <a:p>
            <a:pPr lvl="0">
              <a:lnSpc>
                <a:spcPct val="150000"/>
              </a:lnSpc>
            </a:pPr>
            <a:r>
              <a:rPr lang="en-US" altLang="zh-CN" sz="1400" b="1" kern="100" dirty="0">
                <a:solidFill>
                  <a:srgbClr val="C00000"/>
                </a:solidFill>
                <a:effectLst/>
                <a:latin typeface="+mn-ea"/>
              </a:rPr>
              <a:t>1</a:t>
            </a:r>
            <a:r>
              <a:rPr lang="zh-CN" altLang="en-US" sz="1400" b="1" kern="100" dirty="0">
                <a:solidFill>
                  <a:srgbClr val="C00000"/>
                </a:solidFill>
                <a:effectLst/>
                <a:latin typeface="+mn-ea"/>
              </a:rPr>
              <a:t>、</a:t>
            </a:r>
            <a:r>
              <a:rPr lang="zh-CN" altLang="zh-CN" sz="1400" b="1" kern="100" dirty="0">
                <a:solidFill>
                  <a:srgbClr val="C00000"/>
                </a:solidFill>
                <a:effectLst/>
                <a:latin typeface="+mn-ea"/>
              </a:rPr>
              <a:t>请</a:t>
            </a:r>
            <a:r>
              <a:rPr lang="zh-CN" altLang="en-US" sz="1400" b="1" kern="100" dirty="0">
                <a:solidFill>
                  <a:srgbClr val="C00000"/>
                </a:solidFill>
                <a:effectLst/>
                <a:latin typeface="+mn-ea"/>
              </a:rPr>
              <a:t>客户研发人员</a:t>
            </a:r>
            <a:r>
              <a:rPr lang="zh-CN" altLang="zh-CN" sz="1400" b="1" kern="100" dirty="0">
                <a:solidFill>
                  <a:srgbClr val="C00000"/>
                </a:solidFill>
                <a:effectLst/>
                <a:latin typeface="+mn-ea"/>
              </a:rPr>
              <a:t>在代码中查找是否使用系统包</a:t>
            </a:r>
            <a:r>
              <a:rPr lang="zh-CN" altLang="zh-CN" sz="1100" kern="100" dirty="0">
                <a:effectLst/>
                <a:latin typeface="+mn-ea"/>
              </a:rPr>
              <a:t>：</a:t>
            </a:r>
            <a:r>
              <a:rPr lang="en-US" altLang="zh-CN" sz="1100" kern="100" dirty="0">
                <a:effectLst/>
                <a:latin typeface="+mn-ea"/>
              </a:rPr>
              <a:t>System.Security.Cryptography.X509Certificates</a:t>
            </a:r>
            <a:r>
              <a:rPr lang="zh-CN" altLang="zh-CN" sz="1100" kern="100" dirty="0">
                <a:effectLst/>
                <a:latin typeface="+mn-ea"/>
              </a:rPr>
              <a:t>，且系统包指定加载了</a:t>
            </a:r>
            <a:r>
              <a:rPr lang="en-US" altLang="zh-CN" sz="1100" kern="100" dirty="0">
                <a:effectLst/>
                <a:latin typeface="+mn-ea"/>
              </a:rPr>
              <a:t>NB</a:t>
            </a:r>
            <a:r>
              <a:rPr lang="zh-CN" altLang="zh-CN" sz="1100" kern="100" dirty="0">
                <a:effectLst/>
                <a:latin typeface="+mn-ea"/>
              </a:rPr>
              <a:t>网关的</a:t>
            </a:r>
            <a:r>
              <a:rPr lang="en-US" altLang="zh-CN" sz="1100" kern="100" dirty="0">
                <a:effectLst/>
                <a:latin typeface="+mn-ea"/>
              </a:rPr>
              <a:t>CA</a:t>
            </a:r>
            <a:r>
              <a:rPr lang="zh-CN" altLang="zh-CN" sz="1100" kern="100" dirty="0">
                <a:effectLst/>
                <a:latin typeface="+mn-ea"/>
              </a:rPr>
              <a:t>证书，并在发起访问时未跳过证书校验，如有以上代码则证明使用了</a:t>
            </a:r>
            <a:r>
              <a:rPr lang="en-US" altLang="zh-CN" sz="1100" b="1" kern="100" dirty="0">
                <a:solidFill>
                  <a:srgbClr val="C00000"/>
                </a:solidFill>
                <a:effectLst/>
                <a:latin typeface="+mn-ea"/>
              </a:rPr>
              <a:t>CA</a:t>
            </a:r>
            <a:r>
              <a:rPr lang="zh-CN" altLang="zh-CN" sz="1100" b="1" kern="100" dirty="0">
                <a:solidFill>
                  <a:srgbClr val="C00000"/>
                </a:solidFill>
                <a:effectLst/>
                <a:latin typeface="+mn-ea"/>
              </a:rPr>
              <a:t>证书</a:t>
            </a:r>
            <a:r>
              <a:rPr lang="zh-CN" altLang="zh-CN" sz="1100" kern="100" dirty="0">
                <a:effectLst/>
                <a:latin typeface="+mn-ea"/>
              </a:rPr>
              <a:t>。</a:t>
            </a:r>
            <a:endParaRPr lang="en-US" altLang="zh-CN" sz="1100" kern="100" dirty="0">
              <a:effectLst/>
              <a:latin typeface="+mn-ea"/>
            </a:endParaRPr>
          </a:p>
          <a:p>
            <a:pPr lvl="0">
              <a:lnSpc>
                <a:spcPct val="150000"/>
              </a:lnSpc>
            </a:pPr>
            <a:r>
              <a:rPr lang="en-US" altLang="zh-CN" sz="1100" b="1" kern="100" dirty="0">
                <a:latin typeface="+mn-ea"/>
              </a:rPr>
              <a:t>(</a:t>
            </a:r>
            <a:r>
              <a:rPr lang="zh-CN" altLang="en-US" sz="1100" b="1" kern="100" dirty="0">
                <a:latin typeface="+mn-ea"/>
              </a:rPr>
              <a:t>注：</a:t>
            </a:r>
            <a:r>
              <a:rPr lang="en-US" altLang="zh-CN" sz="1100" b="1" kern="100" dirty="0">
                <a:latin typeface="+mn-ea"/>
              </a:rPr>
              <a:t>C#</a:t>
            </a:r>
            <a:r>
              <a:rPr lang="zh-CN" altLang="en-US" sz="1100" b="1" kern="100" dirty="0">
                <a:latin typeface="+mn-ea"/>
              </a:rPr>
              <a:t>可以加载多种格式证书，如</a:t>
            </a:r>
            <a:r>
              <a:rPr lang="en-US" altLang="zh-CN" sz="1100" b="1" kern="100" dirty="0">
                <a:latin typeface="+mn-ea"/>
              </a:rPr>
              <a:t>.</a:t>
            </a:r>
            <a:r>
              <a:rPr lang="en-US" altLang="zh-CN" sz="1100" b="1" kern="100" dirty="0" err="1">
                <a:latin typeface="+mn-ea"/>
              </a:rPr>
              <a:t>pem</a:t>
            </a:r>
            <a:r>
              <a:rPr lang="zh-CN" altLang="en-US" sz="1100" b="1" kern="100" dirty="0">
                <a:latin typeface="+mn-ea"/>
              </a:rPr>
              <a:t>、</a:t>
            </a:r>
            <a:r>
              <a:rPr lang="en-US" altLang="zh-CN" sz="1100" b="1" kern="100" dirty="0">
                <a:latin typeface="+mn-ea"/>
              </a:rPr>
              <a:t>.p12</a:t>
            </a:r>
            <a:r>
              <a:rPr lang="zh-CN" altLang="en-US" sz="1100" b="1" kern="100" dirty="0">
                <a:latin typeface="+mn-ea"/>
              </a:rPr>
              <a:t>、</a:t>
            </a:r>
            <a:r>
              <a:rPr lang="en-US" altLang="zh-CN" sz="1100" b="1" kern="100" dirty="0">
                <a:latin typeface="+mn-ea"/>
              </a:rPr>
              <a:t>.</a:t>
            </a:r>
            <a:r>
              <a:rPr lang="en-US" altLang="zh-CN" sz="1100" b="1" kern="100" dirty="0" err="1">
                <a:latin typeface="+mn-ea"/>
              </a:rPr>
              <a:t>pfx</a:t>
            </a:r>
            <a:r>
              <a:rPr lang="zh-CN" altLang="en-US" sz="1100" b="1" kern="100" dirty="0">
                <a:latin typeface="+mn-ea"/>
              </a:rPr>
              <a:t>后缀</a:t>
            </a:r>
            <a:r>
              <a:rPr lang="en-US" altLang="zh-CN" sz="1100" b="1" kern="100" dirty="0">
                <a:latin typeface="+mn-ea"/>
              </a:rPr>
              <a:t>)</a:t>
            </a:r>
            <a:endParaRPr lang="en-US" altLang="zh-CN" sz="1100" b="1" kern="100" dirty="0">
              <a:effectLst/>
              <a:latin typeface="+mn-ea"/>
            </a:endParaRPr>
          </a:p>
          <a:p>
            <a:pPr lvl="0">
              <a:lnSpc>
                <a:spcPct val="150000"/>
              </a:lnSpc>
            </a:pPr>
            <a:r>
              <a:rPr lang="en-US" altLang="zh-CN" sz="1400" b="1" kern="100" dirty="0">
                <a:solidFill>
                  <a:srgbClr val="C00000"/>
                </a:solidFill>
                <a:latin typeface="+mn-ea"/>
              </a:rPr>
              <a:t>2</a:t>
            </a:r>
            <a:r>
              <a:rPr lang="zh-CN" altLang="en-US" sz="1400" b="1" kern="100" dirty="0">
                <a:solidFill>
                  <a:srgbClr val="C00000"/>
                </a:solidFill>
                <a:latin typeface="+mn-ea"/>
              </a:rPr>
              <a:t>、</a:t>
            </a:r>
            <a:r>
              <a:rPr lang="zh-CN" altLang="zh-CN" sz="1400" b="1" kern="100" dirty="0">
                <a:solidFill>
                  <a:srgbClr val="C00000"/>
                </a:solidFill>
                <a:effectLst/>
                <a:latin typeface="+mn-ea"/>
              </a:rPr>
              <a:t>指定加载代码示例（非真实业务代码）：</a:t>
            </a:r>
          </a:p>
          <a:p>
            <a:pPr indent="266700">
              <a:lnSpc>
                <a:spcPct val="150000"/>
              </a:lnSpc>
              <a:buNone/>
            </a:pPr>
            <a:r>
              <a:rPr lang="en-US" altLang="zh-CN" sz="1100" kern="100" dirty="0">
                <a:effectLst/>
                <a:latin typeface="+mn-ea"/>
              </a:rPr>
              <a:t>private const string </a:t>
            </a:r>
            <a:r>
              <a:rPr lang="en-US" altLang="zh-CN" sz="1100" kern="100" dirty="0" err="1">
                <a:effectLst/>
                <a:latin typeface="+mn-ea"/>
              </a:rPr>
              <a:t>CaFilePath</a:t>
            </a:r>
            <a:r>
              <a:rPr lang="en-US" altLang="zh-CN" sz="1100" kern="100" dirty="0">
                <a:effectLst/>
                <a:latin typeface="+mn-ea"/>
              </a:rPr>
              <a:t> = "/xxx/xx/</a:t>
            </a:r>
            <a:r>
              <a:rPr lang="en-US" altLang="zh-CN" sz="1100" b="1" kern="100" dirty="0">
                <a:solidFill>
                  <a:srgbClr val="C00000"/>
                </a:solidFill>
                <a:effectLst/>
                <a:latin typeface="+mn-ea"/>
              </a:rPr>
              <a:t>ca.crt</a:t>
            </a:r>
            <a:r>
              <a:rPr lang="en-US" altLang="zh-CN" sz="1100" kern="100" dirty="0">
                <a:effectLst/>
                <a:latin typeface="+mn-ea"/>
              </a:rPr>
              <a:t>"; //</a:t>
            </a:r>
            <a:r>
              <a:rPr lang="zh-CN" altLang="zh-CN" sz="1100" kern="100" dirty="0">
                <a:effectLst/>
                <a:latin typeface="+mn-ea"/>
              </a:rPr>
              <a:t>指定证书</a:t>
            </a:r>
          </a:p>
          <a:p>
            <a:pPr indent="266700">
              <a:lnSpc>
                <a:spcPct val="150000"/>
              </a:lnSpc>
              <a:buNone/>
            </a:pPr>
            <a:r>
              <a:rPr lang="en-US" altLang="zh-CN" sz="1100" kern="100" dirty="0">
                <a:effectLst/>
                <a:latin typeface="+mn-ea"/>
              </a:rPr>
              <a:t>X509Certificate2 </a:t>
            </a:r>
            <a:r>
              <a:rPr lang="en-US" altLang="zh-CN" sz="1100" kern="100" dirty="0" err="1">
                <a:effectLst/>
                <a:latin typeface="+mn-ea"/>
              </a:rPr>
              <a:t>trustedCA</a:t>
            </a:r>
            <a:r>
              <a:rPr lang="en-US" altLang="zh-CN" sz="1100" kern="100" dirty="0">
                <a:effectLst/>
                <a:latin typeface="+mn-ea"/>
              </a:rPr>
              <a:t> = </a:t>
            </a:r>
            <a:r>
              <a:rPr lang="en-US" altLang="zh-CN" sz="1100" kern="100" dirty="0" err="1">
                <a:effectLst/>
                <a:latin typeface="+mn-ea"/>
              </a:rPr>
              <a:t>LoadPemCaCertificate</a:t>
            </a:r>
            <a:r>
              <a:rPr lang="en-US" altLang="zh-CN" sz="1100" kern="100" dirty="0">
                <a:effectLst/>
                <a:latin typeface="+mn-ea"/>
              </a:rPr>
              <a:t>(</a:t>
            </a:r>
            <a:r>
              <a:rPr lang="en-US" altLang="zh-CN" sz="1100" kern="100" dirty="0" err="1">
                <a:effectLst/>
                <a:latin typeface="+mn-ea"/>
              </a:rPr>
              <a:t>CaFilePath</a:t>
            </a:r>
            <a:r>
              <a:rPr lang="en-US" altLang="zh-CN" sz="1100" kern="100" dirty="0">
                <a:effectLst/>
                <a:latin typeface="+mn-ea"/>
              </a:rPr>
              <a:t>); </a:t>
            </a:r>
            <a:endParaRPr lang="zh-CN" altLang="zh-CN" sz="1100" kern="100" dirty="0">
              <a:effectLst/>
              <a:latin typeface="+mn-ea"/>
            </a:endParaRPr>
          </a:p>
          <a:p>
            <a:pPr indent="266700">
              <a:lnSpc>
                <a:spcPct val="150000"/>
              </a:lnSpc>
              <a:buNone/>
            </a:pPr>
            <a:r>
              <a:rPr lang="en-US" altLang="zh-CN" sz="1100" kern="100" dirty="0">
                <a:effectLst/>
                <a:latin typeface="+mn-ea"/>
              </a:rPr>
              <a:t>var handler = new </a:t>
            </a:r>
            <a:r>
              <a:rPr lang="en-US" altLang="zh-CN" sz="1100" kern="100" dirty="0" err="1">
                <a:effectLst/>
                <a:latin typeface="+mn-ea"/>
              </a:rPr>
              <a:t>HttpClientHandler</a:t>
            </a:r>
            <a:endParaRPr lang="zh-CN" altLang="zh-CN" sz="1100" kern="100" dirty="0">
              <a:effectLst/>
              <a:latin typeface="+mn-ea"/>
            </a:endParaRPr>
          </a:p>
          <a:p>
            <a:pPr indent="266700">
              <a:lnSpc>
                <a:spcPct val="150000"/>
              </a:lnSpc>
              <a:buNone/>
            </a:pPr>
            <a:r>
              <a:rPr lang="en-US" altLang="zh-CN" sz="1100" kern="100" dirty="0">
                <a:effectLst/>
                <a:latin typeface="+mn-ea"/>
              </a:rPr>
              <a:t>            {</a:t>
            </a:r>
            <a:endParaRPr lang="zh-CN" altLang="zh-CN" sz="1100" kern="100" dirty="0">
              <a:effectLst/>
              <a:latin typeface="+mn-ea"/>
            </a:endParaRPr>
          </a:p>
          <a:p>
            <a:pPr indent="266700">
              <a:lnSpc>
                <a:spcPct val="150000"/>
              </a:lnSpc>
              <a:buNone/>
            </a:pPr>
            <a:r>
              <a:rPr lang="en-US" altLang="zh-CN" sz="1100" kern="100" dirty="0">
                <a:effectLst/>
                <a:latin typeface="+mn-ea"/>
              </a:rPr>
              <a:t>            var </a:t>
            </a:r>
            <a:r>
              <a:rPr lang="en-US" altLang="zh-CN" sz="1100" kern="100" dirty="0" err="1">
                <a:effectLst/>
                <a:latin typeface="+mn-ea"/>
              </a:rPr>
              <a:t>uri</a:t>
            </a:r>
            <a:r>
              <a:rPr lang="en-US" altLang="zh-CN" sz="1100" kern="100" dirty="0">
                <a:effectLst/>
                <a:latin typeface="+mn-ea"/>
              </a:rPr>
              <a:t> = new Uri(</a:t>
            </a:r>
            <a:r>
              <a:rPr lang="en-US" altLang="zh-CN" sz="1100" kern="100" dirty="0" err="1">
                <a:effectLst/>
                <a:latin typeface="+mn-ea"/>
              </a:rPr>
              <a:t>TestServerUrl</a:t>
            </a:r>
            <a:r>
              <a:rPr lang="en-US" altLang="zh-CN" sz="1100" kern="100" dirty="0">
                <a:effectLst/>
                <a:latin typeface="+mn-ea"/>
              </a:rPr>
              <a:t>);</a:t>
            </a:r>
            <a:endParaRPr lang="zh-CN" altLang="zh-CN" sz="1100" kern="100" dirty="0">
              <a:effectLst/>
              <a:latin typeface="+mn-ea"/>
            </a:endParaRPr>
          </a:p>
          <a:p>
            <a:pPr indent="266700">
              <a:lnSpc>
                <a:spcPct val="150000"/>
              </a:lnSpc>
              <a:buNone/>
            </a:pPr>
            <a:r>
              <a:rPr lang="en-US" altLang="zh-CN" sz="1100" kern="100" dirty="0">
                <a:effectLst/>
                <a:latin typeface="+mn-ea"/>
              </a:rPr>
              <a:t>            </a:t>
            </a:r>
            <a:r>
              <a:rPr lang="en-US" altLang="zh-CN" sz="1100" kern="100" dirty="0" err="1">
                <a:effectLst/>
                <a:latin typeface="+mn-ea"/>
              </a:rPr>
              <a:t>handler.ServerCertificateCustomValidationCallback</a:t>
            </a:r>
            <a:r>
              <a:rPr lang="en-US" altLang="zh-CN" sz="1100" kern="100" dirty="0">
                <a:effectLst/>
                <a:latin typeface="+mn-ea"/>
              </a:rPr>
              <a:t> = (sender, </a:t>
            </a:r>
            <a:r>
              <a:rPr lang="en-US" altLang="zh-CN" sz="1100" kern="100" dirty="0" err="1">
                <a:effectLst/>
                <a:latin typeface="+mn-ea"/>
              </a:rPr>
              <a:t>serverCert</a:t>
            </a:r>
            <a:r>
              <a:rPr lang="en-US" altLang="zh-CN" sz="1100" kern="100" dirty="0">
                <a:effectLst/>
                <a:latin typeface="+mn-ea"/>
              </a:rPr>
              <a:t>, chain, </a:t>
            </a:r>
            <a:r>
              <a:rPr lang="en-US" altLang="zh-CN" sz="1100" kern="100" dirty="0" err="1">
                <a:effectLst/>
                <a:latin typeface="+mn-ea"/>
              </a:rPr>
              <a:t>sslPolicyErrors</a:t>
            </a:r>
            <a:r>
              <a:rPr lang="en-US" altLang="zh-CN" sz="1100" kern="100" dirty="0">
                <a:effectLst/>
                <a:latin typeface="+mn-ea"/>
              </a:rPr>
              <a:t>) =&gt;</a:t>
            </a:r>
            <a:endParaRPr lang="zh-CN" altLang="zh-CN" sz="1100" kern="100" dirty="0">
              <a:effectLst/>
              <a:latin typeface="+mn-ea"/>
            </a:endParaRPr>
          </a:p>
          <a:p>
            <a:pPr indent="266700">
              <a:lnSpc>
                <a:spcPct val="150000"/>
              </a:lnSpc>
              <a:buNone/>
            </a:pPr>
            <a:r>
              <a:rPr lang="en-US" altLang="zh-CN" sz="1100" kern="100" dirty="0">
                <a:effectLst/>
                <a:latin typeface="+mn-ea"/>
              </a:rPr>
              <a:t>            {</a:t>
            </a:r>
            <a:endParaRPr lang="zh-CN" altLang="zh-CN" sz="1100" kern="100" dirty="0">
              <a:effectLst/>
              <a:latin typeface="+mn-ea"/>
            </a:endParaRPr>
          </a:p>
          <a:p>
            <a:pPr indent="266700">
              <a:lnSpc>
                <a:spcPct val="150000"/>
              </a:lnSpc>
              <a:buNone/>
            </a:pPr>
            <a:r>
              <a:rPr lang="en-US" altLang="zh-CN" sz="1100" kern="100" dirty="0">
                <a:effectLst/>
                <a:latin typeface="+mn-ea"/>
              </a:rPr>
              <a:t>              </a:t>
            </a:r>
            <a:r>
              <a:rPr lang="en-US" altLang="zh-CN" sz="1100" b="1" kern="100" dirty="0">
                <a:solidFill>
                  <a:srgbClr val="C00000"/>
                </a:solidFill>
                <a:effectLst/>
                <a:latin typeface="+mn-ea"/>
              </a:rPr>
              <a:t>  //</a:t>
            </a:r>
            <a:r>
              <a:rPr lang="zh-CN" altLang="zh-CN" sz="1100" b="1" kern="100" dirty="0">
                <a:solidFill>
                  <a:srgbClr val="C00000"/>
                </a:solidFill>
                <a:effectLst/>
                <a:latin typeface="+mn-ea"/>
              </a:rPr>
              <a:t>未默认返回</a:t>
            </a:r>
            <a:r>
              <a:rPr lang="en-US" altLang="zh-CN" sz="1100" b="1" kern="100" dirty="0">
                <a:solidFill>
                  <a:srgbClr val="C00000"/>
                </a:solidFill>
                <a:effectLst/>
                <a:latin typeface="+mn-ea"/>
              </a:rPr>
              <a:t>TRUE</a:t>
            </a:r>
            <a:r>
              <a:rPr lang="zh-CN" altLang="zh-CN" sz="1100" b="1" kern="100" dirty="0">
                <a:solidFill>
                  <a:srgbClr val="C00000"/>
                </a:solidFill>
                <a:effectLst/>
                <a:latin typeface="+mn-ea"/>
              </a:rPr>
              <a:t>，未跳过证书认证，对证书进行校验</a:t>
            </a:r>
            <a:r>
              <a:rPr lang="en-US" altLang="zh-CN" sz="1100" kern="100" dirty="0">
                <a:effectLst/>
                <a:latin typeface="+mn-ea"/>
              </a:rPr>
              <a:t>		</a:t>
            </a:r>
            <a:r>
              <a:rPr lang="en-US" altLang="zh-CN" sz="1100" kern="100" dirty="0" err="1">
                <a:effectLst/>
                <a:latin typeface="+mn-ea"/>
              </a:rPr>
              <a:t>ValidateServerCertByCA</a:t>
            </a:r>
            <a:r>
              <a:rPr lang="en-US" altLang="zh-CN" sz="1100" kern="100" dirty="0">
                <a:effectLst/>
                <a:latin typeface="+mn-ea"/>
              </a:rPr>
              <a:t>(XXXX)</a:t>
            </a:r>
            <a:endParaRPr lang="zh-CN" altLang="zh-CN" sz="1100" kern="100" dirty="0">
              <a:effectLst/>
              <a:latin typeface="+mn-ea"/>
            </a:endParaRPr>
          </a:p>
          <a:p>
            <a:pPr indent="266700">
              <a:lnSpc>
                <a:spcPct val="150000"/>
              </a:lnSpc>
              <a:buNone/>
            </a:pPr>
            <a:r>
              <a:rPr lang="en-US" altLang="zh-CN" sz="1100" kern="100" dirty="0">
                <a:effectLst/>
                <a:latin typeface="+mn-ea"/>
              </a:rPr>
              <a:t>            };</a:t>
            </a:r>
            <a:endParaRPr lang="zh-CN" altLang="zh-CN" sz="1100" kern="100" dirty="0">
              <a:effectLst/>
              <a:latin typeface="+mn-ea"/>
            </a:endParaRPr>
          </a:p>
        </p:txBody>
      </p:sp>
      <p:sp>
        <p:nvSpPr>
          <p:cNvPr id="8" name="文本框 7"/>
          <p:cNvSpPr txBox="1"/>
          <p:nvPr>
            <p:custDataLst>
              <p:tags r:id="rId2"/>
            </p:custDataLst>
          </p:nvPr>
        </p:nvSpPr>
        <p:spPr>
          <a:xfrm>
            <a:off x="7014629" y="1682152"/>
            <a:ext cx="2571115" cy="338554"/>
          </a:xfrm>
          <a:prstGeom prst="rect">
            <a:avLst/>
          </a:prstGeom>
          <a:solidFill>
            <a:srgbClr val="C00000"/>
          </a:solidFill>
        </p:spPr>
        <p:txBody>
          <a:bodyPr wrap="square" rtlCol="0" anchor="t">
            <a:spAutoFit/>
          </a:bodyPr>
          <a:lstStyle>
            <a:defPPr>
              <a:defRPr lang="zh-CN"/>
            </a:defPPr>
            <a:lvl1pPr algn="l" rtl="0" eaLnBrk="0" fontAlgn="base" hangingPunct="0">
              <a:spcBef>
                <a:spcPct val="0"/>
              </a:spcBef>
              <a:spcAft>
                <a:spcPct val="0"/>
              </a:spcAft>
              <a:defRPr kern="1200">
                <a:solidFill>
                  <a:sysClr val="windowText" lastClr="000000"/>
                </a:solidFill>
                <a:latin typeface="Arial" panose="020B0604020202020204" pitchFamily="34" charset="0"/>
                <a:ea typeface="微软雅黑" panose="020B0503020204020204" charset="-122"/>
                <a:cs typeface="+mn-ea"/>
              </a:defRPr>
            </a:lvl1pPr>
            <a:lvl2pPr marL="457200" algn="l" rtl="0" eaLnBrk="0" fontAlgn="base" hangingPunct="0">
              <a:spcBef>
                <a:spcPct val="0"/>
              </a:spcBef>
              <a:spcAft>
                <a:spcPct val="0"/>
              </a:spcAft>
              <a:defRPr kern="1200">
                <a:solidFill>
                  <a:sysClr val="windowText" lastClr="000000"/>
                </a:solidFill>
                <a:latin typeface="Arial" panose="020B0604020202020204" pitchFamily="34" charset="0"/>
                <a:ea typeface="微软雅黑" panose="020B0503020204020204" charset="-122"/>
                <a:cs typeface="+mn-ea"/>
              </a:defRPr>
            </a:lvl2pPr>
            <a:lvl3pPr marL="914400" algn="l" rtl="0" eaLnBrk="0" fontAlgn="base" hangingPunct="0">
              <a:spcBef>
                <a:spcPct val="0"/>
              </a:spcBef>
              <a:spcAft>
                <a:spcPct val="0"/>
              </a:spcAft>
              <a:defRPr kern="1200">
                <a:solidFill>
                  <a:sysClr val="windowText" lastClr="000000"/>
                </a:solidFill>
                <a:latin typeface="Arial" panose="020B0604020202020204" pitchFamily="34" charset="0"/>
                <a:ea typeface="微软雅黑" panose="020B0503020204020204" charset="-122"/>
                <a:cs typeface="+mn-ea"/>
              </a:defRPr>
            </a:lvl3pPr>
            <a:lvl4pPr marL="1371600" algn="l" rtl="0" eaLnBrk="0" fontAlgn="base" hangingPunct="0">
              <a:spcBef>
                <a:spcPct val="0"/>
              </a:spcBef>
              <a:spcAft>
                <a:spcPct val="0"/>
              </a:spcAft>
              <a:defRPr kern="1200">
                <a:solidFill>
                  <a:sysClr val="windowText" lastClr="000000"/>
                </a:solidFill>
                <a:latin typeface="Arial" panose="020B0604020202020204" pitchFamily="34" charset="0"/>
                <a:ea typeface="微软雅黑" panose="020B0503020204020204" charset="-122"/>
                <a:cs typeface="+mn-ea"/>
              </a:defRPr>
            </a:lvl4pPr>
            <a:lvl5pPr marL="1828800" algn="l" rtl="0" eaLnBrk="0" fontAlgn="base" hangingPunct="0">
              <a:spcBef>
                <a:spcPct val="0"/>
              </a:spcBef>
              <a:spcAft>
                <a:spcPct val="0"/>
              </a:spcAft>
              <a:defRPr kern="1200">
                <a:solidFill>
                  <a:sysClr val="windowText" lastClr="000000"/>
                </a:solidFill>
                <a:latin typeface="Arial" panose="020B0604020202020204" pitchFamily="34" charset="0"/>
                <a:ea typeface="微软雅黑" panose="020B0503020204020204" charset="-122"/>
                <a:cs typeface="+mn-ea"/>
              </a:defRPr>
            </a:lvl5pPr>
            <a:lvl6pPr marL="2286000" algn="l" defTabSz="914400" rtl="0" eaLnBrk="1" latinLnBrk="0" hangingPunct="1">
              <a:defRPr kern="1200">
                <a:solidFill>
                  <a:sysClr val="windowText" lastClr="000000"/>
                </a:solidFill>
                <a:latin typeface="Arial" panose="020B0604020202020204" pitchFamily="34" charset="0"/>
                <a:ea typeface="微软雅黑" panose="020B0503020204020204" charset="-122"/>
                <a:cs typeface="+mn-ea"/>
              </a:defRPr>
            </a:lvl6pPr>
            <a:lvl7pPr marL="2743200" algn="l" defTabSz="914400" rtl="0" eaLnBrk="1" latinLnBrk="0" hangingPunct="1">
              <a:defRPr kern="1200">
                <a:solidFill>
                  <a:sysClr val="windowText" lastClr="000000"/>
                </a:solidFill>
                <a:latin typeface="Arial" panose="020B0604020202020204" pitchFamily="34" charset="0"/>
                <a:ea typeface="微软雅黑" panose="020B0503020204020204" charset="-122"/>
                <a:cs typeface="+mn-ea"/>
              </a:defRPr>
            </a:lvl7pPr>
            <a:lvl8pPr marL="3200400" algn="l" defTabSz="914400" rtl="0" eaLnBrk="1" latinLnBrk="0" hangingPunct="1">
              <a:defRPr kern="1200">
                <a:solidFill>
                  <a:sysClr val="windowText" lastClr="000000"/>
                </a:solidFill>
                <a:latin typeface="Arial" panose="020B0604020202020204" pitchFamily="34" charset="0"/>
                <a:ea typeface="微软雅黑" panose="020B0503020204020204" charset="-122"/>
                <a:cs typeface="+mn-ea"/>
              </a:defRPr>
            </a:lvl8pPr>
            <a:lvl9pPr marL="3657600" algn="l" defTabSz="914400" rtl="0" eaLnBrk="1" latinLnBrk="0" hangingPunct="1">
              <a:defRPr kern="1200">
                <a:solidFill>
                  <a:sysClr val="windowText" lastClr="000000"/>
                </a:solidFill>
                <a:latin typeface="Arial" panose="020B0604020202020204" pitchFamily="34" charset="0"/>
                <a:ea typeface="微软雅黑" panose="020B0503020204020204" charset="-122"/>
                <a:cs typeface="+mn-ea"/>
              </a:defRPr>
            </a:lvl9pPr>
          </a:lstStyle>
          <a:p>
            <a:pPr algn="ctr">
              <a:spcBef>
                <a:spcPct val="20000"/>
              </a:spcBef>
            </a:pPr>
            <a:r>
              <a:rPr kumimoji="1" lang="zh-CN" altLang="zh-CN" sz="1600" b="1" dirty="0">
                <a:ln w="15875">
                  <a:noFill/>
                </a:ln>
                <a:solidFill>
                  <a:sysClr val="window" lastClr="FFFFFF"/>
                </a:solidFill>
              </a:rPr>
              <a:t>客户</a:t>
            </a:r>
            <a:r>
              <a:rPr kumimoji="1" lang="zh-CN" altLang="en-US" sz="1600" b="1" dirty="0">
                <a:ln w="15875">
                  <a:noFill/>
                </a:ln>
                <a:solidFill>
                  <a:sysClr val="window" lastClr="FFFFFF"/>
                </a:solidFill>
              </a:rPr>
              <a:t>采用</a:t>
            </a:r>
            <a:r>
              <a:rPr kumimoji="1" lang="en-US" altLang="zh-CN" sz="1600" b="1" dirty="0">
                <a:ln w="15875">
                  <a:noFill/>
                </a:ln>
                <a:solidFill>
                  <a:sysClr val="window" lastClr="FFFFFF"/>
                </a:solidFill>
              </a:rPr>
              <a:t>Go</a:t>
            </a:r>
            <a:r>
              <a:rPr kumimoji="1" lang="zh-CN" altLang="en-US" sz="1600" b="1" dirty="0">
                <a:ln w="15875">
                  <a:noFill/>
                </a:ln>
                <a:solidFill>
                  <a:sysClr val="window" lastClr="FFFFFF"/>
                </a:solidFill>
              </a:rPr>
              <a:t>语言开发</a:t>
            </a:r>
            <a:endParaRPr kumimoji="1" lang="zh-CN" altLang="en-US" sz="1600" b="1" dirty="0">
              <a:ln w="15875">
                <a:noFill/>
              </a:ln>
              <a:solidFill>
                <a:sysClr val="window" lastClr="FFFFFF"/>
              </a:solidFill>
              <a:sym typeface="Calibri" panose="020F0502020204030204" charset="0"/>
            </a:endParaRPr>
          </a:p>
        </p:txBody>
      </p:sp>
      <p:sp>
        <p:nvSpPr>
          <p:cNvPr id="11" name="文本框 10"/>
          <p:cNvSpPr txBox="1"/>
          <p:nvPr/>
        </p:nvSpPr>
        <p:spPr>
          <a:xfrm>
            <a:off x="5118450" y="2020706"/>
            <a:ext cx="6640413" cy="4768678"/>
          </a:xfrm>
          <a:prstGeom prst="rect">
            <a:avLst/>
          </a:prstGeom>
          <a:noFill/>
        </p:spPr>
        <p:txBody>
          <a:bodyPr wrap="square">
            <a:spAutoFit/>
          </a:bodyPr>
          <a:lstStyle/>
          <a:p>
            <a:pPr marL="342900" lvl="0" indent="-342900">
              <a:lnSpc>
                <a:spcPct val="150000"/>
              </a:lnSpc>
              <a:buFont typeface="+mj-lt"/>
              <a:buAutoNum type="arabicPeriod"/>
            </a:pPr>
            <a:r>
              <a:rPr lang="zh-CN" altLang="zh-CN" sz="1200" b="1" kern="100" dirty="0">
                <a:solidFill>
                  <a:srgbClr val="C00000"/>
                </a:solidFill>
                <a:effectLst/>
                <a:latin typeface="+mn-ea"/>
              </a:rPr>
              <a:t>检查是否在代码工程中</a:t>
            </a:r>
            <a:r>
              <a:rPr lang="en-US" altLang="zh-CN" sz="1200" b="1" kern="100" dirty="0">
                <a:solidFill>
                  <a:srgbClr val="C00000"/>
                </a:solidFill>
                <a:effectLst/>
                <a:latin typeface="+mn-ea"/>
              </a:rPr>
              <a:t> import crypto/x509</a:t>
            </a:r>
            <a:r>
              <a:rPr lang="zh-CN" altLang="zh-CN" sz="1200" b="1" kern="100" dirty="0">
                <a:solidFill>
                  <a:srgbClr val="C00000"/>
                </a:solidFill>
                <a:effectLst/>
                <a:latin typeface="+mn-ea"/>
              </a:rPr>
              <a:t>，</a:t>
            </a:r>
            <a:r>
              <a:rPr lang="zh-CN" altLang="zh-CN" sz="1200" kern="100" dirty="0">
                <a:effectLst/>
                <a:latin typeface="+mn-ea"/>
              </a:rPr>
              <a:t>并在代码中指定证书路径或证书文件，且未在发起请求时跳过证书校验，则说明明确使用了</a:t>
            </a:r>
            <a:r>
              <a:rPr lang="en-US" altLang="zh-CN" sz="1200" b="1" kern="100" dirty="0">
                <a:solidFill>
                  <a:srgbClr val="C00000"/>
                </a:solidFill>
                <a:effectLst/>
                <a:latin typeface="+mn-ea"/>
              </a:rPr>
              <a:t>CA</a:t>
            </a:r>
            <a:r>
              <a:rPr lang="zh-CN" altLang="zh-CN" sz="1200" b="1" kern="100" dirty="0">
                <a:solidFill>
                  <a:srgbClr val="C00000"/>
                </a:solidFill>
                <a:effectLst/>
                <a:latin typeface="+mn-ea"/>
              </a:rPr>
              <a:t>证书</a:t>
            </a:r>
            <a:r>
              <a:rPr lang="zh-CN" altLang="zh-CN" sz="1200" kern="100" dirty="0">
                <a:effectLst/>
                <a:latin typeface="+mn-ea"/>
              </a:rPr>
              <a:t>。</a:t>
            </a:r>
          </a:p>
          <a:p>
            <a:pPr>
              <a:lnSpc>
                <a:spcPct val="150000"/>
              </a:lnSpc>
              <a:buNone/>
            </a:pPr>
            <a:r>
              <a:rPr lang="zh-CN" altLang="zh-CN" sz="1200" kern="100" dirty="0">
                <a:effectLst/>
                <a:latin typeface="+mn-ea"/>
              </a:rPr>
              <a:t>指定加载代码示例（非真实业务代码）：</a:t>
            </a:r>
          </a:p>
          <a:p>
            <a:pPr>
              <a:lnSpc>
                <a:spcPct val="150000"/>
              </a:lnSpc>
              <a:buNone/>
            </a:pPr>
            <a:r>
              <a:rPr lang="en-US" altLang="zh-CN" sz="1200" kern="100" dirty="0" err="1">
                <a:effectLst/>
                <a:latin typeface="+mn-ea"/>
              </a:rPr>
              <a:t>caCertPath</a:t>
            </a:r>
            <a:r>
              <a:rPr lang="en-US" altLang="zh-CN" sz="1200" kern="100" dirty="0">
                <a:effectLst/>
                <a:latin typeface="+mn-ea"/>
              </a:rPr>
              <a:t> := "/root/Go/</a:t>
            </a:r>
            <a:r>
              <a:rPr lang="en-US" altLang="zh-CN" sz="1200" b="1" kern="100" dirty="0">
                <a:solidFill>
                  <a:srgbClr val="C00000"/>
                </a:solidFill>
                <a:effectLst/>
                <a:latin typeface="+mn-ea"/>
              </a:rPr>
              <a:t>ca.crt</a:t>
            </a:r>
            <a:r>
              <a:rPr lang="en-US" altLang="zh-CN" sz="1200" kern="100" dirty="0">
                <a:effectLst/>
                <a:latin typeface="+mn-ea"/>
              </a:rPr>
              <a:t>"</a:t>
            </a:r>
            <a:endParaRPr lang="zh-CN" altLang="zh-CN" sz="1200" kern="100" dirty="0">
              <a:effectLst/>
              <a:latin typeface="+mn-ea"/>
            </a:endParaRPr>
          </a:p>
          <a:p>
            <a:pPr>
              <a:lnSpc>
                <a:spcPct val="150000"/>
              </a:lnSpc>
              <a:buNone/>
            </a:pPr>
            <a:r>
              <a:rPr lang="en-US" altLang="zh-CN" sz="1200" kern="100" dirty="0">
                <a:effectLst/>
                <a:latin typeface="+mn-ea"/>
              </a:rPr>
              <a:t>…</a:t>
            </a:r>
            <a:endParaRPr lang="zh-CN" altLang="zh-CN" sz="1200" kern="100" dirty="0">
              <a:effectLst/>
              <a:latin typeface="+mn-ea"/>
            </a:endParaRPr>
          </a:p>
          <a:p>
            <a:pPr>
              <a:lnSpc>
                <a:spcPct val="150000"/>
              </a:lnSpc>
              <a:buNone/>
            </a:pPr>
            <a:r>
              <a:rPr lang="en-US" altLang="zh-CN" sz="1200" kern="100" dirty="0" err="1">
                <a:effectLst/>
                <a:latin typeface="+mn-ea"/>
              </a:rPr>
              <a:t>caCertPool</a:t>
            </a:r>
            <a:r>
              <a:rPr lang="en-US" altLang="zh-CN" sz="1200" kern="100" dirty="0">
                <a:effectLst/>
                <a:latin typeface="+mn-ea"/>
              </a:rPr>
              <a:t> := x509.NewCertPool()</a:t>
            </a:r>
            <a:endParaRPr lang="zh-CN" altLang="zh-CN" sz="1200" kern="100" dirty="0">
              <a:effectLst/>
              <a:latin typeface="+mn-ea"/>
            </a:endParaRPr>
          </a:p>
          <a:p>
            <a:pPr>
              <a:lnSpc>
                <a:spcPct val="150000"/>
              </a:lnSpc>
              <a:buNone/>
            </a:pPr>
            <a:r>
              <a:rPr lang="en-US" altLang="zh-CN" sz="1200" b="1" kern="100" dirty="0">
                <a:solidFill>
                  <a:srgbClr val="C00000"/>
                </a:solidFill>
                <a:effectLst/>
                <a:latin typeface="+mn-ea"/>
              </a:rPr>
              <a:t>2</a:t>
            </a:r>
            <a:r>
              <a:rPr lang="zh-CN" altLang="en-US" sz="1200" b="1" kern="100" dirty="0">
                <a:solidFill>
                  <a:srgbClr val="C00000"/>
                </a:solidFill>
                <a:effectLst/>
                <a:latin typeface="+mn-ea"/>
              </a:rPr>
              <a:t>、</a:t>
            </a:r>
            <a:r>
              <a:rPr lang="en-US" altLang="zh-CN" sz="1200" b="1" kern="100" dirty="0">
                <a:solidFill>
                  <a:srgbClr val="C00000"/>
                </a:solidFill>
                <a:effectLst/>
                <a:latin typeface="+mn-ea"/>
              </a:rPr>
              <a:t>//TLS</a:t>
            </a:r>
            <a:r>
              <a:rPr lang="zh-CN" altLang="zh-CN" sz="1200" b="1" kern="100" dirty="0">
                <a:solidFill>
                  <a:srgbClr val="C00000"/>
                </a:solidFill>
                <a:effectLst/>
                <a:latin typeface="+mn-ea"/>
              </a:rPr>
              <a:t>没有没人跳过校验</a:t>
            </a:r>
          </a:p>
          <a:p>
            <a:pPr>
              <a:lnSpc>
                <a:spcPct val="150000"/>
              </a:lnSpc>
              <a:buNone/>
            </a:pPr>
            <a:r>
              <a:rPr lang="en-US" altLang="zh-CN" sz="1200" b="1" kern="100" dirty="0" err="1">
                <a:effectLst/>
                <a:latin typeface="+mn-ea"/>
              </a:rPr>
              <a:t>tlsConfig</a:t>
            </a:r>
            <a:r>
              <a:rPr lang="en-US" altLang="zh-CN" sz="1200" kern="100" dirty="0">
                <a:effectLst/>
                <a:latin typeface="+mn-ea"/>
              </a:rPr>
              <a:t> := &amp;</a:t>
            </a:r>
            <a:r>
              <a:rPr lang="en-US" altLang="zh-CN" sz="1200" kern="100" dirty="0" err="1">
                <a:effectLst/>
                <a:latin typeface="+mn-ea"/>
              </a:rPr>
              <a:t>tls.Config</a:t>
            </a:r>
            <a:r>
              <a:rPr lang="en-US" altLang="zh-CN" sz="1200" kern="100" dirty="0">
                <a:effectLst/>
                <a:latin typeface="+mn-ea"/>
              </a:rPr>
              <a:t>{</a:t>
            </a:r>
            <a:endParaRPr lang="zh-CN" altLang="zh-CN" sz="1200" kern="100" dirty="0">
              <a:effectLst/>
              <a:latin typeface="+mn-ea"/>
            </a:endParaRPr>
          </a:p>
          <a:p>
            <a:pPr>
              <a:lnSpc>
                <a:spcPct val="150000"/>
              </a:lnSpc>
              <a:buNone/>
            </a:pPr>
            <a:r>
              <a:rPr lang="en-US" altLang="zh-CN" sz="1200" kern="100" dirty="0">
                <a:effectLst/>
                <a:latin typeface="+mn-ea"/>
              </a:rPr>
              <a:t>                </a:t>
            </a:r>
            <a:r>
              <a:rPr lang="en-US" altLang="zh-CN" sz="1200" kern="100" dirty="0" err="1">
                <a:effectLst/>
                <a:latin typeface="+mn-ea"/>
              </a:rPr>
              <a:t>RootCAs</a:t>
            </a:r>
            <a:r>
              <a:rPr lang="en-US" altLang="zh-CN" sz="1200" kern="100" dirty="0">
                <a:effectLst/>
                <a:latin typeface="+mn-ea"/>
              </a:rPr>
              <a:t>:            </a:t>
            </a:r>
            <a:r>
              <a:rPr lang="en-US" altLang="zh-CN" sz="1200" kern="100" dirty="0" err="1">
                <a:effectLst/>
                <a:latin typeface="+mn-ea"/>
              </a:rPr>
              <a:t>caCertPool</a:t>
            </a:r>
            <a:r>
              <a:rPr lang="en-US" altLang="zh-CN" sz="1200" kern="100" dirty="0">
                <a:effectLst/>
                <a:latin typeface="+mn-ea"/>
              </a:rPr>
              <a:t>,</a:t>
            </a:r>
            <a:endParaRPr lang="zh-CN" altLang="zh-CN" sz="1200" kern="100" dirty="0">
              <a:effectLst/>
              <a:latin typeface="+mn-ea"/>
            </a:endParaRPr>
          </a:p>
          <a:p>
            <a:pPr>
              <a:lnSpc>
                <a:spcPct val="150000"/>
              </a:lnSpc>
              <a:buNone/>
            </a:pPr>
            <a:r>
              <a:rPr lang="en-US" altLang="zh-CN" sz="1200" kern="100" dirty="0">
                <a:effectLst/>
                <a:latin typeface="+mn-ea"/>
              </a:rPr>
              <a:t>                </a:t>
            </a:r>
            <a:r>
              <a:rPr lang="en-US" altLang="zh-CN" sz="1200" kern="100" dirty="0" err="1">
                <a:effectLst/>
                <a:latin typeface="+mn-ea"/>
              </a:rPr>
              <a:t>ServerName</a:t>
            </a:r>
            <a:r>
              <a:rPr lang="en-US" altLang="zh-CN" sz="1200" kern="100" dirty="0">
                <a:effectLst/>
                <a:latin typeface="+mn-ea"/>
              </a:rPr>
              <a:t>:         "</a:t>
            </a:r>
            <a:r>
              <a:rPr lang="en-US" altLang="zh-CN" sz="1200" kern="100" dirty="0" err="1">
                <a:effectLst/>
                <a:latin typeface="+mn-ea"/>
              </a:rPr>
              <a:t>xxxx</a:t>
            </a:r>
            <a:r>
              <a:rPr lang="en-US" altLang="zh-CN" sz="1200" kern="100" dirty="0">
                <a:effectLst/>
                <a:latin typeface="+mn-ea"/>
              </a:rPr>
              <a:t>",</a:t>
            </a:r>
            <a:endParaRPr lang="zh-CN" altLang="zh-CN" sz="1200" kern="100" dirty="0">
              <a:effectLst/>
              <a:latin typeface="+mn-ea"/>
            </a:endParaRPr>
          </a:p>
          <a:p>
            <a:pPr>
              <a:lnSpc>
                <a:spcPct val="150000"/>
              </a:lnSpc>
              <a:buNone/>
            </a:pPr>
            <a:r>
              <a:rPr lang="en-US" altLang="zh-CN" sz="1200" kern="100" dirty="0">
                <a:effectLst/>
                <a:latin typeface="+mn-ea"/>
              </a:rPr>
              <a:t>                </a:t>
            </a:r>
            <a:r>
              <a:rPr lang="en-US" altLang="zh-CN" sz="1200" kern="100" dirty="0" err="1">
                <a:effectLst/>
                <a:latin typeface="+mn-ea"/>
              </a:rPr>
              <a:t>InsecureSkipVerify</a:t>
            </a:r>
            <a:r>
              <a:rPr lang="en-US" altLang="zh-CN" sz="1200" kern="100" dirty="0">
                <a:effectLst/>
                <a:latin typeface="+mn-ea"/>
              </a:rPr>
              <a:t>:  true,</a:t>
            </a:r>
            <a:endParaRPr lang="zh-CN" altLang="zh-CN" sz="1200" kern="100" dirty="0">
              <a:effectLst/>
              <a:latin typeface="+mn-ea"/>
            </a:endParaRPr>
          </a:p>
          <a:p>
            <a:pPr>
              <a:lnSpc>
                <a:spcPct val="150000"/>
              </a:lnSpc>
              <a:buNone/>
            </a:pPr>
            <a:r>
              <a:rPr lang="en-US" altLang="zh-CN" sz="1200" kern="100" dirty="0">
                <a:effectLst/>
                <a:latin typeface="+mn-ea"/>
              </a:rPr>
              <a:t>                </a:t>
            </a:r>
            <a:r>
              <a:rPr lang="en-US" altLang="zh-CN" sz="1200" kern="100" dirty="0" err="1">
                <a:effectLst/>
                <a:latin typeface="+mn-ea"/>
              </a:rPr>
              <a:t>MinVersion</a:t>
            </a:r>
            <a:r>
              <a:rPr lang="en-US" altLang="zh-CN" sz="1200" kern="100" dirty="0">
                <a:effectLst/>
                <a:latin typeface="+mn-ea"/>
              </a:rPr>
              <a:t>:         tls.VersionTLS12,</a:t>
            </a:r>
            <a:endParaRPr lang="zh-CN" altLang="zh-CN" sz="1200" kern="100" dirty="0">
              <a:effectLst/>
              <a:latin typeface="+mn-ea"/>
            </a:endParaRPr>
          </a:p>
          <a:p>
            <a:pPr>
              <a:lnSpc>
                <a:spcPct val="150000"/>
              </a:lnSpc>
              <a:buNone/>
            </a:pPr>
            <a:r>
              <a:rPr lang="en-US" altLang="zh-CN" sz="1200" kern="100" dirty="0">
                <a:effectLst/>
                <a:latin typeface="+mn-ea"/>
              </a:rPr>
              <a:t>				// </a:t>
            </a:r>
            <a:r>
              <a:rPr lang="en-US" altLang="zh-CN" sz="1200" kern="100" dirty="0" err="1">
                <a:effectLst/>
                <a:latin typeface="+mn-ea"/>
              </a:rPr>
              <a:t>VerifyPeerCertificate</a:t>
            </a:r>
            <a:r>
              <a:rPr lang="zh-CN" altLang="zh-CN" sz="1200" kern="100" dirty="0">
                <a:effectLst/>
                <a:latin typeface="+mn-ea"/>
              </a:rPr>
              <a:t>未自定义会导致进入</a:t>
            </a:r>
            <a:r>
              <a:rPr lang="en-US" altLang="zh-CN" sz="1200" kern="100" dirty="0">
                <a:effectLst/>
                <a:latin typeface="+mn-ea"/>
              </a:rPr>
              <a:t>Go TLS</a:t>
            </a:r>
            <a:r>
              <a:rPr lang="zh-CN" altLang="zh-CN" sz="1200" kern="100" dirty="0">
                <a:effectLst/>
                <a:latin typeface="+mn-ea"/>
              </a:rPr>
              <a:t>默认流程，验证证书有效性</a:t>
            </a:r>
          </a:p>
          <a:p>
            <a:pPr>
              <a:lnSpc>
                <a:spcPct val="150000"/>
              </a:lnSpc>
              <a:buNone/>
            </a:pPr>
            <a:r>
              <a:rPr lang="en-US" altLang="zh-CN" sz="1200" kern="100" dirty="0">
                <a:effectLst/>
                <a:latin typeface="+mn-ea"/>
              </a:rPr>
              <a:t>                </a:t>
            </a:r>
            <a:r>
              <a:rPr lang="en-US" altLang="zh-CN" sz="1200" kern="100" dirty="0" err="1">
                <a:effectLst/>
                <a:latin typeface="+mn-ea"/>
              </a:rPr>
              <a:t>VerifyPeerCertificate</a:t>
            </a:r>
            <a:r>
              <a:rPr lang="en-US" altLang="zh-CN" sz="1200" kern="100" dirty="0">
                <a:effectLst/>
                <a:latin typeface="+mn-ea"/>
              </a:rPr>
              <a:t>: </a:t>
            </a:r>
            <a:r>
              <a:rPr lang="en-US" altLang="zh-CN" sz="1200" kern="100" dirty="0" err="1">
                <a:effectLst/>
                <a:latin typeface="+mn-ea"/>
              </a:rPr>
              <a:t>func</a:t>
            </a:r>
            <a:r>
              <a:rPr lang="en-US" altLang="zh-CN" sz="1200" kern="100" dirty="0">
                <a:effectLst/>
                <a:latin typeface="+mn-ea"/>
              </a:rPr>
              <a:t>(</a:t>
            </a:r>
            <a:r>
              <a:rPr lang="en-US" altLang="zh-CN" sz="1200" kern="100" dirty="0" err="1">
                <a:effectLst/>
                <a:latin typeface="+mn-ea"/>
              </a:rPr>
              <a:t>rawCerts</a:t>
            </a:r>
            <a:r>
              <a:rPr lang="en-US" altLang="zh-CN" sz="1200" kern="100" dirty="0">
                <a:effectLst/>
                <a:latin typeface="+mn-ea"/>
              </a:rPr>
              <a:t> [][]byte, </a:t>
            </a:r>
            <a:r>
              <a:rPr lang="en-US" altLang="zh-CN" sz="1200" kern="100" dirty="0" err="1">
                <a:effectLst/>
                <a:latin typeface="+mn-ea"/>
              </a:rPr>
              <a:t>verifiedChains</a:t>
            </a:r>
            <a:r>
              <a:rPr lang="en-US" altLang="zh-CN" sz="1200" kern="100" dirty="0">
                <a:effectLst/>
                <a:latin typeface="+mn-ea"/>
              </a:rPr>
              <a:t> [][]*x509.Certificate) error {</a:t>
            </a:r>
            <a:endParaRPr lang="zh-CN" altLang="zh-CN" sz="1200" kern="100" dirty="0">
              <a:effectLst/>
              <a:latin typeface="+mn-ea"/>
            </a:endParaRPr>
          </a:p>
          <a:p>
            <a:pPr>
              <a:lnSpc>
                <a:spcPct val="150000"/>
              </a:lnSpc>
              <a:buNone/>
            </a:pPr>
            <a:r>
              <a:rPr lang="en-US" altLang="zh-CN" sz="1200" kern="100" dirty="0">
                <a:effectLst/>
                <a:latin typeface="+mn-ea"/>
              </a:rPr>
              <a:t>				//</a:t>
            </a:r>
            <a:r>
              <a:rPr lang="zh-CN" altLang="zh-CN" sz="1200" kern="100" dirty="0">
                <a:effectLst/>
                <a:latin typeface="+mn-ea"/>
              </a:rPr>
              <a:t>未默认返回</a:t>
            </a:r>
            <a:r>
              <a:rPr lang="en-US" altLang="zh-CN" sz="1200" kern="100" dirty="0">
                <a:effectLst/>
                <a:latin typeface="+mn-ea"/>
              </a:rPr>
              <a:t>nil</a:t>
            </a:r>
            <a:r>
              <a:rPr lang="zh-CN" altLang="zh-CN" sz="1200" kern="100" dirty="0">
                <a:effectLst/>
                <a:latin typeface="+mn-ea"/>
              </a:rPr>
              <a:t>，不校验服务端证书</a:t>
            </a:r>
          </a:p>
        </p:txBody>
      </p:sp>
      <p:graphicFrame>
        <p:nvGraphicFramePr>
          <p:cNvPr id="14" name="对象 13"/>
          <p:cNvGraphicFramePr>
            <a:graphicFrameLocks noChangeAspect="1"/>
          </p:cNvGraphicFramePr>
          <p:nvPr/>
        </p:nvGraphicFramePr>
        <p:xfrm>
          <a:off x="10265344" y="3085603"/>
          <a:ext cx="1645333" cy="1416815"/>
        </p:xfrm>
        <a:graphic>
          <a:graphicData uri="http://schemas.openxmlformats.org/presentationml/2006/ole">
            <mc:AlternateContent xmlns:mc="http://schemas.openxmlformats.org/markup-compatibility/2006">
              <mc:Choice xmlns:v="urn:schemas-microsoft-com:vml" Requires="v">
                <p:oleObj name="包装程序外壳对象" showAsIcon="1" r:id="rId4" imgW="839470" imgH="723265" progId="Package">
                  <p:embed/>
                </p:oleObj>
              </mc:Choice>
              <mc:Fallback>
                <p:oleObj name="包装程序外壳对象" showAsIcon="1" r:id="rId4" imgW="839470" imgH="723265" progId="Package">
                  <p:embed/>
                  <p:pic>
                    <p:nvPicPr>
                      <p:cNvPr id="0" name="图片 2"/>
                      <p:cNvPicPr/>
                      <p:nvPr/>
                    </p:nvPicPr>
                    <p:blipFill>
                      <a:blip r:embed="rId5"/>
                      <a:stretch>
                        <a:fillRect/>
                      </a:stretch>
                    </p:blipFill>
                    <p:spPr>
                      <a:xfrm>
                        <a:off x="10265344" y="3085603"/>
                        <a:ext cx="1645333" cy="1416815"/>
                      </a:xfrm>
                      <a:prstGeom prst="rect">
                        <a:avLst/>
                      </a:prstGeom>
                    </p:spPr>
                  </p:pic>
                </p:oleObj>
              </mc:Fallback>
            </mc:AlternateContent>
          </a:graphicData>
        </a:graphic>
      </p:graphicFrame>
      <p:sp>
        <p:nvSpPr>
          <p:cNvPr id="15" name="文本框 14"/>
          <p:cNvSpPr txBox="1"/>
          <p:nvPr/>
        </p:nvSpPr>
        <p:spPr>
          <a:xfrm>
            <a:off x="10385151" y="3916463"/>
            <a:ext cx="1645333" cy="369332"/>
          </a:xfrm>
          <a:prstGeom prst="rect">
            <a:avLst/>
          </a:prstGeom>
          <a:noFill/>
        </p:spPr>
        <p:txBody>
          <a:bodyPr wrap="square">
            <a:spAutoFit/>
          </a:bodyPr>
          <a:lstStyle/>
          <a:p>
            <a:r>
              <a:rPr kumimoji="1" lang="zh-CN" altLang="en-US" b="1" dirty="0">
                <a:solidFill>
                  <a:srgbClr val="C00000"/>
                </a:solidFill>
                <a:latin typeface="+mn-ea"/>
                <a:sym typeface="Arial" panose="020B0604020202020204" pitchFamily="34" charset="0"/>
              </a:rPr>
              <a:t>新版本</a:t>
            </a:r>
            <a:r>
              <a:rPr kumimoji="1" lang="en-US" altLang="zh-CN" b="1" dirty="0">
                <a:solidFill>
                  <a:srgbClr val="C00000"/>
                </a:solidFill>
                <a:latin typeface="+mn-ea"/>
                <a:sym typeface="Arial" panose="020B0604020202020204" pitchFamily="34" charset="0"/>
              </a:rPr>
              <a:t>ca</a:t>
            </a:r>
            <a:r>
              <a:rPr kumimoji="1" lang="zh-CN" altLang="en-US" b="1" dirty="0">
                <a:solidFill>
                  <a:srgbClr val="C00000"/>
                </a:solidFill>
                <a:latin typeface="+mn-ea"/>
                <a:sym typeface="Arial" panose="020B0604020202020204" pitchFamily="34" charset="0"/>
              </a:rPr>
              <a:t>证书</a:t>
            </a:r>
            <a:endParaRPr lang="zh-CN" altLang="en-US"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圆角 12"/>
          <p:cNvSpPr/>
          <p:nvPr/>
        </p:nvSpPr>
        <p:spPr>
          <a:xfrm>
            <a:off x="4966636" y="2020706"/>
            <a:ext cx="6987941" cy="443784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12" name="矩形: 圆角 11"/>
          <p:cNvSpPr/>
          <p:nvPr/>
        </p:nvSpPr>
        <p:spPr>
          <a:xfrm>
            <a:off x="0" y="2056809"/>
            <a:ext cx="4494998" cy="480119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4" name="标题 3"/>
          <p:cNvSpPr>
            <a:spLocks noGrp="1"/>
          </p:cNvSpPr>
          <p:nvPr>
            <p:ph type="title"/>
          </p:nvPr>
        </p:nvSpPr>
        <p:spPr>
          <a:xfrm>
            <a:off x="335359" y="249620"/>
            <a:ext cx="10550814" cy="558110"/>
          </a:xfrm>
        </p:spPr>
        <p:txBody>
          <a:bodyPr/>
          <a:lstStyle/>
          <a:p>
            <a:r>
              <a:rPr lang="zh-CN" altLang="en-US" dirty="0"/>
              <a:t>解决方案</a:t>
            </a:r>
            <a:r>
              <a:rPr lang="en-US" altLang="zh-CN" dirty="0"/>
              <a:t>(3/4)</a:t>
            </a:r>
            <a:r>
              <a:rPr lang="zh-CN" altLang="en-US" dirty="0"/>
              <a:t>：客户使用</a:t>
            </a:r>
            <a:r>
              <a:rPr lang="en-US" altLang="zh-CN" dirty="0"/>
              <a:t>Python</a:t>
            </a:r>
            <a:r>
              <a:rPr lang="zh-CN" altLang="en-US" dirty="0"/>
              <a:t>或</a:t>
            </a:r>
            <a:r>
              <a:rPr lang="en-US" altLang="zh-CN" dirty="0"/>
              <a:t>C++</a:t>
            </a:r>
            <a:r>
              <a:rPr lang="zh-CN" altLang="en-US" dirty="0"/>
              <a:t>开发且应用侧加载</a:t>
            </a:r>
            <a:r>
              <a:rPr lang="en-US" altLang="zh-CN" dirty="0"/>
              <a:t>(ca</a:t>
            </a:r>
            <a:r>
              <a:rPr lang="zh-CN" altLang="en-US" dirty="0"/>
              <a:t>证书</a:t>
            </a:r>
            <a:r>
              <a:rPr lang="en-US" altLang="zh-CN" dirty="0" err="1"/>
              <a:t>pem</a:t>
            </a:r>
            <a:r>
              <a:rPr lang="zh-CN" altLang="en-US" dirty="0"/>
              <a:t>后缀</a:t>
            </a:r>
            <a:r>
              <a:rPr lang="en-US" altLang="zh-CN" dirty="0"/>
              <a:t>)</a:t>
            </a:r>
            <a:endParaRPr lang="zh-CN" altLang="en-US" dirty="0"/>
          </a:p>
        </p:txBody>
      </p:sp>
      <p:sp>
        <p:nvSpPr>
          <p:cNvPr id="2" name="文本框 1"/>
          <p:cNvSpPr txBox="1"/>
          <p:nvPr>
            <p:custDataLst>
              <p:tags r:id="rId1"/>
            </p:custDataLst>
          </p:nvPr>
        </p:nvSpPr>
        <p:spPr>
          <a:xfrm>
            <a:off x="874145" y="1718255"/>
            <a:ext cx="2571115" cy="338554"/>
          </a:xfrm>
          <a:prstGeom prst="rect">
            <a:avLst/>
          </a:prstGeom>
          <a:solidFill>
            <a:srgbClr val="C00000"/>
          </a:solidFill>
        </p:spPr>
        <p:txBody>
          <a:bodyPr wrap="square" rtlCol="0" anchor="t">
            <a:spAutoFit/>
          </a:bodyPr>
          <a:lstStyle>
            <a:defPPr>
              <a:defRPr lang="zh-CN"/>
            </a:defPPr>
            <a:lvl1pPr algn="l" rtl="0" eaLnBrk="0" fontAlgn="base" hangingPunct="0">
              <a:spcBef>
                <a:spcPct val="0"/>
              </a:spcBef>
              <a:spcAft>
                <a:spcPct val="0"/>
              </a:spcAft>
              <a:defRPr kern="1200">
                <a:solidFill>
                  <a:sysClr val="windowText" lastClr="000000"/>
                </a:solidFill>
                <a:latin typeface="Arial" panose="020B0604020202020204" pitchFamily="34" charset="0"/>
                <a:ea typeface="微软雅黑" panose="020B0503020204020204" charset="-122"/>
                <a:cs typeface="+mn-ea"/>
              </a:defRPr>
            </a:lvl1pPr>
            <a:lvl2pPr marL="457200" algn="l" rtl="0" eaLnBrk="0" fontAlgn="base" hangingPunct="0">
              <a:spcBef>
                <a:spcPct val="0"/>
              </a:spcBef>
              <a:spcAft>
                <a:spcPct val="0"/>
              </a:spcAft>
              <a:defRPr kern="1200">
                <a:solidFill>
                  <a:sysClr val="windowText" lastClr="000000"/>
                </a:solidFill>
                <a:latin typeface="Arial" panose="020B0604020202020204" pitchFamily="34" charset="0"/>
                <a:ea typeface="微软雅黑" panose="020B0503020204020204" charset="-122"/>
                <a:cs typeface="+mn-ea"/>
              </a:defRPr>
            </a:lvl2pPr>
            <a:lvl3pPr marL="914400" algn="l" rtl="0" eaLnBrk="0" fontAlgn="base" hangingPunct="0">
              <a:spcBef>
                <a:spcPct val="0"/>
              </a:spcBef>
              <a:spcAft>
                <a:spcPct val="0"/>
              </a:spcAft>
              <a:defRPr kern="1200">
                <a:solidFill>
                  <a:sysClr val="windowText" lastClr="000000"/>
                </a:solidFill>
                <a:latin typeface="Arial" panose="020B0604020202020204" pitchFamily="34" charset="0"/>
                <a:ea typeface="微软雅黑" panose="020B0503020204020204" charset="-122"/>
                <a:cs typeface="+mn-ea"/>
              </a:defRPr>
            </a:lvl3pPr>
            <a:lvl4pPr marL="1371600" algn="l" rtl="0" eaLnBrk="0" fontAlgn="base" hangingPunct="0">
              <a:spcBef>
                <a:spcPct val="0"/>
              </a:spcBef>
              <a:spcAft>
                <a:spcPct val="0"/>
              </a:spcAft>
              <a:defRPr kern="1200">
                <a:solidFill>
                  <a:sysClr val="windowText" lastClr="000000"/>
                </a:solidFill>
                <a:latin typeface="Arial" panose="020B0604020202020204" pitchFamily="34" charset="0"/>
                <a:ea typeface="微软雅黑" panose="020B0503020204020204" charset="-122"/>
                <a:cs typeface="+mn-ea"/>
              </a:defRPr>
            </a:lvl4pPr>
            <a:lvl5pPr marL="1828800" algn="l" rtl="0" eaLnBrk="0" fontAlgn="base" hangingPunct="0">
              <a:spcBef>
                <a:spcPct val="0"/>
              </a:spcBef>
              <a:spcAft>
                <a:spcPct val="0"/>
              </a:spcAft>
              <a:defRPr kern="1200">
                <a:solidFill>
                  <a:sysClr val="windowText" lastClr="000000"/>
                </a:solidFill>
                <a:latin typeface="Arial" panose="020B0604020202020204" pitchFamily="34" charset="0"/>
                <a:ea typeface="微软雅黑" panose="020B0503020204020204" charset="-122"/>
                <a:cs typeface="+mn-ea"/>
              </a:defRPr>
            </a:lvl5pPr>
            <a:lvl6pPr marL="2286000" algn="l" defTabSz="914400" rtl="0" eaLnBrk="1" latinLnBrk="0" hangingPunct="1">
              <a:defRPr kern="1200">
                <a:solidFill>
                  <a:sysClr val="windowText" lastClr="000000"/>
                </a:solidFill>
                <a:latin typeface="Arial" panose="020B0604020202020204" pitchFamily="34" charset="0"/>
                <a:ea typeface="微软雅黑" panose="020B0503020204020204" charset="-122"/>
                <a:cs typeface="+mn-ea"/>
              </a:defRPr>
            </a:lvl6pPr>
            <a:lvl7pPr marL="2743200" algn="l" defTabSz="914400" rtl="0" eaLnBrk="1" latinLnBrk="0" hangingPunct="1">
              <a:defRPr kern="1200">
                <a:solidFill>
                  <a:sysClr val="windowText" lastClr="000000"/>
                </a:solidFill>
                <a:latin typeface="Arial" panose="020B0604020202020204" pitchFamily="34" charset="0"/>
                <a:ea typeface="微软雅黑" panose="020B0503020204020204" charset="-122"/>
                <a:cs typeface="+mn-ea"/>
              </a:defRPr>
            </a:lvl7pPr>
            <a:lvl8pPr marL="3200400" algn="l" defTabSz="914400" rtl="0" eaLnBrk="1" latinLnBrk="0" hangingPunct="1">
              <a:defRPr kern="1200">
                <a:solidFill>
                  <a:sysClr val="windowText" lastClr="000000"/>
                </a:solidFill>
                <a:latin typeface="Arial" panose="020B0604020202020204" pitchFamily="34" charset="0"/>
                <a:ea typeface="微软雅黑" panose="020B0503020204020204" charset="-122"/>
                <a:cs typeface="+mn-ea"/>
              </a:defRPr>
            </a:lvl8pPr>
            <a:lvl9pPr marL="3657600" algn="l" defTabSz="914400" rtl="0" eaLnBrk="1" latinLnBrk="0" hangingPunct="1">
              <a:defRPr kern="1200">
                <a:solidFill>
                  <a:sysClr val="windowText" lastClr="000000"/>
                </a:solidFill>
                <a:latin typeface="Arial" panose="020B0604020202020204" pitchFamily="34" charset="0"/>
                <a:ea typeface="微软雅黑" panose="020B0503020204020204" charset="-122"/>
                <a:cs typeface="+mn-ea"/>
              </a:defRPr>
            </a:lvl9pPr>
          </a:lstStyle>
          <a:p>
            <a:pPr algn="ctr">
              <a:spcBef>
                <a:spcPct val="20000"/>
              </a:spcBef>
            </a:pPr>
            <a:r>
              <a:rPr kumimoji="1" lang="zh-CN" altLang="zh-CN" sz="1600" b="1" dirty="0">
                <a:ln w="15875">
                  <a:noFill/>
                </a:ln>
                <a:solidFill>
                  <a:sysClr val="window" lastClr="FFFFFF"/>
                </a:solidFill>
              </a:rPr>
              <a:t>客户</a:t>
            </a:r>
            <a:r>
              <a:rPr kumimoji="1" lang="zh-CN" altLang="en-US" sz="1600" b="1" dirty="0">
                <a:ln w="15875">
                  <a:noFill/>
                </a:ln>
                <a:solidFill>
                  <a:sysClr val="window" lastClr="FFFFFF"/>
                </a:solidFill>
              </a:rPr>
              <a:t>采用</a:t>
            </a:r>
            <a:r>
              <a:rPr kumimoji="1" lang="en-US" altLang="zh-CN" sz="1600" b="1" dirty="0">
                <a:ln w="15875">
                  <a:noFill/>
                </a:ln>
                <a:solidFill>
                  <a:sysClr val="window" lastClr="FFFFFF"/>
                </a:solidFill>
              </a:rPr>
              <a:t>Python</a:t>
            </a:r>
            <a:r>
              <a:rPr kumimoji="1" lang="zh-CN" altLang="en-US" sz="1600" b="1" dirty="0">
                <a:ln w="15875">
                  <a:noFill/>
                </a:ln>
                <a:solidFill>
                  <a:sysClr val="window" lastClr="FFFFFF"/>
                </a:solidFill>
              </a:rPr>
              <a:t>开发</a:t>
            </a:r>
            <a:endParaRPr kumimoji="1" lang="zh-CN" altLang="en-US" sz="1600" b="1" dirty="0">
              <a:ln w="15875">
                <a:noFill/>
              </a:ln>
              <a:solidFill>
                <a:sysClr val="window" lastClr="FFFFFF"/>
              </a:solidFill>
              <a:sym typeface="Calibri" panose="020F0502020204030204" charset="0"/>
            </a:endParaRPr>
          </a:p>
        </p:txBody>
      </p:sp>
      <p:sp>
        <p:nvSpPr>
          <p:cNvPr id="7" name="文本框 6"/>
          <p:cNvSpPr txBox="1"/>
          <p:nvPr/>
        </p:nvSpPr>
        <p:spPr>
          <a:xfrm>
            <a:off x="84221" y="2299581"/>
            <a:ext cx="4410777" cy="3416320"/>
          </a:xfrm>
          <a:prstGeom prst="rect">
            <a:avLst/>
          </a:prstGeom>
          <a:noFill/>
        </p:spPr>
        <p:txBody>
          <a:bodyPr wrap="square">
            <a:spAutoFit/>
          </a:bodyPr>
          <a:lstStyle/>
          <a:p>
            <a:pPr lvl="0"/>
            <a:r>
              <a:rPr lang="en-US" altLang="zh-CN" sz="1200" b="1" kern="100" dirty="0">
                <a:solidFill>
                  <a:srgbClr val="C00000"/>
                </a:solidFill>
                <a:effectLst/>
                <a:latin typeface="+mn-ea"/>
              </a:rPr>
              <a:t>1</a:t>
            </a:r>
            <a:r>
              <a:rPr lang="zh-CN" altLang="en-US" sz="1200" b="1" kern="100" dirty="0">
                <a:solidFill>
                  <a:srgbClr val="C00000"/>
                </a:solidFill>
                <a:effectLst/>
                <a:latin typeface="+mn-ea"/>
              </a:rPr>
              <a:t>、需</a:t>
            </a:r>
            <a:r>
              <a:rPr lang="zh-CN" altLang="en-US" sz="1200" b="1" dirty="0">
                <a:solidFill>
                  <a:srgbClr val="C00000"/>
                </a:solidFill>
                <a:latin typeface="+mn-ea"/>
              </a:rPr>
              <a:t>客户研发人员</a:t>
            </a:r>
            <a:r>
              <a:rPr lang="zh-CN" altLang="zh-CN" sz="1200" b="1" dirty="0">
                <a:solidFill>
                  <a:srgbClr val="C00000"/>
                </a:solidFill>
                <a:latin typeface="+mn-ea"/>
              </a:rPr>
              <a:t>在代码中查找是否指定</a:t>
            </a:r>
            <a:r>
              <a:rPr lang="en-US" altLang="zh-CN" sz="1200" b="1" dirty="0">
                <a:solidFill>
                  <a:srgbClr val="C00000"/>
                </a:solidFill>
                <a:latin typeface="+mn-ea"/>
              </a:rPr>
              <a:t>CA</a:t>
            </a:r>
            <a:r>
              <a:rPr lang="zh-CN" altLang="zh-CN" sz="1200" b="1" dirty="0">
                <a:solidFill>
                  <a:srgbClr val="C00000"/>
                </a:solidFill>
                <a:latin typeface="+mn-ea"/>
              </a:rPr>
              <a:t>文件路径或</a:t>
            </a:r>
            <a:r>
              <a:rPr lang="en-US" altLang="zh-CN" sz="1200" b="1" dirty="0">
                <a:solidFill>
                  <a:srgbClr val="C00000"/>
                </a:solidFill>
                <a:latin typeface="+mn-ea"/>
              </a:rPr>
              <a:t>CA</a:t>
            </a:r>
            <a:r>
              <a:rPr lang="zh-CN" altLang="zh-CN" sz="1200" b="1" dirty="0">
                <a:solidFill>
                  <a:srgbClr val="C00000"/>
                </a:solidFill>
                <a:latin typeface="+mn-ea"/>
              </a:rPr>
              <a:t>文件</a:t>
            </a:r>
            <a:r>
              <a:rPr lang="zh-CN" altLang="zh-CN" sz="1200" dirty="0">
                <a:latin typeface="+mn-ea"/>
              </a:rPr>
              <a:t>，文件内容如上</a:t>
            </a:r>
            <a:r>
              <a:rPr lang="en-US" altLang="zh-CN" sz="1200" dirty="0">
                <a:latin typeface="+mn-ea"/>
              </a:rPr>
              <a:t>PEM</a:t>
            </a:r>
            <a:r>
              <a:rPr lang="zh-CN" altLang="zh-CN" sz="1200" dirty="0">
                <a:latin typeface="+mn-ea"/>
              </a:rPr>
              <a:t>内容，且在发起请求时未默认跳过校验，则说明明确使用了</a:t>
            </a:r>
            <a:r>
              <a:rPr lang="en-US" altLang="zh-CN" sz="1200" dirty="0">
                <a:latin typeface="+mn-ea"/>
              </a:rPr>
              <a:t>CA</a:t>
            </a:r>
            <a:r>
              <a:rPr lang="zh-CN" altLang="zh-CN" sz="1200" dirty="0">
                <a:latin typeface="+mn-ea"/>
              </a:rPr>
              <a:t>证书。</a:t>
            </a:r>
          </a:p>
          <a:p>
            <a:r>
              <a:rPr lang="en-US" altLang="zh-CN" sz="1200" b="1" dirty="0">
                <a:solidFill>
                  <a:srgbClr val="C00000"/>
                </a:solidFill>
                <a:latin typeface="+mn-ea"/>
              </a:rPr>
              <a:t>2</a:t>
            </a:r>
            <a:r>
              <a:rPr lang="zh-CN" altLang="en-US" sz="1200" b="1" dirty="0">
                <a:solidFill>
                  <a:srgbClr val="C00000"/>
                </a:solidFill>
                <a:latin typeface="+mn-ea"/>
              </a:rPr>
              <a:t>、</a:t>
            </a:r>
            <a:r>
              <a:rPr lang="zh-CN" altLang="zh-CN" sz="1200" b="1" dirty="0">
                <a:solidFill>
                  <a:srgbClr val="C00000"/>
                </a:solidFill>
                <a:latin typeface="+mn-ea"/>
              </a:rPr>
              <a:t>指定加载代码示例（非真实业务代码）：</a:t>
            </a:r>
          </a:p>
          <a:p>
            <a:r>
              <a:rPr lang="en-US" altLang="zh-CN" sz="1400" dirty="0">
                <a:latin typeface="+mn-ea"/>
              </a:rPr>
              <a:t># </a:t>
            </a:r>
            <a:r>
              <a:rPr lang="zh-CN" altLang="zh-CN" sz="1400" dirty="0">
                <a:latin typeface="+mn-ea"/>
              </a:rPr>
              <a:t>配置请求参数</a:t>
            </a:r>
          </a:p>
          <a:p>
            <a:r>
              <a:rPr lang="en-US" altLang="zh-CN" sz="1400" dirty="0" err="1">
                <a:latin typeface="+mn-ea"/>
              </a:rPr>
              <a:t>url</a:t>
            </a:r>
            <a:r>
              <a:rPr lang="en-US" altLang="zh-CN" sz="1400" dirty="0">
                <a:latin typeface="+mn-ea"/>
              </a:rPr>
              <a:t> = "NB</a:t>
            </a:r>
            <a:r>
              <a:rPr lang="zh-CN" altLang="zh-CN" sz="1400" dirty="0">
                <a:latin typeface="+mn-ea"/>
              </a:rPr>
              <a:t>网关</a:t>
            </a:r>
            <a:r>
              <a:rPr lang="en-US" altLang="zh-CN" sz="1400" dirty="0">
                <a:latin typeface="+mn-ea"/>
              </a:rPr>
              <a:t>API</a:t>
            </a:r>
            <a:r>
              <a:rPr lang="zh-CN" altLang="zh-CN" sz="1400" dirty="0">
                <a:latin typeface="+mn-ea"/>
              </a:rPr>
              <a:t>地址</a:t>
            </a:r>
            <a:r>
              <a:rPr lang="en-US" altLang="zh-CN" sz="1400" dirty="0">
                <a:latin typeface="+mn-ea"/>
              </a:rPr>
              <a:t>" </a:t>
            </a:r>
            <a:endParaRPr lang="zh-CN" altLang="zh-CN" sz="1400" dirty="0">
              <a:latin typeface="+mn-ea"/>
            </a:endParaRPr>
          </a:p>
          <a:p>
            <a:r>
              <a:rPr lang="en-US" altLang="zh-CN" sz="1400" dirty="0" err="1">
                <a:latin typeface="+mn-ea"/>
              </a:rPr>
              <a:t>ca_cert_path</a:t>
            </a:r>
            <a:r>
              <a:rPr lang="en-US" altLang="zh-CN" sz="1400" dirty="0">
                <a:latin typeface="+mn-ea"/>
              </a:rPr>
              <a:t> = "/xxx/xx/</a:t>
            </a:r>
            <a:r>
              <a:rPr lang="en-US" altLang="zh-CN" sz="1400" b="1" dirty="0" err="1">
                <a:solidFill>
                  <a:srgbClr val="C00000"/>
                </a:solidFill>
                <a:latin typeface="+mn-ea"/>
              </a:rPr>
              <a:t>ca.pem</a:t>
            </a:r>
            <a:r>
              <a:rPr lang="en-US" altLang="zh-CN" sz="1400" dirty="0">
                <a:latin typeface="+mn-ea"/>
              </a:rPr>
              <a:t>"  # </a:t>
            </a:r>
            <a:r>
              <a:rPr lang="zh-CN" altLang="zh-CN" sz="1400" dirty="0">
                <a:latin typeface="+mn-ea"/>
              </a:rPr>
              <a:t>实际业务为实际</a:t>
            </a:r>
            <a:r>
              <a:rPr lang="en-US" altLang="zh-CN" sz="1400" dirty="0">
                <a:latin typeface="+mn-ea"/>
              </a:rPr>
              <a:t>CA</a:t>
            </a:r>
            <a:r>
              <a:rPr lang="zh-CN" altLang="zh-CN" sz="1400" dirty="0">
                <a:latin typeface="+mn-ea"/>
              </a:rPr>
              <a:t>路径（或</a:t>
            </a:r>
            <a:r>
              <a:rPr lang="en-US" altLang="zh-CN" sz="1400" dirty="0" err="1">
                <a:latin typeface="+mn-ea"/>
              </a:rPr>
              <a:t>ca.pem</a:t>
            </a:r>
            <a:r>
              <a:rPr lang="zh-CN" altLang="zh-CN" sz="1400" dirty="0">
                <a:latin typeface="+mn-ea"/>
              </a:rPr>
              <a:t>）</a:t>
            </a:r>
          </a:p>
          <a:p>
            <a:r>
              <a:rPr lang="en-US" altLang="zh-CN" sz="1400" dirty="0">
                <a:latin typeface="+mn-ea"/>
              </a:rPr>
              <a:t>try:</a:t>
            </a:r>
            <a:endParaRPr lang="zh-CN" altLang="zh-CN" sz="1400" dirty="0">
              <a:latin typeface="+mn-ea"/>
            </a:endParaRPr>
          </a:p>
          <a:p>
            <a:r>
              <a:rPr lang="en-US" altLang="zh-CN" sz="1400" dirty="0">
                <a:latin typeface="+mn-ea"/>
              </a:rPr>
              <a:t>    # </a:t>
            </a:r>
            <a:r>
              <a:rPr lang="zh-CN" altLang="zh-CN" sz="1400" dirty="0">
                <a:latin typeface="+mn-ea"/>
              </a:rPr>
              <a:t>发起</a:t>
            </a:r>
            <a:r>
              <a:rPr lang="en-US" altLang="zh-CN" sz="1400" dirty="0">
                <a:latin typeface="+mn-ea"/>
              </a:rPr>
              <a:t>GET</a:t>
            </a:r>
            <a:r>
              <a:rPr lang="zh-CN" altLang="zh-CN" sz="1400" dirty="0">
                <a:latin typeface="+mn-ea"/>
              </a:rPr>
              <a:t>请求</a:t>
            </a:r>
          </a:p>
          <a:p>
            <a:r>
              <a:rPr lang="en-US" altLang="zh-CN" sz="1400" dirty="0">
                <a:latin typeface="+mn-ea"/>
              </a:rPr>
              <a:t>    response = </a:t>
            </a:r>
            <a:r>
              <a:rPr lang="en-US" altLang="zh-CN" sz="1400" dirty="0" err="1">
                <a:latin typeface="+mn-ea"/>
              </a:rPr>
              <a:t>requests.get</a:t>
            </a:r>
            <a:r>
              <a:rPr lang="en-US" altLang="zh-CN" sz="1400" dirty="0">
                <a:latin typeface="+mn-ea"/>
              </a:rPr>
              <a:t>(</a:t>
            </a:r>
            <a:endParaRPr lang="zh-CN" altLang="zh-CN" sz="1400" dirty="0">
              <a:latin typeface="+mn-ea"/>
            </a:endParaRPr>
          </a:p>
          <a:p>
            <a:r>
              <a:rPr lang="en-US" altLang="zh-CN" sz="1400" dirty="0">
                <a:latin typeface="+mn-ea"/>
              </a:rPr>
              <a:t>        </a:t>
            </a:r>
            <a:r>
              <a:rPr lang="en-US" altLang="zh-CN" sz="1400" dirty="0" err="1">
                <a:latin typeface="+mn-ea"/>
              </a:rPr>
              <a:t>url</a:t>
            </a:r>
            <a:r>
              <a:rPr lang="en-US" altLang="zh-CN" sz="1400" dirty="0">
                <a:latin typeface="+mn-ea"/>
              </a:rPr>
              <a:t>=</a:t>
            </a:r>
            <a:r>
              <a:rPr lang="en-US" altLang="zh-CN" sz="1400" dirty="0" err="1">
                <a:latin typeface="+mn-ea"/>
              </a:rPr>
              <a:t>url</a:t>
            </a:r>
            <a:r>
              <a:rPr lang="en-US" altLang="zh-CN" sz="1400" dirty="0">
                <a:latin typeface="+mn-ea"/>
              </a:rPr>
              <a:t>,</a:t>
            </a:r>
            <a:endParaRPr lang="zh-CN" altLang="zh-CN" sz="1400" dirty="0">
              <a:latin typeface="+mn-ea"/>
            </a:endParaRPr>
          </a:p>
          <a:p>
            <a:r>
              <a:rPr lang="en-US" altLang="zh-CN" sz="1400" dirty="0">
                <a:latin typeface="+mn-ea"/>
              </a:rPr>
              <a:t>        verify=</a:t>
            </a:r>
            <a:r>
              <a:rPr lang="en-US" altLang="zh-CN" sz="1400" dirty="0" err="1">
                <a:latin typeface="+mn-ea"/>
              </a:rPr>
              <a:t>ca_cert_path</a:t>
            </a:r>
            <a:r>
              <a:rPr lang="en-US" altLang="zh-CN" sz="1400" dirty="0">
                <a:latin typeface="+mn-ea"/>
              </a:rPr>
              <a:t>,  # </a:t>
            </a:r>
            <a:r>
              <a:rPr lang="zh-CN" altLang="zh-CN" sz="1400" dirty="0">
                <a:latin typeface="+mn-ea"/>
              </a:rPr>
              <a:t>指定</a:t>
            </a:r>
            <a:r>
              <a:rPr lang="en-US" altLang="zh-CN" sz="1400" dirty="0">
                <a:latin typeface="+mn-ea"/>
              </a:rPr>
              <a:t>CA</a:t>
            </a:r>
            <a:r>
              <a:rPr lang="zh-CN" altLang="zh-CN" sz="1400" dirty="0">
                <a:latin typeface="+mn-ea"/>
              </a:rPr>
              <a:t>验证文件或路径，未默认填写</a:t>
            </a:r>
            <a:r>
              <a:rPr lang="en-US" altLang="zh-CN" sz="1400" dirty="0">
                <a:latin typeface="+mn-ea"/>
              </a:rPr>
              <a:t>False</a:t>
            </a:r>
            <a:endParaRPr lang="zh-CN" altLang="zh-CN" sz="1400" dirty="0">
              <a:latin typeface="+mn-ea"/>
            </a:endParaRPr>
          </a:p>
          <a:p>
            <a:r>
              <a:rPr lang="en-US" altLang="zh-CN" sz="1400" dirty="0">
                <a:latin typeface="+mn-ea"/>
              </a:rPr>
              <a:t>        timeout=10</a:t>
            </a:r>
            <a:endParaRPr lang="zh-CN" altLang="zh-CN" sz="1400" dirty="0">
              <a:latin typeface="+mn-ea"/>
            </a:endParaRPr>
          </a:p>
          <a:p>
            <a:r>
              <a:rPr lang="en-US" altLang="zh-CN" sz="1400" dirty="0">
                <a:latin typeface="+mn-ea"/>
              </a:rPr>
              <a:t>)</a:t>
            </a:r>
            <a:endParaRPr lang="zh-CN" altLang="zh-CN" sz="1400" dirty="0">
              <a:latin typeface="+mn-ea"/>
            </a:endParaRPr>
          </a:p>
        </p:txBody>
      </p:sp>
      <p:sp>
        <p:nvSpPr>
          <p:cNvPr id="8" name="文本框 7"/>
          <p:cNvSpPr txBox="1"/>
          <p:nvPr>
            <p:custDataLst>
              <p:tags r:id="rId2"/>
            </p:custDataLst>
          </p:nvPr>
        </p:nvSpPr>
        <p:spPr>
          <a:xfrm>
            <a:off x="6725871" y="1682152"/>
            <a:ext cx="2571115" cy="338554"/>
          </a:xfrm>
          <a:prstGeom prst="rect">
            <a:avLst/>
          </a:prstGeom>
          <a:solidFill>
            <a:srgbClr val="C00000"/>
          </a:solidFill>
        </p:spPr>
        <p:txBody>
          <a:bodyPr wrap="square" rtlCol="0" anchor="t">
            <a:spAutoFit/>
          </a:bodyPr>
          <a:lstStyle>
            <a:defPPr>
              <a:defRPr lang="zh-CN"/>
            </a:defPPr>
            <a:lvl1pPr algn="l" rtl="0" eaLnBrk="0" fontAlgn="base" hangingPunct="0">
              <a:spcBef>
                <a:spcPct val="0"/>
              </a:spcBef>
              <a:spcAft>
                <a:spcPct val="0"/>
              </a:spcAft>
              <a:defRPr kern="1200">
                <a:solidFill>
                  <a:sysClr val="windowText" lastClr="000000"/>
                </a:solidFill>
                <a:latin typeface="Arial" panose="020B0604020202020204" pitchFamily="34" charset="0"/>
                <a:ea typeface="微软雅黑" panose="020B0503020204020204" charset="-122"/>
                <a:cs typeface="+mn-ea"/>
              </a:defRPr>
            </a:lvl1pPr>
            <a:lvl2pPr marL="457200" algn="l" rtl="0" eaLnBrk="0" fontAlgn="base" hangingPunct="0">
              <a:spcBef>
                <a:spcPct val="0"/>
              </a:spcBef>
              <a:spcAft>
                <a:spcPct val="0"/>
              </a:spcAft>
              <a:defRPr kern="1200">
                <a:solidFill>
                  <a:sysClr val="windowText" lastClr="000000"/>
                </a:solidFill>
                <a:latin typeface="Arial" panose="020B0604020202020204" pitchFamily="34" charset="0"/>
                <a:ea typeface="微软雅黑" panose="020B0503020204020204" charset="-122"/>
                <a:cs typeface="+mn-ea"/>
              </a:defRPr>
            </a:lvl2pPr>
            <a:lvl3pPr marL="914400" algn="l" rtl="0" eaLnBrk="0" fontAlgn="base" hangingPunct="0">
              <a:spcBef>
                <a:spcPct val="0"/>
              </a:spcBef>
              <a:spcAft>
                <a:spcPct val="0"/>
              </a:spcAft>
              <a:defRPr kern="1200">
                <a:solidFill>
                  <a:sysClr val="windowText" lastClr="000000"/>
                </a:solidFill>
                <a:latin typeface="Arial" panose="020B0604020202020204" pitchFamily="34" charset="0"/>
                <a:ea typeface="微软雅黑" panose="020B0503020204020204" charset="-122"/>
                <a:cs typeface="+mn-ea"/>
              </a:defRPr>
            </a:lvl3pPr>
            <a:lvl4pPr marL="1371600" algn="l" rtl="0" eaLnBrk="0" fontAlgn="base" hangingPunct="0">
              <a:spcBef>
                <a:spcPct val="0"/>
              </a:spcBef>
              <a:spcAft>
                <a:spcPct val="0"/>
              </a:spcAft>
              <a:defRPr kern="1200">
                <a:solidFill>
                  <a:sysClr val="windowText" lastClr="000000"/>
                </a:solidFill>
                <a:latin typeface="Arial" panose="020B0604020202020204" pitchFamily="34" charset="0"/>
                <a:ea typeface="微软雅黑" panose="020B0503020204020204" charset="-122"/>
                <a:cs typeface="+mn-ea"/>
              </a:defRPr>
            </a:lvl4pPr>
            <a:lvl5pPr marL="1828800" algn="l" rtl="0" eaLnBrk="0" fontAlgn="base" hangingPunct="0">
              <a:spcBef>
                <a:spcPct val="0"/>
              </a:spcBef>
              <a:spcAft>
                <a:spcPct val="0"/>
              </a:spcAft>
              <a:defRPr kern="1200">
                <a:solidFill>
                  <a:sysClr val="windowText" lastClr="000000"/>
                </a:solidFill>
                <a:latin typeface="Arial" panose="020B0604020202020204" pitchFamily="34" charset="0"/>
                <a:ea typeface="微软雅黑" panose="020B0503020204020204" charset="-122"/>
                <a:cs typeface="+mn-ea"/>
              </a:defRPr>
            </a:lvl5pPr>
            <a:lvl6pPr marL="2286000" algn="l" defTabSz="914400" rtl="0" eaLnBrk="1" latinLnBrk="0" hangingPunct="1">
              <a:defRPr kern="1200">
                <a:solidFill>
                  <a:sysClr val="windowText" lastClr="000000"/>
                </a:solidFill>
                <a:latin typeface="Arial" panose="020B0604020202020204" pitchFamily="34" charset="0"/>
                <a:ea typeface="微软雅黑" panose="020B0503020204020204" charset="-122"/>
                <a:cs typeface="+mn-ea"/>
              </a:defRPr>
            </a:lvl6pPr>
            <a:lvl7pPr marL="2743200" algn="l" defTabSz="914400" rtl="0" eaLnBrk="1" latinLnBrk="0" hangingPunct="1">
              <a:defRPr kern="1200">
                <a:solidFill>
                  <a:sysClr val="windowText" lastClr="000000"/>
                </a:solidFill>
                <a:latin typeface="Arial" panose="020B0604020202020204" pitchFamily="34" charset="0"/>
                <a:ea typeface="微软雅黑" panose="020B0503020204020204" charset="-122"/>
                <a:cs typeface="+mn-ea"/>
              </a:defRPr>
            </a:lvl7pPr>
            <a:lvl8pPr marL="3200400" algn="l" defTabSz="914400" rtl="0" eaLnBrk="1" latinLnBrk="0" hangingPunct="1">
              <a:defRPr kern="1200">
                <a:solidFill>
                  <a:sysClr val="windowText" lastClr="000000"/>
                </a:solidFill>
                <a:latin typeface="Arial" panose="020B0604020202020204" pitchFamily="34" charset="0"/>
                <a:ea typeface="微软雅黑" panose="020B0503020204020204" charset="-122"/>
                <a:cs typeface="+mn-ea"/>
              </a:defRPr>
            </a:lvl8pPr>
            <a:lvl9pPr marL="3657600" algn="l" defTabSz="914400" rtl="0" eaLnBrk="1" latinLnBrk="0" hangingPunct="1">
              <a:defRPr kern="1200">
                <a:solidFill>
                  <a:sysClr val="windowText" lastClr="000000"/>
                </a:solidFill>
                <a:latin typeface="Arial" panose="020B0604020202020204" pitchFamily="34" charset="0"/>
                <a:ea typeface="微软雅黑" panose="020B0503020204020204" charset="-122"/>
                <a:cs typeface="+mn-ea"/>
              </a:defRPr>
            </a:lvl9pPr>
          </a:lstStyle>
          <a:p>
            <a:pPr algn="ctr">
              <a:spcBef>
                <a:spcPct val="20000"/>
              </a:spcBef>
            </a:pPr>
            <a:r>
              <a:rPr kumimoji="1" lang="zh-CN" altLang="zh-CN" sz="1600" b="1" dirty="0">
                <a:ln w="15875">
                  <a:noFill/>
                </a:ln>
                <a:solidFill>
                  <a:sysClr val="window" lastClr="FFFFFF"/>
                </a:solidFill>
              </a:rPr>
              <a:t>客户</a:t>
            </a:r>
            <a:r>
              <a:rPr kumimoji="1" lang="zh-CN" altLang="en-US" sz="1600" b="1" dirty="0">
                <a:ln w="15875">
                  <a:noFill/>
                </a:ln>
                <a:solidFill>
                  <a:sysClr val="window" lastClr="FFFFFF"/>
                </a:solidFill>
              </a:rPr>
              <a:t>采用</a:t>
            </a:r>
            <a:r>
              <a:rPr kumimoji="1" lang="en-US" altLang="zh-CN" sz="1600" b="1" dirty="0">
                <a:ln w="15875">
                  <a:noFill/>
                </a:ln>
                <a:solidFill>
                  <a:sysClr val="window" lastClr="FFFFFF"/>
                </a:solidFill>
              </a:rPr>
              <a:t>C++</a:t>
            </a:r>
            <a:r>
              <a:rPr kumimoji="1" lang="zh-CN" altLang="en-US" sz="1600" b="1" dirty="0">
                <a:ln w="15875">
                  <a:noFill/>
                </a:ln>
                <a:solidFill>
                  <a:sysClr val="window" lastClr="FFFFFF"/>
                </a:solidFill>
              </a:rPr>
              <a:t>语言开发</a:t>
            </a:r>
            <a:endParaRPr kumimoji="1" lang="zh-CN" altLang="en-US" sz="1600" b="1" dirty="0">
              <a:ln w="15875">
                <a:noFill/>
              </a:ln>
              <a:solidFill>
                <a:sysClr val="window" lastClr="FFFFFF"/>
              </a:solidFill>
              <a:sym typeface="Calibri" panose="020F0502020204030204" charset="0"/>
            </a:endParaRPr>
          </a:p>
        </p:txBody>
      </p:sp>
      <p:sp>
        <p:nvSpPr>
          <p:cNvPr id="11" name="文本框 10"/>
          <p:cNvSpPr txBox="1"/>
          <p:nvPr/>
        </p:nvSpPr>
        <p:spPr>
          <a:xfrm>
            <a:off x="5140399" y="2298982"/>
            <a:ext cx="6640413" cy="1600438"/>
          </a:xfrm>
          <a:prstGeom prst="rect">
            <a:avLst/>
          </a:prstGeom>
          <a:noFill/>
        </p:spPr>
        <p:txBody>
          <a:bodyPr wrap="square">
            <a:spAutoFit/>
          </a:bodyPr>
          <a:lstStyle/>
          <a:p>
            <a:pPr lvl="0"/>
            <a:r>
              <a:rPr lang="en-US" altLang="zh-CN" sz="1400" b="1" dirty="0">
                <a:solidFill>
                  <a:srgbClr val="C00000"/>
                </a:solidFill>
                <a:latin typeface="+mn-ea"/>
              </a:rPr>
              <a:t>1</a:t>
            </a:r>
            <a:r>
              <a:rPr lang="zh-CN" altLang="en-US" sz="1400" b="1" dirty="0">
                <a:solidFill>
                  <a:srgbClr val="C00000"/>
                </a:solidFill>
                <a:latin typeface="+mn-ea"/>
              </a:rPr>
              <a:t>、</a:t>
            </a:r>
            <a:r>
              <a:rPr lang="zh-CN" altLang="zh-CN" sz="1400" b="1" dirty="0">
                <a:solidFill>
                  <a:srgbClr val="C00000"/>
                </a:solidFill>
                <a:latin typeface="+mn-ea"/>
              </a:rPr>
              <a:t>需</a:t>
            </a:r>
            <a:r>
              <a:rPr lang="zh-CN" altLang="en-US" sz="1400" b="1" dirty="0">
                <a:solidFill>
                  <a:srgbClr val="C00000"/>
                </a:solidFill>
                <a:latin typeface="+mn-ea"/>
              </a:rPr>
              <a:t>客户研发人员</a:t>
            </a:r>
            <a:r>
              <a:rPr lang="zh-CN" altLang="zh-CN" sz="1400" b="1" dirty="0">
                <a:solidFill>
                  <a:srgbClr val="C00000"/>
                </a:solidFill>
                <a:latin typeface="+mn-ea"/>
              </a:rPr>
              <a:t>排查是否显示指定加载</a:t>
            </a:r>
            <a:r>
              <a:rPr lang="en-US" altLang="zh-CN" sz="1400" b="1" dirty="0">
                <a:solidFill>
                  <a:srgbClr val="C00000"/>
                </a:solidFill>
                <a:latin typeface="+mn-ea"/>
              </a:rPr>
              <a:t>CA</a:t>
            </a:r>
            <a:r>
              <a:rPr lang="zh-CN" altLang="zh-CN" sz="1400" b="1" dirty="0">
                <a:solidFill>
                  <a:srgbClr val="C00000"/>
                </a:solidFill>
                <a:latin typeface="+mn-ea"/>
              </a:rPr>
              <a:t>证书</a:t>
            </a:r>
            <a:r>
              <a:rPr lang="zh-CN" altLang="zh-CN" sz="1400" dirty="0">
                <a:latin typeface="+mn-ea"/>
              </a:rPr>
              <a:t>，且未跳过证书校验，则说明明确使用了</a:t>
            </a:r>
            <a:r>
              <a:rPr lang="en-US" altLang="zh-CN" sz="1400" dirty="0">
                <a:latin typeface="+mn-ea"/>
              </a:rPr>
              <a:t>CA</a:t>
            </a:r>
            <a:r>
              <a:rPr lang="zh-CN" altLang="zh-CN" sz="1400" dirty="0">
                <a:latin typeface="+mn-ea"/>
              </a:rPr>
              <a:t>证书。</a:t>
            </a:r>
          </a:p>
          <a:p>
            <a:r>
              <a:rPr lang="en-US" altLang="zh-CN" sz="1400" b="1" dirty="0">
                <a:solidFill>
                  <a:srgbClr val="C00000"/>
                </a:solidFill>
                <a:latin typeface="+mn-ea"/>
              </a:rPr>
              <a:t>2</a:t>
            </a:r>
            <a:r>
              <a:rPr lang="zh-CN" altLang="en-US" sz="1400" b="1" dirty="0">
                <a:solidFill>
                  <a:srgbClr val="C00000"/>
                </a:solidFill>
                <a:latin typeface="+mn-ea"/>
              </a:rPr>
              <a:t>、</a:t>
            </a:r>
            <a:r>
              <a:rPr lang="zh-CN" altLang="zh-CN" sz="1400" b="1" dirty="0">
                <a:solidFill>
                  <a:srgbClr val="C00000"/>
                </a:solidFill>
                <a:latin typeface="+mn-ea"/>
              </a:rPr>
              <a:t>指定加载代码示例（非真实业务代码）：</a:t>
            </a:r>
          </a:p>
          <a:p>
            <a:r>
              <a:rPr lang="en-US" altLang="zh-CN" sz="1400" dirty="0">
                <a:latin typeface="+mn-ea"/>
              </a:rPr>
              <a:t>// </a:t>
            </a:r>
            <a:r>
              <a:rPr lang="zh-CN" altLang="zh-CN" sz="1400" dirty="0">
                <a:latin typeface="+mn-ea"/>
              </a:rPr>
              <a:t>显示指定</a:t>
            </a:r>
            <a:r>
              <a:rPr lang="en-US" altLang="zh-CN" sz="1400" dirty="0">
                <a:latin typeface="+mn-ea"/>
              </a:rPr>
              <a:t>PEM</a:t>
            </a:r>
            <a:r>
              <a:rPr lang="zh-CN" altLang="zh-CN" sz="1400" dirty="0">
                <a:latin typeface="+mn-ea"/>
              </a:rPr>
              <a:t>格式的</a:t>
            </a:r>
            <a:r>
              <a:rPr lang="en-US" altLang="zh-CN" sz="1400" dirty="0">
                <a:latin typeface="+mn-ea"/>
              </a:rPr>
              <a:t>CA</a:t>
            </a:r>
            <a:r>
              <a:rPr lang="zh-CN" altLang="zh-CN" sz="1400" dirty="0">
                <a:latin typeface="+mn-ea"/>
              </a:rPr>
              <a:t>证书文件路径（相对路径</a:t>
            </a:r>
            <a:r>
              <a:rPr lang="en-US" altLang="zh-CN" sz="1400" dirty="0">
                <a:latin typeface="+mn-ea"/>
              </a:rPr>
              <a:t>/</a:t>
            </a:r>
            <a:r>
              <a:rPr lang="zh-CN" altLang="zh-CN" sz="1400" dirty="0">
                <a:latin typeface="+mn-ea"/>
              </a:rPr>
              <a:t>绝对路径均可） </a:t>
            </a:r>
          </a:p>
          <a:p>
            <a:r>
              <a:rPr lang="en-US" altLang="zh-CN" sz="1400" dirty="0" err="1">
                <a:latin typeface="+mn-ea"/>
              </a:rPr>
              <a:t>curl_easy_setopt</a:t>
            </a:r>
            <a:r>
              <a:rPr lang="en-US" altLang="zh-CN" sz="1400" dirty="0">
                <a:latin typeface="+mn-ea"/>
              </a:rPr>
              <a:t>(curl, CURLOPT_CAINFO, "./xxx/xxx./</a:t>
            </a:r>
            <a:r>
              <a:rPr lang="en-US" altLang="zh-CN" sz="1400" b="1" dirty="0" err="1">
                <a:solidFill>
                  <a:srgbClr val="C00000"/>
                </a:solidFill>
                <a:latin typeface="+mn-ea"/>
              </a:rPr>
              <a:t>ca.pem</a:t>
            </a:r>
            <a:r>
              <a:rPr lang="en-US" altLang="zh-CN" sz="1400" dirty="0">
                <a:latin typeface="+mn-ea"/>
              </a:rPr>
              <a:t>");</a:t>
            </a:r>
            <a:endParaRPr lang="zh-CN" altLang="zh-CN" sz="1400" dirty="0">
              <a:latin typeface="+mn-ea"/>
            </a:endParaRPr>
          </a:p>
          <a:p>
            <a:r>
              <a:rPr lang="en-US" altLang="zh-CN" sz="1400" dirty="0">
                <a:latin typeface="+mn-ea"/>
              </a:rPr>
              <a:t>// </a:t>
            </a:r>
            <a:r>
              <a:rPr lang="zh-CN" altLang="zh-CN" sz="1400" dirty="0">
                <a:latin typeface="+mn-ea"/>
              </a:rPr>
              <a:t>未跳过</a:t>
            </a:r>
            <a:r>
              <a:rPr lang="en-US" altLang="zh-CN" sz="1400" dirty="0">
                <a:latin typeface="+mn-ea"/>
              </a:rPr>
              <a:t>SSL</a:t>
            </a:r>
            <a:r>
              <a:rPr lang="zh-CN" altLang="zh-CN" sz="1400" dirty="0">
                <a:latin typeface="+mn-ea"/>
              </a:rPr>
              <a:t>证书验证</a:t>
            </a:r>
          </a:p>
          <a:p>
            <a:r>
              <a:rPr lang="en-US" altLang="zh-CN" sz="1400" dirty="0" err="1">
                <a:latin typeface="+mn-ea"/>
              </a:rPr>
              <a:t>curl_easy_setopt</a:t>
            </a:r>
            <a:r>
              <a:rPr lang="en-US" altLang="zh-CN" sz="1400" dirty="0">
                <a:latin typeface="+mn-ea"/>
              </a:rPr>
              <a:t>(curl, CURLOPT_SSL_VERIFYPEER, </a:t>
            </a:r>
            <a:r>
              <a:rPr lang="en-US" altLang="zh-CN" sz="1400" b="1" dirty="0">
                <a:latin typeface="+mn-ea"/>
              </a:rPr>
              <a:t>1L</a:t>
            </a:r>
            <a:r>
              <a:rPr lang="en-US" altLang="zh-CN" sz="1400" dirty="0">
                <a:latin typeface="+mn-ea"/>
              </a:rPr>
              <a:t>); </a:t>
            </a:r>
            <a:endParaRPr lang="zh-CN" altLang="zh-CN" sz="1400" dirty="0">
              <a:latin typeface="+mn-ea"/>
            </a:endParaRPr>
          </a:p>
        </p:txBody>
      </p:sp>
      <p:graphicFrame>
        <p:nvGraphicFramePr>
          <p:cNvPr id="3" name="对象 2"/>
          <p:cNvGraphicFramePr>
            <a:graphicFrameLocks noChangeAspect="1"/>
          </p:cNvGraphicFramePr>
          <p:nvPr/>
        </p:nvGraphicFramePr>
        <p:xfrm>
          <a:off x="9644513" y="4177696"/>
          <a:ext cx="1653942" cy="1424228"/>
        </p:xfrm>
        <a:graphic>
          <a:graphicData uri="http://schemas.openxmlformats.org/presentationml/2006/ole">
            <mc:AlternateContent xmlns:mc="http://schemas.openxmlformats.org/markup-compatibility/2006">
              <mc:Choice xmlns:v="urn:schemas-microsoft-com:vml" Requires="v">
                <p:oleObj name="包装程序外壳对象" showAsIcon="1" r:id="rId4" imgW="839470" imgH="723265" progId="Package">
                  <p:embed/>
                </p:oleObj>
              </mc:Choice>
              <mc:Fallback>
                <p:oleObj name="包装程序外壳对象" showAsIcon="1" r:id="rId4" imgW="839470" imgH="723265" progId="Package">
                  <p:embed/>
                  <p:pic>
                    <p:nvPicPr>
                      <p:cNvPr id="0" name="图片 4"/>
                      <p:cNvPicPr/>
                      <p:nvPr/>
                    </p:nvPicPr>
                    <p:blipFill>
                      <a:blip r:embed="rId5"/>
                      <a:stretch>
                        <a:fillRect/>
                      </a:stretch>
                    </p:blipFill>
                    <p:spPr>
                      <a:xfrm>
                        <a:off x="9644513" y="4177696"/>
                        <a:ext cx="1653942" cy="1424228"/>
                      </a:xfrm>
                      <a:prstGeom prst="rect">
                        <a:avLst/>
                      </a:prstGeom>
                    </p:spPr>
                  </p:pic>
                </p:oleObj>
              </mc:Fallback>
            </mc:AlternateContent>
          </a:graphicData>
        </a:graphic>
      </p:graphicFrame>
      <p:sp>
        <p:nvSpPr>
          <p:cNvPr id="6" name="文本框 5"/>
          <p:cNvSpPr txBox="1"/>
          <p:nvPr/>
        </p:nvSpPr>
        <p:spPr>
          <a:xfrm>
            <a:off x="9814639" y="5109996"/>
            <a:ext cx="1645333" cy="369332"/>
          </a:xfrm>
          <a:prstGeom prst="rect">
            <a:avLst/>
          </a:prstGeom>
          <a:noFill/>
        </p:spPr>
        <p:txBody>
          <a:bodyPr wrap="square">
            <a:spAutoFit/>
          </a:bodyPr>
          <a:lstStyle/>
          <a:p>
            <a:r>
              <a:rPr kumimoji="1" lang="zh-CN" altLang="en-US" b="1" dirty="0">
                <a:solidFill>
                  <a:srgbClr val="C00000"/>
                </a:solidFill>
                <a:latin typeface="+mn-ea"/>
                <a:sym typeface="Arial" panose="020B0604020202020204" pitchFamily="34" charset="0"/>
              </a:rPr>
              <a:t>新版本</a:t>
            </a:r>
            <a:r>
              <a:rPr kumimoji="1" lang="en-US" altLang="zh-CN" b="1" dirty="0">
                <a:solidFill>
                  <a:srgbClr val="C00000"/>
                </a:solidFill>
                <a:latin typeface="+mn-ea"/>
                <a:sym typeface="Arial" panose="020B0604020202020204" pitchFamily="34" charset="0"/>
              </a:rPr>
              <a:t>ca</a:t>
            </a:r>
            <a:r>
              <a:rPr kumimoji="1" lang="zh-CN" altLang="en-US" b="1" dirty="0">
                <a:solidFill>
                  <a:srgbClr val="C00000"/>
                </a:solidFill>
                <a:latin typeface="+mn-ea"/>
                <a:sym typeface="Arial" panose="020B0604020202020204" pitchFamily="34" charset="0"/>
              </a:rPr>
              <a:t>证书</a:t>
            </a:r>
            <a:endParaRPr lang="zh-CN" alt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A577F-E476-8C13-64F7-110529566176}"/>
            </a:ext>
          </a:extLst>
        </p:cNvPr>
        <p:cNvGrpSpPr/>
        <p:nvPr/>
      </p:nvGrpSpPr>
      <p:grpSpPr>
        <a:xfrm>
          <a:off x="0" y="0"/>
          <a:ext cx="0" cy="0"/>
          <a:chOff x="0" y="0"/>
          <a:chExt cx="0" cy="0"/>
        </a:xfrm>
      </p:grpSpPr>
      <p:sp>
        <p:nvSpPr>
          <p:cNvPr id="13" name="矩形: 圆角 12">
            <a:extLst>
              <a:ext uri="{FF2B5EF4-FFF2-40B4-BE49-F238E27FC236}">
                <a16:creationId xmlns:a16="http://schemas.microsoft.com/office/drawing/2014/main" id="{B1E912F3-8F29-6E12-8C2A-F719A23A5B54}"/>
              </a:ext>
            </a:extLst>
          </p:cNvPr>
          <p:cNvSpPr/>
          <p:nvPr/>
        </p:nvSpPr>
        <p:spPr>
          <a:xfrm>
            <a:off x="2602029" y="2502182"/>
            <a:ext cx="6987941" cy="3897467"/>
          </a:xfrm>
          <a:prstGeom prst="roundRect">
            <a:avLst>
              <a:gd name="adj" fmla="val 9107"/>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4" name="标题 3">
            <a:extLst>
              <a:ext uri="{FF2B5EF4-FFF2-40B4-BE49-F238E27FC236}">
                <a16:creationId xmlns:a16="http://schemas.microsoft.com/office/drawing/2014/main" id="{E1CEFD30-CC15-6C5C-7DD2-09915C0C4542}"/>
              </a:ext>
            </a:extLst>
          </p:cNvPr>
          <p:cNvSpPr>
            <a:spLocks noGrp="1"/>
          </p:cNvSpPr>
          <p:nvPr>
            <p:ph type="title"/>
          </p:nvPr>
        </p:nvSpPr>
        <p:spPr>
          <a:xfrm>
            <a:off x="335359" y="249620"/>
            <a:ext cx="10550814" cy="558110"/>
          </a:xfrm>
        </p:spPr>
        <p:txBody>
          <a:bodyPr/>
          <a:lstStyle/>
          <a:p>
            <a:r>
              <a:rPr lang="zh-CN" altLang="en-US" dirty="0"/>
              <a:t>解决方案</a:t>
            </a:r>
            <a:r>
              <a:rPr lang="en-US" altLang="zh-CN" dirty="0"/>
              <a:t>(4/4)</a:t>
            </a:r>
            <a:r>
              <a:rPr lang="zh-CN" altLang="en-US" dirty="0"/>
              <a:t>：客户用</a:t>
            </a:r>
            <a:r>
              <a:rPr lang="en-US" altLang="zh-CN" dirty="0"/>
              <a:t>C#</a:t>
            </a:r>
            <a:r>
              <a:rPr lang="zh-CN" altLang="en-US" dirty="0"/>
              <a:t>调用接口绕开</a:t>
            </a:r>
            <a:r>
              <a:rPr lang="en-US" altLang="zh-CN" dirty="0"/>
              <a:t>SSL</a:t>
            </a:r>
            <a:r>
              <a:rPr lang="zh-CN" altLang="en-US" dirty="0"/>
              <a:t>证书代码示例</a:t>
            </a:r>
          </a:p>
        </p:txBody>
      </p:sp>
      <p:sp>
        <p:nvSpPr>
          <p:cNvPr id="11" name="文本框 10">
            <a:extLst>
              <a:ext uri="{FF2B5EF4-FFF2-40B4-BE49-F238E27FC236}">
                <a16:creationId xmlns:a16="http://schemas.microsoft.com/office/drawing/2014/main" id="{EA7186D2-F8C5-E412-76A2-65CE95376250}"/>
              </a:ext>
            </a:extLst>
          </p:cNvPr>
          <p:cNvSpPr txBox="1"/>
          <p:nvPr/>
        </p:nvSpPr>
        <p:spPr>
          <a:xfrm>
            <a:off x="2784324" y="2502182"/>
            <a:ext cx="6640413" cy="4308872"/>
          </a:xfrm>
          <a:prstGeom prst="rect">
            <a:avLst/>
          </a:prstGeom>
          <a:noFill/>
        </p:spPr>
        <p:txBody>
          <a:bodyPr wrap="square">
            <a:spAutoFit/>
          </a:bodyPr>
          <a:lstStyle/>
          <a:p>
            <a:pPr lvl="0"/>
            <a:r>
              <a:rPr lang="en-US" altLang="zh-CN" sz="1400" b="1" dirty="0">
                <a:solidFill>
                  <a:srgbClr val="C00000"/>
                </a:solidFill>
                <a:latin typeface="+mn-ea"/>
              </a:rPr>
              <a:t>1</a:t>
            </a:r>
            <a:r>
              <a:rPr lang="zh-CN" altLang="en-US" sz="1400" b="1" dirty="0">
                <a:solidFill>
                  <a:srgbClr val="C00000"/>
                </a:solidFill>
                <a:latin typeface="+mn-ea"/>
              </a:rPr>
              <a:t>、</a:t>
            </a:r>
            <a:r>
              <a:rPr lang="zh-CN" altLang="zh-CN" sz="1400" b="1" dirty="0">
                <a:solidFill>
                  <a:srgbClr val="C00000"/>
                </a:solidFill>
                <a:latin typeface="+mn-ea"/>
              </a:rPr>
              <a:t>需</a:t>
            </a:r>
            <a:r>
              <a:rPr lang="zh-CN" altLang="en-US" sz="1400" b="1" dirty="0">
                <a:solidFill>
                  <a:srgbClr val="C00000"/>
                </a:solidFill>
                <a:latin typeface="+mn-ea"/>
              </a:rPr>
              <a:t>客户研发人员</a:t>
            </a:r>
            <a:r>
              <a:rPr lang="zh-CN" altLang="zh-CN" sz="1400" b="1" dirty="0">
                <a:solidFill>
                  <a:srgbClr val="C00000"/>
                </a:solidFill>
                <a:latin typeface="+mn-ea"/>
              </a:rPr>
              <a:t>排查是否显示指定加载</a:t>
            </a:r>
            <a:r>
              <a:rPr lang="en-US" altLang="zh-CN" sz="1400" b="1" dirty="0">
                <a:solidFill>
                  <a:srgbClr val="C00000"/>
                </a:solidFill>
                <a:latin typeface="+mn-ea"/>
              </a:rPr>
              <a:t>CA</a:t>
            </a:r>
            <a:r>
              <a:rPr lang="zh-CN" altLang="zh-CN" sz="1400" b="1" dirty="0">
                <a:solidFill>
                  <a:srgbClr val="C00000"/>
                </a:solidFill>
                <a:latin typeface="+mn-ea"/>
              </a:rPr>
              <a:t>证书</a:t>
            </a:r>
            <a:r>
              <a:rPr lang="zh-CN" altLang="zh-CN" sz="1400" dirty="0">
                <a:latin typeface="+mn-ea"/>
              </a:rPr>
              <a:t>，且未跳过证书校验，则说明明确使用了</a:t>
            </a:r>
            <a:r>
              <a:rPr lang="en-US" altLang="zh-CN" sz="1400" dirty="0">
                <a:latin typeface="+mn-ea"/>
              </a:rPr>
              <a:t>CA</a:t>
            </a:r>
            <a:r>
              <a:rPr lang="zh-CN" altLang="zh-CN" sz="1400" dirty="0">
                <a:latin typeface="+mn-ea"/>
              </a:rPr>
              <a:t>证书。</a:t>
            </a:r>
          </a:p>
          <a:p>
            <a:r>
              <a:rPr lang="en-US" altLang="zh-CN" sz="1400" b="1" dirty="0">
                <a:solidFill>
                  <a:srgbClr val="C00000"/>
                </a:solidFill>
                <a:latin typeface="+mn-ea"/>
              </a:rPr>
              <a:t>2</a:t>
            </a:r>
            <a:r>
              <a:rPr lang="zh-CN" altLang="en-US" sz="1400" b="1" dirty="0">
                <a:solidFill>
                  <a:srgbClr val="C00000"/>
                </a:solidFill>
                <a:latin typeface="+mn-ea"/>
              </a:rPr>
              <a:t>、</a:t>
            </a:r>
            <a:r>
              <a:rPr lang="zh-CN" altLang="zh-CN" sz="1400" b="1" dirty="0">
                <a:solidFill>
                  <a:srgbClr val="C00000"/>
                </a:solidFill>
                <a:latin typeface="+mn-ea"/>
              </a:rPr>
              <a:t>指定加载代码示例（非真实业务代码）：</a:t>
            </a:r>
          </a:p>
          <a:p>
            <a:r>
              <a:rPr lang="en-US" altLang="zh-CN" sz="1400" b="1" dirty="0"/>
              <a:t>public static bool </a:t>
            </a:r>
            <a:r>
              <a:rPr lang="en-US" altLang="zh-CN" sz="1400" b="1" dirty="0" err="1"/>
              <a:t>ValidateServerCertificate</a:t>
            </a:r>
            <a:r>
              <a:rPr lang="en-US" altLang="zh-CN" sz="1400" b="1" dirty="0"/>
              <a:t>(object sender, X509Certificate certificate, X509Chain chain, </a:t>
            </a:r>
            <a:r>
              <a:rPr lang="en-US" altLang="zh-CN" sz="1400" b="1" dirty="0" err="1"/>
              <a:t>SslPolicyErrors</a:t>
            </a:r>
            <a:r>
              <a:rPr lang="en-US" altLang="zh-CN" sz="1400" b="1" dirty="0"/>
              <a:t> </a:t>
            </a:r>
            <a:r>
              <a:rPr lang="en-US" altLang="zh-CN" sz="1400" b="1" dirty="0" err="1"/>
              <a:t>sslPolicyErrors</a:t>
            </a:r>
            <a:r>
              <a:rPr lang="en-US" altLang="zh-CN" sz="1400" b="1" dirty="0"/>
              <a:t>)</a:t>
            </a:r>
          </a:p>
          <a:p>
            <a:r>
              <a:rPr lang="en-US" altLang="zh-CN" sz="1400" b="1" dirty="0"/>
              <a:t>        {</a:t>
            </a:r>
          </a:p>
          <a:p>
            <a:endParaRPr lang="en-US" altLang="zh-CN" sz="1400" b="1" dirty="0"/>
          </a:p>
          <a:p>
            <a:r>
              <a:rPr lang="en-US" altLang="zh-CN" sz="1400" b="1" dirty="0"/>
              <a:t>            if (</a:t>
            </a:r>
            <a:r>
              <a:rPr lang="en-US" altLang="zh-CN" sz="1400" b="1" dirty="0" err="1"/>
              <a:t>sslPolicyErrors</a:t>
            </a:r>
            <a:r>
              <a:rPr lang="en-US" altLang="zh-CN" sz="1400" b="1" dirty="0"/>
              <a:t> == </a:t>
            </a:r>
            <a:r>
              <a:rPr lang="en-US" altLang="zh-CN" sz="1400" b="1" dirty="0" err="1"/>
              <a:t>SslPolicyErrors.None</a:t>
            </a:r>
            <a:r>
              <a:rPr lang="en-US" altLang="zh-CN" sz="1400" b="1" dirty="0"/>
              <a:t>)</a:t>
            </a:r>
          </a:p>
          <a:p>
            <a:endParaRPr lang="en-US" altLang="zh-CN" sz="1400" b="1" dirty="0"/>
          </a:p>
          <a:p>
            <a:r>
              <a:rPr lang="en-US" altLang="zh-CN" sz="1400" b="1" dirty="0"/>
              <a:t>                return true;</a:t>
            </a:r>
          </a:p>
          <a:p>
            <a:endParaRPr lang="en-US" altLang="zh-CN" sz="1400" b="1" dirty="0"/>
          </a:p>
          <a:p>
            <a:r>
              <a:rPr lang="en-US" altLang="zh-CN" sz="1400" b="1" dirty="0"/>
              <a:t>            return true;</a:t>
            </a:r>
          </a:p>
          <a:p>
            <a:endParaRPr lang="en-US" altLang="zh-CN" sz="1400" b="1" dirty="0"/>
          </a:p>
          <a:p>
            <a:r>
              <a:rPr lang="en-US" altLang="zh-CN" sz="1400" b="1" dirty="0"/>
              <a:t>        }</a:t>
            </a:r>
          </a:p>
          <a:p>
            <a:r>
              <a:rPr lang="zh-CN" altLang="en-US" sz="1400" b="1" dirty="0"/>
              <a:t>或者</a:t>
            </a:r>
            <a:br>
              <a:rPr lang="en-US" altLang="zh-CN" dirty="0"/>
            </a:br>
            <a:r>
              <a:rPr lang="en-US" altLang="zh-CN" dirty="0"/>
              <a:t>public static bool </a:t>
            </a:r>
            <a:r>
              <a:rPr lang="en-US" altLang="zh-CN" dirty="0" err="1"/>
              <a:t>CheckValidationResult</a:t>
            </a:r>
            <a:r>
              <a:rPr lang="en-US" altLang="zh-CN" dirty="0"/>
              <a:t>(</a:t>
            </a:r>
            <a:r>
              <a:rPr lang="zh-CN" altLang="en-US" dirty="0"/>
              <a:t>）</a:t>
            </a:r>
            <a:endParaRPr lang="en-US" altLang="zh-CN" dirty="0"/>
          </a:p>
          <a:p>
            <a:r>
              <a:rPr lang="en-US" altLang="zh-CN" sz="1400" dirty="0">
                <a:latin typeface="+mn-ea"/>
              </a:rPr>
              <a:t>{</a:t>
            </a:r>
          </a:p>
          <a:p>
            <a:r>
              <a:rPr lang="en-US" altLang="zh-CN" sz="1400" dirty="0">
                <a:latin typeface="+mn-ea"/>
              </a:rPr>
              <a:t>        return </a:t>
            </a:r>
            <a:r>
              <a:rPr lang="en-US" altLang="zh-CN" sz="1400" dirty="0" err="1">
                <a:latin typeface="+mn-ea"/>
              </a:rPr>
              <a:t>ture</a:t>
            </a:r>
            <a:r>
              <a:rPr lang="en-US" altLang="zh-CN" sz="1400" dirty="0">
                <a:latin typeface="+mn-ea"/>
              </a:rPr>
              <a:t>;</a:t>
            </a:r>
          </a:p>
          <a:p>
            <a:r>
              <a:rPr lang="en-US" altLang="zh-CN" sz="1400" dirty="0">
                <a:latin typeface="+mn-ea"/>
              </a:rPr>
              <a:t>}</a:t>
            </a:r>
            <a:endParaRPr lang="zh-CN" altLang="zh-CN" sz="1400" dirty="0">
              <a:latin typeface="+mn-ea"/>
            </a:endParaRPr>
          </a:p>
        </p:txBody>
      </p:sp>
      <p:sp>
        <p:nvSpPr>
          <p:cNvPr id="3" name="文本框 2">
            <a:extLst>
              <a:ext uri="{FF2B5EF4-FFF2-40B4-BE49-F238E27FC236}">
                <a16:creationId xmlns:a16="http://schemas.microsoft.com/office/drawing/2014/main" id="{02F91512-5118-0B4E-F8C0-58BC5A2876CE}"/>
              </a:ext>
            </a:extLst>
          </p:cNvPr>
          <p:cNvSpPr txBox="1"/>
          <p:nvPr/>
        </p:nvSpPr>
        <p:spPr>
          <a:xfrm>
            <a:off x="1493520" y="1193291"/>
            <a:ext cx="9875520" cy="646331"/>
          </a:xfrm>
          <a:prstGeom prst="rect">
            <a:avLst/>
          </a:prstGeom>
          <a:noFill/>
        </p:spPr>
        <p:txBody>
          <a:bodyPr wrap="square">
            <a:spAutoFit/>
          </a:bodyPr>
          <a:lstStyle/>
          <a:p>
            <a:r>
              <a:rPr lang="zh-CN" altLang="en-US" dirty="0"/>
              <a:t>核心判断逻辑：客户侧发起</a:t>
            </a:r>
            <a:r>
              <a:rPr lang="en-US" altLang="zh-CN" dirty="0"/>
              <a:t>HTTPS post</a:t>
            </a:r>
            <a:r>
              <a:rPr lang="zh-CN" altLang="en-US" dirty="0"/>
              <a:t>请求的代码checkValidationResult</a:t>
            </a:r>
            <a:r>
              <a:rPr lang="en-US" altLang="zh-CN" dirty="0"/>
              <a:t>()</a:t>
            </a:r>
            <a:r>
              <a:rPr lang="zh-CN" altLang="en-US" dirty="0"/>
              <a:t>或者ValidateServerCertificate</a:t>
            </a:r>
            <a:r>
              <a:rPr lang="en-US" altLang="zh-CN" dirty="0"/>
              <a:t>()</a:t>
            </a:r>
            <a:r>
              <a:rPr lang="zh-CN" altLang="en-US" dirty="0"/>
              <a:t>方法直接返回true，这种就是直接绕过</a:t>
            </a:r>
            <a:r>
              <a:rPr lang="en-US" altLang="zh-CN" dirty="0"/>
              <a:t>NB</a:t>
            </a:r>
            <a:r>
              <a:rPr lang="zh-CN" altLang="en-US" dirty="0"/>
              <a:t>网关的</a:t>
            </a:r>
            <a:r>
              <a:rPr lang="en-US" altLang="zh-CN" dirty="0"/>
              <a:t>CA</a:t>
            </a:r>
            <a:r>
              <a:rPr lang="zh-CN" altLang="en-US" dirty="0"/>
              <a:t>证书</a:t>
            </a:r>
          </a:p>
        </p:txBody>
      </p:sp>
    </p:spTree>
    <p:extLst>
      <p:ext uri="{BB962C8B-B14F-4D97-AF65-F5344CB8AC3E}">
        <p14:creationId xmlns:p14="http://schemas.microsoft.com/office/powerpoint/2010/main" val="66566255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49200" y="181270"/>
            <a:ext cx="10080000" cy="648000"/>
          </a:xfrm>
        </p:spPr>
        <p:txBody>
          <a:bodyPr/>
          <a:lstStyle/>
          <a:p>
            <a:r>
              <a:rPr lang="en-US" altLang="zh-CN" dirty="0">
                <a:latin typeface="微软雅黑" panose="020B0503020204020204" charset="-122"/>
                <a:cs typeface="微软雅黑" panose="020B0503020204020204" charset="-122"/>
              </a:rPr>
              <a:t>​NB</a:t>
            </a:r>
            <a:r>
              <a:rPr lang="zh-CN" altLang="en-US" dirty="0">
                <a:latin typeface="微软雅黑" panose="020B0503020204020204" charset="-122"/>
                <a:cs typeface="微软雅黑" panose="020B0503020204020204" charset="-122"/>
              </a:rPr>
              <a:t>网关</a:t>
            </a:r>
            <a:r>
              <a:rPr lang="en-US" altLang="zh-CN" dirty="0">
                <a:latin typeface="微软雅黑" panose="020B0503020204020204" charset="-122"/>
                <a:cs typeface="微软雅黑" panose="020B0503020204020204" charset="-122"/>
              </a:rPr>
              <a:t>CA</a:t>
            </a:r>
            <a:r>
              <a:rPr lang="zh-CN" altLang="en-US" dirty="0">
                <a:latin typeface="微软雅黑" panose="020B0503020204020204" charset="-122"/>
                <a:cs typeface="微软雅黑" panose="020B0503020204020204" charset="-122"/>
              </a:rPr>
              <a:t>证书更新：省市公司、物联网公司及客户分工总览</a:t>
            </a:r>
          </a:p>
        </p:txBody>
      </p:sp>
      <p:sp>
        <p:nvSpPr>
          <p:cNvPr id="5" name="文本框 4"/>
          <p:cNvSpPr txBox="1"/>
          <p:nvPr/>
        </p:nvSpPr>
        <p:spPr>
          <a:xfrm>
            <a:off x="815340" y="1339850"/>
            <a:ext cx="2834005" cy="514985"/>
          </a:xfrm>
          <a:prstGeom prst="rect">
            <a:avLst/>
          </a:prstGeom>
          <a:noFill/>
        </p:spPr>
        <p:txBody>
          <a:bodyPr wrap="square" rtlCol="0">
            <a:noAutofit/>
          </a:bodyPr>
          <a:lstStyle/>
          <a:p>
            <a:pPr lvl="0" algn="ctr">
              <a:buClrTx/>
              <a:buSzTx/>
              <a:buFontTx/>
            </a:pPr>
            <a:r>
              <a:rPr lang="en-US" altLang="zh-CN" sz="2400" b="1">
                <a:solidFill>
                  <a:srgbClr val="C00000"/>
                </a:solidFill>
                <a:latin typeface="微软雅黑" panose="020B0503020204020204" charset="-122"/>
                <a:ea typeface="微软雅黑" panose="020B0503020204020204" charset="-122"/>
                <a:sym typeface="+mn-ea"/>
              </a:rPr>
              <a:t>省市公司</a:t>
            </a:r>
          </a:p>
        </p:txBody>
      </p:sp>
      <p:sp>
        <p:nvSpPr>
          <p:cNvPr id="15" name="装饰  7"/>
          <p:cNvSpPr>
            <a:spLocks noGrp="1"/>
          </p:cNvSpPr>
          <p:nvPr>
            <p:custDataLst>
              <p:tags r:id="rId1"/>
            </p:custDataLst>
          </p:nvPr>
        </p:nvSpPr>
        <p:spPr>
          <a:xfrm>
            <a:off x="349250" y="2035175"/>
            <a:ext cx="3977640" cy="3986530"/>
          </a:xfrm>
          <a:custGeom>
            <a:avLst/>
            <a:gdLst>
              <a:gd name="connisteX0" fmla="*/ 0 w 3454400"/>
              <a:gd name="connsiteY0" fmla="*/ 203200 h 4165600"/>
              <a:gd name="connisteX1" fmla="*/ 203200 w 3454400"/>
              <a:gd name="connsiteY1" fmla="*/ 0 h 4165600"/>
              <a:gd name="connisteX2" fmla="*/ 3251200 w 3454400"/>
              <a:gd name="connsiteY2" fmla="*/ 0 h 4165600"/>
              <a:gd name="connisteX3" fmla="*/ 3454400 w 3454400"/>
              <a:gd name="connsiteY3" fmla="*/ 203200 h 4165600"/>
              <a:gd name="connisteX4" fmla="*/ 3454400 w 3454400"/>
              <a:gd name="connsiteY4" fmla="*/ 3962400 h 4165600"/>
              <a:gd name="connisteX5" fmla="*/ 3251200 w 3454400"/>
              <a:gd name="connsiteY5" fmla="*/ 4165600 h 4165600"/>
              <a:gd name="connisteX6" fmla="*/ 203200 w 3454400"/>
              <a:gd name="connsiteY6" fmla="*/ 4165600 h 4165600"/>
              <a:gd name="connisteX7" fmla="*/ 0 w 3454400"/>
              <a:gd name="connsiteY7" fmla="*/ 3962400 h 4165600"/>
              <a:gd name="connisteX8" fmla="*/ 0 w 34544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4165600">
                <a:moveTo>
                  <a:pt x="0" y="203200"/>
                </a:moveTo>
                <a:cubicBezTo>
                  <a:pt x="0" y="90976"/>
                  <a:pt x="90976" y="0"/>
                  <a:pt x="203200" y="0"/>
                </a:cubicBezTo>
                <a:lnTo>
                  <a:pt x="3251200" y="0"/>
                </a:lnTo>
                <a:cubicBezTo>
                  <a:pt x="3363424" y="0"/>
                  <a:pt x="3454400" y="90976"/>
                  <a:pt x="3454400" y="203200"/>
                </a:cubicBezTo>
                <a:lnTo>
                  <a:pt x="3454400" y="3962400"/>
                </a:lnTo>
                <a:cubicBezTo>
                  <a:pt x="3454400" y="4074624"/>
                  <a:pt x="3363424" y="4165600"/>
                  <a:pt x="3251200" y="4165600"/>
                </a:cubicBezTo>
                <a:lnTo>
                  <a:pt x="203200" y="4165600"/>
                </a:lnTo>
                <a:cubicBezTo>
                  <a:pt x="90976" y="4165600"/>
                  <a:pt x="0" y="4074624"/>
                  <a:pt x="0" y="39624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vert="horz" wrap="square" lIns="91440" tIns="45720" rIns="91440" bIns="45720" numCol="1" anchor="t" anchorCtr="0" compatLnSpc="1">
            <a:noAutofit/>
          </a:bodyPr>
          <a:lstStyle>
            <a:lvl1pPr marL="228600" indent="-228600" algn="l" rtl="0" eaLnBrk="0" fontAlgn="base" hangingPunct="0">
              <a:lnSpc>
                <a:spcPct val="90000"/>
              </a:lnSpc>
              <a:spcBef>
                <a:spcPts val="1000"/>
              </a:spcBef>
              <a:spcAft>
                <a:spcPct val="0"/>
              </a:spcAft>
              <a:buFont typeface="Arial" panose="020B0604020202020204" pitchFamily="34" charset="0"/>
              <a:buNone/>
              <a:defRPr sz="2800" kern="1200">
                <a:solidFill>
                  <a:schemeClr val="tx1"/>
                </a:solidFill>
                <a:latin typeface="微软雅黑" panose="020B0503020204020204" charset="-122"/>
                <a:ea typeface="微软雅黑" panose="020B0503020204020204" charset="-122"/>
                <a:cs typeface="微软雅黑" panose="020B0503020204020204" charset="-122"/>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kern="1200">
                <a:solidFill>
                  <a:schemeClr val="tx1"/>
                </a:solidFill>
                <a:latin typeface="微软雅黑" panose="020B0503020204020204" charset="-122"/>
                <a:ea typeface="微软雅黑" panose="020B0503020204020204" charset="-122"/>
                <a:cs typeface="微软雅黑" panose="020B0503020204020204" charset="-122"/>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kern="1200">
                <a:solidFill>
                  <a:schemeClr val="tx1"/>
                </a:solidFill>
                <a:latin typeface="微软雅黑" panose="020B0503020204020204" charset="-122"/>
                <a:ea typeface="微软雅黑" panose="020B0503020204020204" charset="-122"/>
                <a:cs typeface="微软雅黑" panose="020B0503020204020204" charset="-122"/>
              </a:defRPr>
            </a:lvl3pPr>
            <a:lvl4pPr marL="1600200" indent="-228600" algn="l" rtl="0" eaLnBrk="0" fontAlgn="base" hangingPunct="0">
              <a:lnSpc>
                <a:spcPct val="90000"/>
              </a:lnSpc>
              <a:spcBef>
                <a:spcPts val="500"/>
              </a:spcBef>
              <a:spcAft>
                <a:spcPct val="0"/>
              </a:spcAft>
              <a:buFont typeface="Arial" panose="020B0604020202020204" pitchFamily="34" charset="0"/>
              <a:buNone/>
              <a:defRPr sz="2000" kern="1200">
                <a:solidFill>
                  <a:schemeClr val="tx1"/>
                </a:solidFill>
                <a:latin typeface="微软雅黑" panose="020B0503020204020204" charset="-122"/>
                <a:ea typeface="微软雅黑" panose="020B0503020204020204" charset="-122"/>
                <a:cs typeface="微软雅黑" panose="020B0503020204020204" charset="-122"/>
              </a:defRPr>
            </a:lvl4pPr>
            <a:lvl5pPr marL="2057400" indent="-228600" algn="l" rtl="0" eaLnBrk="0" fontAlgn="base" hangingPunct="0">
              <a:lnSpc>
                <a:spcPct val="90000"/>
              </a:lnSpc>
              <a:spcBef>
                <a:spcPts val="500"/>
              </a:spcBef>
              <a:spcAft>
                <a:spcPct val="0"/>
              </a:spcAft>
              <a:buFont typeface="Arial" panose="020B0604020202020204" pitchFamily="34" charset="0"/>
              <a:buNone/>
              <a:defRPr sz="2000" kern="1200">
                <a:solidFill>
                  <a:schemeClr val="tx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 </a:t>
            </a:r>
          </a:p>
        </p:txBody>
      </p:sp>
      <p:sp>
        <p:nvSpPr>
          <p:cNvPr id="16" name="文本占位符 4"/>
          <p:cNvSpPr>
            <a:spLocks noGrp="1"/>
          </p:cNvSpPr>
          <p:nvPr>
            <p:custDataLst>
              <p:tags r:id="rId2"/>
            </p:custDataLst>
          </p:nvPr>
        </p:nvSpPr>
        <p:spPr>
          <a:xfrm>
            <a:off x="476885" y="2421255"/>
            <a:ext cx="3849370" cy="3657600"/>
          </a:xfrm>
          <a:prstGeom prst="rect">
            <a:avLst/>
          </a:prstGeom>
          <a:noFill/>
          <a:ln>
            <a:noFill/>
          </a:ln>
        </p:spPr>
        <p:txBody>
          <a:bodyPr vert="horz" wrap="square" lIns="0" tIns="0" rIns="0" bIns="0" numCol="1" anchor="t" anchorCtr="0" compatLnSpc="1">
            <a:normAutofit/>
          </a:bodyPr>
          <a:lstStyle>
            <a:lvl1pPr marL="0" indent="0" algn="l" rtl="0" eaLnBrk="0" fontAlgn="base" hangingPunct="0">
              <a:lnSpc>
                <a:spcPct val="125000"/>
              </a:lnSpc>
              <a:spcBef>
                <a:spcPct val="0"/>
              </a:spcBef>
              <a:spcAft>
                <a:spcPct val="0"/>
              </a:spcAft>
              <a:buFont typeface="Arial" panose="020B0604020202020204" pitchFamily="34" charset="0"/>
              <a:buNone/>
              <a:defRPr sz="1600" b="0" kern="1200" spc="0">
                <a:solidFill>
                  <a:schemeClr val="tx1"/>
                </a:solidFill>
                <a:latin typeface="微软雅黑" panose="020B0503020204020204" charset="-122"/>
                <a:ea typeface="微软雅黑" panose="020B0503020204020204" charset="-122"/>
                <a:cs typeface="微软雅黑" panose="020B0503020204020204"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微软雅黑" panose="020B0503020204020204"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85000"/>
              </a:lnSpc>
              <a:buFont typeface="Wingdings" panose="05000000000000000000" charset="0"/>
              <a:buChar char="n"/>
            </a:pPr>
            <a:r>
              <a:rPr lang="en-US" altLang="zh-CN" b="1" dirty="0"/>
              <a:t>​</a:t>
            </a:r>
            <a:r>
              <a:rPr lang="zh-CN" altLang="en-US" b="1" dirty="0"/>
              <a:t>客户对接</a:t>
            </a:r>
            <a:r>
              <a:rPr lang="en-US" altLang="zh-CN" b="1" dirty="0"/>
              <a:t>​</a:t>
            </a:r>
            <a:r>
              <a:rPr lang="zh-CN" altLang="en-US" b="1" dirty="0"/>
              <a:t>：</a:t>
            </a:r>
            <a:r>
              <a:rPr lang="zh-CN" altLang="en-US" dirty="0"/>
              <a:t>根据受影响客户清单锁定客户经理，由其对接客户侧采购及技术负责人，引荐技术部门</a:t>
            </a:r>
            <a:r>
              <a:rPr lang="en-US" altLang="zh-CN" b="1" dirty="0"/>
              <a:t>(</a:t>
            </a:r>
            <a:r>
              <a:rPr lang="zh-CN" altLang="en-US" b="1" dirty="0"/>
              <a:t>需确保客户提供实际负责平台研发运维的人员</a:t>
            </a:r>
            <a:r>
              <a:rPr lang="en-US" altLang="zh-CN" dirty="0"/>
              <a:t>)</a:t>
            </a:r>
            <a:r>
              <a:rPr lang="zh-CN" altLang="en-US" dirty="0"/>
              <a:t>；</a:t>
            </a:r>
          </a:p>
          <a:p>
            <a:pPr marL="285750" indent="-285750">
              <a:lnSpc>
                <a:spcPct val="185000"/>
              </a:lnSpc>
              <a:buFont typeface="Wingdings" panose="05000000000000000000" charset="0"/>
              <a:buChar char="n"/>
            </a:pPr>
            <a:r>
              <a:rPr lang="en-US" altLang="zh-CN" b="1" dirty="0"/>
              <a:t>​</a:t>
            </a:r>
            <a:r>
              <a:rPr lang="zh-CN" altLang="en-US" b="1" dirty="0"/>
              <a:t>渠道搭建</a:t>
            </a:r>
            <a:r>
              <a:rPr lang="en-US" altLang="zh-CN" b="1" dirty="0"/>
              <a:t>​</a:t>
            </a:r>
            <a:r>
              <a:rPr lang="zh-CN" altLang="en-US" b="1" dirty="0"/>
              <a:t>：</a:t>
            </a:r>
            <a:r>
              <a:rPr lang="zh-CN" altLang="en-US" dirty="0"/>
              <a:t>推动客户与物联网公司技术团队直接沟通，建立专项对接通道；</a:t>
            </a:r>
          </a:p>
          <a:p>
            <a:pPr marL="285750" indent="-285750">
              <a:lnSpc>
                <a:spcPct val="185000"/>
              </a:lnSpc>
              <a:buFont typeface="Wingdings" panose="05000000000000000000" charset="0"/>
              <a:buChar char="n"/>
            </a:pPr>
            <a:r>
              <a:rPr lang="en-US" altLang="zh-CN" dirty="0"/>
              <a:t>​</a:t>
            </a:r>
            <a:r>
              <a:rPr lang="zh-CN" altLang="en-US" b="1" dirty="0"/>
              <a:t>全程协调</a:t>
            </a:r>
            <a:r>
              <a:rPr lang="en-US" altLang="zh-CN" b="1" dirty="0"/>
              <a:t>​</a:t>
            </a:r>
            <a:r>
              <a:rPr lang="zh-CN" altLang="en-US" b="1" dirty="0"/>
              <a:t>：</a:t>
            </a:r>
            <a:r>
              <a:rPr lang="zh-CN" altLang="en-US" dirty="0"/>
              <a:t>负责</a:t>
            </a:r>
            <a:r>
              <a:rPr lang="en-US" altLang="zh-CN" dirty="0"/>
              <a:t>CA</a:t>
            </a:r>
            <a:r>
              <a:rPr lang="zh-CN" altLang="en-US" dirty="0"/>
              <a:t>证书到期攻坚跨环节协调及客户服务的第一界面响应。</a:t>
            </a:r>
          </a:p>
          <a:p>
            <a:pPr marL="285750" indent="-285750">
              <a:lnSpc>
                <a:spcPct val="185000"/>
              </a:lnSpc>
              <a:buFont typeface="Wingdings" panose="05000000000000000000" charset="0"/>
              <a:buChar char="n"/>
            </a:pPr>
            <a:endParaRPr lang="zh-CN" altLang="en-US" dirty="0"/>
          </a:p>
        </p:txBody>
      </p:sp>
      <p:sp>
        <p:nvSpPr>
          <p:cNvPr id="17" name="文本框 16"/>
          <p:cNvSpPr txBox="1"/>
          <p:nvPr/>
        </p:nvSpPr>
        <p:spPr>
          <a:xfrm>
            <a:off x="4928870" y="1339850"/>
            <a:ext cx="2834005" cy="514985"/>
          </a:xfrm>
          <a:prstGeom prst="rect">
            <a:avLst/>
          </a:prstGeom>
          <a:noFill/>
        </p:spPr>
        <p:txBody>
          <a:bodyPr wrap="square" rtlCol="0">
            <a:noAutofit/>
          </a:bodyPr>
          <a:lstStyle/>
          <a:p>
            <a:pPr lvl="0" algn="ctr">
              <a:buClrTx/>
              <a:buSzTx/>
              <a:buFontTx/>
            </a:pPr>
            <a:r>
              <a:rPr lang="zh-CN" altLang="en-US" sz="2400" b="1" dirty="0">
                <a:solidFill>
                  <a:srgbClr val="C00000"/>
                </a:solidFill>
                <a:latin typeface="微软雅黑" panose="020B0503020204020204" charset="-122"/>
                <a:ea typeface="微软雅黑" panose="020B0503020204020204" charset="-122"/>
                <a:sym typeface="+mn-ea"/>
              </a:rPr>
              <a:t>物联网公司</a:t>
            </a:r>
          </a:p>
        </p:txBody>
      </p:sp>
      <p:sp>
        <p:nvSpPr>
          <p:cNvPr id="18" name="装饰  7"/>
          <p:cNvSpPr>
            <a:spLocks noGrp="1"/>
          </p:cNvSpPr>
          <p:nvPr>
            <p:custDataLst>
              <p:tags r:id="rId3"/>
            </p:custDataLst>
          </p:nvPr>
        </p:nvSpPr>
        <p:spPr>
          <a:xfrm>
            <a:off x="4622165" y="2035175"/>
            <a:ext cx="3536315" cy="4072255"/>
          </a:xfrm>
          <a:custGeom>
            <a:avLst/>
            <a:gdLst>
              <a:gd name="connisteX0" fmla="*/ 0 w 3454400"/>
              <a:gd name="connsiteY0" fmla="*/ 203200 h 4165600"/>
              <a:gd name="connisteX1" fmla="*/ 203200 w 3454400"/>
              <a:gd name="connsiteY1" fmla="*/ 0 h 4165600"/>
              <a:gd name="connisteX2" fmla="*/ 3251200 w 3454400"/>
              <a:gd name="connsiteY2" fmla="*/ 0 h 4165600"/>
              <a:gd name="connisteX3" fmla="*/ 3454400 w 3454400"/>
              <a:gd name="connsiteY3" fmla="*/ 203200 h 4165600"/>
              <a:gd name="connisteX4" fmla="*/ 3454400 w 3454400"/>
              <a:gd name="connsiteY4" fmla="*/ 3962400 h 4165600"/>
              <a:gd name="connisteX5" fmla="*/ 3251200 w 3454400"/>
              <a:gd name="connsiteY5" fmla="*/ 4165600 h 4165600"/>
              <a:gd name="connisteX6" fmla="*/ 203200 w 3454400"/>
              <a:gd name="connsiteY6" fmla="*/ 4165600 h 4165600"/>
              <a:gd name="connisteX7" fmla="*/ 0 w 3454400"/>
              <a:gd name="connsiteY7" fmla="*/ 3962400 h 4165600"/>
              <a:gd name="connisteX8" fmla="*/ 0 w 34544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4165600">
                <a:moveTo>
                  <a:pt x="0" y="203200"/>
                </a:moveTo>
                <a:cubicBezTo>
                  <a:pt x="0" y="90976"/>
                  <a:pt x="90976" y="0"/>
                  <a:pt x="203200" y="0"/>
                </a:cubicBezTo>
                <a:lnTo>
                  <a:pt x="3251200" y="0"/>
                </a:lnTo>
                <a:cubicBezTo>
                  <a:pt x="3363424" y="0"/>
                  <a:pt x="3454400" y="90976"/>
                  <a:pt x="3454400" y="203200"/>
                </a:cubicBezTo>
                <a:lnTo>
                  <a:pt x="3454400" y="3962400"/>
                </a:lnTo>
                <a:cubicBezTo>
                  <a:pt x="3454400" y="4074624"/>
                  <a:pt x="3363424" y="4165600"/>
                  <a:pt x="3251200" y="4165600"/>
                </a:cubicBezTo>
                <a:lnTo>
                  <a:pt x="203200" y="4165600"/>
                </a:lnTo>
                <a:cubicBezTo>
                  <a:pt x="90976" y="4165600"/>
                  <a:pt x="0" y="4074624"/>
                  <a:pt x="0" y="39624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vert="horz" wrap="square" lIns="91440" tIns="45720" rIns="91440" bIns="45720" numCol="1" anchor="t" anchorCtr="0" compatLnSpc="1">
            <a:noAutofit/>
          </a:bodyPr>
          <a:lstStyle>
            <a:lvl1pPr marL="228600" indent="-228600" algn="l" rtl="0" eaLnBrk="0" fontAlgn="base" hangingPunct="0">
              <a:lnSpc>
                <a:spcPct val="90000"/>
              </a:lnSpc>
              <a:spcBef>
                <a:spcPts val="1000"/>
              </a:spcBef>
              <a:spcAft>
                <a:spcPct val="0"/>
              </a:spcAft>
              <a:buFont typeface="Arial" panose="020B0604020202020204" pitchFamily="34" charset="0"/>
              <a:buNone/>
              <a:defRPr sz="2800" kern="1200">
                <a:solidFill>
                  <a:schemeClr val="tx1"/>
                </a:solidFill>
                <a:latin typeface="微软雅黑" panose="020B0503020204020204" charset="-122"/>
                <a:ea typeface="微软雅黑" panose="020B0503020204020204" charset="-122"/>
                <a:cs typeface="微软雅黑" panose="020B0503020204020204" charset="-122"/>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kern="1200">
                <a:solidFill>
                  <a:schemeClr val="tx1"/>
                </a:solidFill>
                <a:latin typeface="微软雅黑" panose="020B0503020204020204" charset="-122"/>
                <a:ea typeface="微软雅黑" panose="020B0503020204020204" charset="-122"/>
                <a:cs typeface="微软雅黑" panose="020B0503020204020204" charset="-122"/>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kern="1200">
                <a:solidFill>
                  <a:schemeClr val="tx1"/>
                </a:solidFill>
                <a:latin typeface="微软雅黑" panose="020B0503020204020204" charset="-122"/>
                <a:ea typeface="微软雅黑" panose="020B0503020204020204" charset="-122"/>
                <a:cs typeface="微软雅黑" panose="020B0503020204020204" charset="-122"/>
              </a:defRPr>
            </a:lvl3pPr>
            <a:lvl4pPr marL="1600200" indent="-228600" algn="l" rtl="0" eaLnBrk="0" fontAlgn="base" hangingPunct="0">
              <a:lnSpc>
                <a:spcPct val="90000"/>
              </a:lnSpc>
              <a:spcBef>
                <a:spcPts val="500"/>
              </a:spcBef>
              <a:spcAft>
                <a:spcPct val="0"/>
              </a:spcAft>
              <a:buFont typeface="Arial" panose="020B0604020202020204" pitchFamily="34" charset="0"/>
              <a:buNone/>
              <a:defRPr sz="2000" kern="1200">
                <a:solidFill>
                  <a:schemeClr val="tx1"/>
                </a:solidFill>
                <a:latin typeface="微软雅黑" panose="020B0503020204020204" charset="-122"/>
                <a:ea typeface="微软雅黑" panose="020B0503020204020204" charset="-122"/>
                <a:cs typeface="微软雅黑" panose="020B0503020204020204" charset="-122"/>
              </a:defRPr>
            </a:lvl4pPr>
            <a:lvl5pPr marL="2057400" indent="-228600" algn="l" rtl="0" eaLnBrk="0" fontAlgn="base" hangingPunct="0">
              <a:lnSpc>
                <a:spcPct val="90000"/>
              </a:lnSpc>
              <a:spcBef>
                <a:spcPts val="500"/>
              </a:spcBef>
              <a:spcAft>
                <a:spcPct val="0"/>
              </a:spcAft>
              <a:buFont typeface="Arial" panose="020B0604020202020204" pitchFamily="34" charset="0"/>
              <a:buNone/>
              <a:defRPr sz="2000" kern="1200">
                <a:solidFill>
                  <a:schemeClr val="tx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 </a:t>
            </a:r>
          </a:p>
        </p:txBody>
      </p:sp>
      <p:sp>
        <p:nvSpPr>
          <p:cNvPr id="19" name="文本占位符 4"/>
          <p:cNvSpPr>
            <a:spLocks noGrp="1"/>
          </p:cNvSpPr>
          <p:nvPr>
            <p:custDataLst>
              <p:tags r:id="rId4"/>
            </p:custDataLst>
          </p:nvPr>
        </p:nvSpPr>
        <p:spPr>
          <a:xfrm>
            <a:off x="4622165" y="2421255"/>
            <a:ext cx="3430905" cy="3657600"/>
          </a:xfrm>
          <a:prstGeom prst="rect">
            <a:avLst/>
          </a:prstGeom>
          <a:noFill/>
          <a:ln>
            <a:noFill/>
          </a:ln>
        </p:spPr>
        <p:txBody>
          <a:bodyPr vert="horz" wrap="square" lIns="0" tIns="0" rIns="0" bIns="0" numCol="1" anchor="t" anchorCtr="0" compatLnSpc="1">
            <a:normAutofit/>
          </a:bodyPr>
          <a:lstStyle>
            <a:lvl1pPr marL="0" indent="0" algn="l" rtl="0" eaLnBrk="0" fontAlgn="base" hangingPunct="0">
              <a:lnSpc>
                <a:spcPct val="125000"/>
              </a:lnSpc>
              <a:spcBef>
                <a:spcPct val="0"/>
              </a:spcBef>
              <a:spcAft>
                <a:spcPct val="0"/>
              </a:spcAft>
              <a:buFont typeface="Arial" panose="020B0604020202020204" pitchFamily="34" charset="0"/>
              <a:buNone/>
              <a:defRPr sz="1600" b="0" kern="1200" spc="0">
                <a:solidFill>
                  <a:schemeClr val="tx1"/>
                </a:solidFill>
                <a:latin typeface="微软雅黑" panose="020B0503020204020204" charset="-122"/>
                <a:ea typeface="微软雅黑" panose="020B0503020204020204" charset="-122"/>
                <a:cs typeface="微软雅黑" panose="020B0503020204020204"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微软雅黑" panose="020B0503020204020204"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85000"/>
              </a:lnSpc>
            </a:pPr>
            <a:endParaRPr lang="zh-CN" altLang="en-US" dirty="0"/>
          </a:p>
          <a:p>
            <a:pPr marL="285750" indent="-285750">
              <a:lnSpc>
                <a:spcPct val="185000"/>
              </a:lnSpc>
              <a:buFont typeface="Wingdings" panose="05000000000000000000" charset="0"/>
              <a:buChar char="n"/>
            </a:pPr>
            <a:r>
              <a:rPr lang="en-US" altLang="zh-CN" b="1" dirty="0"/>
              <a:t>​</a:t>
            </a:r>
            <a:r>
              <a:rPr lang="zh-CN" altLang="en-US" b="1" dirty="0"/>
              <a:t>技术支撑</a:t>
            </a:r>
            <a:r>
              <a:rPr lang="en-US" altLang="zh-CN" b="1" dirty="0"/>
              <a:t>​</a:t>
            </a:r>
            <a:r>
              <a:rPr lang="zh-CN" altLang="en-US" b="1" dirty="0"/>
              <a:t>：</a:t>
            </a:r>
            <a:r>
              <a:rPr lang="zh-CN" altLang="en-US" dirty="0"/>
              <a:t>向客户应用平台研发及运维人员讲解</a:t>
            </a:r>
            <a:r>
              <a:rPr lang="en-US" altLang="zh-CN" dirty="0"/>
              <a:t>CA</a:t>
            </a:r>
            <a:r>
              <a:rPr lang="zh-CN" altLang="en-US" dirty="0"/>
              <a:t>证书更新的技术方案，协同客户做好证书更新；</a:t>
            </a:r>
          </a:p>
          <a:p>
            <a:pPr marL="285750" indent="-285750">
              <a:lnSpc>
                <a:spcPct val="185000"/>
              </a:lnSpc>
              <a:buFont typeface="Wingdings" panose="05000000000000000000" charset="0"/>
              <a:buChar char="n"/>
            </a:pPr>
            <a:r>
              <a:rPr lang="en-US" altLang="zh-CN" b="1" dirty="0"/>
              <a:t>​</a:t>
            </a:r>
            <a:r>
              <a:rPr lang="zh-CN" altLang="en-US" b="1" dirty="0"/>
              <a:t>执行保障</a:t>
            </a:r>
            <a:r>
              <a:rPr lang="en-US" altLang="zh-CN" b="1" dirty="0"/>
              <a:t>​</a:t>
            </a:r>
            <a:r>
              <a:rPr lang="zh-CN" altLang="en-US" b="1" dirty="0"/>
              <a:t>：</a:t>
            </a:r>
            <a:r>
              <a:rPr lang="zh-CN" altLang="en-US" dirty="0"/>
              <a:t>配合客户</a:t>
            </a:r>
            <a:r>
              <a:rPr lang="en-US" altLang="zh-CN" dirty="0"/>
              <a:t>CA</a:t>
            </a:r>
            <a:r>
              <a:rPr lang="zh-CN" altLang="en-US" dirty="0"/>
              <a:t>证书更新的实施及技术支撑。</a:t>
            </a:r>
          </a:p>
          <a:p>
            <a:pPr marL="285750" indent="-285750">
              <a:lnSpc>
                <a:spcPct val="185000"/>
              </a:lnSpc>
              <a:buFont typeface="Wingdings" panose="05000000000000000000" charset="0"/>
              <a:buChar char="n"/>
            </a:pPr>
            <a:endParaRPr lang="zh-CN" altLang="en-US" dirty="0"/>
          </a:p>
        </p:txBody>
      </p:sp>
      <p:sp>
        <p:nvSpPr>
          <p:cNvPr id="20" name="文本框 19"/>
          <p:cNvSpPr txBox="1"/>
          <p:nvPr/>
        </p:nvSpPr>
        <p:spPr>
          <a:xfrm>
            <a:off x="8601710" y="1339850"/>
            <a:ext cx="2834005" cy="514985"/>
          </a:xfrm>
          <a:prstGeom prst="rect">
            <a:avLst/>
          </a:prstGeom>
          <a:noFill/>
        </p:spPr>
        <p:txBody>
          <a:bodyPr wrap="square" rtlCol="0">
            <a:noAutofit/>
          </a:bodyPr>
          <a:lstStyle/>
          <a:p>
            <a:pPr lvl="0" algn="ctr">
              <a:buClrTx/>
              <a:buSzTx/>
              <a:buFontTx/>
            </a:pPr>
            <a:r>
              <a:rPr lang="zh-CN" altLang="en-US" sz="2400" b="1" dirty="0">
                <a:solidFill>
                  <a:srgbClr val="C00000"/>
                </a:solidFill>
                <a:latin typeface="微软雅黑" panose="020B0503020204020204" charset="-122"/>
                <a:ea typeface="微软雅黑" panose="020B0503020204020204" charset="-122"/>
                <a:sym typeface="+mn-ea"/>
              </a:rPr>
              <a:t>客户侧</a:t>
            </a:r>
          </a:p>
        </p:txBody>
      </p:sp>
      <p:sp>
        <p:nvSpPr>
          <p:cNvPr id="21" name="装饰  7"/>
          <p:cNvSpPr>
            <a:spLocks noGrp="1"/>
          </p:cNvSpPr>
          <p:nvPr>
            <p:custDataLst>
              <p:tags r:id="rId5"/>
            </p:custDataLst>
          </p:nvPr>
        </p:nvSpPr>
        <p:spPr>
          <a:xfrm>
            <a:off x="8454390" y="2035175"/>
            <a:ext cx="3402330" cy="4070350"/>
          </a:xfrm>
          <a:custGeom>
            <a:avLst/>
            <a:gdLst>
              <a:gd name="connisteX0" fmla="*/ 0 w 3454400"/>
              <a:gd name="connsiteY0" fmla="*/ 203200 h 4165600"/>
              <a:gd name="connisteX1" fmla="*/ 203200 w 3454400"/>
              <a:gd name="connsiteY1" fmla="*/ 0 h 4165600"/>
              <a:gd name="connisteX2" fmla="*/ 3251200 w 3454400"/>
              <a:gd name="connsiteY2" fmla="*/ 0 h 4165600"/>
              <a:gd name="connisteX3" fmla="*/ 3454400 w 3454400"/>
              <a:gd name="connsiteY3" fmla="*/ 203200 h 4165600"/>
              <a:gd name="connisteX4" fmla="*/ 3454400 w 3454400"/>
              <a:gd name="connsiteY4" fmla="*/ 3962400 h 4165600"/>
              <a:gd name="connisteX5" fmla="*/ 3251200 w 3454400"/>
              <a:gd name="connsiteY5" fmla="*/ 4165600 h 4165600"/>
              <a:gd name="connisteX6" fmla="*/ 203200 w 3454400"/>
              <a:gd name="connsiteY6" fmla="*/ 4165600 h 4165600"/>
              <a:gd name="connisteX7" fmla="*/ 0 w 3454400"/>
              <a:gd name="connsiteY7" fmla="*/ 3962400 h 4165600"/>
              <a:gd name="connisteX8" fmla="*/ 0 w 34544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4165600">
                <a:moveTo>
                  <a:pt x="0" y="203200"/>
                </a:moveTo>
                <a:cubicBezTo>
                  <a:pt x="0" y="90976"/>
                  <a:pt x="90976" y="0"/>
                  <a:pt x="203200" y="0"/>
                </a:cubicBezTo>
                <a:lnTo>
                  <a:pt x="3251200" y="0"/>
                </a:lnTo>
                <a:cubicBezTo>
                  <a:pt x="3363424" y="0"/>
                  <a:pt x="3454400" y="90976"/>
                  <a:pt x="3454400" y="203200"/>
                </a:cubicBezTo>
                <a:lnTo>
                  <a:pt x="3454400" y="3962400"/>
                </a:lnTo>
                <a:cubicBezTo>
                  <a:pt x="3454400" y="4074624"/>
                  <a:pt x="3363424" y="4165600"/>
                  <a:pt x="3251200" y="4165600"/>
                </a:cubicBezTo>
                <a:lnTo>
                  <a:pt x="203200" y="4165600"/>
                </a:lnTo>
                <a:cubicBezTo>
                  <a:pt x="90976" y="4165600"/>
                  <a:pt x="0" y="4074624"/>
                  <a:pt x="0" y="39624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vert="horz" wrap="square" lIns="91440" tIns="45720" rIns="91440" bIns="45720" numCol="1" anchor="t" anchorCtr="0" compatLnSpc="1">
            <a:noAutofit/>
          </a:bodyPr>
          <a:lstStyle>
            <a:lvl1pPr marL="228600" indent="-228600" algn="l" rtl="0" eaLnBrk="0" fontAlgn="base" hangingPunct="0">
              <a:lnSpc>
                <a:spcPct val="90000"/>
              </a:lnSpc>
              <a:spcBef>
                <a:spcPts val="1000"/>
              </a:spcBef>
              <a:spcAft>
                <a:spcPct val="0"/>
              </a:spcAft>
              <a:buFont typeface="Arial" panose="020B0604020202020204" pitchFamily="34" charset="0"/>
              <a:buNone/>
              <a:defRPr sz="2800" kern="1200">
                <a:solidFill>
                  <a:schemeClr val="tx1"/>
                </a:solidFill>
                <a:latin typeface="微软雅黑" panose="020B0503020204020204" charset="-122"/>
                <a:ea typeface="微软雅黑" panose="020B0503020204020204" charset="-122"/>
                <a:cs typeface="微软雅黑" panose="020B0503020204020204" charset="-122"/>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kern="1200">
                <a:solidFill>
                  <a:schemeClr val="tx1"/>
                </a:solidFill>
                <a:latin typeface="微软雅黑" panose="020B0503020204020204" charset="-122"/>
                <a:ea typeface="微软雅黑" panose="020B0503020204020204" charset="-122"/>
                <a:cs typeface="微软雅黑" panose="020B0503020204020204" charset="-122"/>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kern="1200">
                <a:solidFill>
                  <a:schemeClr val="tx1"/>
                </a:solidFill>
                <a:latin typeface="微软雅黑" panose="020B0503020204020204" charset="-122"/>
                <a:ea typeface="微软雅黑" panose="020B0503020204020204" charset="-122"/>
                <a:cs typeface="微软雅黑" panose="020B0503020204020204" charset="-122"/>
              </a:defRPr>
            </a:lvl3pPr>
            <a:lvl4pPr marL="1600200" indent="-228600" algn="l" rtl="0" eaLnBrk="0" fontAlgn="base" hangingPunct="0">
              <a:lnSpc>
                <a:spcPct val="90000"/>
              </a:lnSpc>
              <a:spcBef>
                <a:spcPts val="500"/>
              </a:spcBef>
              <a:spcAft>
                <a:spcPct val="0"/>
              </a:spcAft>
              <a:buFont typeface="Arial" panose="020B0604020202020204" pitchFamily="34" charset="0"/>
              <a:buNone/>
              <a:defRPr sz="2000" kern="1200">
                <a:solidFill>
                  <a:schemeClr val="tx1"/>
                </a:solidFill>
                <a:latin typeface="微软雅黑" panose="020B0503020204020204" charset="-122"/>
                <a:ea typeface="微软雅黑" panose="020B0503020204020204" charset="-122"/>
                <a:cs typeface="微软雅黑" panose="020B0503020204020204" charset="-122"/>
              </a:defRPr>
            </a:lvl4pPr>
            <a:lvl5pPr marL="2057400" indent="-228600" algn="l" rtl="0" eaLnBrk="0" fontAlgn="base" hangingPunct="0">
              <a:lnSpc>
                <a:spcPct val="90000"/>
              </a:lnSpc>
              <a:spcBef>
                <a:spcPts val="500"/>
              </a:spcBef>
              <a:spcAft>
                <a:spcPct val="0"/>
              </a:spcAft>
              <a:buFont typeface="Arial" panose="020B0604020202020204" pitchFamily="34" charset="0"/>
              <a:buNone/>
              <a:defRPr sz="2000" kern="1200">
                <a:solidFill>
                  <a:schemeClr val="tx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 </a:t>
            </a:r>
          </a:p>
        </p:txBody>
      </p:sp>
      <p:sp>
        <p:nvSpPr>
          <p:cNvPr id="22" name="文本占位符 4"/>
          <p:cNvSpPr>
            <a:spLocks noGrp="1"/>
          </p:cNvSpPr>
          <p:nvPr>
            <p:custDataLst>
              <p:tags r:id="rId6"/>
            </p:custDataLst>
          </p:nvPr>
        </p:nvSpPr>
        <p:spPr>
          <a:xfrm>
            <a:off x="8576310" y="2421255"/>
            <a:ext cx="3157855" cy="3657600"/>
          </a:xfrm>
          <a:prstGeom prst="rect">
            <a:avLst/>
          </a:prstGeom>
          <a:noFill/>
          <a:ln>
            <a:noFill/>
          </a:ln>
        </p:spPr>
        <p:txBody>
          <a:bodyPr vert="horz" wrap="square" lIns="0" tIns="0" rIns="0" bIns="0" numCol="1" anchor="t" anchorCtr="0" compatLnSpc="1">
            <a:normAutofit/>
          </a:bodyPr>
          <a:lstStyle>
            <a:lvl1pPr marL="0" indent="0" algn="l" rtl="0" eaLnBrk="0" fontAlgn="base" hangingPunct="0">
              <a:lnSpc>
                <a:spcPct val="125000"/>
              </a:lnSpc>
              <a:spcBef>
                <a:spcPct val="0"/>
              </a:spcBef>
              <a:spcAft>
                <a:spcPct val="0"/>
              </a:spcAft>
              <a:buFont typeface="Arial" panose="020B0604020202020204" pitchFamily="34" charset="0"/>
              <a:buNone/>
              <a:defRPr sz="1600" b="0" kern="1200" spc="0">
                <a:solidFill>
                  <a:schemeClr val="tx1"/>
                </a:solidFill>
                <a:latin typeface="微软雅黑" panose="020B0503020204020204" charset="-122"/>
                <a:ea typeface="微软雅黑" panose="020B0503020204020204" charset="-122"/>
                <a:cs typeface="微软雅黑" panose="020B0503020204020204"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微软雅黑" panose="020B0503020204020204"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85000"/>
              </a:lnSpc>
              <a:buFont typeface="Wingdings" panose="05000000000000000000" charset="0"/>
              <a:buChar char="n"/>
            </a:pPr>
            <a:r>
              <a:rPr lang="en-US" altLang="zh-CN" b="1" dirty="0"/>
              <a:t>​</a:t>
            </a:r>
            <a:r>
              <a:rPr lang="zh-CN" altLang="en-US" b="1" dirty="0"/>
              <a:t>技术</a:t>
            </a:r>
            <a:r>
              <a:rPr lang="zh-CN" altLang="en-US" b="1" dirty="0">
                <a:sym typeface="+mn-ea"/>
              </a:rPr>
              <a:t>配合：</a:t>
            </a:r>
            <a:r>
              <a:rPr lang="zh-CN" altLang="en-US" dirty="0">
                <a:sym typeface="+mn-ea"/>
              </a:rPr>
              <a:t>客户应用平台的研发运维人员与物联网公司技术支撑团队对接，并由客户研发人员排查</a:t>
            </a:r>
            <a:r>
              <a:rPr lang="en-US" altLang="zh-CN" dirty="0">
                <a:sym typeface="+mn-ea"/>
              </a:rPr>
              <a:t>CA</a:t>
            </a:r>
            <a:r>
              <a:rPr lang="zh-CN" altLang="en-US" dirty="0">
                <a:sym typeface="+mn-ea"/>
              </a:rPr>
              <a:t>证书使用情况。</a:t>
            </a:r>
            <a:endParaRPr lang="en-US" altLang="zh-CN" dirty="0"/>
          </a:p>
          <a:p>
            <a:pPr marL="285750" indent="-285750">
              <a:lnSpc>
                <a:spcPct val="185000"/>
              </a:lnSpc>
              <a:buFont typeface="Wingdings" panose="05000000000000000000" charset="0"/>
              <a:buChar char="n"/>
            </a:pPr>
            <a:r>
              <a:rPr lang="zh-CN" altLang="en-US" b="1" dirty="0"/>
              <a:t>证书更新</a:t>
            </a:r>
            <a:r>
              <a:rPr lang="en-US" altLang="zh-CN" b="1" dirty="0"/>
              <a:t>​</a:t>
            </a:r>
            <a:r>
              <a:rPr lang="zh-CN" altLang="en-US" b="1" dirty="0"/>
              <a:t>：</a:t>
            </a:r>
            <a:r>
              <a:rPr lang="zh-CN" altLang="en-US" dirty="0"/>
              <a:t>客户技术人员加载新版本</a:t>
            </a:r>
            <a:r>
              <a:rPr lang="en-US" altLang="zh-CN" dirty="0"/>
              <a:t>CA</a:t>
            </a:r>
            <a:r>
              <a:rPr lang="zh-CN" altLang="en-US" dirty="0"/>
              <a:t>证书后，对客户的服务器进行证书更新操作。</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914400" y="1391432"/>
            <a:ext cx="10363200" cy="2556492"/>
          </a:xfrm>
          <a:prstGeom prst="rect">
            <a:avLst/>
          </a:prstGeom>
        </p:spPr>
        <p:txBody>
          <a:bodyPr lIns="121917" tIns="60958" rIns="121917" bIns="60958">
            <a:normAutofit/>
          </a:bodyPr>
          <a:lstStyle>
            <a:lvl1pPr algn="ctr" defTabSz="914400" rtl="0" eaLnBrk="1" latinLnBrk="0" hangingPunct="1">
              <a:lnSpc>
                <a:spcPct val="90000"/>
              </a:lnSpc>
              <a:spcBef>
                <a:spcPct val="0"/>
              </a:spcBef>
              <a:buNone/>
              <a:defRPr sz="8000" b="1" kern="1200">
                <a:solidFill>
                  <a:srgbClr val="C00000"/>
                </a:solidFill>
                <a:latin typeface="黑体" panose="02010609060101010101" charset="-122"/>
                <a:ea typeface="黑体" panose="02010609060101010101" charset="-122"/>
                <a:cs typeface="+mj-cs"/>
              </a:defRPr>
            </a:lvl1pPr>
          </a:lstStyle>
          <a:p>
            <a:pPr marL="0" marR="0" lvl="0" indent="0" algn="ctr" defTabSz="914400" rtl="0" eaLnBrk="1" fontAlgn="auto" latinLnBrk="0" hangingPunct="1">
              <a:lnSpc>
                <a:spcPct val="170000"/>
              </a:lnSpc>
              <a:spcBef>
                <a:spcPct val="0"/>
              </a:spcBef>
              <a:spcAft>
                <a:spcPts val="0"/>
              </a:spcAft>
              <a:buClrTx/>
              <a:buSzTx/>
              <a:buFontTx/>
              <a:buNone/>
              <a:defRPr/>
            </a:pPr>
            <a:r>
              <a:rPr lang="zh-CN" altLang="en-US" noProof="1">
                <a:latin typeface="华文楷体" panose="02010600040101010101" pitchFamily="2" charset="-122"/>
                <a:ea typeface="华文楷体" panose="02010600040101010101" pitchFamily="2" charset="-122"/>
              </a:rPr>
              <a:t>谢谢</a:t>
            </a:r>
            <a:r>
              <a:rPr kumimoji="0" lang="zh-CN" altLang="en-US" sz="8000" b="1" i="0" u="none" strike="noStrike" kern="1200" cap="none" spc="0" normalizeH="0" baseline="0" noProof="1">
                <a:ln>
                  <a:noFill/>
                </a:ln>
                <a:solidFill>
                  <a:srgbClr val="C00000"/>
                </a:solidFill>
                <a:effectLst/>
                <a:uLnTx/>
                <a:uFillTx/>
                <a:latin typeface="华文楷体" panose="02010600040101010101" pitchFamily="2" charset="-122"/>
                <a:ea typeface="华文楷体" panose="02010600040101010101" pitchFamily="2" charset="-122"/>
              </a:rPr>
              <a:t>！</a:t>
            </a:r>
          </a:p>
        </p:txBody>
      </p:sp>
    </p:spTree>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RESOURCE_RECORD_KEY" val="{&quot;29&quot;:[20426291],&quot;70&quot;:[3320033]}"/>
  <p:tag name="COMMONDATA" val="eyJoZGlkIjoiOWVjMjNkMDY2YjUwYzM5OGQ1ODAzNjM1MjMzMDIwZTg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85.0309448818898,&quot;left&quot;:29.45,&quot;top&quot;:148.95,&quot;width&quot;:915.3499212598424}"/>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85.0309448818898,&quot;left&quot;:29.45,&quot;top&quot;:148.95,&quot;width&quot;:915.3499212598424}"/>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85.0309448818898,&quot;left&quot;:29.45,&quot;top&quot;:148.95,&quot;width&quot;:915.3499212598424}"/>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85.0309448818898,&quot;left&quot;:29.45,&quot;top&quot;:148.95,&quot;width&quot;:915.3499212598424}"/>
</p:tagLst>
</file>

<file path=ppt/tags/tag13.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15.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1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heme/theme1.xml><?xml version="1.0" encoding="utf-8"?>
<a:theme xmlns:a="http://schemas.openxmlformats.org/drawingml/2006/main" name="第一PPT，www.1ppt.com​">
  <a:themeElements>
    <a:clrScheme name="蓝色暖调">
      <a:dk1>
        <a:srgbClr val="000000"/>
      </a:dk1>
      <a:lt1>
        <a:srgbClr val="FFFFFF"/>
      </a:lt1>
      <a:dk2>
        <a:srgbClr val="778495"/>
      </a:dk2>
      <a:lt2>
        <a:srgbClr val="F0F0F0"/>
      </a:lt2>
      <a:accent1>
        <a:srgbClr val="D05056"/>
      </a:accent1>
      <a:accent2>
        <a:srgbClr val="E66D57"/>
      </a:accent2>
      <a:accent3>
        <a:srgbClr val="F69E63"/>
      </a:accent3>
      <a:accent4>
        <a:srgbClr val="A0A776"/>
      </a:accent4>
      <a:accent5>
        <a:srgbClr val="758677"/>
      </a:accent5>
      <a:accent6>
        <a:srgbClr val="609AA6"/>
      </a:accent6>
      <a:hlink>
        <a:srgbClr val="D05056"/>
      </a:hlink>
      <a:folHlink>
        <a:srgbClr val="BFBFBF"/>
      </a:folHlink>
    </a:clrScheme>
    <a:fontScheme name="dlmofq51">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458</TotalTime>
  <Words>2169</Words>
  <Application>Microsoft Office PowerPoint</Application>
  <PresentationFormat>宽屏</PresentationFormat>
  <Paragraphs>185</Paragraphs>
  <Slides>10</Slides>
  <Notes>4</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10</vt:i4>
      </vt:variant>
    </vt:vector>
  </HeadingPairs>
  <TitlesOfParts>
    <vt:vector size="20" baseType="lpstr">
      <vt:lpstr>等线</vt:lpstr>
      <vt:lpstr>华文楷体</vt:lpstr>
      <vt:lpstr>宋体</vt:lpstr>
      <vt:lpstr>微软雅黑</vt:lpstr>
      <vt:lpstr>Arial</vt:lpstr>
      <vt:lpstr>Calibri</vt:lpstr>
      <vt:lpstr>Times New Roman</vt:lpstr>
      <vt:lpstr>Wingdings</vt:lpstr>
      <vt:lpstr>第一PPT，www.1ppt.com​</vt:lpstr>
      <vt:lpstr>包装程序外壳对象</vt:lpstr>
      <vt:lpstr>PowerPoint 演示文稿</vt:lpstr>
      <vt:lpstr>NB业务端到端业务流程：本次仅影响北向命令下发，不影响消息订阅推送</vt:lpstr>
      <vt:lpstr>NB网关客户调用方式及本次CA证书到期影响场景</vt:lpstr>
      <vt:lpstr>解决方案(1/4)：客户通过Java SDK集成调用，需更换SDK</vt:lpstr>
      <vt:lpstr>解决方案(2/4)：客户使用Java语言开发且应用侧加载CA证书(jks后缀)</vt:lpstr>
      <vt:lpstr>解决方案(3/4)：客户使用C#或Go语言开发且应用侧加载(ca证书crt后缀)</vt:lpstr>
      <vt:lpstr>解决方案(3/4)：客户使用Python或C++开发且应用侧加载(ca证书pem后缀)</vt:lpstr>
      <vt:lpstr>解决方案(4/4)：客户用C#调用接口绕开SSL证书代码示例</vt:lpstr>
      <vt:lpstr>​NB网关CA证书更新：省市公司、物联网公司及客户分工总览</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运营分析会</dc:title>
  <dc:creator>陈杨</dc:creator>
  <cp:keywords>z</cp:keywords>
  <dc:description>www.1ppt.com</dc:description>
  <cp:lastModifiedBy>陈杨</cp:lastModifiedBy>
  <cp:revision>4836</cp:revision>
  <dcterms:created xsi:type="dcterms:W3CDTF">2017-06-22T13:04:00Z</dcterms:created>
  <dcterms:modified xsi:type="dcterms:W3CDTF">2026-03-04T09:26:40Z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406E2C3675974266AF47E926E96816F3_13</vt:lpwstr>
  </property>
  <property fmtid="{D5CDD505-2E9C-101B-9397-08002B2CF9AE}" pid="3" name="KSOProductBuildVer">
    <vt:lpwstr>2052-12.1.0.24657</vt:lpwstr>
  </property>
</Properties>
</file>